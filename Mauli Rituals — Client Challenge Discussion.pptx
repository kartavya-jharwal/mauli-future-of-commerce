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embeddedFontLst>
    <p:embeddedFont>
      <p:font typeface="Oranienbaum" panose="02000506080000020003" pitchFamily="2" charset="0"/>
      <p:regular r:id="rId18"/>
    </p:embeddedFont>
    <p:embeddedFont>
      <p:font typeface="Quattrocento Sans" panose="020B05020500000200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6"/>
  </p:normalViewPr>
  <p:slideViewPr>
    <p:cSldViewPr snapToGrid="0" snapToObjects="1">
      <p:cViewPr varScale="1">
        <p:scale>
          <a:sx n="108" d="100"/>
          <a:sy n="108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F6B98-2E5E-FA4A-AA95-C78B2A1729A6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32F86-C736-474F-999B-0AA9A772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34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Mauli doesn't have an awareness problem, and it doesn't really have a tech problem. It has an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attention-cost problem wearing a tech costume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332F86-C736-474F-999B-0AA9A772F2D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67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g"/>
          <p:cNvPicPr/>
          <p:nvPr/>
        </p:nvPicPr>
        <p:blipFill>
          <a:blip r:embed="rId2"/>
          <a:srcRect l="11541" r="11541"/>
          <a:stretch>
            <a:fillRect/>
          </a:stretch>
        </p:blipFill>
        <p:spPr>
          <a:xfrm>
            <a:off x="7416800" y="0"/>
            <a:ext cx="4775200" cy="6858000"/>
          </a:xfrm>
          <a:prstGeom prst="rect">
            <a:avLst/>
          </a:prstGeom>
          <a:ln>
            <a:noFill/>
          </a:ln>
        </p:spPr>
      </p:pic>
      <p:sp>
        <p:nvSpPr>
          <p:cNvPr id="3" name="accent-rule"/>
          <p:cNvSpPr/>
          <p:nvPr/>
        </p:nvSpPr>
        <p:spPr>
          <a:xfrm>
            <a:off x="812800" y="1676400"/>
            <a:ext cx="609600" cy="508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"/>
          <p:cNvSpPr txBox="1"/>
          <p:nvPr/>
        </p:nvSpPr>
        <p:spPr>
          <a:xfrm>
            <a:off x="812800" y="19304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FUTURE OF COMMERCE · CLIENT CHALLENGE</a:t>
            </a:r>
            <a:endParaRPr lang="en-US" sz="1100" noProof="1"/>
          </a:p>
        </p:txBody>
      </p:sp>
      <p:sp>
        <p:nvSpPr>
          <p:cNvPr id="5" name="title"/>
          <p:cNvSpPr txBox="1"/>
          <p:nvPr/>
        </p:nvSpPr>
        <p:spPr>
          <a:xfrm>
            <a:off x="812800" y="2260600"/>
            <a:ext cx="6096000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6200" noProof="1">
                <a:solidFill>
                  <a:srgbClr val="2F3A34"/>
                </a:solidFill>
                <a:latin typeface="Oranienbaum"/>
                <a:ea typeface="Oranienbaum"/>
              </a:rPr>
              <a:t>Mauli Rituals</a:t>
            </a:r>
            <a:endParaRPr lang="en-US" sz="6200" noProof="1"/>
          </a:p>
        </p:txBody>
      </p:sp>
      <p:sp>
        <p:nvSpPr>
          <p:cNvPr id="6" name="subtitle"/>
          <p:cNvSpPr txBox="1"/>
          <p:nvPr/>
        </p:nvSpPr>
        <p:spPr>
          <a:xfrm>
            <a:off x="812800" y="3403600"/>
            <a:ext cx="6096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700" noProof="1">
                <a:solidFill>
                  <a:srgbClr val="4A5D52"/>
                </a:solidFill>
                <a:latin typeface="Quattrocento Sans"/>
                <a:ea typeface="Quattrocento Sans"/>
              </a:rPr>
              <a:t>Integrating tech &amp; emerging tech into retail a client challenge for the Future of Commerce course</a:t>
            </a:r>
            <a:endParaRPr lang="en-US" sz="1700" noProof="1"/>
          </a:p>
        </p:txBody>
      </p:sp>
      <p:sp>
        <p:nvSpPr>
          <p:cNvPr id="7" name="meta"/>
          <p:cNvSpPr txBox="1"/>
          <p:nvPr/>
        </p:nvSpPr>
        <p:spPr>
          <a:xfrm>
            <a:off x="812800" y="5588000"/>
            <a:ext cx="609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E7A72"/>
                </a:solidFill>
                <a:latin typeface="Quattrocento Sans"/>
                <a:ea typeface="Quattrocento Sans"/>
              </a:rPr>
              <a:t>Built from: a 42-minute client Q&amp;A with founder Anita Kaushal (video)and the Mauli Retailer Deck, Aug 2026 (42 pp) · Classroom discussion deck</a:t>
            </a:r>
            <a:endParaRPr lang="en-US" sz="1100" noProof="1"/>
          </a:p>
        </p:txBody>
      </p:sp>
      <p:sp>
        <p:nvSpPr>
          <p:cNvPr id="8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01 / 15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HOW TO USE THIS DECK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Five moves, one exit — a path, a workflow, and a new metric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7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4605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pine"/>
          <p:cNvSpPr/>
          <p:nvPr/>
        </p:nvSpPr>
        <p:spPr>
          <a:xfrm>
            <a:off x="1168400" y="2006600"/>
            <a:ext cx="12700" cy="36322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teps"/>
          <p:cNvSpPr txBox="1"/>
          <p:nvPr/>
        </p:nvSpPr>
        <p:spPr>
          <a:xfrm>
            <a:off x="812800" y="1854200"/>
            <a:ext cx="10566400" cy="396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600" noProof="1">
                <a:solidFill>
                  <a:srgbClr val="9A6A4F"/>
                </a:solidFill>
                <a:latin typeface="Oranienbaum"/>
                <a:ea typeface="Oranienbaum"/>
              </a:rPr>
              <a:t>01</a:t>
            </a:r>
            <a:r>
              <a:rPr lang="en-US" sz="150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500" b="1" noProof="1">
                <a:solidFill>
                  <a:srgbClr val="262B27"/>
                </a:solidFill>
                <a:latin typeface="Quattrocento Sans"/>
                <a:ea typeface="Quattrocento Sans"/>
              </a:rPr>
              <a:t>Meet the client</a:t>
            </a:r>
            <a:r>
              <a:rPr lang="en-US" sz="1300" noProof="1">
                <a:solidFill>
                  <a:srgbClr val="6E7A72"/>
                </a:solidFill>
                <a:latin typeface="Quattrocento Sans"/>
                <a:ea typeface="Quattrocento Sans"/>
              </a:rPr>
              <a:t> — 10 min — who they are, and the five things they refuse to compromise</a:t>
            </a:r>
            <a:endParaRPr lang="en-US" sz="1300" noProof="1"/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lang="en-US" sz="2600" noProof="1">
                <a:solidFill>
                  <a:srgbClr val="9A6A4F"/>
                </a:solidFill>
                <a:latin typeface="Oranienbaum"/>
                <a:ea typeface="Oranienbaum"/>
              </a:rPr>
              <a:t>02</a:t>
            </a:r>
            <a:r>
              <a:rPr lang="en-US" sz="150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500" b="1" noProof="1">
                <a:solidFill>
                  <a:srgbClr val="262B27"/>
                </a:solidFill>
                <a:latin typeface="Quattrocento Sans"/>
                <a:ea typeface="Quattrocento Sans"/>
              </a:rPr>
              <a:t>Read the numbers</a:t>
            </a:r>
            <a:r>
              <a:rPr lang="en-US" sz="1300" noProof="1">
                <a:solidFill>
                  <a:srgbClr val="6E7A72"/>
                </a:solidFill>
                <a:latin typeface="Quattrocento Sans"/>
                <a:ea typeface="Quattrocento Sans"/>
              </a:rPr>
              <a:t> — 10 min — the economics behind the romance: £87 AOV, 72% Meta, break-even</a:t>
            </a:r>
            <a:endParaRPr lang="en-US" sz="1300" noProof="1"/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lang="en-US" sz="2600" noProof="1">
                <a:solidFill>
                  <a:srgbClr val="9A6A4F"/>
                </a:solidFill>
                <a:latin typeface="Oranienbaum"/>
                <a:ea typeface="Oranienbaum"/>
              </a:rPr>
              <a:t>03</a:t>
            </a:r>
            <a:r>
              <a:rPr lang="en-US" sz="150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500" b="1" noProof="1">
                <a:solidFill>
                  <a:srgbClr val="262B27"/>
                </a:solidFill>
                <a:latin typeface="Quattrocento Sans"/>
                <a:ea typeface="Quattrocento Sans"/>
              </a:rPr>
              <a:t>Her seven asks</a:t>
            </a:r>
            <a:r>
              <a:rPr lang="en-US" sz="1300" noProof="1">
                <a:solidFill>
                  <a:srgbClr val="6E7A72"/>
                </a:solidFill>
                <a:latin typeface="Quattrocento Sans"/>
                <a:ea typeface="Quattrocento Sans"/>
              </a:rPr>
              <a:t> — 10 min — what the founder explicitly wants this class to solve</a:t>
            </a:r>
            <a:endParaRPr lang="en-US" sz="1300" noProof="1"/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lang="en-US" sz="2600" noProof="1">
                <a:solidFill>
                  <a:srgbClr val="9A6A4F"/>
                </a:solidFill>
                <a:latin typeface="Oranienbaum"/>
                <a:ea typeface="Oranienbaum"/>
              </a:rPr>
              <a:t>04</a:t>
            </a:r>
            <a:r>
              <a:rPr lang="en-US" sz="150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500" b="1" noProof="1">
                <a:solidFill>
                  <a:srgbClr val="262B27"/>
                </a:solidFill>
                <a:latin typeface="Quattrocento Sans"/>
                <a:ea typeface="Quattrocento Sans"/>
              </a:rPr>
              <a:t>Choose a path &amp; debate</a:t>
            </a:r>
            <a:r>
              <a:rPr lang="en-US" sz="1300" noProof="1">
                <a:solidFill>
                  <a:srgbClr val="6E7A72"/>
                </a:solidFill>
                <a:latin typeface="Quattrocento Sans"/>
                <a:ea typeface="Quattrocento Sans"/>
              </a:rPr>
              <a:t> — 20 min — B2B, B2C, or one integrated workflow; defend your choice</a:t>
            </a:r>
            <a:endParaRPr lang="en-US" sz="1300" noProof="1"/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lang="en-US" sz="2600" noProof="1">
                <a:solidFill>
                  <a:srgbClr val="9A6A4F"/>
                </a:solidFill>
                <a:latin typeface="Oranienbaum"/>
                <a:ea typeface="Oranienbaum"/>
              </a:rPr>
              <a:t>05</a:t>
            </a:r>
            <a:r>
              <a:rPr lang="en-US" sz="150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500" b="1" noProof="1">
                <a:solidFill>
                  <a:srgbClr val="262B27"/>
                </a:solidFill>
                <a:latin typeface="Quattrocento Sans"/>
                <a:ea typeface="Quattrocento Sans"/>
              </a:rPr>
              <a:t>Invent a metric</a:t>
            </a:r>
            <a:r>
              <a:rPr lang="en-US" sz="1300" noProof="1">
                <a:solidFill>
                  <a:srgbClr val="6E7A72"/>
                </a:solidFill>
                <a:latin typeface="Quattrocento Sans"/>
                <a:ea typeface="Quattrocento Sans"/>
              </a:rPr>
              <a:t> — 15 min — a number that measures what actually makes this brand work</a:t>
            </a:r>
            <a:endParaRPr lang="en-US" sz="1300" noProof="1"/>
          </a:p>
        </p:txBody>
      </p:sp>
      <p:sp>
        <p:nvSpPr>
          <p:cNvPr id="8" name="exit-rule"/>
          <p:cNvSpPr/>
          <p:nvPr/>
        </p:nvSpPr>
        <p:spPr>
          <a:xfrm>
            <a:off x="812800" y="5918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exit"/>
          <p:cNvSpPr txBox="1"/>
          <p:nvPr/>
        </p:nvSpPr>
        <p:spPr>
          <a:xfrm>
            <a:off x="812800" y="60452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4A5D52"/>
                </a:solidFill>
                <a:latin typeface="Quattrocento Sans"/>
                <a:ea typeface="Quattrocento Sans"/>
              </a:rPr>
              <a:t>Exit test:</a:t>
            </a:r>
            <a:r>
              <a:rPr lang="en-US" sz="1250" noProof="1">
                <a:solidFill>
                  <a:srgbClr val="4A5D52"/>
                </a:solidFill>
                <a:latin typeface="Quattrocento Sans"/>
                <a:ea typeface="Quattrocento Sans"/>
              </a:rPr>
              <a:t> every group can state the tension it would design against, the path it would take, and one new metric — in two minutes.</a:t>
            </a:r>
            <a:endParaRPr lang="en-US" sz="1250" noProof="1"/>
          </a:p>
        </p:txBody>
      </p:sp>
      <p:sp>
        <p:nvSpPr>
          <p:cNvPr id="10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11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02 / 15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MOVE 01 · MEET THE CLIENT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An Ayurvedic luxury brand that Bulgari, Lamborghini and Range Rover came to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8034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7907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finition"/>
          <p:cNvSpPr txBox="1"/>
          <p:nvPr/>
        </p:nvSpPr>
        <p:spPr>
          <a:xfrm>
            <a:off x="812800" y="20066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i="1" noProof="1">
                <a:solidFill>
                  <a:srgbClr val="2F3A34"/>
                </a:solidFill>
                <a:latin typeface="Quattrocento Sans"/>
                <a:ea typeface="Quattrocento Sans"/>
              </a:rPr>
              <a:t>"Ancient wisdom + high-performance results + sensorial rituals"</a:t>
            </a:r>
            <a:r>
              <a:rPr lang="en-US" sz="1400" noProof="1">
                <a:solidFill>
                  <a:srgbClr val="2F3A34"/>
                </a:solidFill>
                <a:latin typeface="Quattrocento Sans"/>
                <a:ea typeface="Quattrocento Sans"/>
              </a:rPr>
              <a:t> — Mauli distils Ayurveda into rituals for hair, skin, body and sleep. Made in England, from India's botanicals.</a:t>
            </a:r>
            <a:endParaRPr lang="en-US" sz="1400" noProof="1"/>
          </a:p>
        </p:txBody>
      </p:sp>
      <p:sp>
        <p:nvSpPr>
          <p:cNvPr id="7" name="facts"/>
          <p:cNvSpPr txBox="1"/>
          <p:nvPr/>
        </p:nvSpPr>
        <p:spPr>
          <a:xfrm>
            <a:off x="812800" y="2997200"/>
            <a:ext cx="7112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b="1" noProof="1">
                <a:solidFill>
                  <a:srgbClr val="4A5D52"/>
                </a:solidFill>
                <a:latin typeface="Quattrocento Sans"/>
                <a:ea typeface="Quattrocento Sans"/>
              </a:rPr>
              <a:t>Founded</a:t>
            </a:r>
            <a:r>
              <a:rPr lang="en-US" sz="1300" noProof="1">
                <a:solidFill>
                  <a:srgbClr val="262B27"/>
                </a:solidFill>
                <a:latin typeface="Quattrocento Sans"/>
                <a:ea typeface="Quattrocento Sans"/>
              </a:rPr>
              <a:t> — 2015, London, by Anita &amp; Bittu Kaushal; heritage of Ayurvedic doctors, herbalists and plant-medicine farmers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b="1" noProof="1">
                <a:solidFill>
                  <a:srgbClr val="4A5D52"/>
                </a:solidFill>
                <a:latin typeface="Quattrocento Sans"/>
                <a:ea typeface="Quattrocento Sans"/>
              </a:rPr>
              <a:t>"Authentic luxury"</a:t>
            </a:r>
            <a:r>
              <a:rPr lang="en-US" sz="1300" noProof="1">
                <a:solidFill>
                  <a:srgbClr val="262B27"/>
                </a:solidFill>
                <a:latin typeface="Quattrocento Sans"/>
                <a:ea typeface="Quattrocento Sans"/>
              </a:rPr>
              <a:t> — natural, small-batch, sensorial; partners choose Mauli, not the reverse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b="1" noProof="1">
                <a:solidFill>
                  <a:srgbClr val="4A5D52"/>
                </a:solidFill>
                <a:latin typeface="Quattrocento Sans"/>
                <a:ea typeface="Quattrocento Sans"/>
              </a:rPr>
              <a:t>Proof</a:t>
            </a:r>
            <a:r>
              <a:rPr lang="en-US" sz="1300" noProof="1">
                <a:solidFill>
                  <a:srgbClr val="262B27"/>
                </a:solidFill>
                <a:latin typeface="Quattrocento Sans"/>
                <a:ea typeface="Quattrocento Sans"/>
              </a:rPr>
              <a:t> — 74 award wins, IP on formulations, 16 spa treatments (Aug 2026 deck)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b="1" noProof="1">
                <a:solidFill>
                  <a:srgbClr val="4A5D52"/>
                </a:solidFill>
                <a:latin typeface="Quattrocento Sans"/>
                <a:ea typeface="Quattrocento Sans"/>
              </a:rPr>
              <a:t>Channels</a:t>
            </a:r>
            <a:r>
              <a:rPr lang="en-US" sz="1300" noProof="1">
                <a:solidFill>
                  <a:srgbClr val="262B27"/>
                </a:solidFill>
                <a:latin typeface="Quattrocento Sans"/>
                <a:ea typeface="Quattrocento Sans"/>
              </a:rPr>
              <a:t> — D2C 61% of mix · destination spas · retail (Space NK) · hospitality amenities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b="1" noProof="1">
                <a:solidFill>
                  <a:srgbClr val="4A5D52"/>
                </a:solidFill>
                <a:latin typeface="Quattrocento Sans"/>
                <a:ea typeface="Quattrocento Sans"/>
              </a:rPr>
              <a:t>Partners</a:t>
            </a:r>
            <a:r>
              <a:rPr lang="en-US" sz="1300" noProof="1">
                <a:solidFill>
                  <a:srgbClr val="262B27"/>
                </a:solidFill>
                <a:latin typeface="Quattrocento Sans"/>
                <a:ea typeface="Quattrocento Sans"/>
              </a:rPr>
              <a:t> — Bulgari (9 yrs), Nobu, Four Seasons, One&amp;Only, Stoke Park, Dishoom, Lamborghini, Range Rover, Emirates shortlist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b="1" noProof="1">
                <a:solidFill>
                  <a:srgbClr val="4A5D52"/>
                </a:solidFill>
                <a:latin typeface="Quattrocento Sans"/>
                <a:ea typeface="Quattrocento Sans"/>
              </a:rPr>
              <a:t>Geography</a:t>
            </a:r>
            <a:r>
              <a:rPr lang="en-US" sz="1300" noProof="1">
                <a:solidFill>
                  <a:srgbClr val="262B27"/>
                </a:solidFill>
                <a:latin typeface="Quattrocento Sans"/>
                <a:ea typeface="Quattrocento Sans"/>
              </a:rPr>
              <a:t> — UK home market; China via Xiaohongshu (RED); UAE via distributor; US deferred</a:t>
            </a:r>
            <a:endParaRPr lang="en-US" sz="1300" noProof="1"/>
          </a:p>
        </p:txBody>
      </p:sp>
      <p:pic>
        <p:nvPicPr>
          <p:cNvPr id="8" name="founders-img"/>
          <p:cNvPicPr/>
          <p:nvPr/>
        </p:nvPicPr>
        <p:blipFill>
          <a:blip r:embed="rId2"/>
          <a:srcRect t="9423" b="9423"/>
          <a:stretch>
            <a:fillRect/>
          </a:stretch>
        </p:blipFill>
        <p:spPr>
          <a:xfrm>
            <a:off x="8432800" y="2006600"/>
            <a:ext cx="2946400" cy="3810000"/>
          </a:xfrm>
          <a:prstGeom prst="rect">
            <a:avLst/>
          </a:prstGeom>
          <a:ln>
            <a:noFill/>
          </a:ln>
        </p:spPr>
      </p:pic>
      <p:sp>
        <p:nvSpPr>
          <p:cNvPr id="9" name="founders-cap"/>
          <p:cNvSpPr txBox="1"/>
          <p:nvPr/>
        </p:nvSpPr>
        <p:spPr>
          <a:xfrm>
            <a:off x="8432800" y="5892800"/>
            <a:ext cx="2946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Founders Anita &amp; Bittu Kaushal — image from the client deck</a:t>
            </a:r>
            <a:endParaRPr lang="en-US" sz="1000" noProof="1"/>
          </a:p>
        </p:txBody>
      </p:sp>
      <p:sp>
        <p:nvSpPr>
          <p:cNvPr id="10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11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03 / 15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MOVE 01 · MEET THE CLIENT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The story any technology must not flatten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7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4605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quote"/>
          <p:cNvSpPr txBox="1"/>
          <p:nvPr/>
        </p:nvSpPr>
        <p:spPr>
          <a:xfrm>
            <a:off x="812800" y="1778000"/>
            <a:ext cx="6350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900" i="1" noProof="1">
                <a:solidFill>
                  <a:srgbClr val="2F3A34"/>
                </a:solidFill>
                <a:latin typeface="Oranienbaum"/>
                <a:ea typeface="Oranienbaum"/>
              </a:rPr>
              <a:t>"In 2012, our daughter passed away from a brain tumor. Her dream was to help others feel connected and confident in living."</a:t>
            </a:r>
            <a:endParaRPr lang="en-US" sz="1900" noProof="1"/>
          </a:p>
          <a:p>
            <a:pPr>
              <a:lnSpc>
                <a:spcPct val="140000"/>
              </a:lnSpc>
              <a:spcBef>
                <a:spcPts val="1200"/>
              </a:spcBef>
            </a:pPr>
            <a:r>
              <a:rPr lang="en-US" sz="1200" noProof="1">
                <a:solidFill>
                  <a:srgbClr val="6E7A72"/>
                </a:solidFill>
                <a:latin typeface="Quattrocento Sans"/>
                <a:ea typeface="Quattrocento Sans"/>
              </a:rPr>
              <a:t>— Anita &amp; Bittu Kaushal, "Our Story", client deck</a:t>
            </a:r>
            <a:endParaRPr lang="en-US" sz="1900" noProof="1"/>
          </a:p>
        </p:txBody>
      </p:sp>
      <p:pic>
        <p:nvPicPr>
          <p:cNvPr id="7" name="ritual-img"/>
          <p:cNvPicPr/>
          <p:nvPr/>
        </p:nvPicPr>
        <p:blipFill>
          <a:blip r:embed="rId2"/>
          <a:srcRect t="12323" b="12323"/>
          <a:stretch>
            <a:fillRect/>
          </a:stretch>
        </p:blipFill>
        <p:spPr>
          <a:xfrm>
            <a:off x="7620000" y="1778000"/>
            <a:ext cx="3759200" cy="2133600"/>
          </a:xfrm>
          <a:prstGeom prst="rect">
            <a:avLst/>
          </a:prstGeom>
          <a:ln>
            <a:noFill/>
          </a:ln>
        </p:spPr>
      </p:pic>
      <p:sp>
        <p:nvSpPr>
          <p:cNvPr id="8" name="nonneg-rule"/>
          <p:cNvSpPr/>
          <p:nvPr/>
        </p:nvSpPr>
        <p:spPr>
          <a:xfrm>
            <a:off x="812800" y="4140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nonneg-head"/>
          <p:cNvSpPr txBox="1"/>
          <p:nvPr/>
        </p:nvSpPr>
        <p:spPr>
          <a:xfrm>
            <a:off x="812800" y="4292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9A6A4F"/>
                </a:solidFill>
                <a:latin typeface="Quattrocento Sans"/>
                <a:ea typeface="Quattrocento Sans"/>
              </a:rPr>
              <a:t>THE FIVE NON-NEGOTIABLES</a:t>
            </a:r>
            <a:endParaRPr lang="en-US" sz="1200" noProof="1"/>
          </a:p>
        </p:txBody>
      </p:sp>
      <p:sp>
        <p:nvSpPr>
          <p:cNvPr id="10" name="nonneg"/>
          <p:cNvSpPr txBox="1"/>
          <p:nvPr/>
        </p:nvSpPr>
        <p:spPr>
          <a:xfrm>
            <a:off x="812800" y="4622800"/>
            <a:ext cx="105664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b="1" noProof="1">
                <a:solidFill>
                  <a:srgbClr val="4A5D52"/>
                </a:solidFill>
                <a:latin typeface="Quattrocento Sans"/>
                <a:ea typeface="Quattrocento Sans"/>
              </a:rPr>
              <a:t>1 · Authentic luxury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natural, small-batch, made in England; no synthetic shortcuts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b="1" noProof="1">
                <a:solidFill>
                  <a:srgbClr val="4A5D52"/>
                </a:solidFill>
                <a:latin typeface="Quattrocento Sans"/>
                <a:ea typeface="Quattrocento Sans"/>
              </a:rPr>
              <a:t>2 · Three pillars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look good, feel good, do good; ~5 products discontinued for not being best-in-class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b="1" noProof="1">
                <a:solidFill>
                  <a:srgbClr val="4A5D52"/>
                </a:solidFill>
                <a:latin typeface="Quattrocento Sans"/>
                <a:ea typeface="Quattrocento Sans"/>
              </a:rPr>
              <a:t>3 · The red thread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every boxed product carries a blessed </a:t>
            </a:r>
            <a:r>
              <a:rPr lang="en-US" sz="1250" i="1" noProof="1">
                <a:solidFill>
                  <a:srgbClr val="262B27"/>
                </a:solidFill>
                <a:latin typeface="Quattrocento Sans"/>
                <a:ea typeface="Quattrocento Sans"/>
              </a:rPr>
              <a:t>mauli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made by an NGO in India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b="1" noProof="1">
                <a:solidFill>
                  <a:srgbClr val="4A5D52"/>
                </a:solidFill>
                <a:latin typeface="Quattrocento Sans"/>
                <a:ea typeface="Quattrocento Sans"/>
              </a:rPr>
              <a:t>4 · No dilution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spas are refused cheaper formulas, even when it costs margin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b="1" noProof="1">
                <a:solidFill>
                  <a:srgbClr val="4A5D52"/>
                </a:solidFill>
                <a:latin typeface="Quattrocento Sans"/>
                <a:ea typeface="Quattrocento Sans"/>
              </a:rPr>
              <a:t>5 · Give more than you take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the dosha quiz gives real self-care guidance with zero sales push</a:t>
            </a:r>
            <a:endParaRPr lang="en-US" sz="1250" noProof="1"/>
          </a:p>
        </p:txBody>
      </p:sp>
      <p:sp>
        <p:nvSpPr>
          <p:cNvPr id="11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12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04 / 15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MOVE 02 · READ THE NUMBERS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The economics behind the romance, in six numbers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7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4605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metrics"/>
          <p:cNvGraphicFramePr>
            <a:graphicFrameLocks noGrp="1"/>
          </p:cNvGraphicFramePr>
          <p:nvPr/>
        </p:nvGraphicFramePr>
        <p:xfrm>
          <a:off x="812800" y="1778000"/>
          <a:ext cx="10566400" cy="4038600"/>
        </p:xfrm>
        <a:graphic>
          <a:graphicData uri="http://schemas.openxmlformats.org/drawingml/2006/table">
            <a:tbl>
              <a:tblPr/>
              <a:tblGrid>
                <a:gridCol w="2535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8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l"/>
                      <a:r>
                        <a:rPr lang="en-US" sz="1150" b="1" kern="0" spc="100" noProof="1">
                          <a:solidFill>
                            <a:srgbClr val="4A5D52"/>
                          </a:solidFill>
                          <a:latin typeface="Quattrocento Sans"/>
                          <a:ea typeface="Quattrocento Sans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4A5D5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kern="0" spc="100" noProof="1">
                          <a:solidFill>
                            <a:srgbClr val="4A5D52"/>
                          </a:solidFill>
                          <a:latin typeface="Quattrocento Sans"/>
                          <a:ea typeface="Quattrocento Sans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4A5D5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kern="0" spc="100" noProof="1">
                          <a:solidFill>
                            <a:srgbClr val="4A5D52"/>
                          </a:solidFill>
                          <a:latin typeface="Quattrocento Sans"/>
                          <a:ea typeface="Quattrocento Sans"/>
                        </a:rPr>
                        <a:t>WHAT IT TELLS YOU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4A5D5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Average order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4A5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£87 (often £100+)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4A5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Premium basket — but the brand "just about" breaks even on the first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4A5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Marketing spend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72% Meta / 28% Google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Heavy dependence on a channel the founder says is "becoming more and more challenging"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New vs returning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46% / 54%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Retention-led model — community matters more than reach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Newsletter open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77%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Value-first content (dosha guidance, no push) outperforms promotion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Instagram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36k → 105k in 12 months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Outsourced, AI-assisted growth — "is she building the audience, or just the numbers?"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Sale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2 per year, −20% 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Revenue is skewed to sale windows; the brand wants out, gradually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ource"/>
          <p:cNvSpPr txBox="1"/>
          <p:nvPr/>
        </p:nvSpPr>
        <p:spPr>
          <a:xfrm>
            <a:off x="812800" y="59436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Source — founder-stated figures, client Q&amp;A video, Sep 2026</a:t>
            </a:r>
            <a:endParaRPr lang="en-US" sz="1000" noProof="1"/>
          </a:p>
        </p:txBody>
      </p:sp>
      <p:sp>
        <p:nvSpPr>
          <p:cNvPr id="8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9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05 / 15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MOVE 02 · READ THE NUMBERS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Partnerships bring the halo; D2C brings thin profit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7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4605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col-left-head"/>
          <p:cNvSpPr txBox="1"/>
          <p:nvPr/>
        </p:nvSpPr>
        <p:spPr>
          <a:xfrm>
            <a:off x="812800" y="1752600"/>
            <a:ext cx="497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THE HALO — PARTNERSHIPS</a:t>
            </a:r>
            <a:endParaRPr lang="en-US" sz="1200" noProof="1"/>
          </a:p>
        </p:txBody>
      </p:sp>
      <p:sp>
        <p:nvSpPr>
          <p:cNvPr id="7" name="col-left"/>
          <p:cNvSpPr txBox="1"/>
          <p:nvPr/>
        </p:nvSpPr>
        <p:spPr>
          <a:xfrm>
            <a:off x="812800" y="2108200"/>
            <a:ext cx="4978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Bulgari — nine years, bedrooms worldwide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Lamborghini — from hand sanitiser to a scent for the cars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Range Rover — found Mauli via a Google search, loved the story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Emirates amenity shortlist; Stoke Park (Ambani family) asked Mauli to be spa partner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250" i="1" noProof="1">
                <a:solidFill>
                  <a:srgbClr val="262B27"/>
                </a:solidFill>
                <a:latin typeface="Quattrocento Sans"/>
                <a:ea typeface="Quattrocento Sans"/>
              </a:rPr>
              <a:t>"Nice to have, but not that profitable… no compounding effect for profits."</a:t>
            </a:r>
            <a:endParaRPr lang="en-US" sz="1250" noProof="1"/>
          </a:p>
        </p:txBody>
      </p:sp>
      <p:sp>
        <p:nvSpPr>
          <p:cNvPr id="8" name="divider"/>
          <p:cNvSpPr/>
          <p:nvPr/>
        </p:nvSpPr>
        <p:spPr>
          <a:xfrm>
            <a:off x="6096000" y="1778000"/>
            <a:ext cx="12700" cy="27432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col-right-head"/>
          <p:cNvSpPr txBox="1"/>
          <p:nvPr/>
        </p:nvSpPr>
        <p:spPr>
          <a:xfrm>
            <a:off x="6400800" y="1752600"/>
            <a:ext cx="497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THE ENGINE — D2C, 61% OF MIX</a:t>
            </a:r>
            <a:endParaRPr lang="en-US" sz="1200" noProof="1"/>
          </a:p>
        </p:txBody>
      </p:sp>
      <p:sp>
        <p:nvSpPr>
          <p:cNvPr id="10" name="col-right"/>
          <p:cNvSpPr txBox="1"/>
          <p:nvPr/>
        </p:nvSpPr>
        <p:spPr>
          <a:xfrm>
            <a:off x="6400800" y="2108200"/>
            <a:ext cx="4978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The profit engine of the business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Barely breaks even on first order — discounting plus rising Meta costs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AOV £87 has to carry acquisition, content, and fulfilment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US expansion deferred; retail waits until it can be done properly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250" i="1" noProof="1">
                <a:solidFill>
                  <a:srgbClr val="262B27"/>
                </a:solidFill>
                <a:latin typeface="Quattrocento Sans"/>
                <a:ea typeface="Quattrocento Sans"/>
              </a:rPr>
              <a:t>"We don't want to land and languish."</a:t>
            </a:r>
            <a:endParaRPr lang="en-US" sz="1250" noProof="1"/>
          </a:p>
        </p:txBody>
      </p:sp>
      <p:sp>
        <p:nvSpPr>
          <p:cNvPr id="11" name="bottom-rule"/>
          <p:cNvSpPr/>
          <p:nvPr/>
        </p:nvSpPr>
        <p:spPr>
          <a:xfrm>
            <a:off x="812800" y="48260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tail-reality"/>
          <p:cNvSpPr txBox="1"/>
          <p:nvPr/>
        </p:nvSpPr>
        <p:spPr>
          <a:xfrm>
            <a:off x="812800" y="5003800"/>
            <a:ext cx="10566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50" b="1" noProof="1">
                <a:solidFill>
                  <a:srgbClr val="4A5D52"/>
                </a:solidFill>
                <a:latin typeface="Quattrocento Sans"/>
                <a:ea typeface="Quattrocento Sans"/>
              </a:rPr>
              <a:t>Retail reality: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Space NK asks 65% margin + 10–15% marketing contribution + free product + paid placement — economics only large brands can swallow.</a:t>
            </a:r>
            <a:endParaRPr lang="en-US" sz="1250" noProof="1"/>
          </a:p>
        </p:txBody>
      </p:sp>
      <p:sp>
        <p:nvSpPr>
          <p:cNvPr id="13" name="prompt"/>
          <p:cNvSpPr txBox="1"/>
          <p:nvPr/>
        </p:nvSpPr>
        <p:spPr>
          <a:xfrm>
            <a:off x="812800" y="5740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9A6A4F"/>
                </a:solidFill>
                <a:latin typeface="Quattrocento Sans"/>
                <a:ea typeface="Quattrocento Sans"/>
              </a:rPr>
              <a:t>Discuss:</a:t>
            </a:r>
            <a:r>
              <a:rPr lang="en-US" sz="1300" noProof="1">
                <a:solidFill>
                  <a:srgbClr val="9A6A4F"/>
                </a:solidFill>
                <a:latin typeface="Quattrocento Sans"/>
                <a:ea typeface="Quattrocento Sans"/>
              </a:rPr>
              <a:t> if partnerships don't compound profit, what are they actually worth — and what would you do with them?</a:t>
            </a:r>
            <a:endParaRPr lang="en-US" sz="1300" noProof="1"/>
          </a:p>
        </p:txBody>
      </p:sp>
      <p:sp>
        <p:nvSpPr>
          <p:cNvPr id="14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15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06 / 15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MOVE 02 · READ THE NUMBERS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A $10-trillion tailwind — but verify before you build on it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7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4605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tat1"/>
          <p:cNvSpPr txBox="1"/>
          <p:nvPr/>
        </p:nvSpPr>
        <p:spPr>
          <a:xfrm>
            <a:off x="812800" y="1905000"/>
            <a:ext cx="5080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3400" noProof="1">
                <a:solidFill>
                  <a:srgbClr val="9A6A4F"/>
                </a:solidFill>
                <a:latin typeface="Oranienbaum"/>
                <a:ea typeface="Oranienbaum"/>
              </a:rPr>
              <a:t>$6.8T → ~$9.8T</a:t>
            </a:r>
            <a:endParaRPr lang="en-US" sz="1600" noProof="1"/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62B27"/>
                </a:solidFill>
                <a:latin typeface="Quattrocento Sans"/>
                <a:ea typeface="Quattrocento Sans"/>
              </a:rPr>
              <a:t>Global wellness economy, 2024 → 2029 — now larger than tourism, sports and the green economy</a:t>
            </a:r>
            <a:endParaRPr lang="en-US" sz="1600" noProof="1"/>
          </a:p>
        </p:txBody>
      </p:sp>
      <p:sp>
        <p:nvSpPr>
          <p:cNvPr id="7" name="stat2"/>
          <p:cNvSpPr txBox="1"/>
          <p:nvPr/>
        </p:nvSpPr>
        <p:spPr>
          <a:xfrm>
            <a:off x="812800" y="3251200"/>
            <a:ext cx="5080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3400" noProof="1">
                <a:solidFill>
                  <a:srgbClr val="9A6A4F"/>
                </a:solidFill>
                <a:latin typeface="Oranienbaum"/>
                <a:ea typeface="Oranienbaum"/>
              </a:rPr>
              <a:t>$24B → $85B+</a:t>
            </a:r>
            <a:endParaRPr lang="en-US" sz="1600" noProof="1"/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62B27"/>
                </a:solidFill>
                <a:latin typeface="Quattrocento Sans"/>
                <a:ea typeface="Quattrocento Sans"/>
              </a:rPr>
              <a:t>Global Ayurveda market, 2026 → 2033 — ~19.7% CAGR, per the deck</a:t>
            </a:r>
            <a:endParaRPr lang="en-US" sz="1600" noProof="1"/>
          </a:p>
        </p:txBody>
      </p:sp>
      <p:sp>
        <p:nvSpPr>
          <p:cNvPr id="8" name="stat3"/>
          <p:cNvSpPr txBox="1"/>
          <p:nvPr/>
        </p:nvSpPr>
        <p:spPr>
          <a:xfrm>
            <a:off x="812800" y="4597400"/>
            <a:ext cx="5080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3400" noProof="1">
                <a:solidFill>
                  <a:srgbClr val="9A6A4F"/>
                </a:solidFill>
                <a:latin typeface="Oranienbaum"/>
                <a:ea typeface="Oranienbaum"/>
              </a:rPr>
              <a:t>1 in 5</a:t>
            </a:r>
            <a:endParaRPr lang="en-US" sz="1600" noProof="1"/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62B27"/>
                </a:solidFill>
                <a:latin typeface="Quattrocento Sans"/>
                <a:ea typeface="Quattrocento Sans"/>
              </a:rPr>
              <a:t>People globally will be over 60 by 2050 — spending shifts to longevity and quality of life</a:t>
            </a:r>
            <a:endParaRPr lang="en-US" sz="1600" noProof="1"/>
          </a:p>
        </p:txBody>
      </p:sp>
      <p:sp>
        <p:nvSpPr>
          <p:cNvPr id="9" name="caveat-rule"/>
          <p:cNvSpPr/>
          <p:nvPr/>
        </p:nvSpPr>
        <p:spPr>
          <a:xfrm>
            <a:off x="6604000" y="1930400"/>
            <a:ext cx="38100" cy="16510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caveat"/>
          <p:cNvSpPr txBox="1"/>
          <p:nvPr/>
        </p:nvSpPr>
        <p:spPr>
          <a:xfrm>
            <a:off x="6858000" y="1905000"/>
            <a:ext cx="45212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b="1" noProof="1">
                <a:solidFill>
                  <a:srgbClr val="9A6A4F"/>
                </a:solidFill>
                <a:latin typeface="Quattrocento Sans"/>
                <a:ea typeface="Quattrocento Sans"/>
              </a:rPr>
              <a:t>Sourcing caveat.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The deck attributes these figures to "Global Wellness Summit '25" with no page or link; the Ayurveda CAGR has no stated source at all.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All deck figures are client-stated and unaudited — same standard as the founder's numbers on the call.</a:t>
            </a:r>
            <a:endParaRPr lang="en-US" sz="1250" noProof="1"/>
          </a:p>
        </p:txBody>
      </p:sp>
      <p:sp>
        <p:nvSpPr>
          <p:cNvPr id="11" name="why-rule"/>
          <p:cNvSpPr/>
          <p:nvPr/>
        </p:nvSpPr>
        <p:spPr>
          <a:xfrm>
            <a:off x="6604000" y="3886200"/>
            <a:ext cx="38100" cy="1498600"/>
          </a:xfrm>
          <a:prstGeom prst="rect">
            <a:avLst/>
          </a:prstGeom>
          <a:solidFill>
            <a:srgbClr val="4A5D5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why"/>
          <p:cNvSpPr txBox="1"/>
          <p:nvPr/>
        </p:nvSpPr>
        <p:spPr>
          <a:xfrm>
            <a:off x="6858000" y="3886200"/>
            <a:ext cx="45212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b="1" noProof="1">
                <a:solidFill>
                  <a:srgbClr val="4A5D52"/>
                </a:solidFill>
                <a:latin typeface="Quattrocento Sans"/>
                <a:ea typeface="Quattrocento Sans"/>
              </a:rPr>
              <a:t>Why now, per the deck: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preventative wellbeing going mainstream · luxury hospitality embracing holistic wellness · ritual replacing routine · authenticity valued over marketing.</a:t>
            </a:r>
            <a:endParaRPr lang="en-US" sz="1250" noProof="1"/>
          </a:p>
        </p:txBody>
      </p:sp>
      <p:sp>
        <p:nvSpPr>
          <p:cNvPr id="14" name="prompt"/>
          <p:cNvSpPr txBox="1"/>
          <p:nvPr/>
        </p:nvSpPr>
        <p:spPr>
          <a:xfrm>
            <a:off x="812800" y="59944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9A6A4F"/>
                </a:solidFill>
                <a:latin typeface="Quattrocento Sans"/>
                <a:ea typeface="Quattrocento Sans"/>
              </a:rPr>
              <a:t>Team task:</a:t>
            </a:r>
            <a:r>
              <a:rPr lang="en-US" sz="1300" noProof="1">
                <a:solidFill>
                  <a:srgbClr val="9A6A4F"/>
                </a:solidFill>
                <a:latin typeface="Quattrocento Sans"/>
                <a:ea typeface="Quattrocento Sans"/>
              </a:rPr>
              <a:t> which one number would you verify first — and how would you verify it?</a:t>
            </a:r>
            <a:endParaRPr lang="en-US" sz="1300" noProof="1"/>
          </a:p>
        </p:txBody>
      </p:sp>
      <p:sp>
        <p:nvSpPr>
          <p:cNvPr id="15" name="source"/>
          <p:cNvSpPr txBox="1"/>
          <p:nvPr/>
        </p:nvSpPr>
        <p:spPr>
          <a:xfrm>
            <a:off x="812800" y="622331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Source — Mauli Retailer Deck, Aug 2026</a:t>
            </a:r>
            <a:endParaRPr lang="en-US" sz="1000" noProof="1"/>
          </a:p>
        </p:txBody>
      </p:sp>
      <p:sp>
        <p:nvSpPr>
          <p:cNvPr id="16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17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07 / 15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MOVE 03 · THE CUSTOMER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'Experimental traditionalists' — one audience, or two?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7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4605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sych-head"/>
          <p:cNvSpPr txBox="1"/>
          <p:nvPr/>
        </p:nvSpPr>
        <p:spPr>
          <a:xfrm>
            <a:off x="812800" y="17526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WHO THEY ARE — DECK PSYCHOGRAPHICS</a:t>
            </a:r>
            <a:endParaRPr lang="en-US" sz="1200" noProof="1"/>
          </a:p>
        </p:txBody>
      </p:sp>
      <p:sp>
        <p:nvSpPr>
          <p:cNvPr id="7" name="psych"/>
          <p:cNvSpPr txBox="1"/>
          <p:nvPr/>
        </p:nvSpPr>
        <p:spPr>
          <a:xfrm>
            <a:off x="812800" y="2108200"/>
            <a:ext cx="5334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Enjoy exploring cultures and art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Seek authentic luxury; eco-luxe with purpose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Want results — and can afford to search for quality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Need thrive-support for demanding schedules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Want to learn and grow — Ayurvedic knowledge appeals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Don't expect "youth in a bottle" — want efficacy, safety, formulas that work with their skin and age</a:t>
            </a:r>
            <a:endParaRPr lang="en-US" sz="1250" noProof="1"/>
          </a:p>
        </p:txBody>
      </p:sp>
      <p:sp>
        <p:nvSpPr>
          <p:cNvPr id="8" name="divider"/>
          <p:cNvSpPr/>
          <p:nvPr/>
        </p:nvSpPr>
        <p:spPr>
          <a:xfrm>
            <a:off x="6502400" y="1778000"/>
            <a:ext cx="12700" cy="35052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nsion-head"/>
          <p:cNvSpPr txBox="1"/>
          <p:nvPr/>
        </p:nvSpPr>
        <p:spPr>
          <a:xfrm>
            <a:off x="6807200" y="17526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THE TENSION — PER THE FOUNDER</a:t>
            </a:r>
            <a:endParaRPr lang="en-US" sz="1200" noProof="1"/>
          </a:p>
        </p:txBody>
      </p:sp>
      <p:sp>
        <p:nvSpPr>
          <p:cNvPr id="10" name="tension"/>
          <p:cNvSpPr txBox="1"/>
          <p:nvPr/>
        </p:nvSpPr>
        <p:spPr>
          <a:xfrm>
            <a:off x="6807200" y="2108200"/>
            <a:ext cx="4572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Core customer is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35+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"maybe because I'm older, maybe because of the cost"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Younger cohorts "absolutely loved the product" when reached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TikTok deliberately untouched — "if we do it, we need to do it properly" (discounting culture, daily posting)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Statistic she cited: older TikTok users shop on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Saturday nights</a:t>
            </a:r>
            <a:endParaRPr lang="en-US" sz="125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Entry products exist (£24–29 lip care) but young buyers "are not young, young like you generally"</a:t>
            </a:r>
            <a:endParaRPr lang="en-US" sz="1250" noProof="1"/>
          </a:p>
        </p:txBody>
      </p:sp>
      <p:sp>
        <p:nvSpPr>
          <p:cNvPr id="11" name="prompt-rule"/>
          <p:cNvSpPr/>
          <p:nvPr/>
        </p:nvSpPr>
        <p:spPr>
          <a:xfrm>
            <a:off x="812800" y="55880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rompt"/>
          <p:cNvSpPr txBox="1"/>
          <p:nvPr/>
        </p:nvSpPr>
        <p:spPr>
          <a:xfrm>
            <a:off x="812800" y="5740400"/>
            <a:ext cx="10566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9A6A4F"/>
                </a:solidFill>
                <a:latin typeface="Quattrocento Sans"/>
                <a:ea typeface="Quattrocento Sans"/>
              </a:rPr>
              <a:t>Discuss:</a:t>
            </a:r>
            <a:r>
              <a:rPr lang="en-US" sz="1300" noProof="1">
                <a:solidFill>
                  <a:srgbClr val="9A6A4F"/>
                </a:solidFill>
                <a:latin typeface="Quattrocento Sans"/>
                <a:ea typeface="Quattrocento Sans"/>
              </a:rPr>
              <a:t> is "experimental traditionalists" one audience or two? Where would you reach them — without resorting to the discount-led tactics the brand is trying to escape?</a:t>
            </a:r>
            <a:endParaRPr lang="en-US" sz="1300" noProof="1"/>
          </a:p>
        </p:txBody>
      </p:sp>
      <p:sp>
        <p:nvSpPr>
          <p:cNvPr id="13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14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08 / 15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MOVE 03 · THE BRIEF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Seven things the founder explicitly asked the class to solve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7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4605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asks-left"/>
          <p:cNvSpPr txBox="1"/>
          <p:nvPr/>
        </p:nvSpPr>
        <p:spPr>
          <a:xfrm>
            <a:off x="812800" y="1778000"/>
            <a:ext cx="51308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800" noProof="1">
                <a:solidFill>
                  <a:srgbClr val="9A6A4F"/>
                </a:solidFill>
                <a:latin typeface="Oranienbaum"/>
                <a:ea typeface="Oranienbaum"/>
              </a:rPr>
              <a:t>1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AI without losing the personal touch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translate the ritual and messaging with AI; her own agency "doesn't know how"</a:t>
            </a:r>
            <a:endParaRPr lang="en-US" sz="1250" noProof="1"/>
          </a:p>
          <a:p>
            <a:pPr>
              <a:lnSpc>
                <a:spcPct val="142000"/>
              </a:lnSpc>
              <a:spcBef>
                <a:spcPts val="1200"/>
              </a:spcBef>
            </a:pPr>
            <a:r>
              <a:rPr lang="en-US" sz="1800" noProof="1">
                <a:solidFill>
                  <a:srgbClr val="9A6A4F"/>
                </a:solidFill>
                <a:latin typeface="Oranienbaum"/>
                <a:ea typeface="Oranienbaum"/>
              </a:rPr>
              <a:t>2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Personalization at scale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three dosha mind-body types, an on-site quiz, rich content; "where we would see it, that's for you to tell us"</a:t>
            </a:r>
            <a:endParaRPr lang="en-US" sz="1250" noProof="1"/>
          </a:p>
          <a:p>
            <a:pPr>
              <a:lnSpc>
                <a:spcPct val="142000"/>
              </a:lnSpc>
              <a:spcBef>
                <a:spcPts val="1200"/>
              </a:spcBef>
            </a:pPr>
            <a:r>
              <a:rPr lang="en-US" sz="1800" noProof="1">
                <a:solidFill>
                  <a:srgbClr val="9A6A4F"/>
                </a:solidFill>
                <a:latin typeface="Oranienbaum"/>
                <a:ea typeface="Oranienbaum"/>
              </a:rPr>
              <a:t>3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Where to execute with limited resources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"where's the best place for us to execute and how — I'd love to learn from you"</a:t>
            </a:r>
            <a:endParaRPr lang="en-US" sz="1250" noProof="1"/>
          </a:p>
          <a:p>
            <a:pPr>
              <a:lnSpc>
                <a:spcPct val="142000"/>
              </a:lnSpc>
              <a:spcBef>
                <a:spcPts val="1200"/>
              </a:spcBef>
            </a:pPr>
            <a:r>
              <a:rPr lang="en-US" sz="1800" noProof="1">
                <a:solidFill>
                  <a:srgbClr val="9A6A4F"/>
                </a:solidFill>
                <a:latin typeface="Oranienbaum"/>
                <a:ea typeface="Oranienbaum"/>
              </a:rPr>
              <a:t>4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Emerging tech for communication &amp; retail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AR/VR, metaverse, AI to reach prospects who don't know the brand</a:t>
            </a:r>
            <a:endParaRPr lang="en-US" sz="1250" noProof="1"/>
          </a:p>
        </p:txBody>
      </p:sp>
      <p:sp>
        <p:nvSpPr>
          <p:cNvPr id="7" name="asks-divider"/>
          <p:cNvSpPr/>
          <p:nvPr/>
        </p:nvSpPr>
        <p:spPr>
          <a:xfrm>
            <a:off x="6248400" y="1778000"/>
            <a:ext cx="12700" cy="40640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sks-right"/>
          <p:cNvSpPr txBox="1"/>
          <p:nvPr/>
        </p:nvSpPr>
        <p:spPr>
          <a:xfrm>
            <a:off x="6553200" y="1778000"/>
            <a:ext cx="4826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800" noProof="1">
                <a:solidFill>
                  <a:srgbClr val="9A6A4F"/>
                </a:solidFill>
                <a:latin typeface="Oranienbaum"/>
                <a:ea typeface="Oranienbaum"/>
              </a:rPr>
              <a:t>5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New metrics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"the metrics we use in the next 10 years might just not work" — endorsed by the client</a:t>
            </a:r>
            <a:endParaRPr lang="en-US" sz="1250" noProof="1"/>
          </a:p>
          <a:p>
            <a:pPr>
              <a:lnSpc>
                <a:spcPct val="142000"/>
              </a:lnSpc>
              <a:spcBef>
                <a:spcPts val="1200"/>
              </a:spcBef>
            </a:pPr>
            <a:r>
              <a:rPr lang="en-US" sz="1800" noProof="1">
                <a:solidFill>
                  <a:srgbClr val="9A6A4F"/>
                </a:solidFill>
                <a:latin typeface="Oranienbaum"/>
                <a:ea typeface="Oranienbaum"/>
              </a:rPr>
              <a:t>6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A therapist community platform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at-home therapists constantly ask to buy and treat; needs tiered automated purchasing, subscription, and vetting. "We will do it — it's a question of when"</a:t>
            </a:r>
            <a:endParaRPr lang="en-US" sz="1250" noProof="1"/>
          </a:p>
          <a:p>
            <a:pPr>
              <a:lnSpc>
                <a:spcPct val="142000"/>
              </a:lnSpc>
              <a:spcBef>
                <a:spcPts val="1200"/>
              </a:spcBef>
            </a:pPr>
            <a:r>
              <a:rPr lang="en-US" sz="1800" noProof="1">
                <a:solidFill>
                  <a:srgbClr val="9A6A4F"/>
                </a:solidFill>
                <a:latin typeface="Oranienbaum"/>
                <a:ea typeface="Oranienbaum"/>
              </a:rPr>
              <a:t>7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Community over follower-counting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convert 105k Instagram followers into a genuine community</a:t>
            </a:r>
            <a:endParaRPr lang="en-US" sz="1250" noProof="1"/>
          </a:p>
        </p:txBody>
      </p:sp>
      <p:sp>
        <p:nvSpPr>
          <p:cNvPr id="9" name="frame-note"/>
          <p:cNvSpPr txBox="1"/>
          <p:nvPr/>
        </p:nvSpPr>
        <p:spPr>
          <a:xfrm>
            <a:off x="812800" y="5969000"/>
            <a:ext cx="1056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E7A72"/>
                </a:solidFill>
                <a:latin typeface="Quattrocento Sans"/>
                <a:ea typeface="Quattrocento Sans"/>
              </a:rPr>
              <a:t>Per the instructor: teams may take a B2B path, a B2C path, or integrate all paths into one workflow — the mindset flip is from "how's the brand doing on social?" to "how do we automate and amplify the non-negotiables using tech?"</a:t>
            </a:r>
            <a:endParaRPr lang="en-US" sz="1200" noProof="1"/>
          </a:p>
        </p:txBody>
      </p:sp>
      <p:sp>
        <p:nvSpPr>
          <p:cNvPr id="10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11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09 / 15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MOVE 04 · THE CORE FEAR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The question her own digital agency couldn't answer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7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4605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igquote"/>
          <p:cNvSpPr txBox="1"/>
          <p:nvPr/>
        </p:nvSpPr>
        <p:spPr>
          <a:xfrm>
            <a:off x="1219200" y="1905000"/>
            <a:ext cx="97536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2700" i="1" noProof="1">
                <a:solidFill>
                  <a:srgbClr val="2F3A34"/>
                </a:solidFill>
                <a:latin typeface="Oranienbaum"/>
                <a:ea typeface="Oranienbaum"/>
              </a:rPr>
              <a:t>"How does an AI shopping agent represent a multi-sensory ritual — without flattening it to a single SKU?"</a:t>
            </a:r>
            <a:endParaRPr lang="en-US" sz="2700" noProof="1"/>
          </a:p>
        </p:txBody>
      </p:sp>
      <p:sp>
        <p:nvSpPr>
          <p:cNvPr id="7" name="quote-rule"/>
          <p:cNvSpPr/>
          <p:nvPr/>
        </p:nvSpPr>
        <p:spPr>
          <a:xfrm>
            <a:off x="1219200" y="4521200"/>
            <a:ext cx="97536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context"/>
          <p:cNvSpPr txBox="1"/>
          <p:nvPr/>
        </p:nvSpPr>
        <p:spPr>
          <a:xfrm>
            <a:off x="1219200" y="4724400"/>
            <a:ext cx="97536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Context: the brand already uses AI for Instagram content — the founder is ambivalent about it ("I don't always like the AI that we use, but it does really help"). The agency's uncertainty about ritual-and-AI is, verbatim, </a:t>
            </a:r>
            <a:r>
              <a:rPr lang="en-US" sz="1250" i="1" noProof="1">
                <a:solidFill>
                  <a:srgbClr val="262B27"/>
                </a:solidFill>
                <a:latin typeface="Quattrocento Sans"/>
                <a:ea typeface="Quattrocento Sans"/>
              </a:rPr>
              <a:t>"what they wanted to know and what I'd love to know."</a:t>
            </a:r>
            <a:endParaRPr lang="en-US" sz="1250" noProof="1"/>
          </a:p>
        </p:txBody>
      </p:sp>
      <p:sp>
        <p:nvSpPr>
          <p:cNvPr id="9" name="prompt"/>
          <p:cNvSpPr txBox="1"/>
          <p:nvPr/>
        </p:nvSpPr>
        <p:spPr>
          <a:xfrm>
            <a:off x="1219200" y="5816600"/>
            <a:ext cx="9753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9A6A4F"/>
                </a:solidFill>
                <a:latin typeface="Quattrocento Sans"/>
                <a:ea typeface="Quattrocento Sans"/>
              </a:rPr>
              <a:t>Sketch it:</a:t>
            </a:r>
            <a:r>
              <a:rPr lang="en-US" sz="1300" noProof="1">
                <a:solidFill>
                  <a:srgbClr val="9A6A4F"/>
                </a:solidFill>
                <a:latin typeface="Quattrocento Sans"/>
                <a:ea typeface="Quattrocento Sans"/>
              </a:rPr>
              <a:t> what would an "unflattened" AI ritual experience look like — for a first-time visitor who has never heard of Ayurveda?</a:t>
            </a:r>
            <a:endParaRPr lang="en-US" sz="1300" noProof="1"/>
          </a:p>
        </p:txBody>
      </p:sp>
      <p:sp>
        <p:nvSpPr>
          <p:cNvPr id="10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11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10 / 15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MOVE 04 · OPPORTUNITY SPACES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Five tensions, five places to put the technology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7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4605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opp-table"/>
          <p:cNvGraphicFramePr>
            <a:graphicFrameLocks noGrp="1"/>
          </p:cNvGraphicFramePr>
          <p:nvPr/>
        </p:nvGraphicFramePr>
        <p:xfrm>
          <a:off x="812800" y="1727200"/>
          <a:ext cx="10566400" cy="4191000"/>
        </p:xfrm>
        <a:graphic>
          <a:graphicData uri="http://schemas.openxmlformats.org/drawingml/2006/table">
            <a:tbl>
              <a:tblPr/>
              <a:tblGrid>
                <a:gridCol w="29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010">
                <a:tc>
                  <a:txBody>
                    <a:bodyPr/>
                    <a:lstStyle/>
                    <a:p>
                      <a:pPr algn="l"/>
                      <a:r>
                        <a:rPr lang="en-US" sz="1100" b="1" kern="0" spc="100" noProof="1">
                          <a:solidFill>
                            <a:srgbClr val="4A5D52"/>
                          </a:solidFill>
                          <a:latin typeface="Quattrocento Sans"/>
                          <a:ea typeface="Quattrocento Sans"/>
                        </a:rPr>
                        <a:t>THE TENSION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4A5D5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kern="0" spc="100" noProof="1">
                          <a:solidFill>
                            <a:srgbClr val="4A5D52"/>
                          </a:solidFill>
                          <a:latin typeface="Quattrocento Sans"/>
                          <a:ea typeface="Quattrocento Sans"/>
                        </a:rPr>
                        <a:t>THE TECH ANGLE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4A5D5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kern="0" spc="100" noProof="1">
                          <a:solidFill>
                            <a:srgbClr val="4A5D52"/>
                          </a:solidFill>
                          <a:latin typeface="Quattrocento Sans"/>
                          <a:ea typeface="Quattrocento Sans"/>
                        </a:rPr>
                        <a:t>THE QUESTION TO STRESS-TEST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4A5D5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998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2F3A34"/>
                          </a:solidFill>
                          <a:latin typeface="Quattrocento Sans"/>
                          <a:ea typeface="Quattrocento Sans"/>
                        </a:rPr>
                        <a:t>AI vs. the personal touch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4A5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Dosha-personalised AI concierge — recommends rituals, not SKUs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4A5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Can a chatbot carry a ritual — and whose voice does it speak in?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4A5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5998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2F3A34"/>
                          </a:solidFill>
                          <a:latin typeface="Quattrocento Sans"/>
                          <a:ea typeface="Quattrocento Sans"/>
                        </a:rPr>
                        <a:t>A ritual can't be flattened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AR / VR sensorial retail; in-home ritual try-outs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What does "trying" a multi-sensory ritual digitally even mean?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998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2F3A34"/>
                          </a:solidFill>
                          <a:latin typeface="Quattrocento Sans"/>
                          <a:ea typeface="Quattrocento Sans"/>
                        </a:rPr>
                        <a:t>Therapists keep knocking (B2B)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Tiered self-serve platform + subscription + AI vetting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How do you vet and tier thousands of practitioners at scale?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5998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2F3A34"/>
                          </a:solidFill>
                          <a:latin typeface="Quattrocento Sans"/>
                          <a:ea typeface="Quattrocento Sans"/>
                        </a:rPr>
                        <a:t>Numbers ≠ community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New community metrics beyond followers and opens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What evidence proves a community exists?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5998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2F3A34"/>
                          </a:solidFill>
                          <a:latin typeface="Quattrocento Sans"/>
                          <a:ea typeface="Quattrocento Sans"/>
                        </a:rPr>
                        <a:t>Halo without 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Connected packaging bridging Bulgari / Emirates / Lamborghini touchpoints to D2C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62B27"/>
                          </a:solidFill>
                          <a:latin typeface="Quattrocento Sans"/>
                          <a:ea typeface="Quattrocento Sans"/>
                        </a:rPr>
                        <a:t>Who owns the customer after the spa treatment ends?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note"/>
          <p:cNvSpPr txBox="1"/>
          <p:nvPr/>
        </p:nvSpPr>
        <p:spPr>
          <a:xfrm>
            <a:off x="812800" y="6045200"/>
            <a:ext cx="10566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Synthesis of the client Q&amp;A + retailer deck — these are teaching framings, not client commitments.</a:t>
            </a:r>
            <a:endParaRPr lang="en-US" sz="1000" noProof="1"/>
          </a:p>
        </p:txBody>
      </p:sp>
      <p:sp>
        <p:nvSpPr>
          <p:cNvPr id="8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9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11 / 15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MOVE 04 · CHOOSE YOUR PATH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B2B, B2C, or one workflow — the client's own framing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7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4605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ath1-head"/>
          <p:cNvSpPr txBox="1"/>
          <p:nvPr/>
        </p:nvSpPr>
        <p:spPr>
          <a:xfrm>
            <a:off x="812800" y="1752600"/>
            <a:ext cx="325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THE B2B PATH</a:t>
            </a:r>
            <a:endParaRPr lang="en-US" sz="1300" noProof="1"/>
          </a:p>
        </p:txBody>
      </p:sp>
      <p:sp>
        <p:nvSpPr>
          <p:cNvPr id="7" name="path1"/>
          <p:cNvSpPr txBox="1"/>
          <p:nvPr/>
        </p:nvSpPr>
        <p:spPr>
          <a:xfrm>
            <a:off x="812800" y="2133600"/>
            <a:ext cx="3251200" cy="299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262B27"/>
                </a:solidFill>
                <a:latin typeface="Quattrocento Sans"/>
                <a:ea typeface="Quattrocento Sans"/>
              </a:rPr>
              <a:t>You'd build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262B27"/>
                </a:solidFill>
                <a:latin typeface="Quattrocento Sans"/>
                <a:ea typeface="Quattrocento Sans"/>
              </a:rPr>
              <a:t>· Therapist community platform — tiers, subscription, vetting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262B27"/>
                </a:solidFill>
                <a:latin typeface="Quattrocento Sans"/>
                <a:ea typeface="Quattrocento Sans"/>
              </a:rPr>
              <a:t>· Retail enablement — staff training, dosha diagnostics in-store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62B27"/>
                </a:solidFill>
                <a:latin typeface="Quattrocento Sans"/>
                <a:ea typeface="Quattrocento Sans"/>
              </a:rPr>
              <a:t>Protect:</a:t>
            </a:r>
            <a:r>
              <a:rPr lang="en-US" sz="1200" noProof="1">
                <a:solidFill>
                  <a:srgbClr val="262B27"/>
                </a:solidFill>
                <a:latin typeface="Quattrocento Sans"/>
                <a:ea typeface="Quattrocento Sans"/>
              </a:rPr>
              <a:t> vetting at scale; no diluted formulas; "we don't land and languish"</a:t>
            </a:r>
            <a:endParaRPr lang="en-US" sz="1200" noProof="1"/>
          </a:p>
        </p:txBody>
      </p:sp>
      <p:sp>
        <p:nvSpPr>
          <p:cNvPr id="8" name="divider1"/>
          <p:cNvSpPr/>
          <p:nvPr/>
        </p:nvSpPr>
        <p:spPr>
          <a:xfrm>
            <a:off x="4419600" y="1778000"/>
            <a:ext cx="12700" cy="33274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2-head"/>
          <p:cNvSpPr txBox="1"/>
          <p:nvPr/>
        </p:nvSpPr>
        <p:spPr>
          <a:xfrm>
            <a:off x="4724400" y="1752600"/>
            <a:ext cx="325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THE B2C PATH</a:t>
            </a:r>
            <a:endParaRPr lang="en-US" sz="1300" noProof="1"/>
          </a:p>
        </p:txBody>
      </p:sp>
      <p:sp>
        <p:nvSpPr>
          <p:cNvPr id="10" name="path2"/>
          <p:cNvSpPr txBox="1"/>
          <p:nvPr/>
        </p:nvSpPr>
        <p:spPr>
          <a:xfrm>
            <a:off x="4724400" y="2133600"/>
            <a:ext cx="3251200" cy="299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262B27"/>
                </a:solidFill>
                <a:latin typeface="Quattrocento Sans"/>
                <a:ea typeface="Quattrocento Sans"/>
              </a:rPr>
              <a:t>You'd build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262B27"/>
                </a:solidFill>
                <a:latin typeface="Quattrocento Sans"/>
                <a:ea typeface="Quattrocento Sans"/>
              </a:rPr>
              <a:t>· AI ritual concierge — dosha quiz → personalised rituals, not SKUs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262B27"/>
                </a:solidFill>
                <a:latin typeface="Quattrocento Sans"/>
                <a:ea typeface="Quattrocento Sans"/>
              </a:rPr>
              <a:t>· AR / VR sensorial experience for newcomers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262B27"/>
                </a:solidFill>
                <a:latin typeface="Quattrocento Sans"/>
                <a:ea typeface="Quattrocento Sans"/>
              </a:rPr>
              <a:t>· Community layer for the 105k followers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62B27"/>
                </a:solidFill>
                <a:latin typeface="Quattrocento Sans"/>
                <a:ea typeface="Quattrocento Sans"/>
              </a:rPr>
              <a:t>Protect:</a:t>
            </a:r>
            <a:r>
              <a:rPr lang="en-US" sz="1200" noProof="1">
                <a:solidFill>
                  <a:srgbClr val="262B27"/>
                </a:solidFill>
                <a:latin typeface="Quattrocento Sans"/>
                <a:ea typeface="Quattrocento Sans"/>
              </a:rPr>
              <a:t> the personal touch; no discount-led growth</a:t>
            </a:r>
            <a:endParaRPr lang="en-US" sz="1200" noProof="1"/>
          </a:p>
        </p:txBody>
      </p:sp>
      <p:sp>
        <p:nvSpPr>
          <p:cNvPr id="11" name="divider2"/>
          <p:cNvSpPr/>
          <p:nvPr/>
        </p:nvSpPr>
        <p:spPr>
          <a:xfrm>
            <a:off x="8331200" y="1778000"/>
            <a:ext cx="12700" cy="33274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3-head"/>
          <p:cNvSpPr txBox="1"/>
          <p:nvPr/>
        </p:nvSpPr>
        <p:spPr>
          <a:xfrm>
            <a:off x="8636000" y="17526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ONE WORKFLOW</a:t>
            </a:r>
            <a:endParaRPr lang="en-US" sz="1300" noProof="1"/>
          </a:p>
        </p:txBody>
      </p:sp>
      <p:sp>
        <p:nvSpPr>
          <p:cNvPr id="13" name="path3"/>
          <p:cNvSpPr txBox="1"/>
          <p:nvPr/>
        </p:nvSpPr>
        <p:spPr>
          <a:xfrm>
            <a:off x="8636000" y="2133600"/>
            <a:ext cx="2743200" cy="299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262B27"/>
                </a:solidFill>
                <a:latin typeface="Quattrocento Sans"/>
                <a:ea typeface="Quattrocento Sans"/>
              </a:rPr>
              <a:t>You'd build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262B27"/>
                </a:solidFill>
                <a:latin typeface="Quattrocento Sans"/>
                <a:ea typeface="Quattrocento Sans"/>
              </a:rPr>
              <a:t>· One journey: partnership touchpoint → QR → D2C community → subscription</a:t>
            </a:r>
            <a:endParaRPr lang="en-US" sz="1200" noProof="1"/>
          </a:p>
          <a:p>
            <a:pPr>
              <a:lnSpc>
                <a:spcPct val="142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62B27"/>
                </a:solidFill>
                <a:latin typeface="Quattrocento Sans"/>
                <a:ea typeface="Quattrocento Sans"/>
              </a:rPr>
              <a:t>Protect:</a:t>
            </a:r>
            <a:r>
              <a:rPr lang="en-US" sz="1200" noProof="1">
                <a:solidFill>
                  <a:srgbClr val="262B27"/>
                </a:solidFill>
                <a:latin typeface="Quattrocento Sans"/>
                <a:ea typeface="Quattrocento Sans"/>
              </a:rPr>
              <a:t> coherence across five channels speaking to different audiences</a:t>
            </a:r>
            <a:endParaRPr lang="en-US" sz="1200" noProof="1"/>
          </a:p>
        </p:txBody>
      </p:sp>
      <p:sp>
        <p:nvSpPr>
          <p:cNvPr id="14" name="constraint-rule"/>
          <p:cNvSpPr/>
          <p:nvPr/>
        </p:nvSpPr>
        <p:spPr>
          <a:xfrm>
            <a:off x="812800" y="528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onstraint"/>
          <p:cNvSpPr txBox="1"/>
          <p:nvPr/>
        </p:nvSpPr>
        <p:spPr>
          <a:xfrm>
            <a:off x="812800" y="5435600"/>
            <a:ext cx="10566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b="1" noProof="1">
                <a:solidFill>
                  <a:srgbClr val="4A5D52"/>
                </a:solidFill>
                <a:latin typeface="Quattrocento Sans"/>
                <a:ea typeface="Quattrocento Sans"/>
              </a:rPr>
              <a:t>The binding constraint — her words: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"If we have limited resource, then where's the best place for us to execute and how is something I'd love to learn from you." Whatever you propose must say what you would </a:t>
            </a:r>
            <a:r>
              <a:rPr lang="en-US" sz="1250" i="1" noProof="1">
                <a:solidFill>
                  <a:srgbClr val="262B27"/>
                </a:solidFill>
                <a:latin typeface="Quattrocento Sans"/>
                <a:ea typeface="Quattrocento Sans"/>
              </a:rPr>
              <a:t>not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build.</a:t>
            </a:r>
            <a:endParaRPr lang="en-US" sz="1250" noProof="1"/>
          </a:p>
        </p:txBody>
      </p:sp>
      <p:sp>
        <p:nvSpPr>
          <p:cNvPr id="16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17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12 / 15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MOVE 05 · DISCUSSION SET A — DEFEND A CHOICE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Four prompts — your group picks one and takes a position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7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4605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instructions"/>
          <p:cNvSpPr txBox="1"/>
          <p:nvPr/>
        </p:nvSpPr>
        <p:spPr>
          <a:xfrm>
            <a:off x="812800" y="16764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6E7A72"/>
                </a:solidFill>
                <a:latin typeface="Quattrocento Sans"/>
                <a:ea typeface="Quattrocento Sans"/>
              </a:rPr>
              <a:t>Groups of 3–4 · 15 minutes · one prompt per group · 2-minute position to the room</a:t>
            </a:r>
            <a:endParaRPr lang="en-US" sz="1250" noProof="1"/>
          </a:p>
        </p:txBody>
      </p:sp>
      <p:sp>
        <p:nvSpPr>
          <p:cNvPr id="7" name="prompts"/>
          <p:cNvSpPr txBox="1"/>
          <p:nvPr/>
        </p:nvSpPr>
        <p:spPr>
          <a:xfrm>
            <a:off x="812800" y="2133600"/>
            <a:ext cx="10566400" cy="6783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2000" noProof="1">
                <a:solidFill>
                  <a:srgbClr val="9A6A4F"/>
                </a:solidFill>
                <a:latin typeface="Oranienbaum"/>
                <a:ea typeface="Oranienbaum"/>
              </a:rPr>
              <a:t>1</a:t>
            </a:r>
            <a:r>
              <a:rPr lang="en-US" sz="135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350" b="1" noProof="1">
                <a:solidFill>
                  <a:srgbClr val="262B27"/>
                </a:solidFill>
                <a:latin typeface="Quattrocento Sans"/>
                <a:ea typeface="Quattrocento Sans"/>
              </a:rPr>
              <a:t>Anita refuses to dilute formulas, even for spas.</a:t>
            </a:r>
            <a:r>
              <a:rPr lang="en-US" sz="1350" noProof="1">
                <a:solidFill>
                  <a:srgbClr val="262B27"/>
                </a:solidFill>
                <a:latin typeface="Quattrocento Sans"/>
                <a:ea typeface="Quattrocento Sans"/>
              </a:rPr>
              <a:t> Is this principle a moat or a growth cap? Argue one side — with a number or an example.</a:t>
            </a:r>
            <a:endParaRPr lang="en-US" sz="1350" noProof="1"/>
          </a:p>
        </p:txBody>
      </p:sp>
      <p:sp>
        <p:nvSpPr>
          <p:cNvPr id="8" name="deliverable-rule"/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liverable"/>
          <p:cNvSpPr txBox="1"/>
          <p:nvPr/>
        </p:nvSpPr>
        <p:spPr>
          <a:xfrm>
            <a:off x="812800" y="58674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50" b="1" noProof="1">
                <a:solidFill>
                  <a:srgbClr val="4A5D52"/>
                </a:solidFill>
                <a:latin typeface="Quattrocento Sans"/>
                <a:ea typeface="Quattrocento Sans"/>
              </a:rPr>
              <a:t>Deliverable:</a:t>
            </a:r>
            <a:r>
              <a:rPr lang="en-US" sz="1250" noProof="1">
                <a:solidFill>
                  <a:srgbClr val="4A5D52"/>
                </a:solidFill>
                <a:latin typeface="Quattrocento Sans"/>
                <a:ea typeface="Quattrocento Sans"/>
              </a:rPr>
              <a:t> one-sentence position + the non-negotiable it touches + the metric that would prove you right.</a:t>
            </a:r>
            <a:endParaRPr lang="en-US" sz="1250" noProof="1"/>
          </a:p>
        </p:txBody>
      </p:sp>
      <p:sp>
        <p:nvSpPr>
          <p:cNvPr id="10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11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13 / 15</a:t>
            </a:r>
            <a:endParaRPr lang="en-US" sz="1000" noProof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355E9A-C32A-381F-407B-5A509DE9E6F5}"/>
              </a:ext>
            </a:extLst>
          </p:cNvPr>
          <p:cNvSpPr txBox="1"/>
          <p:nvPr/>
        </p:nvSpPr>
        <p:spPr>
          <a:xfrm>
            <a:off x="708102" y="2598345"/>
            <a:ext cx="10671098" cy="79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2000"/>
              </a:lnSpc>
              <a:spcBef>
                <a:spcPts val="1400"/>
              </a:spcBef>
            </a:pPr>
            <a:r>
              <a:rPr lang="en-US" sz="2000" noProof="1">
                <a:solidFill>
                  <a:srgbClr val="9A6A4F"/>
                </a:solidFill>
                <a:latin typeface="Oranienbaum"/>
                <a:ea typeface="Oranienbaum"/>
              </a:rPr>
              <a:t>2</a:t>
            </a:r>
            <a:r>
              <a:rPr lang="en-US" sz="135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350" b="1" noProof="1">
                <a:solidFill>
                  <a:srgbClr val="262B27"/>
                </a:solidFill>
                <a:latin typeface="Quattrocento Sans"/>
                <a:ea typeface="Quattrocento Sans"/>
              </a:rPr>
              <a:t>She barely breaks even on first order but keeps a 77%-open newsletter.</a:t>
            </a:r>
            <a:r>
              <a:rPr lang="en-US" sz="1350" noProof="1">
                <a:solidFill>
                  <a:srgbClr val="262B27"/>
                </a:solidFill>
                <a:latin typeface="Quattrocento Sans"/>
                <a:ea typeface="Quattrocento Sans"/>
              </a:rPr>
              <a:t> Where should the next marketing pound go: Meta, community, retail theatre — or somewhere with no precedent?</a:t>
            </a:r>
            <a:endParaRPr lang="en-US" sz="1350" noProof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E72DFB-7C85-3DCD-1D2F-440973D732F8}"/>
              </a:ext>
            </a:extLst>
          </p:cNvPr>
          <p:cNvSpPr txBox="1"/>
          <p:nvPr/>
        </p:nvSpPr>
        <p:spPr>
          <a:xfrm>
            <a:off x="708102" y="3460976"/>
            <a:ext cx="10409664" cy="79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2000"/>
              </a:lnSpc>
              <a:spcBef>
                <a:spcPts val="1400"/>
              </a:spcBef>
            </a:pPr>
            <a:r>
              <a:rPr lang="en-US" sz="2000" noProof="1">
                <a:solidFill>
                  <a:srgbClr val="9A6A4F"/>
                </a:solidFill>
                <a:latin typeface="Oranienbaum"/>
                <a:ea typeface="Oranienbaum"/>
              </a:rPr>
              <a:t>3</a:t>
            </a:r>
            <a:r>
              <a:rPr lang="en-US" sz="135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350" b="1" noProof="1">
                <a:solidFill>
                  <a:srgbClr val="262B27"/>
                </a:solidFill>
                <a:latin typeface="Quattrocento Sans"/>
                <a:ea typeface="Quattrocento Sans"/>
              </a:rPr>
              <a:t>"Is she building the audience, or just the numbers?"</a:t>
            </a:r>
            <a:r>
              <a:rPr lang="en-US" sz="1350" noProof="1">
                <a:solidFill>
                  <a:srgbClr val="262B27"/>
                </a:solidFill>
                <a:latin typeface="Quattrocento Sans"/>
                <a:ea typeface="Quattrocento Sans"/>
              </a:rPr>
              <a:t> — 105k followers, unknown community. What evidence would convince the founder her Instagram is a community?</a:t>
            </a:r>
            <a:endParaRPr lang="en-US" sz="1350" noProof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27130-35C1-B47C-D592-F42705B19E07}"/>
              </a:ext>
            </a:extLst>
          </p:cNvPr>
          <p:cNvSpPr txBox="1"/>
          <p:nvPr/>
        </p:nvSpPr>
        <p:spPr>
          <a:xfrm>
            <a:off x="708102" y="4323607"/>
            <a:ext cx="10566400" cy="489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2000"/>
              </a:lnSpc>
              <a:spcBef>
                <a:spcPts val="1400"/>
              </a:spcBef>
            </a:pPr>
            <a:r>
              <a:rPr lang="en-US" sz="2000" noProof="1">
                <a:solidFill>
                  <a:srgbClr val="9A6A4F"/>
                </a:solidFill>
                <a:latin typeface="Oranienbaum"/>
                <a:ea typeface="Oranienbaum"/>
              </a:rPr>
              <a:t>4</a:t>
            </a:r>
            <a:r>
              <a:rPr lang="en-US" sz="1350" noProof="1">
                <a:solidFill>
                  <a:srgbClr val="262B27"/>
                </a:solidFill>
                <a:latin typeface="Quattrocento Sans"/>
                <a:ea typeface="Quattrocento Sans"/>
              </a:rPr>
              <a:t>  </a:t>
            </a:r>
            <a:r>
              <a:rPr lang="en-US" sz="1350" b="1" noProof="1">
                <a:solidFill>
                  <a:srgbClr val="262B27"/>
                </a:solidFill>
                <a:latin typeface="Quattrocento Sans"/>
                <a:ea typeface="Quattrocento Sans"/>
              </a:rPr>
              <a:t>Two −20% sale events anchor the revenue year.</a:t>
            </a:r>
            <a:r>
              <a:rPr lang="en-US" sz="1350" noProof="1">
                <a:solidFill>
                  <a:srgbClr val="262B27"/>
                </a:solidFill>
                <a:latin typeface="Quattrocento Sans"/>
                <a:ea typeface="Quattrocento Sans"/>
              </a:rPr>
              <a:t> Design the exit: what replaces them, how fast, and what happens to revenue in year one?</a:t>
            </a:r>
            <a:endParaRPr lang="en-US" sz="135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MOVE 05 · DISCUSSION SET B — INVENT THE METRIC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Propose a number the market hasn't seen yet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7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4605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why"/>
          <p:cNvSpPr txBox="1"/>
          <p:nvPr/>
        </p:nvSpPr>
        <p:spPr>
          <a:xfrm>
            <a:off x="812800" y="1727200"/>
            <a:ext cx="10566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262B27"/>
                </a:solidFill>
                <a:latin typeface="Quattrocento Sans"/>
                <a:ea typeface="Quattrocento Sans"/>
              </a:rPr>
              <a:t>What describes </a:t>
            </a:r>
            <a:r>
              <a:rPr lang="en-US" sz="1300" b="1" noProof="1">
                <a:solidFill>
                  <a:srgbClr val="262B27"/>
                </a:solidFill>
                <a:latin typeface="Quattrocento Sans"/>
                <a:ea typeface="Quattrocento Sans"/>
              </a:rPr>
              <a:t>ritual, community, and wellbeing</a:t>
            </a:r>
            <a:r>
              <a:rPr lang="en-US" sz="1300" noProof="1">
                <a:solidFill>
                  <a:srgbClr val="262B27"/>
                </a:solidFill>
                <a:latin typeface="Quattrocento Sans"/>
                <a:ea typeface="Quattrocento Sans"/>
              </a:rPr>
              <a:t>?</a:t>
            </a:r>
            <a:endParaRPr lang="en-US" sz="1300" noProof="1"/>
          </a:p>
        </p:txBody>
      </p:sp>
      <p:sp>
        <p:nvSpPr>
          <p:cNvPr id="7" name="criteria-head"/>
          <p:cNvSpPr txBox="1"/>
          <p:nvPr/>
        </p:nvSpPr>
        <p:spPr>
          <a:xfrm>
            <a:off x="812800" y="2641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THREE PASS CRITERIA</a:t>
            </a:r>
            <a:endParaRPr lang="en-US" sz="1200" noProof="1"/>
          </a:p>
        </p:txBody>
      </p:sp>
      <p:sp>
        <p:nvSpPr>
          <p:cNvPr id="8" name="criteria"/>
          <p:cNvSpPr txBox="1"/>
          <p:nvPr/>
        </p:nvSpPr>
        <p:spPr>
          <a:xfrm>
            <a:off x="812800" y="29972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1 ·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Measurable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with data a brand this size can actually collect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2 ·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Tied to a non-negotiable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it must move when the brand's values are honoured or diluted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3 ·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Future-proof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still meaningful in 10 years, on platforms that don't exist yet</a:t>
            </a:r>
            <a:endParaRPr lang="en-US" sz="1250" noProof="1"/>
          </a:p>
        </p:txBody>
      </p:sp>
      <p:sp>
        <p:nvSpPr>
          <p:cNvPr id="9" name="seeds-divider"/>
          <p:cNvSpPr/>
          <p:nvPr/>
        </p:nvSpPr>
        <p:spPr>
          <a:xfrm>
            <a:off x="6502400" y="2667000"/>
            <a:ext cx="12700" cy="20066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seeds-head"/>
          <p:cNvSpPr txBox="1"/>
          <p:nvPr/>
        </p:nvSpPr>
        <p:spPr>
          <a:xfrm>
            <a:off x="6807200" y="26416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SEED EXAMPLES — STEAL OR REJECT</a:t>
            </a:r>
            <a:endParaRPr lang="en-US" sz="1200" noProof="1"/>
          </a:p>
        </p:txBody>
      </p:sp>
      <p:sp>
        <p:nvSpPr>
          <p:cNvPr id="11" name="seeds"/>
          <p:cNvSpPr txBox="1"/>
          <p:nvPr/>
        </p:nvSpPr>
        <p:spPr>
          <a:xfrm>
            <a:off x="6807200" y="2997200"/>
            <a:ext cx="4572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Ritual-completion rate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% of buyers who finish a 21-day ritual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Feel-good ROI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self-reported wellbeing return per £ spent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Therapist community health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— activity, retention and referral inside the B2B network</a:t>
            </a:r>
            <a:endParaRPr lang="en-US" sz="1250" noProof="1"/>
          </a:p>
        </p:txBody>
      </p:sp>
      <p:sp>
        <p:nvSpPr>
          <p:cNvPr id="12" name="deliverable-rule"/>
          <p:cNvSpPr/>
          <p:nvPr/>
        </p:nvSpPr>
        <p:spPr>
          <a:xfrm>
            <a:off x="812800" y="51308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deliverable"/>
          <p:cNvSpPr txBox="1"/>
          <p:nvPr/>
        </p:nvSpPr>
        <p:spPr>
          <a:xfrm>
            <a:off x="812800" y="52832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300" b="1" noProof="1">
                <a:solidFill>
                  <a:srgbClr val="9A6A4F"/>
                </a:solidFill>
                <a:latin typeface="Quattrocento Sans"/>
                <a:ea typeface="Quattrocento Sans"/>
              </a:rPr>
              <a:t>Deliverable — one metric, fully specified:</a:t>
            </a:r>
            <a:r>
              <a:rPr lang="en-US" sz="1300" noProof="1">
                <a:solidFill>
                  <a:srgbClr val="9A6A4F"/>
                </a:solidFill>
                <a:latin typeface="Quattrocento Sans"/>
                <a:ea typeface="Quattrocento Sans"/>
              </a:rPr>
              <a:t> its name, its definition, how you would collect it, the decision it changes, and why a sceptical founder should trust it more than an open rate.</a:t>
            </a:r>
            <a:endParaRPr lang="en-US" sz="1300" noProof="1"/>
          </a:p>
        </p:txBody>
      </p:sp>
      <p:sp>
        <p:nvSpPr>
          <p:cNvPr id="14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15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14 / 15</a:t>
            </a:r>
            <a:endParaRPr lang="en-US" sz="10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CLOSE · THE BRIEF, THE ASSETS, YOUR DELIVERABLE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5000"/>
              </a:lnSpc>
            </a:pPr>
            <a:r>
              <a:rPr lang="en-US" sz="3000" noProof="1">
                <a:solidFill>
                  <a:srgbClr val="262B27"/>
                </a:solidFill>
                <a:latin typeface="Oranienbaum"/>
                <a:ea typeface="Oranienbaum"/>
              </a:rPr>
              <a:t>Carry a ritual into the future without flattening it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73200"/>
            <a:ext cx="105664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-rule-accent"/>
          <p:cNvSpPr/>
          <p:nvPr/>
        </p:nvSpPr>
        <p:spPr>
          <a:xfrm>
            <a:off x="812800" y="1460500"/>
            <a:ext cx="812800" cy="38100"/>
          </a:xfrm>
          <a:prstGeom prst="rect">
            <a:avLst/>
          </a:prstGeom>
          <a:solidFill>
            <a:srgbClr val="9A6A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ief"/>
          <p:cNvSpPr txBox="1"/>
          <p:nvPr/>
        </p:nvSpPr>
        <p:spPr>
          <a:xfrm>
            <a:off x="812800" y="1727200"/>
            <a:ext cx="7620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262B27"/>
                </a:solidFill>
                <a:latin typeface="Quattrocento Sans"/>
                <a:ea typeface="Quattrocento Sans"/>
              </a:rPr>
              <a:t>A 10-year-old Ayurvedic luxury brand, sought out by Bulgari and Lamborghini, with almost no technology in its stack, asks: show how AI, AR/VR and emerging commerce can carry a multi-sensory ritual to new audiences — </a:t>
            </a:r>
            <a:r>
              <a:rPr lang="en-US" sz="1300" b="1" noProof="1">
                <a:solidFill>
                  <a:srgbClr val="262B27"/>
                </a:solidFill>
                <a:latin typeface="Quattrocento Sans"/>
                <a:ea typeface="Quattrocento Sans"/>
              </a:rPr>
              <a:t>without flattening it into a SKU, without discount-led growth, without losing coherence across five channels</a:t>
            </a:r>
            <a:r>
              <a:rPr lang="en-US" sz="1300" noProof="1">
                <a:solidFill>
                  <a:srgbClr val="262B27"/>
                </a:solidFill>
                <a:latin typeface="Quattrocento Sans"/>
                <a:ea typeface="Quattrocento Sans"/>
              </a:rPr>
              <a:t> — with new metrics that measure what actually makes the brand work. With limited resources. Tell us where to start.</a:t>
            </a:r>
            <a:endParaRPr lang="en-US" sz="1300" noProof="1"/>
          </a:p>
        </p:txBody>
      </p:sp>
      <p:sp>
        <p:nvSpPr>
          <p:cNvPr id="7" name="assets-head"/>
          <p:cNvSpPr txBox="1"/>
          <p:nvPr/>
        </p:nvSpPr>
        <p:spPr>
          <a:xfrm>
            <a:off x="812800" y="3200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4A5D52"/>
                </a:solidFill>
                <a:latin typeface="Quattrocento Sans"/>
                <a:ea typeface="Quattrocento Sans"/>
              </a:rPr>
              <a:t>WHAT LANDS ON YOUR DESK</a:t>
            </a:r>
            <a:endParaRPr lang="en-US" sz="1200" noProof="1"/>
          </a:p>
        </p:txBody>
      </p:sp>
      <p:sp>
        <p:nvSpPr>
          <p:cNvPr id="8" name="assets"/>
          <p:cNvSpPr txBox="1"/>
          <p:nvPr/>
        </p:nvSpPr>
        <p:spPr>
          <a:xfrm>
            <a:off x="812800" y="3556000"/>
            <a:ext cx="7620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Brand deck — </a:t>
            </a:r>
            <a:r>
              <a:rPr lang="en-US" sz="1250" b="1" noProof="1">
                <a:solidFill>
                  <a:srgbClr val="262B27"/>
                </a:solidFill>
                <a:latin typeface="Quattrocento Sans"/>
                <a:ea typeface="Quattrocento Sans"/>
              </a:rPr>
              <a:t>received</a:t>
            </a: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 (Aug 2026 retailer deck, 42 pp): positioning, market data, products, prices, B2B offer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Product samples — hair oil and hero serum, to the class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Competitor list (~8–9 brands): Aesop, Susanne Kaufmann, Ranavat, plus mass price benchmarks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62B27"/>
                </a:solidFill>
                <a:latin typeface="Quattrocento Sans"/>
                <a:ea typeface="Quattrocento Sans"/>
              </a:rPr>
              <a:t>· Direct founder access; deck contacts — Sales Adam · Marketing Erin · Orders Zehra · Ops Desi @ maulirituals.com</a:t>
            </a:r>
            <a:endParaRPr lang="en-US" sz="1250" noProof="1"/>
          </a:p>
        </p:txBody>
      </p:sp>
      <p:sp>
        <p:nvSpPr>
          <p:cNvPr id="9" name="output-rule"/>
          <p:cNvSpPr/>
          <p:nvPr/>
        </p:nvSpPr>
        <p:spPr>
          <a:xfrm>
            <a:off x="812800" y="5435600"/>
            <a:ext cx="7620000" cy="12700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utput"/>
          <p:cNvSpPr txBox="1"/>
          <p:nvPr/>
        </p:nvSpPr>
        <p:spPr>
          <a:xfrm>
            <a:off x="812800" y="55880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b="1" noProof="1">
                <a:solidFill>
                  <a:srgbClr val="9A6A4F"/>
                </a:solidFill>
                <a:latin typeface="Quattrocento Sans"/>
                <a:ea typeface="Quattrocento Sans"/>
              </a:rPr>
              <a:t>Your output to the client: one path, one workflow sketch, one new metric.</a:t>
            </a:r>
            <a:endParaRPr lang="en-US" sz="1400" noProof="1"/>
          </a:p>
        </p:txBody>
      </p:sp>
      <p:pic>
        <p:nvPicPr>
          <p:cNvPr id="11" name="close-img"/>
          <p:cNvPicPr/>
          <p:nvPr/>
        </p:nvPicPr>
        <p:blipFill>
          <a:blip r:embed="rId3"/>
          <a:srcRect l="8142" r="8142"/>
          <a:stretch>
            <a:fillRect/>
          </a:stretch>
        </p:blipFill>
        <p:spPr>
          <a:xfrm>
            <a:off x="8890000" y="1727200"/>
            <a:ext cx="2489200" cy="4368800"/>
          </a:xfrm>
          <a:prstGeom prst="rect">
            <a:avLst/>
          </a:prstGeom>
          <a:ln>
            <a:noFill/>
          </a:ln>
        </p:spPr>
      </p:pic>
      <p:sp>
        <p:nvSpPr>
          <p:cNvPr id="12" name="footer"/>
          <p:cNvSpPr txBox="1"/>
          <p:nvPr/>
        </p:nvSpPr>
        <p:spPr>
          <a:xfrm>
            <a:off x="8128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kern="0" spc="100" noProof="1">
                <a:solidFill>
                  <a:srgbClr val="6E7A72"/>
                </a:solidFill>
                <a:latin typeface="Quattrocento Sans"/>
                <a:ea typeface="Quattrocento Sans"/>
              </a:rPr>
              <a:t>FUTURE OF COMMERCE · MAULI RITUALS CLIENT BRIEF</a:t>
            </a:r>
            <a:endParaRPr lang="en-US" sz="1000" noProof="1"/>
          </a:p>
        </p:txBody>
      </p:sp>
      <p:sp>
        <p:nvSpPr>
          <p:cNvPr id="13" name="folio"/>
          <p:cNvSpPr txBox="1"/>
          <p:nvPr/>
        </p:nvSpPr>
        <p:spPr>
          <a:xfrm>
            <a:off x="108712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7A72"/>
                </a:solidFill>
                <a:latin typeface="Quattrocento Sans"/>
                <a:ea typeface="Quattrocento Sans"/>
              </a:rPr>
              <a:t>15 / 15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2728</Words>
  <Application>Microsoft Macintosh PowerPoint</Application>
  <PresentationFormat>Widescreen</PresentationFormat>
  <Paragraphs>215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Quattrocento Sans</vt:lpstr>
      <vt:lpstr>Oranienbaum</vt:lpstr>
      <vt:lpstr>PPTD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Mauli Rituals — Client Challenge Discussion</dc:title>
  <cp:lastModifiedBy>Nikhil Soi</cp:lastModifiedBy>
  <cp:revision>5</cp:revision>
  <dcterms:modified xsi:type="dcterms:W3CDTF">2026-09-14T12:19:58Z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