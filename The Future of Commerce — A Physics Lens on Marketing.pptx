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0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03" r:id="rId16"/>
    <p:sldId id="304" r:id="rId17"/>
    <p:sldId id="305" r:id="rId18"/>
    <p:sldId id="306" r:id="rId19"/>
    <p:sldId id="307" r:id="rId20"/>
    <p:sldId id="308" r:id="rId21"/>
  </p:sldIdLst>
  <p:sldSz cx="12192000" cy="6858000"/>
  <p:notesSz cx="12192000" cy="6858000"/>
  <p:embeddedFontLst>
    <p:embeddedFont>
      <p:font typeface="MiSans" pitchFamily="2" charset="-122"/>
      <p:regular r:id="rId23"/>
    </p:embeddedFont>
    <p:embeddedFont>
      <p:font typeface="Quattrocento Sans" panose="020B0502050000020003" pitchFamily="34" charset="0"/>
      <p:regular r:id="rId24"/>
      <p:bold r:id="rId25"/>
      <p:italic r:id="rId26"/>
      <p:boldItalic r:id="rId27"/>
    </p:embeddedFont>
    <p:embeddedFont>
      <p:font typeface="Unna" panose="02040503070705020203" pitchFamily="18" charset="77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6" d="100"/>
          <a:sy n="116" d="100"/>
        </p:scale>
        <p:origin x="145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Share of population (%)</c:v>
          </c:tx>
          <c:spPr>
            <a:solidFill>
              <a:srgbClr val="175E54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 noProof="1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Innovators</c:v>
              </c:pt>
              <c:pt idx="1">
                <c:v>Early adopters</c:v>
              </c:pt>
              <c:pt idx="2">
                <c:v>Early majority</c:v>
              </c:pt>
              <c:pt idx="3">
                <c:v>Late majority</c:v>
              </c:pt>
              <c:pt idx="4">
                <c:v>Laggards</c:v>
              </c:pt>
            </c:strLit>
          </c:cat>
          <c:val>
            <c:numLit>
              <c:formatCode>General</c:formatCode>
              <c:ptCount val="5"/>
              <c:pt idx="0">
                <c:v>2.5</c:v>
              </c:pt>
              <c:pt idx="1">
                <c:v>13.5</c:v>
              </c:pt>
              <c:pt idx="2">
                <c:v>34</c:v>
              </c:pt>
              <c:pt idx="3">
                <c:v>34</c:v>
              </c:pt>
              <c:pt idx="4">
                <c:v>16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411-514D-B602-D387FDA28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axId val="1"/>
        <c:axId val="2"/>
      </c:barChart>
      <c:lineChart>
        <c:grouping val="standard"/>
        <c:varyColors val="0"/>
        <c:ser>
          <c:idx val="1"/>
          <c:order val="1"/>
          <c:tx>
            <c:v>Cumulative adoption — the S-curve (%)</c:v>
          </c:tx>
          <c:spPr>
            <a:ln w="25400">
              <a:solidFill>
                <a:srgbClr val="BC4B26"/>
              </a:solidFill>
            </a:ln>
          </c:spPr>
          <c:marker>
            <c:symbol val="circle"/>
            <c:size val="6"/>
            <c:spPr>
              <a:solidFill>
                <a:srgbClr val="BC4B26"/>
              </a:solidFill>
              <a:ln w="25400">
                <a:solidFill>
                  <a:srgbClr val="BC4B26"/>
                </a:solidFill>
              </a:ln>
            </c:spPr>
          </c:marker>
          <c:cat>
            <c:strLit>
              <c:ptCount val="5"/>
              <c:pt idx="0">
                <c:v>Innovators</c:v>
              </c:pt>
              <c:pt idx="1">
                <c:v>Early adopters</c:v>
              </c:pt>
              <c:pt idx="2">
                <c:v>Early majority</c:v>
              </c:pt>
              <c:pt idx="3">
                <c:v>Late majority</c:v>
              </c:pt>
              <c:pt idx="4">
                <c:v>Laggards</c:v>
              </c:pt>
            </c:strLit>
          </c:cat>
          <c:val>
            <c:numLit>
              <c:formatCode>General</c:formatCode>
              <c:ptCount val="5"/>
              <c:pt idx="0">
                <c:v>2.5</c:v>
              </c:pt>
              <c:pt idx="1">
                <c:v>16</c:v>
              </c:pt>
              <c:pt idx="2">
                <c:v>50</c:v>
              </c:pt>
              <c:pt idx="3">
                <c:v>84</c:v>
              </c:pt>
              <c:pt idx="4">
                <c:v>100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411-514D-B602-D387FDA28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3"/>
      </c:line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solidFill>
                  <a:srgbClr val="6E675C"/>
                </a:solidFill>
                <a:latin typeface="Quattrocento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40"/>
          <c:min val="0"/>
        </c:scaling>
        <c:delete val="0"/>
        <c:axPos val="l"/>
        <c:majorGridlines>
          <c:spPr>
            <a:ln w="12700">
              <a:solidFill>
                <a:srgbClr val="D9D2C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solidFill>
                  <a:srgbClr val="6E675C"/>
                </a:solidFill>
                <a:latin typeface="Quattrocento Sans"/>
              </a:defRPr>
            </a:pPr>
            <a:endParaRPr lang="en-US"/>
          </a:p>
        </c:txPr>
        <c:crossAx val="1"/>
        <c:crosses val="autoZero"/>
        <c:crossBetween val="between"/>
      </c:val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b="0" i="0" u="none" strike="noStrike" noProof="1">
                <a:solidFill>
                  <a:srgbClr val="6E675C"/>
                </a:solidFill>
                <a:latin typeface="Quattrocento Sans"/>
              </a:defRPr>
            </a:pPr>
            <a:endParaRPr lang="en-US"/>
          </a:p>
        </c:txPr>
        <c:crossAx val="1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000" b="0" i="0" u="none" strike="noStrike" noProof="1">
              <a:solidFill>
                <a:srgbClr val="6E675C"/>
              </a:solidFill>
              <a:latin typeface="Quattrocento Sans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Quattrocento Sans"/>
        </a:defRPr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97922-8E1A-554C-A193-C31E0D4D0846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8E144-938B-D840-BA9C-BB447C28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Think of the last thing you bought online. Raise your hand if, in the moment, it genuinely felt like </a:t>
            </a:r>
            <a:r>
              <a:rPr lang="en-US" i="1"/>
              <a:t>your</a:t>
            </a:r>
            <a:r>
              <a:rPr lang="en-US"/>
              <a:t> idea.”</a:t>
            </a:r>
          </a:p>
          <a:p>
            <a:endParaRPr lang="en-US"/>
          </a:p>
          <a:p>
            <a:r>
              <a:rPr lang="en-US"/>
              <a:t>"Keep your hand up if you'd told no one about it, seen no ad, and gotten no recommendation before buying.”</a:t>
            </a:r>
          </a:p>
          <a:p>
            <a:endParaRPr lang="en-US"/>
          </a:p>
          <a:p>
            <a:pPr fontAlgn="base"/>
            <a:r>
              <a:rPr lang="en-US"/>
              <a:t>"This session is about what actually happened in the three weeks before that purchase."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8E144-938B-D840-BA9C-BB447C28EC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09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Creative Intuition &amp; Storytelling</a:t>
            </a:r>
            <a:br>
              <a:rPr lang="en-US"/>
            </a:br>
            <a:r>
              <a:rPr lang="en-US"/>
              <a:t>Tapping into raw human emotion and universal desires to sell a lifestyle.Print, TV, radio, and multi-martini client lunches.</a:t>
            </a:r>
            <a:r>
              <a:rPr lang="en-US" b="1"/>
              <a:t>Brand Awareness</a:t>
            </a:r>
            <a:r>
              <a:rPr lang="en-US"/>
              <a:t> </a:t>
            </a:r>
            <a:br>
              <a:rPr lang="en-US"/>
            </a:br>
            <a:r>
              <a:rPr lang="en-US"/>
              <a:t>Reach, catchphrases, and cultural resonance.</a:t>
            </a:r>
          </a:p>
          <a:p>
            <a:r>
              <a:rPr lang="en-US" b="1"/>
              <a:t>Moneyball Era</a:t>
            </a:r>
            <a:r>
              <a:rPr lang="en-US"/>
              <a:t> </a:t>
            </a:r>
            <a:br>
              <a:rPr lang="en-US"/>
            </a:br>
            <a:r>
              <a:rPr lang="en-US" i="1"/>
              <a:t>(2000s–2010s)</a:t>
            </a:r>
            <a:r>
              <a:rPr lang="en-US" b="1"/>
              <a:t>Data-Driven Efficiency</a:t>
            </a:r>
            <a:br>
              <a:rPr lang="en-US"/>
            </a:br>
            <a:r>
              <a:rPr lang="en-US"/>
              <a:t>Applying statistical analysis to media buying, abandoning "gut feelings" for hard metrics.</a:t>
            </a:r>
          </a:p>
          <a:p>
            <a:r>
              <a:rPr lang="en-US"/>
              <a:t>A/B testing, Google Analytics, SEO, and social ad managers.</a:t>
            </a:r>
            <a:r>
              <a:rPr lang="en-US" b="1"/>
              <a:t>Performance Metrics</a:t>
            </a:r>
            <a:r>
              <a:rPr lang="en-US"/>
              <a:t> </a:t>
            </a:r>
            <a:br>
              <a:rPr lang="en-US"/>
            </a:br>
            <a:r>
              <a:rPr lang="en-US"/>
              <a:t>Click-through rates (CTR), CAC, and ROAS.</a:t>
            </a:r>
          </a:p>
          <a:p>
            <a:r>
              <a:rPr lang="en-US" b="1"/>
              <a:t>The AI Era</a:t>
            </a:r>
            <a:r>
              <a:rPr lang="en-US"/>
              <a:t> </a:t>
            </a:r>
            <a:br>
              <a:rPr lang="en-US"/>
            </a:br>
            <a:r>
              <a:rPr lang="en-US" i="1"/>
              <a:t>(Present Day)</a:t>
            </a:r>
            <a:r>
              <a:rPr lang="en-US" b="1"/>
              <a:t>Predictive Hyper-Personalisation</a:t>
            </a:r>
            <a:br>
              <a:rPr lang="en-US"/>
            </a:br>
            <a:r>
              <a:rPr lang="en-US"/>
              <a:t>Using machine learning to anticipate consumer needs and automate content creation.Predictive AI, generative copy tools, and dynamic creative optimization.</a:t>
            </a:r>
            <a:r>
              <a:rPr lang="en-US" b="1"/>
              <a:t>Customer Lifetime Value</a:t>
            </a:r>
            <a:r>
              <a:rPr lang="en-US"/>
              <a:t> </a:t>
            </a:r>
            <a:br>
              <a:rPr lang="en-US"/>
            </a:br>
            <a:r>
              <a:rPr lang="en-US"/>
              <a:t>Retention, predictive conversion, and dynamic engagement.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5B367D-80C4-884F-9606-EBD282827F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01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rkroomagency.com/observatory/how-chatgpt-shopping-transforms-online-purchasing" TargetMode="External"/><Relationship Id="rId2" Type="http://schemas.openxmlformats.org/officeDocument/2006/relationships/hyperlink" Target="https://www.digitalcommerce360.com/2026/06/17/adobe-ai-referred-traffic-to-retail-sites-doubles-in-a-year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ellerscommerce.com/blog/us-ecommerce-sales/" TargetMode="External"/><Relationship Id="rId4" Type="http://schemas.openxmlformats.org/officeDocument/2006/relationships/hyperlink" Target="https://ai-showreel.com/en/cas/perplexity-buy-with-pro-2024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elpanda.ai/statistics/online-shopping-statistics" TargetMode="External"/><Relationship Id="rId2" Type="http://schemas.openxmlformats.org/officeDocument/2006/relationships/hyperlink" Target="https://www.census.gov/retail/mrts/www/data/pdf/ec_current.pdf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salesforce.com/news/stories/consumer-shopping-ai-trends-2025/" TargetMode="External"/><Relationship Id="rId4" Type="http://schemas.openxmlformats.org/officeDocument/2006/relationships/hyperlink" Target="https://www.ringly.io/blog/social-commerce-statistics-2026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arvio.io/blog/amazon-rufus-ai-search" TargetMode="External"/><Relationship Id="rId2" Type="http://schemas.openxmlformats.org/officeDocument/2006/relationships/hyperlink" Target="https://www.sellerscommerce.com/blog/ecommerce-statistic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3" name="shade"/>
          <p:cNvSpPr/>
          <p:nvPr/>
        </p:nvSpPr>
        <p:spPr>
          <a:xfrm>
            <a:off x="0" y="11151"/>
            <a:ext cx="12192000" cy="6858000"/>
          </a:xfrm>
          <a:prstGeom prst="rect">
            <a:avLst/>
          </a:prstGeom>
          <a:gradFill rotWithShape="1">
            <a:gsLst>
              <a:gs pos="0">
                <a:srgbClr val="0C1424">
                  <a:alpha val="96078"/>
                </a:srgbClr>
              </a:gs>
              <a:gs pos="52000">
                <a:srgbClr val="0C1424">
                  <a:alpha val="70196"/>
                </a:srgbClr>
              </a:gs>
              <a:gs pos="100000">
                <a:srgbClr val="0C1424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kicker"/>
          <p:cNvSpPr txBox="1"/>
          <p:nvPr/>
        </p:nvSpPr>
        <p:spPr>
          <a:xfrm>
            <a:off x="762000" y="762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300" noProof="1">
                <a:solidFill>
                  <a:srgbClr val="E8B04B"/>
                </a:solidFill>
                <a:latin typeface="MiSans"/>
                <a:ea typeface="MiSans"/>
              </a:rPr>
              <a:t>MARKETING IN PRACTICE</a:t>
            </a:r>
            <a:endParaRPr lang="en-US" sz="1100" noProof="1"/>
          </a:p>
        </p:txBody>
      </p:sp>
      <p:sp>
        <p:nvSpPr>
          <p:cNvPr id="5" name="title"/>
          <p:cNvSpPr txBox="1"/>
          <p:nvPr/>
        </p:nvSpPr>
        <p:spPr>
          <a:xfrm>
            <a:off x="762000" y="3556000"/>
            <a:ext cx="889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noProof="1">
                <a:solidFill>
                  <a:srgbClr val="EFEAE0"/>
                </a:solidFill>
                <a:latin typeface="MiSans"/>
                <a:ea typeface="MiSans"/>
              </a:rPr>
              <a:t>THE FUTURE OF COMMERCE</a:t>
            </a:r>
            <a:endParaRPr lang="en-US" sz="1600" noProof="1"/>
          </a:p>
        </p:txBody>
      </p:sp>
      <p:pic>
        <p:nvPicPr>
          <p:cNvPr id="8" name="Picture 7" descr="Until the End of Time: Mind, Matter, and Our Search for Meaning in an Evolving Universe by Brian Greene | Goodreads">
            <a:extLst>
              <a:ext uri="{FF2B5EF4-FFF2-40B4-BE49-F238E27FC236}">
                <a16:creationId xmlns:a16="http://schemas.microsoft.com/office/drawing/2014/main" id="{5ECDFEBC-8F8A-F498-1486-0F37AB5B7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166" y="11151"/>
            <a:ext cx="1683834" cy="2535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me poster image">
            <a:extLst>
              <a:ext uri="{FF2B5EF4-FFF2-40B4-BE49-F238E27FC236}">
                <a16:creationId xmlns:a16="http://schemas.microsoft.com/office/drawing/2014/main" id="{9029B366-787D-3EE1-0EEA-E3CA89BAB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4147457" cy="4147457"/>
          </a:xfrm>
          <a:prstGeom prst="rect">
            <a:avLst/>
          </a:prstGeom>
        </p:spPr>
      </p:pic>
      <p:pic>
        <p:nvPicPr>
          <p:cNvPr id="3" name="Picture 2" descr="Prime Video: Moneyball">
            <a:extLst>
              <a:ext uri="{FF2B5EF4-FFF2-40B4-BE49-F238E27FC236}">
                <a16:creationId xmlns:a16="http://schemas.microsoft.com/office/drawing/2014/main" id="{A19FBE7D-8666-5FC6-488B-601F7494F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185" y="2197891"/>
            <a:ext cx="5083629" cy="2859541"/>
          </a:xfrm>
          <a:prstGeom prst="rect">
            <a:avLst/>
          </a:prstGeom>
        </p:spPr>
      </p:pic>
      <p:pic>
        <p:nvPicPr>
          <p:cNvPr id="4" name="Picture 3" descr="The Social Dilemma | Netflix Media Center">
            <a:extLst>
              <a:ext uri="{FF2B5EF4-FFF2-40B4-BE49-F238E27FC236}">
                <a16:creationId xmlns:a16="http://schemas.microsoft.com/office/drawing/2014/main" id="{E47AECD0-ACA6-287B-21AF-DD779D8B7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814" y="397326"/>
            <a:ext cx="3554185" cy="646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91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Is your next purchase already decided?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left-body"/>
          <p:cNvSpPr txBox="1"/>
          <p:nvPr/>
        </p:nvSpPr>
        <p:spPr>
          <a:xfrm>
            <a:off x="590550" y="1511300"/>
            <a:ext cx="4699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Humans are made of elementary particles. Those particles follow strict mathematical laws, past conditions fully determine every future outcome, leaving no space for a conscious mind to intervene. Even quantum randomness does not rescue free will a purely random event is no more "chosen" than a determined one.</a:t>
            </a:r>
            <a:endParaRPr lang="en-US" sz="1300" noProof="1"/>
          </a:p>
        </p:txBody>
      </p:sp>
      <p:sp>
        <p:nvSpPr>
          <p:cNvPr id="7" name="left-div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eyJ2aWV3Qm94IjpbMzcwLDFdLCJwb2ludHMiOiIwLDAgMzcwLDAiLCJjdXJ2ZSI6InNoYXJwIn0</pptd:line>
              </p:ext>
            </p:extLst>
          </p:nvPr>
        </p:nvSpPr>
        <p:spPr>
          <a:xfrm>
            <a:off x="590550" y="3841750"/>
            <a:ext cx="4699000" cy="12700"/>
          </a:xfrm>
          <a:custGeom>
            <a:avLst/>
            <a:gdLst/>
            <a:ahLst/>
            <a:cxnLst/>
            <a:rect l="l" t="t" r="r" b="b"/>
            <a:pathLst>
              <a:path w="370" h="1">
                <a:moveTo>
                  <a:pt x="0" y="0"/>
                </a:moveTo>
                <a:lnTo>
                  <a:pt x="370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care-h"/>
          <p:cNvSpPr txBox="1"/>
          <p:nvPr/>
        </p:nvSpPr>
        <p:spPr>
          <a:xfrm>
            <a:off x="609600" y="424815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E8B04B"/>
                </a:solidFill>
                <a:latin typeface="MiSans"/>
                <a:ea typeface="MiSans"/>
              </a:rPr>
              <a:t>Why a marketer should care</a:t>
            </a:r>
            <a:endParaRPr lang="en-US" sz="1400" noProof="1"/>
          </a:p>
        </p:txBody>
      </p:sp>
      <p:sp>
        <p:nvSpPr>
          <p:cNvPr id="9" name="care-body"/>
          <p:cNvSpPr txBox="1"/>
          <p:nvPr/>
        </p:nvSpPr>
        <p:spPr>
          <a:xfrm>
            <a:off x="609600" y="4749800"/>
            <a:ext cx="469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Swap "particles" for "consumers" and "physical laws" for "algorithms + data". Then ask is the purchase decision the last piece of free will left?</a:t>
            </a:r>
            <a:endParaRPr lang="en-US" sz="1300" noProof="1"/>
          </a:p>
        </p:txBody>
      </p:sp>
      <p:sp>
        <p:nvSpPr>
          <p:cNvPr id="10" name="src"/>
          <p:cNvSpPr txBox="1"/>
          <p:nvPr/>
        </p:nvSpPr>
        <p:spPr>
          <a:xfrm>
            <a:off x="609600" y="64516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Source physics argument · Brian Greene, Until the End of Time (2020)</a:t>
            </a:r>
            <a:endParaRPr lang="en-US" sz="950" noProof="1"/>
          </a:p>
        </p:txBody>
      </p:sp>
      <p:sp>
        <p:nvSpPr>
          <p:cNvPr id="11" name="node-a"/>
          <p:cNvSpPr/>
          <p:nvPr/>
        </p:nvSpPr>
        <p:spPr>
          <a:xfrm>
            <a:off x="5842000" y="1651000"/>
            <a:ext cx="2413000" cy="7874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node-a-t"/>
          <p:cNvSpPr txBox="1"/>
          <p:nvPr/>
        </p:nvSpPr>
        <p:spPr>
          <a:xfrm>
            <a:off x="5842000" y="16510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E8B04B"/>
                </a:solidFill>
                <a:latin typeface="MiSans"/>
                <a:ea typeface="MiSans"/>
              </a:rPr>
              <a:t>DETERMINISM</a:t>
            </a:r>
            <a:endParaRPr lang="en-US" sz="1400" noProof="1"/>
          </a:p>
        </p:txBody>
      </p:sp>
      <p:sp>
        <p:nvSpPr>
          <p:cNvPr id="13" name="cap-a"/>
          <p:cNvSpPr txBox="1"/>
          <p:nvPr/>
        </p:nvSpPr>
        <p:spPr>
          <a:xfrm>
            <a:off x="5632452" y="2508250"/>
            <a:ext cx="254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Every state follows from the past. Particles obey math like falling dominoes.</a:t>
            </a:r>
            <a:endParaRPr lang="en-US" sz="950" noProof="1"/>
          </a:p>
        </p:txBody>
      </p:sp>
      <p:sp>
        <p:nvSpPr>
          <p:cNvPr id="14" name="node-b"/>
          <p:cNvSpPr/>
          <p:nvPr/>
        </p:nvSpPr>
        <p:spPr>
          <a:xfrm>
            <a:off x="9169400" y="1651000"/>
            <a:ext cx="2413000" cy="7874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E86A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node-b-t"/>
          <p:cNvSpPr txBox="1"/>
          <p:nvPr/>
        </p:nvSpPr>
        <p:spPr>
          <a:xfrm>
            <a:off x="9169400" y="16510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E86A5C"/>
                </a:solidFill>
                <a:latin typeface="MiSans"/>
                <a:ea typeface="MiSans"/>
              </a:rPr>
              <a:t>RANDOMNESS</a:t>
            </a:r>
            <a:endParaRPr lang="en-US" sz="1400" noProof="1"/>
          </a:p>
        </p:txBody>
      </p:sp>
      <p:sp>
        <p:nvSpPr>
          <p:cNvPr id="16" name="cap-b"/>
          <p:cNvSpPr txBox="1"/>
          <p:nvPr/>
        </p:nvSpPr>
        <p:spPr>
          <a:xfrm>
            <a:off x="9105900" y="2540000"/>
            <a:ext cx="254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Quantum events are probabilistic but chance is not a choice either.</a:t>
            </a:r>
            <a:endParaRPr lang="en-US" sz="950" noProof="1"/>
          </a:p>
        </p:txBody>
      </p:sp>
      <p:sp>
        <p:nvSpPr>
          <p:cNvPr id="17" name="node-c"/>
          <p:cNvSpPr/>
          <p:nvPr/>
        </p:nvSpPr>
        <p:spPr>
          <a:xfrm>
            <a:off x="7251700" y="3708400"/>
            <a:ext cx="2768600" cy="9398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EFE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node-c-t"/>
          <p:cNvSpPr txBox="1"/>
          <p:nvPr/>
        </p:nvSpPr>
        <p:spPr>
          <a:xfrm>
            <a:off x="7251700" y="3708400"/>
            <a:ext cx="27686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EFEAE0"/>
                </a:solidFill>
                <a:latin typeface="MiSans"/>
                <a:ea typeface="MiSans"/>
              </a:rPr>
              <a:t>DO WE CHOOSE?</a:t>
            </a:r>
            <a:endParaRPr lang="en-US" sz="1500" noProof="1"/>
          </a:p>
        </p:txBody>
      </p:sp>
      <p:sp>
        <p:nvSpPr>
          <p:cNvPr id="19" name="arr-ac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eyJ2aWV3Qm94IjpbOTAsMTAwXSwicG9pbnRzIjoiMCwwIDkwLDEwMCIsImN1cnZlIjoic2hhcnAifQ</pptd:line>
              </p:ext>
            </p:extLst>
          </p:nvPr>
        </p:nvSpPr>
        <p:spPr>
          <a:xfrm>
            <a:off x="7048500" y="2438400"/>
            <a:ext cx="1143000" cy="1270000"/>
          </a:xfrm>
          <a:custGeom>
            <a:avLst/>
            <a:gdLst/>
            <a:ahLst/>
            <a:cxnLst/>
            <a:rect l="l" t="t" r="r" b="b"/>
            <a:pathLst>
              <a:path w="90" h="100">
                <a:moveTo>
                  <a:pt x="0" y="0"/>
                </a:moveTo>
                <a:lnTo>
                  <a:pt x="90" y="100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arr-bc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eyJ2aWV3Qm94IjpbOTAsMTAwXSwicG9pbnRzIjoiOTAsMCAwLDEwMCIsImN1cnZlIjoic2hhcnAifQ</pptd:line>
              </p:ext>
            </p:extLst>
          </p:nvPr>
        </p:nvSpPr>
        <p:spPr>
          <a:xfrm>
            <a:off x="9232900" y="2438400"/>
            <a:ext cx="1143000" cy="1270000"/>
          </a:xfrm>
          <a:custGeom>
            <a:avLst/>
            <a:gdLst/>
            <a:ahLst/>
            <a:cxnLst/>
            <a:rect l="l" t="t" r="r" b="b"/>
            <a:pathLst>
              <a:path w="90" h="100">
                <a:moveTo>
                  <a:pt x="90" y="0"/>
                </a:moveTo>
                <a:lnTo>
                  <a:pt x="0" y="100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node-v"/>
          <p:cNvSpPr/>
          <p:nvPr/>
        </p:nvSpPr>
        <p:spPr>
          <a:xfrm>
            <a:off x="7124700" y="5384800"/>
            <a:ext cx="3022600" cy="787400"/>
          </a:xfrm>
          <a:prstGeom prst="ellipse">
            <a:avLst/>
          </a:prstGeom>
          <a:solidFill>
            <a:srgbClr val="141E33"/>
          </a:solidFill>
          <a:ln w="19050">
            <a:solidFill>
              <a:srgbClr val="96A0B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node-v-t"/>
          <p:cNvSpPr txBox="1"/>
          <p:nvPr/>
        </p:nvSpPr>
        <p:spPr>
          <a:xfrm>
            <a:off x="7124700" y="5384800"/>
            <a:ext cx="3022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EFEAE0"/>
                </a:solidFill>
                <a:latin typeface="MiSans"/>
                <a:ea typeface="MiSans"/>
              </a:rPr>
              <a:t>GREENE'S VERDICT</a:t>
            </a:r>
            <a:endParaRPr lang="en-US" sz="1300" noProof="1"/>
          </a:p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96A0B3"/>
                </a:solidFill>
                <a:latin typeface="MiSans"/>
                <a:ea typeface="MiSans"/>
              </a:rPr>
              <a:t>no free will either way</a:t>
            </a:r>
            <a:endParaRPr lang="en-US" sz="1300" noProof="1"/>
          </a:p>
        </p:txBody>
      </p:sp>
      <p:sp>
        <p:nvSpPr>
          <p:cNvPr id="23" name="arr-cv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eyJ2aWV3Qm94IjpbMSw1OF0sInBvaW50cyI6IjAsMCAwLDU4IiwiY3VydmUiOiJzaGFycCJ9</pptd:line>
              </p:ext>
            </p:extLst>
          </p:nvPr>
        </p:nvSpPr>
        <p:spPr>
          <a:xfrm>
            <a:off x="8636000" y="4648200"/>
            <a:ext cx="12700" cy="736600"/>
          </a:xfrm>
          <a:custGeom>
            <a:avLst/>
            <a:gdLst/>
            <a:ahLst/>
            <a:cxnLst/>
            <a:rect l="l" t="t" r="r" b="b"/>
            <a:pathLst>
              <a:path w="1" h="58">
                <a:moveTo>
                  <a:pt x="0" y="0"/>
                </a:moveTo>
                <a:lnTo>
                  <a:pt x="0" y="58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02 / 14</a:t>
            </a:r>
            <a:endParaRPr lang="en-US" sz="95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From physics to the shopping cart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center"/>
          <p:cNvSpPr/>
          <p:nvPr/>
        </p:nvSpPr>
        <p:spPr>
          <a:xfrm>
            <a:off x="4826000" y="2819400"/>
            <a:ext cx="2540000" cy="1066800"/>
          </a:xfrm>
          <a:prstGeom prst="ellipse">
            <a:avLst/>
          </a:prstGeom>
          <a:solidFill>
            <a:srgbClr val="141E33"/>
          </a:solidFill>
          <a:ln w="31750">
            <a:solidFill>
              <a:srgbClr val="EFE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center-t"/>
          <p:cNvSpPr txBox="1"/>
          <p:nvPr/>
        </p:nvSpPr>
        <p:spPr>
          <a:xfrm>
            <a:off x="4826000" y="28194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EFEAE0"/>
                </a:solidFill>
                <a:latin typeface="MiSans"/>
                <a:ea typeface="MiSans"/>
              </a:rPr>
              <a:t>THE CONSUMER IS A PARTICLE</a:t>
            </a:r>
            <a:endParaRPr lang="en-US" sz="1500" noProof="1"/>
          </a:p>
        </p:txBody>
      </p:sp>
      <p:sp>
        <p:nvSpPr>
          <p:cNvPr id="7" name="ph-tl"/>
          <p:cNvSpPr/>
          <p:nvPr/>
        </p:nvSpPr>
        <p:spPr>
          <a:xfrm>
            <a:off x="1143000" y="16764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9050">
            <a:solidFill>
              <a:srgbClr val="96A0B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ph-tl-t"/>
          <p:cNvSpPr txBox="1"/>
          <p:nvPr/>
        </p:nvSpPr>
        <p:spPr>
          <a:xfrm>
            <a:off x="1143000" y="16764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96A0B3"/>
                </a:solidFill>
                <a:latin typeface="MiSans"/>
                <a:ea typeface="MiSans"/>
              </a:rPr>
              <a:t>PHYSICS · Determinism</a:t>
            </a:r>
            <a:endParaRPr lang="en-US" sz="1200" noProof="1"/>
          </a:p>
        </p:txBody>
      </p:sp>
      <p:sp>
        <p:nvSpPr>
          <p:cNvPr id="9" name="co-tl"/>
          <p:cNvSpPr/>
          <p:nvPr/>
        </p:nvSpPr>
        <p:spPr>
          <a:xfrm>
            <a:off x="1143000" y="26416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o-tl-t"/>
          <p:cNvSpPr txBox="1"/>
          <p:nvPr/>
        </p:nvSpPr>
        <p:spPr>
          <a:xfrm>
            <a:off x="1143000" y="26416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E8B04B"/>
                </a:solidFill>
                <a:latin typeface="MiSans"/>
                <a:ea typeface="MiSans"/>
              </a:rPr>
              <a:t>COMMERCE · Predictive algorithms</a:t>
            </a:r>
            <a:endParaRPr lang="en-US" sz="1250" noProof="1"/>
          </a:p>
        </p:txBody>
      </p:sp>
      <p:sp>
        <p:nvSpPr>
          <p:cNvPr id="11" name="arr-t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eyJ2aWV3Qm94IjpbMSwyMl0sInBvaW50cyI6IjAsMCAwLDIyIiwiY3VydmUiOiJzaGFycCJ9</pptd:line>
              </p:ext>
            </p:extLst>
          </p:nvPr>
        </p:nvSpPr>
        <p:spPr>
          <a:xfrm>
            <a:off x="2540000" y="23622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ph-tr"/>
          <p:cNvSpPr/>
          <p:nvPr/>
        </p:nvSpPr>
        <p:spPr>
          <a:xfrm>
            <a:off x="8255000" y="16764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9050">
            <a:solidFill>
              <a:srgbClr val="96A0B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ph-tr-t"/>
          <p:cNvSpPr txBox="1"/>
          <p:nvPr/>
        </p:nvSpPr>
        <p:spPr>
          <a:xfrm>
            <a:off x="8255000" y="16764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96A0B3"/>
                </a:solidFill>
                <a:latin typeface="MiSans"/>
                <a:ea typeface="MiSans"/>
              </a:rPr>
              <a:t>PHYSICS · Quantum randomness</a:t>
            </a:r>
            <a:endParaRPr lang="en-US" sz="1200" noProof="1"/>
          </a:p>
        </p:txBody>
      </p:sp>
      <p:sp>
        <p:nvSpPr>
          <p:cNvPr id="14" name="co-tr"/>
          <p:cNvSpPr/>
          <p:nvPr/>
        </p:nvSpPr>
        <p:spPr>
          <a:xfrm>
            <a:off x="8255000" y="26416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25400">
            <a:solidFill>
              <a:srgbClr val="E86A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co-tr-t"/>
          <p:cNvSpPr txBox="1"/>
          <p:nvPr/>
        </p:nvSpPr>
        <p:spPr>
          <a:xfrm>
            <a:off x="8255000" y="26416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E86A5C"/>
                </a:solidFill>
                <a:latin typeface="MiSans"/>
                <a:ea typeface="MiSans"/>
              </a:rPr>
              <a:t>COMMERCE · Market shocks</a:t>
            </a:r>
            <a:endParaRPr lang="en-US" sz="1250" noProof="1"/>
          </a:p>
        </p:txBody>
      </p:sp>
      <p:sp>
        <p:nvSpPr>
          <p:cNvPr id="16" name="arr-t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eyJ2aWV3Qm94IjpbMSwyMl0sInBvaW50cyI6IjAsMCAwLDIyIiwiY3VydmUiOiJzaGFycCJ9</pptd:line>
              </p:ext>
            </p:extLst>
          </p:nvPr>
        </p:nvSpPr>
        <p:spPr>
          <a:xfrm>
            <a:off x="9652000" y="23622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ph-bl"/>
          <p:cNvSpPr/>
          <p:nvPr/>
        </p:nvSpPr>
        <p:spPr>
          <a:xfrm>
            <a:off x="1143000" y="42164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9050">
            <a:solidFill>
              <a:srgbClr val="96A0B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ph-bl-t"/>
          <p:cNvSpPr txBox="1"/>
          <p:nvPr/>
        </p:nvSpPr>
        <p:spPr>
          <a:xfrm>
            <a:off x="1143000" y="42164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96A0B3"/>
                </a:solidFill>
                <a:latin typeface="MiSans"/>
                <a:ea typeface="MiSans"/>
              </a:rPr>
              <a:t>PHYSICS · Fields &amp; forces</a:t>
            </a:r>
            <a:endParaRPr lang="en-US" sz="1200" noProof="1"/>
          </a:p>
        </p:txBody>
      </p:sp>
      <p:sp>
        <p:nvSpPr>
          <p:cNvPr id="19" name="co-bl"/>
          <p:cNvSpPr/>
          <p:nvPr/>
        </p:nvSpPr>
        <p:spPr>
          <a:xfrm>
            <a:off x="1143000" y="51816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2540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co-bl-t"/>
          <p:cNvSpPr txBox="1"/>
          <p:nvPr/>
        </p:nvSpPr>
        <p:spPr>
          <a:xfrm>
            <a:off x="1143000" y="51816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5BBFAE"/>
                </a:solidFill>
                <a:latin typeface="MiSans"/>
                <a:ea typeface="MiSans"/>
              </a:rPr>
              <a:t>COMMERCE · The value network</a:t>
            </a:r>
            <a:endParaRPr lang="en-US" sz="1250" noProof="1"/>
          </a:p>
        </p:txBody>
      </p:sp>
      <p:sp>
        <p:nvSpPr>
          <p:cNvPr id="21" name="arr-b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eyJ2aWV3Qm94IjpbMSwyMl0sInBvaW50cyI6IjAsMCAwLDIyIiwiY3VydmUiOiJzaGFycCJ9</pptd:line>
              </p:ext>
            </p:extLst>
          </p:nvPr>
        </p:nvSpPr>
        <p:spPr>
          <a:xfrm>
            <a:off x="2540000" y="49022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ph-br"/>
          <p:cNvSpPr/>
          <p:nvPr/>
        </p:nvSpPr>
        <p:spPr>
          <a:xfrm>
            <a:off x="8255000" y="42164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19050">
            <a:solidFill>
              <a:srgbClr val="96A0B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ph-br-t"/>
          <p:cNvSpPr txBox="1"/>
          <p:nvPr/>
        </p:nvSpPr>
        <p:spPr>
          <a:xfrm>
            <a:off x="8255000" y="42164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96A0B3"/>
                </a:solidFill>
                <a:latin typeface="MiSans"/>
                <a:ea typeface="MiSans"/>
              </a:rPr>
              <a:t>PHYSICS · Apparent randomness</a:t>
            </a:r>
            <a:endParaRPr lang="en-US" sz="1200" noProof="1"/>
          </a:p>
        </p:txBody>
      </p:sp>
      <p:sp>
        <p:nvSpPr>
          <p:cNvPr id="24" name="co-br"/>
          <p:cNvSpPr/>
          <p:nvPr/>
        </p:nvSpPr>
        <p:spPr>
          <a:xfrm>
            <a:off x="8255000" y="5181600"/>
            <a:ext cx="2794000" cy="685800"/>
          </a:xfrm>
          <a:prstGeom prst="roundRect">
            <a:avLst>
              <a:gd name="adj" fmla="val 50000"/>
            </a:avLst>
          </a:prstGeom>
          <a:solidFill>
            <a:srgbClr val="141E33"/>
          </a:solidFill>
          <a:ln w="25400">
            <a:solidFill>
              <a:srgbClr val="D77FA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co-br-t"/>
          <p:cNvSpPr txBox="1"/>
          <p:nvPr/>
        </p:nvSpPr>
        <p:spPr>
          <a:xfrm>
            <a:off x="8255000" y="5181600"/>
            <a:ext cx="279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D77FA1"/>
                </a:solidFill>
                <a:latin typeface="MiSans"/>
                <a:ea typeface="MiSans"/>
              </a:rPr>
              <a:t>COMMERCE · Engineered spontaneity</a:t>
            </a:r>
            <a:endParaRPr lang="en-US" sz="1250" noProof="1"/>
          </a:p>
        </p:txBody>
      </p:sp>
      <p:sp>
        <p:nvSpPr>
          <p:cNvPr id="26" name="arr-b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eyJ2aWV3Qm94IjpbMSwyMl0sInBvaW50cyI6IjAsMCAwLDIyIiwiY3VydmUiOiJzaGFycCJ9</pptd:line>
              </p:ext>
            </p:extLst>
          </p:nvPr>
        </p:nvSpPr>
        <p:spPr>
          <a:xfrm>
            <a:off x="9652000" y="4902200"/>
            <a:ext cx="12700" cy="279400"/>
          </a:xfrm>
          <a:custGeom>
            <a:avLst/>
            <a:gdLst/>
            <a:ahLst/>
            <a:cxnLst/>
            <a:rect l="l" t="t" r="r" b="b"/>
            <a:pathLst>
              <a:path w="1" h="22">
                <a:moveTo>
                  <a:pt x="0" y="0"/>
                </a:moveTo>
                <a:lnTo>
                  <a:pt x="0" y="22"/>
                </a:lnTo>
              </a:path>
            </a:pathLst>
          </a:custGeom>
          <a:noFill/>
          <a:ln w="190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arr-c-t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eyJ2aWV3Qm94IjpbNzAsMTVdLCJwb2ludHMiOiI3MCwwIDAsMTUiLCJjdXJ2ZSI6InNoYXJwIn0</pptd:line>
              </p:ext>
            </p:extLst>
          </p:nvPr>
        </p:nvSpPr>
        <p:spPr>
          <a:xfrm>
            <a:off x="3937000" y="3048000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70" h="15">
                <a:moveTo>
                  <a:pt x="70" y="0"/>
                </a:moveTo>
                <a:lnTo>
                  <a:pt x="0" y="15"/>
                </a:lnTo>
              </a:path>
            </a:pathLst>
          </a:custGeom>
          <a:noFill/>
          <a:ln w="1905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arr-c-t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eyJ2aWV3Qm94IjpbNzAsMTVdLCJwb2ludHMiOiIwLDAgNzAsMTUiLCJjdXJ2ZSI6InNoYXJwIn0</pptd:line>
              </p:ext>
            </p:extLst>
          </p:nvPr>
        </p:nvSpPr>
        <p:spPr>
          <a:xfrm>
            <a:off x="7366000" y="3048000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70" h="15">
                <a:moveTo>
                  <a:pt x="0" y="0"/>
                </a:moveTo>
                <a:lnTo>
                  <a:pt x="70" y="15"/>
                </a:lnTo>
              </a:path>
            </a:pathLst>
          </a:custGeom>
          <a:noFill/>
          <a:ln w="19050">
            <a:solidFill>
              <a:srgbClr val="E86A5C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arr-c-b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eyJ2aWV3Qm94IjpbNzAsMTQwXSwicG9pbnRzIjoiNzAsMCAwLDE0MCIsImN1cnZlIjoic2hhcnAifQ</pptd:line>
              </p:ext>
            </p:extLst>
          </p:nvPr>
        </p:nvSpPr>
        <p:spPr>
          <a:xfrm>
            <a:off x="3937000" y="3619500"/>
            <a:ext cx="889000" cy="1778000"/>
          </a:xfrm>
          <a:custGeom>
            <a:avLst/>
            <a:gdLst/>
            <a:ahLst/>
            <a:cxnLst/>
            <a:rect l="l" t="t" r="r" b="b"/>
            <a:pathLst>
              <a:path w="70" h="140">
                <a:moveTo>
                  <a:pt x="70" y="0"/>
                </a:moveTo>
                <a:lnTo>
                  <a:pt x="0" y="140"/>
                </a:lnTo>
              </a:path>
            </a:pathLst>
          </a:custGeom>
          <a:noFill/>
          <a:ln w="1905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0" name="arr-c-b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eyJ2aWV3Qm94IjpbNzAsMTQwXSwicG9pbnRzIjoiMCwwIDcwLDE0MCIsImN1cnZlIjoic2hhcnAifQ</pptd:line>
              </p:ext>
            </p:extLst>
          </p:nvPr>
        </p:nvSpPr>
        <p:spPr>
          <a:xfrm>
            <a:off x="7366000" y="3619500"/>
            <a:ext cx="889000" cy="1778000"/>
          </a:xfrm>
          <a:custGeom>
            <a:avLst/>
            <a:gdLst/>
            <a:ahLst/>
            <a:cxnLst/>
            <a:rect l="l" t="t" r="r" b="b"/>
            <a:pathLst>
              <a:path w="70" h="140">
                <a:moveTo>
                  <a:pt x="0" y="0"/>
                </a:moveTo>
                <a:lnTo>
                  <a:pt x="70" y="140"/>
                </a:lnTo>
              </a:path>
            </a:pathLst>
          </a:custGeom>
          <a:noFill/>
          <a:ln w="19050">
            <a:solidFill>
              <a:srgbClr val="D77FA1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1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03 / 14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If the data is complete, the purchase is inevitable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def-band"/>
          <p:cNvSpPr/>
          <p:nvPr/>
        </p:nvSpPr>
        <p:spPr>
          <a:xfrm>
            <a:off x="609600" y="1574800"/>
            <a:ext cx="5334000" cy="8128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def-bar"/>
          <p:cNvSpPr/>
          <p:nvPr/>
        </p:nvSpPr>
        <p:spPr>
          <a:xfrm>
            <a:off x="609600" y="1574800"/>
            <a:ext cx="50800" cy="812800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ef"/>
          <p:cNvSpPr txBox="1"/>
          <p:nvPr/>
        </p:nvSpPr>
        <p:spPr>
          <a:xfrm>
            <a:off x="838200" y="1676400"/>
            <a:ext cx="4953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b="1" noProof="1">
                <a:solidFill>
                  <a:srgbClr val="E8B04B"/>
                </a:solidFill>
                <a:latin typeface="MiSans"/>
                <a:ea typeface="MiSans"/>
              </a:rPr>
              <a:t>Determinism in commerce:</a:t>
            </a:r>
            <a:r>
              <a:rPr lang="en-US" sz="1250" noProof="1">
                <a:solidFill>
                  <a:srgbClr val="EFEAE0"/>
                </a:solidFill>
                <a:latin typeface="MiSans"/>
                <a:ea typeface="MiSans"/>
              </a:rPr>
              <a:t> know the initial state (your data) + the laws (the algorithm) → the future (the purchase) is computable.</a:t>
            </a:r>
            <a:endParaRPr lang="en-US" sz="1250" noProof="1"/>
          </a:p>
        </p:txBody>
      </p:sp>
      <p:sp>
        <p:nvSpPr>
          <p:cNvPr id="8" name="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eyJpY29uTmFtZSI6ImZhczpleWUifQ</pptd:icon>
              </p:ext>
            </p:extLst>
          </p:nvPr>
        </p:nvSpPr>
        <p:spPr>
          <a:xfrm>
            <a:off x="609600" y="2743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32"/>
                </a:moveTo>
                <a:cubicBezTo>
                  <a:pt x="207" y="32"/>
                  <a:pt x="143" y="69"/>
                  <a:pt x="95" y="113"/>
                </a:cubicBezTo>
                <a:cubicBezTo>
                  <a:pt x="49" y="156"/>
                  <a:pt x="17" y="208"/>
                  <a:pt x="2" y="244"/>
                </a:cubicBezTo>
                <a:cubicBezTo>
                  <a:pt x="-1" y="252"/>
                  <a:pt x="-1" y="260"/>
                  <a:pt x="2" y="268"/>
                </a:cubicBezTo>
                <a:cubicBezTo>
                  <a:pt x="17" y="304"/>
                  <a:pt x="49" y="356"/>
                  <a:pt x="95" y="399"/>
                </a:cubicBezTo>
                <a:cubicBezTo>
                  <a:pt x="143" y="443"/>
                  <a:pt x="207" y="480"/>
                  <a:pt x="288" y="480"/>
                </a:cubicBezTo>
                <a:cubicBezTo>
                  <a:pt x="369" y="480"/>
                  <a:pt x="434" y="443"/>
                  <a:pt x="481" y="399"/>
                </a:cubicBezTo>
                <a:cubicBezTo>
                  <a:pt x="527" y="356"/>
                  <a:pt x="559" y="304"/>
                  <a:pt x="574" y="268"/>
                </a:cubicBezTo>
                <a:cubicBezTo>
                  <a:pt x="577" y="260"/>
                  <a:pt x="577" y="252"/>
                  <a:pt x="574" y="244"/>
                </a:cubicBezTo>
                <a:cubicBezTo>
                  <a:pt x="559" y="208"/>
                  <a:pt x="527" y="156"/>
                  <a:pt x="481" y="113"/>
                </a:cubicBezTo>
                <a:cubicBezTo>
                  <a:pt x="434" y="69"/>
                  <a:pt x="369" y="32"/>
                  <a:pt x="288" y="32"/>
                </a:cubicBezTo>
                <a:close/>
                <a:moveTo>
                  <a:pt x="144" y="256"/>
                </a:moveTo>
                <a:cubicBezTo>
                  <a:pt x="144" y="176"/>
                  <a:pt x="208" y="112"/>
                  <a:pt x="288" y="112"/>
                </a:cubicBezTo>
                <a:cubicBezTo>
                  <a:pt x="368" y="112"/>
                  <a:pt x="432" y="176"/>
                  <a:pt x="432" y="256"/>
                </a:cubicBezTo>
                <a:cubicBezTo>
                  <a:pt x="432" y="336"/>
                  <a:pt x="368" y="400"/>
                  <a:pt x="288" y="400"/>
                </a:cubicBezTo>
                <a:cubicBezTo>
                  <a:pt x="208" y="400"/>
                  <a:pt x="144" y="336"/>
                  <a:pt x="144" y="256"/>
                </a:cubicBezTo>
                <a:close/>
              </a:path>
              <a:path w="576" h="512">
                <a:moveTo>
                  <a:pt x="288" y="192"/>
                </a:moveTo>
                <a:cubicBezTo>
                  <a:pt x="288" y="227"/>
                  <a:pt x="259" y="256"/>
                  <a:pt x="224" y="256"/>
                </a:cubicBezTo>
                <a:cubicBezTo>
                  <a:pt x="213" y="256"/>
                  <a:pt x="202" y="253"/>
                  <a:pt x="192" y="248"/>
                </a:cubicBezTo>
                <a:cubicBezTo>
                  <a:pt x="191" y="259"/>
                  <a:pt x="192" y="270"/>
                  <a:pt x="195" y="281"/>
                </a:cubicBezTo>
                <a:cubicBezTo>
                  <a:pt x="209" y="332"/>
                  <a:pt x="262" y="362"/>
                  <a:pt x="313" y="349"/>
                </a:cubicBezTo>
                <a:cubicBezTo>
                  <a:pt x="364" y="335"/>
                  <a:pt x="394" y="282"/>
                  <a:pt x="381" y="231"/>
                </a:cubicBezTo>
                <a:cubicBezTo>
                  <a:pt x="369" y="185"/>
                  <a:pt x="325" y="156"/>
                  <a:pt x="280" y="160"/>
                </a:cubicBezTo>
                <a:cubicBezTo>
                  <a:pt x="285" y="170"/>
                  <a:pt x="288" y="180"/>
                  <a:pt x="288" y="192"/>
                </a:cubicBezTo>
                <a:close/>
              </a:path>
            </a:pathLst>
          </a:custGeom>
          <a:solidFill>
            <a:srgbClr val="E8B0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i1-h"/>
          <p:cNvSpPr txBox="1"/>
          <p:nvPr/>
        </p:nvSpPr>
        <p:spPr>
          <a:xfrm>
            <a:off x="1117600" y="2692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The illusion of choice</a:t>
            </a:r>
            <a:endParaRPr lang="en-US" sz="1450" noProof="1"/>
          </a:p>
        </p:txBody>
      </p:sp>
      <p:sp>
        <p:nvSpPr>
          <p:cNvPr id="10" name="i1-b"/>
          <p:cNvSpPr txBox="1"/>
          <p:nvPr/>
        </p:nvSpPr>
        <p:spPr>
          <a:xfrm>
            <a:off x="1117600" y="3022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Algorithms decide what you see, when you see it, and at what price. Your "choice" happens inside an environment built before you arrived.</a:t>
            </a:r>
            <a:endParaRPr lang="en-US" sz="1050" noProof="1"/>
          </a:p>
        </p:txBody>
      </p:sp>
      <p:sp>
        <p:nvSpPr>
          <p:cNvPr id="11" name="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eyJpY29uTmFtZSI6ImZhczpmaW5nZXJwcmludCJ9</pptd:icon>
              </p:ext>
            </p:extLst>
          </p:nvPr>
        </p:nvSpPr>
        <p:spPr>
          <a:xfrm>
            <a:off x="609600" y="396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" y="256"/>
                </a:moveTo>
                <a:cubicBezTo>
                  <a:pt x="48" y="141"/>
                  <a:pt x="141" y="48"/>
                  <a:pt x="256" y="48"/>
                </a:cubicBezTo>
                <a:cubicBezTo>
                  <a:pt x="319" y="48"/>
                  <a:pt x="376" y="76"/>
                  <a:pt x="414" y="121"/>
                </a:cubicBezTo>
                <a:cubicBezTo>
                  <a:pt x="422" y="131"/>
                  <a:pt x="438" y="132"/>
                  <a:pt x="448" y="123"/>
                </a:cubicBezTo>
                <a:cubicBezTo>
                  <a:pt x="458" y="115"/>
                  <a:pt x="459" y="99"/>
                  <a:pt x="450" y="89"/>
                </a:cubicBezTo>
                <a:cubicBezTo>
                  <a:pt x="403" y="35"/>
                  <a:pt x="334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lnTo>
                  <a:pt x="0" y="296"/>
                </a:lnTo>
                <a:cubicBezTo>
                  <a:pt x="0" y="309"/>
                  <a:pt x="11" y="320"/>
                  <a:pt x="24" y="320"/>
                </a:cubicBezTo>
                <a:cubicBezTo>
                  <a:pt x="37" y="320"/>
                  <a:pt x="48" y="309"/>
                  <a:pt x="48" y="296"/>
                </a:cubicBezTo>
                <a:lnTo>
                  <a:pt x="48" y="256"/>
                </a:lnTo>
                <a:close/>
              </a:path>
              <a:path w="512" h="512">
                <a:moveTo>
                  <a:pt x="507" y="203"/>
                </a:moveTo>
                <a:cubicBezTo>
                  <a:pt x="504" y="190"/>
                  <a:pt x="491" y="182"/>
                  <a:pt x="478" y="185"/>
                </a:cubicBezTo>
                <a:cubicBezTo>
                  <a:pt x="465" y="187"/>
                  <a:pt x="457" y="200"/>
                  <a:pt x="460" y="213"/>
                </a:cubicBezTo>
                <a:cubicBezTo>
                  <a:pt x="463" y="227"/>
                  <a:pt x="464" y="241"/>
                  <a:pt x="464" y="256"/>
                </a:cubicBezTo>
                <a:lnTo>
                  <a:pt x="464" y="296"/>
                </a:lnTo>
                <a:cubicBezTo>
                  <a:pt x="464" y="309"/>
                  <a:pt x="475" y="320"/>
                  <a:pt x="488" y="320"/>
                </a:cubicBezTo>
                <a:cubicBezTo>
                  <a:pt x="501" y="320"/>
                  <a:pt x="512" y="309"/>
                  <a:pt x="512" y="296"/>
                </a:cubicBezTo>
                <a:lnTo>
                  <a:pt x="512" y="256"/>
                </a:lnTo>
                <a:cubicBezTo>
                  <a:pt x="512" y="238"/>
                  <a:pt x="510" y="220"/>
                  <a:pt x="507" y="203"/>
                </a:cubicBezTo>
                <a:close/>
              </a:path>
              <a:path w="512" h="512">
                <a:moveTo>
                  <a:pt x="256" y="80"/>
                </a:moveTo>
                <a:cubicBezTo>
                  <a:pt x="237" y="80"/>
                  <a:pt x="219" y="83"/>
                  <a:pt x="202" y="89"/>
                </a:cubicBezTo>
                <a:cubicBezTo>
                  <a:pt x="186" y="94"/>
                  <a:pt x="183" y="112"/>
                  <a:pt x="193" y="125"/>
                </a:cubicBezTo>
                <a:cubicBezTo>
                  <a:pt x="200" y="133"/>
                  <a:pt x="212" y="135"/>
                  <a:pt x="223" y="132"/>
                </a:cubicBezTo>
                <a:cubicBezTo>
                  <a:pt x="233" y="130"/>
                  <a:pt x="244" y="128"/>
                  <a:pt x="256" y="128"/>
                </a:cubicBezTo>
                <a:cubicBezTo>
                  <a:pt x="327" y="128"/>
                  <a:pt x="384" y="185"/>
                  <a:pt x="384" y="256"/>
                </a:cubicBezTo>
                <a:lnTo>
                  <a:pt x="384" y="281"/>
                </a:lnTo>
                <a:cubicBezTo>
                  <a:pt x="384" y="306"/>
                  <a:pt x="383" y="331"/>
                  <a:pt x="380" y="356"/>
                </a:cubicBezTo>
                <a:cubicBezTo>
                  <a:pt x="378" y="371"/>
                  <a:pt x="389" y="384"/>
                  <a:pt x="404" y="384"/>
                </a:cubicBezTo>
                <a:cubicBezTo>
                  <a:pt x="416" y="384"/>
                  <a:pt x="426" y="375"/>
                  <a:pt x="427" y="364"/>
                </a:cubicBezTo>
                <a:cubicBezTo>
                  <a:pt x="430" y="336"/>
                  <a:pt x="432" y="309"/>
                  <a:pt x="432" y="281"/>
                </a:cubicBezTo>
                <a:lnTo>
                  <a:pt x="432" y="256"/>
                </a:lnTo>
                <a:cubicBezTo>
                  <a:pt x="432" y="159"/>
                  <a:pt x="353" y="80"/>
                  <a:pt x="256" y="80"/>
                </a:cubicBezTo>
                <a:close/>
              </a:path>
              <a:path w="512" h="512">
                <a:moveTo>
                  <a:pt x="151" y="149"/>
                </a:moveTo>
                <a:cubicBezTo>
                  <a:pt x="142" y="138"/>
                  <a:pt x="125" y="137"/>
                  <a:pt x="117" y="148"/>
                </a:cubicBezTo>
                <a:cubicBezTo>
                  <a:pt x="94" y="178"/>
                  <a:pt x="80" y="215"/>
                  <a:pt x="80" y="256"/>
                </a:cubicBezTo>
                <a:lnTo>
                  <a:pt x="80" y="281"/>
                </a:lnTo>
                <a:cubicBezTo>
                  <a:pt x="80" y="305"/>
                  <a:pt x="77" y="329"/>
                  <a:pt x="72" y="353"/>
                </a:cubicBezTo>
                <a:cubicBezTo>
                  <a:pt x="69" y="368"/>
                  <a:pt x="80" y="384"/>
                  <a:pt x="96" y="384"/>
                </a:cubicBezTo>
                <a:cubicBezTo>
                  <a:pt x="107" y="384"/>
                  <a:pt x="116" y="377"/>
                  <a:pt x="118" y="367"/>
                </a:cubicBezTo>
                <a:cubicBezTo>
                  <a:pt x="125" y="338"/>
                  <a:pt x="128" y="310"/>
                  <a:pt x="128" y="281"/>
                </a:cubicBezTo>
                <a:lnTo>
                  <a:pt x="128" y="256"/>
                </a:lnTo>
                <a:cubicBezTo>
                  <a:pt x="128" y="229"/>
                  <a:pt x="137" y="203"/>
                  <a:pt x="151" y="183"/>
                </a:cubicBezTo>
                <a:cubicBezTo>
                  <a:pt x="158" y="172"/>
                  <a:pt x="159" y="158"/>
                  <a:pt x="151" y="149"/>
                </a:cubicBezTo>
                <a:close/>
              </a:path>
              <a:path w="512" h="512">
                <a:moveTo>
                  <a:pt x="256" y="160"/>
                </a:moveTo>
                <a:cubicBezTo>
                  <a:pt x="203" y="160"/>
                  <a:pt x="160" y="203"/>
                  <a:pt x="160" y="256"/>
                </a:cubicBezTo>
                <a:lnTo>
                  <a:pt x="160" y="281"/>
                </a:lnTo>
                <a:cubicBezTo>
                  <a:pt x="160" y="317"/>
                  <a:pt x="155" y="352"/>
                  <a:pt x="146" y="387"/>
                </a:cubicBezTo>
                <a:cubicBezTo>
                  <a:pt x="142" y="401"/>
                  <a:pt x="153" y="416"/>
                  <a:pt x="168" y="416"/>
                </a:cubicBezTo>
                <a:cubicBezTo>
                  <a:pt x="177" y="416"/>
                  <a:pt x="186" y="410"/>
                  <a:pt x="188" y="401"/>
                </a:cubicBezTo>
                <a:cubicBezTo>
                  <a:pt x="199" y="362"/>
                  <a:pt x="204" y="321"/>
                  <a:pt x="204" y="281"/>
                </a:cubicBezTo>
                <a:lnTo>
                  <a:pt x="204" y="256"/>
                </a:lnTo>
                <a:cubicBezTo>
                  <a:pt x="204" y="227"/>
                  <a:pt x="227" y="204"/>
                  <a:pt x="256" y="204"/>
                </a:cubicBezTo>
                <a:cubicBezTo>
                  <a:pt x="285" y="204"/>
                  <a:pt x="308" y="227"/>
                  <a:pt x="308" y="256"/>
                </a:cubicBezTo>
                <a:lnTo>
                  <a:pt x="308" y="281"/>
                </a:lnTo>
                <a:cubicBezTo>
                  <a:pt x="308" y="317"/>
                  <a:pt x="305" y="353"/>
                  <a:pt x="298" y="389"/>
                </a:cubicBezTo>
                <a:cubicBezTo>
                  <a:pt x="295" y="403"/>
                  <a:pt x="305" y="416"/>
                  <a:pt x="319" y="416"/>
                </a:cubicBezTo>
                <a:cubicBezTo>
                  <a:pt x="330" y="416"/>
                  <a:pt x="338" y="409"/>
                  <a:pt x="340" y="399"/>
                </a:cubicBezTo>
                <a:cubicBezTo>
                  <a:pt x="348" y="360"/>
                  <a:pt x="352" y="321"/>
                  <a:pt x="352" y="281"/>
                </a:cubicBezTo>
                <a:lnTo>
                  <a:pt x="352" y="256"/>
                </a:lnTo>
                <a:cubicBezTo>
                  <a:pt x="352" y="203"/>
                  <a:pt x="309" y="160"/>
                  <a:pt x="256" y="160"/>
                </a:cubicBezTo>
                <a:close/>
              </a:path>
              <a:path w="512" h="512">
                <a:moveTo>
                  <a:pt x="280" y="256"/>
                </a:moveTo>
                <a:cubicBezTo>
                  <a:pt x="280" y="243"/>
                  <a:pt x="269" y="232"/>
                  <a:pt x="256" y="232"/>
                </a:cubicBezTo>
                <a:cubicBezTo>
                  <a:pt x="243" y="232"/>
                  <a:pt x="232" y="243"/>
                  <a:pt x="232" y="256"/>
                </a:cubicBezTo>
                <a:lnTo>
                  <a:pt x="232" y="281"/>
                </a:lnTo>
                <a:cubicBezTo>
                  <a:pt x="232" y="341"/>
                  <a:pt x="221" y="400"/>
                  <a:pt x="200" y="456"/>
                </a:cubicBezTo>
                <a:lnTo>
                  <a:pt x="194" y="471"/>
                </a:lnTo>
                <a:cubicBezTo>
                  <a:pt x="189" y="484"/>
                  <a:pt x="195" y="498"/>
                  <a:pt x="207" y="502"/>
                </a:cubicBezTo>
                <a:cubicBezTo>
                  <a:pt x="220" y="507"/>
                  <a:pt x="234" y="501"/>
                  <a:pt x="238" y="489"/>
                </a:cubicBezTo>
                <a:lnTo>
                  <a:pt x="244" y="473"/>
                </a:lnTo>
                <a:cubicBezTo>
                  <a:pt x="268" y="412"/>
                  <a:pt x="280" y="347"/>
                  <a:pt x="280" y="281"/>
                </a:cubicBezTo>
                <a:lnTo>
                  <a:pt x="280" y="256"/>
                </a:lnTo>
                <a:close/>
              </a:path>
            </a:pathLst>
          </a:custGeom>
          <a:solidFill>
            <a:srgbClr val="E8B0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i2-h"/>
          <p:cNvSpPr txBox="1"/>
          <p:nvPr/>
        </p:nvSpPr>
        <p:spPr>
          <a:xfrm>
            <a:off x="1117600" y="3911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Hyper-personalization as a physical law</a:t>
            </a:r>
            <a:endParaRPr lang="en-US" sz="1450" noProof="1"/>
          </a:p>
        </p:txBody>
      </p:sp>
      <p:sp>
        <p:nvSpPr>
          <p:cNvPr id="13" name="i2-b"/>
          <p:cNvSpPr txBox="1"/>
          <p:nvPr/>
        </p:nvSpPr>
        <p:spPr>
          <a:xfrm>
            <a:off x="1117600" y="42418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Know your sleep patterns, stress biometrics and history → your next buy stops being a decision. It becomes a consequence of prior inputs.</a:t>
            </a:r>
            <a:endParaRPr lang="en-US" sz="1050" noProof="1"/>
          </a:p>
        </p:txBody>
      </p:sp>
      <p:sp>
        <p:nvSpPr>
          <p:cNvPr id="14" name="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eyJpY29uTmFtZSI6ImZhczp3YXJlaG91c2UifQ</pptd:icon>
              </p:ext>
            </p:extLst>
          </p:nvPr>
        </p:nvSpPr>
        <p:spPr>
          <a:xfrm>
            <a:off x="609600" y="5181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42"/>
                </a:move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cubicBezTo>
                  <a:pt x="50" y="512"/>
                  <a:pt x="64" y="498"/>
                  <a:pt x="64" y="480"/>
                </a:cubicBezTo>
                <a:lnTo>
                  <a:pt x="64" y="240"/>
                </a:lnTo>
                <a:cubicBezTo>
                  <a:pt x="64" y="222"/>
                  <a:pt x="78" y="208"/>
                  <a:pt x="96" y="208"/>
                </a:cubicBezTo>
                <a:lnTo>
                  <a:pt x="480" y="208"/>
                </a:lnTo>
                <a:cubicBezTo>
                  <a:pt x="498" y="208"/>
                  <a:pt x="512" y="222"/>
                  <a:pt x="512" y="240"/>
                </a:cubicBezTo>
                <a:lnTo>
                  <a:pt x="512" y="480"/>
                </a:lnTo>
                <a:cubicBezTo>
                  <a:pt x="512" y="498"/>
                  <a:pt x="526" y="512"/>
                  <a:pt x="544" y="512"/>
                </a:cubicBezTo>
                <a:cubicBezTo>
                  <a:pt x="562" y="512"/>
                  <a:pt x="576" y="498"/>
                  <a:pt x="576" y="480"/>
                </a:cubicBezTo>
                <a:lnTo>
                  <a:pt x="576" y="142"/>
                </a:lnTo>
                <a:cubicBezTo>
                  <a:pt x="576" y="115"/>
                  <a:pt x="558" y="90"/>
                  <a:pt x="532" y="81"/>
                </a:cubicBezTo>
                <a:lnTo>
                  <a:pt x="303" y="5"/>
                </a:lnTo>
                <a:cubicBezTo>
                  <a:pt x="293" y="2"/>
                  <a:pt x="283" y="2"/>
                  <a:pt x="273" y="5"/>
                </a:cubicBezTo>
                <a:lnTo>
                  <a:pt x="44" y="81"/>
                </a:lnTo>
                <a:cubicBezTo>
                  <a:pt x="18" y="90"/>
                  <a:pt x="0" y="115"/>
                  <a:pt x="0" y="142"/>
                </a:cubicBezTo>
                <a:close/>
              </a:path>
              <a:path w="576" h="512">
                <a:moveTo>
                  <a:pt x="464" y="256"/>
                </a:moveTo>
                <a:lnTo>
                  <a:pt x="112" y="256"/>
                </a:lnTo>
                <a:lnTo>
                  <a:pt x="112" y="320"/>
                </a:lnTo>
                <a:lnTo>
                  <a:pt x="464" y="320"/>
                </a:lnTo>
                <a:lnTo>
                  <a:pt x="464" y="256"/>
                </a:lnTo>
                <a:close/>
              </a:path>
              <a:path w="576" h="512">
                <a:moveTo>
                  <a:pt x="112" y="416"/>
                </a:moveTo>
                <a:lnTo>
                  <a:pt x="464" y="416"/>
                </a:lnTo>
                <a:lnTo>
                  <a:pt x="464" y="352"/>
                </a:lnTo>
                <a:lnTo>
                  <a:pt x="112" y="352"/>
                </a:lnTo>
                <a:lnTo>
                  <a:pt x="112" y="416"/>
                </a:lnTo>
                <a:close/>
              </a:path>
              <a:path w="576" h="512">
                <a:moveTo>
                  <a:pt x="464" y="448"/>
                </a:moveTo>
                <a:lnTo>
                  <a:pt x="112" y="448"/>
                </a:lnTo>
                <a:lnTo>
                  <a:pt x="112" y="512"/>
                </a:lnTo>
                <a:lnTo>
                  <a:pt x="464" y="512"/>
                </a:lnTo>
                <a:lnTo>
                  <a:pt x="464" y="448"/>
                </a:lnTo>
                <a:close/>
              </a:path>
            </a:pathLst>
          </a:custGeom>
          <a:solidFill>
            <a:srgbClr val="E8B0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i3-h"/>
          <p:cNvSpPr txBox="1"/>
          <p:nvPr/>
        </p:nvSpPr>
        <p:spPr>
          <a:xfrm>
            <a:off x="1117600" y="5130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Anticipatory logistics</a:t>
            </a:r>
            <a:endParaRPr lang="en-US" sz="1450" noProof="1"/>
          </a:p>
        </p:txBody>
      </p:sp>
      <p:sp>
        <p:nvSpPr>
          <p:cNvPr id="16" name="i3-b"/>
          <p:cNvSpPr txBox="1"/>
          <p:nvPr/>
        </p:nvSpPr>
        <p:spPr>
          <a:xfrm>
            <a:off x="1117600" y="5461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Amazon has patented "anticipatory shipping" goods move to local hubs before you click. Practical determinism the system acts before your "will" to buy.</a:t>
            </a:r>
            <a:endParaRPr lang="en-US" sz="1050" noProof="1"/>
          </a:p>
        </p:txBody>
      </p:sp>
      <p:pic>
        <p:nvPicPr>
          <p:cNvPr id="17" name="img"/>
          <p:cNvPicPr/>
          <p:nvPr/>
        </p:nvPicPr>
        <p:blipFill>
          <a:blip r:embed="rId2"/>
          <a:srcRect l="17901" r="17901"/>
          <a:stretch>
            <a:fillRect/>
          </a:stretch>
        </p:blipFill>
        <p:spPr>
          <a:xfrm>
            <a:off x="6248400" y="1574800"/>
            <a:ext cx="5334000" cy="46736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18" name="src"/>
          <p:cNvSpPr txBox="1"/>
          <p:nvPr/>
        </p:nvSpPr>
        <p:spPr>
          <a:xfrm>
            <a:off x="609600" y="64516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Example · Amazon "anticipatory shipping" patent (2013), as discussed in lecture notes</a:t>
            </a:r>
            <a:endParaRPr lang="en-US" sz="950" noProof="1"/>
          </a:p>
        </p:txBody>
      </p:sp>
      <p:sp>
        <p:nvSpPr>
          <p:cNvPr id="19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04 / 14</a:t>
            </a:r>
            <a:endParaRPr lang="en-US" sz="95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Anatomy of a purchase that was never a choice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n1"/>
          <p:cNvSpPr/>
          <p:nvPr/>
        </p:nvSpPr>
        <p:spPr>
          <a:xfrm>
            <a:off x="609600" y="241300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n1-t"/>
          <p:cNvSpPr txBox="1"/>
          <p:nvPr/>
        </p:nvSpPr>
        <p:spPr>
          <a:xfrm>
            <a:off x="609600" y="2413000"/>
            <a:ext cx="1905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noProof="1">
                <a:solidFill>
                  <a:srgbClr val="EFEAE0"/>
                </a:solidFill>
                <a:latin typeface="MiSans"/>
                <a:ea typeface="MiSans"/>
              </a:rPr>
              <a:t>DATA INPUTS</a:t>
            </a:r>
            <a:endParaRPr lang="en-US" sz="1350" noProof="1"/>
          </a:p>
        </p:txBody>
      </p:sp>
      <p:sp>
        <p:nvSpPr>
          <p:cNvPr id="8" name="c1"/>
          <p:cNvSpPr txBox="1"/>
          <p:nvPr/>
        </p:nvSpPr>
        <p:spPr>
          <a:xfrm>
            <a:off x="609600" y="3454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sleep · biometrics · purchase history</a:t>
            </a:r>
            <a:endParaRPr lang="en-US" sz="950" noProof="1"/>
          </a:p>
        </p:txBody>
      </p:sp>
      <p:sp>
        <p:nvSpPr>
          <p:cNvPr id="9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eyJ2aWV3Qm94IjpbMjgsMV0sInBvaW50cyI6IjAsMCAyOCwwIiwiY3VydmUiOiJzaGFycCJ9</pptd:line>
              </p:ext>
            </p:extLst>
          </p:nvPr>
        </p:nvSpPr>
        <p:spPr>
          <a:xfrm>
            <a:off x="2514600" y="2870200"/>
            <a:ext cx="355600" cy="12700"/>
          </a:xfrm>
          <a:custGeom>
            <a:avLst/>
            <a:gdLst/>
            <a:ahLst/>
            <a:cxnLst/>
            <a:rect l="l" t="t" r="r" b="b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noFill/>
          <a:ln w="2540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n2"/>
          <p:cNvSpPr/>
          <p:nvPr/>
        </p:nvSpPr>
        <p:spPr>
          <a:xfrm>
            <a:off x="2870200" y="241300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n2-t"/>
          <p:cNvSpPr txBox="1"/>
          <p:nvPr/>
        </p:nvSpPr>
        <p:spPr>
          <a:xfrm>
            <a:off x="2870200" y="2413000"/>
            <a:ext cx="1905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noProof="1">
                <a:solidFill>
                  <a:srgbClr val="EFEAE0"/>
                </a:solidFill>
                <a:latin typeface="MiSans"/>
                <a:ea typeface="MiSans"/>
              </a:rPr>
              <a:t>YOUR PROFILE</a:t>
            </a:r>
            <a:endParaRPr lang="en-US" sz="1350" noProof="1"/>
          </a:p>
        </p:txBody>
      </p:sp>
      <p:sp>
        <p:nvSpPr>
          <p:cNvPr id="12" name="c2"/>
          <p:cNvSpPr txBox="1"/>
          <p:nvPr/>
        </p:nvSpPr>
        <p:spPr>
          <a:xfrm>
            <a:off x="2870200" y="3454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you, reconstructed as a model</a:t>
            </a:r>
            <a:endParaRPr lang="en-US" sz="950" noProof="1"/>
          </a:p>
        </p:txBody>
      </p:sp>
      <p:sp>
        <p:nvSpPr>
          <p:cNvPr id="13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eyJ2aWV3Qm94IjpbMjgsMV0sInBvaW50cyI6IjAsMCAyOCwwIiwiY3VydmUiOiJzaGFycCJ9</pptd:line>
              </p:ext>
            </p:extLst>
          </p:nvPr>
        </p:nvSpPr>
        <p:spPr>
          <a:xfrm>
            <a:off x="4775200" y="2870200"/>
            <a:ext cx="355600" cy="12700"/>
          </a:xfrm>
          <a:custGeom>
            <a:avLst/>
            <a:gdLst/>
            <a:ahLst/>
            <a:cxnLst/>
            <a:rect l="l" t="t" r="r" b="b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noFill/>
          <a:ln w="2540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n3"/>
          <p:cNvSpPr/>
          <p:nvPr/>
        </p:nvSpPr>
        <p:spPr>
          <a:xfrm>
            <a:off x="5130800" y="241300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n3-t"/>
          <p:cNvSpPr txBox="1"/>
          <p:nvPr/>
        </p:nvSpPr>
        <p:spPr>
          <a:xfrm>
            <a:off x="5130800" y="2413000"/>
            <a:ext cx="1905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noProof="1">
                <a:solidFill>
                  <a:srgbClr val="EFEAE0"/>
                </a:solidFill>
                <a:latin typeface="MiSans"/>
                <a:ea typeface="MiSans"/>
              </a:rPr>
              <a:t>PREDICTION</a:t>
            </a:r>
            <a:endParaRPr lang="en-US" sz="1350" noProof="1"/>
          </a:p>
        </p:txBody>
      </p:sp>
      <p:sp>
        <p:nvSpPr>
          <p:cNvPr id="16" name="c3"/>
          <p:cNvSpPr txBox="1"/>
          <p:nvPr/>
        </p:nvSpPr>
        <p:spPr>
          <a:xfrm>
            <a:off x="5130800" y="3454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your next action, computed</a:t>
            </a:r>
            <a:endParaRPr lang="en-US" sz="950" noProof="1"/>
          </a:p>
        </p:txBody>
      </p:sp>
      <p:sp>
        <p:nvSpPr>
          <p:cNvPr id="17" name="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eyJ2aWV3Qm94IjpbMjgsMV0sInBvaW50cyI6IjAsMCAyOCwwIiwiY3VydmUiOiJzaGFycCJ9</pptd:line>
              </p:ext>
            </p:extLst>
          </p:nvPr>
        </p:nvSpPr>
        <p:spPr>
          <a:xfrm>
            <a:off x="7035800" y="2870200"/>
            <a:ext cx="355600" cy="12700"/>
          </a:xfrm>
          <a:custGeom>
            <a:avLst/>
            <a:gdLst/>
            <a:ahLst/>
            <a:cxnLst/>
            <a:rect l="l" t="t" r="r" b="b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noFill/>
          <a:ln w="2540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n4"/>
          <p:cNvSpPr/>
          <p:nvPr/>
        </p:nvSpPr>
        <p:spPr>
          <a:xfrm>
            <a:off x="7391400" y="241300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n4-t"/>
          <p:cNvSpPr txBox="1"/>
          <p:nvPr/>
        </p:nvSpPr>
        <p:spPr>
          <a:xfrm>
            <a:off x="7391400" y="2413000"/>
            <a:ext cx="1905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noProof="1">
                <a:solidFill>
                  <a:srgbClr val="EFEAE0"/>
                </a:solidFill>
                <a:latin typeface="MiSans"/>
                <a:ea typeface="MiSans"/>
              </a:rPr>
              <a:t>THE TRIGGER</a:t>
            </a:r>
            <a:endParaRPr lang="en-US" sz="1350" noProof="1"/>
          </a:p>
        </p:txBody>
      </p:sp>
      <p:sp>
        <p:nvSpPr>
          <p:cNvPr id="20" name="c4"/>
          <p:cNvSpPr txBox="1"/>
          <p:nvPr/>
        </p:nvSpPr>
        <p:spPr>
          <a:xfrm>
            <a:off x="7391400" y="3454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the ad · the price · the timing</a:t>
            </a:r>
            <a:endParaRPr lang="en-US" sz="950" noProof="1"/>
          </a:p>
        </p:txBody>
      </p:sp>
      <p:sp>
        <p:nvSpPr>
          <p:cNvPr id="21" name="a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eyJ2aWV3Qm94IjpbMjgsMV0sInBvaW50cyI6IjAsMCAyOCwwIiwiY3VydmUiOiJzaGFycCJ9</pptd:line>
              </p:ext>
            </p:extLst>
          </p:nvPr>
        </p:nvSpPr>
        <p:spPr>
          <a:xfrm>
            <a:off x="9296400" y="2870200"/>
            <a:ext cx="355600" cy="12700"/>
          </a:xfrm>
          <a:custGeom>
            <a:avLst/>
            <a:gdLst/>
            <a:ahLst/>
            <a:cxnLst/>
            <a:rect l="l" t="t" r="r" b="b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noFill/>
          <a:ln w="2540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n5"/>
          <p:cNvSpPr/>
          <p:nvPr/>
        </p:nvSpPr>
        <p:spPr>
          <a:xfrm>
            <a:off x="9652000" y="2413000"/>
            <a:ext cx="1905000" cy="914400"/>
          </a:xfrm>
          <a:prstGeom prst="roundRect">
            <a:avLst>
              <a:gd name="adj" fmla="val 12000"/>
            </a:avLst>
          </a:prstGeom>
          <a:solidFill>
            <a:srgbClr val="2A2214"/>
          </a:solidFill>
          <a:ln w="3175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n5-t"/>
          <p:cNvSpPr txBox="1"/>
          <p:nvPr/>
        </p:nvSpPr>
        <p:spPr>
          <a:xfrm>
            <a:off x="9652000" y="2413000"/>
            <a:ext cx="1905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noProof="1">
                <a:solidFill>
                  <a:srgbClr val="E8B04B"/>
                </a:solidFill>
                <a:latin typeface="MiSans"/>
                <a:ea typeface="MiSans"/>
              </a:rPr>
              <a:t>PURCHASE</a:t>
            </a:r>
            <a:endParaRPr lang="en-US" sz="1350" noProof="1"/>
          </a:p>
        </p:txBody>
      </p:sp>
      <p:sp>
        <p:nvSpPr>
          <p:cNvPr id="24" name="c5"/>
          <p:cNvSpPr txBox="1"/>
          <p:nvPr/>
        </p:nvSpPr>
        <p:spPr>
          <a:xfrm>
            <a:off x="9652000" y="3454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an "inevitable" click</a:t>
            </a:r>
            <a:endParaRPr lang="en-US" sz="950" noProof="1"/>
          </a:p>
        </p:txBody>
      </p:sp>
      <p:sp>
        <p:nvSpPr>
          <p:cNvPr id="25" name="quote-bar"/>
          <p:cNvSpPr/>
          <p:nvPr/>
        </p:nvSpPr>
        <p:spPr>
          <a:xfrm>
            <a:off x="609600" y="4826000"/>
            <a:ext cx="50800" cy="1092200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quote"/>
          <p:cNvSpPr txBox="1"/>
          <p:nvPr/>
        </p:nvSpPr>
        <p:spPr>
          <a:xfrm>
            <a:off x="736600" y="4292600"/>
            <a:ext cx="106934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500" i="1" noProof="1">
                <a:solidFill>
                  <a:srgbClr val="EFEAE0"/>
                </a:solidFill>
                <a:latin typeface="MiSans"/>
                <a:ea typeface="MiSans"/>
              </a:rPr>
              <a:t>"Like falling dominoes, every brain state is a direct result of prior physical events."</a:t>
            </a:r>
            <a:endParaRPr lang="en-US" sz="1500" noProof="1"/>
          </a:p>
        </p:txBody>
      </p:sp>
      <p:sp>
        <p:nvSpPr>
          <p:cNvPr id="27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05 / 14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300" noProof="1">
                <a:solidFill>
                  <a:srgbClr val="E86A5C"/>
                </a:solidFill>
                <a:latin typeface="MiSans"/>
                <a:ea typeface="MiSans"/>
              </a:rPr>
              <a:t>03 · RANDOMNESS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Black swans what no algorithm saw coming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5" name="img"/>
          <p:cNvPicPr/>
          <p:nvPr/>
        </p:nvPicPr>
        <p:blipFill>
          <a:blip r:embed="rId2"/>
          <a:srcRect l="17901" r="17901"/>
          <a:stretch>
            <a:fillRect/>
          </a:stretch>
        </p:blipFill>
        <p:spPr>
          <a:xfrm>
            <a:off x="609600" y="1574800"/>
            <a:ext cx="5334000" cy="46736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6" name="def"/>
          <p:cNvSpPr txBox="1"/>
          <p:nvPr/>
        </p:nvSpPr>
        <p:spPr>
          <a:xfrm>
            <a:off x="6350000" y="1574800"/>
            <a:ext cx="5232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E86A5C"/>
                </a:solidFill>
                <a:latin typeface="MiSans"/>
                <a:ea typeface="MiSans"/>
              </a:rPr>
              <a:t>True randomness =</a:t>
            </a: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 an event with no prior cause. It cannot be predicted only mapped with probabilities.</a:t>
            </a:r>
            <a:endParaRPr lang="en-US" sz="1300" noProof="1"/>
          </a:p>
        </p:txBody>
      </p:sp>
      <p:sp>
        <p:nvSpPr>
          <p:cNvPr id="7" name="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eyJpY29uTmFtZSI6ImZhczptZXRlb3IifQ</pptd:icon>
              </p:ext>
            </p:extLst>
          </p:nvPr>
        </p:nvSpPr>
        <p:spPr>
          <a:xfrm>
            <a:off x="6350000" y="2540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94" y="1"/>
                </a:moveTo>
                <a:lnTo>
                  <a:pt x="300" y="76"/>
                </a:lnTo>
                <a:lnTo>
                  <a:pt x="302" y="46"/>
                </a:lnTo>
                <a:cubicBezTo>
                  <a:pt x="303" y="34"/>
                  <a:pt x="289" y="25"/>
                  <a:pt x="278" y="31"/>
                </a:cubicBezTo>
                <a:lnTo>
                  <a:pt x="101" y="133"/>
                </a:lnTo>
                <a:cubicBezTo>
                  <a:pt x="39" y="170"/>
                  <a:pt x="0" y="237"/>
                  <a:pt x="0" y="309"/>
                </a:cubicBezTo>
                <a:cubicBezTo>
                  <a:pt x="0" y="421"/>
                  <a:pt x="91" y="512"/>
                  <a:pt x="203" y="512"/>
                </a:cubicBezTo>
                <a:cubicBezTo>
                  <a:pt x="275" y="512"/>
                  <a:pt x="342" y="473"/>
                  <a:pt x="379" y="411"/>
                </a:cubicBezTo>
                <a:lnTo>
                  <a:pt x="481" y="234"/>
                </a:lnTo>
                <a:cubicBezTo>
                  <a:pt x="487" y="223"/>
                  <a:pt x="479" y="209"/>
                  <a:pt x="466" y="210"/>
                </a:cubicBezTo>
                <a:lnTo>
                  <a:pt x="436" y="213"/>
                </a:lnTo>
                <a:lnTo>
                  <a:pt x="511" y="18"/>
                </a:lnTo>
                <a:cubicBezTo>
                  <a:pt x="512" y="17"/>
                  <a:pt x="512" y="15"/>
                  <a:pt x="512" y="14"/>
                </a:cubicBezTo>
                <a:cubicBezTo>
                  <a:pt x="512" y="6"/>
                  <a:pt x="506" y="0"/>
                  <a:pt x="498" y="0"/>
                </a:cubicBezTo>
                <a:cubicBezTo>
                  <a:pt x="497" y="0"/>
                  <a:pt x="495" y="0"/>
                  <a:pt x="494" y="1"/>
                </a:cubicBezTo>
                <a:close/>
                <a:moveTo>
                  <a:pt x="192" y="192"/>
                </a:moveTo>
                <a:cubicBezTo>
                  <a:pt x="263" y="192"/>
                  <a:pt x="320" y="249"/>
                  <a:pt x="320" y="320"/>
                </a:cubicBezTo>
                <a:cubicBezTo>
                  <a:pt x="320" y="391"/>
                  <a:pt x="263" y="448"/>
                  <a:pt x="192" y="448"/>
                </a:cubicBezTo>
                <a:cubicBezTo>
                  <a:pt x="121" y="448"/>
                  <a:pt x="64" y="391"/>
                  <a:pt x="64" y="320"/>
                </a:cubicBezTo>
                <a:cubicBezTo>
                  <a:pt x="64" y="249"/>
                  <a:pt x="121" y="192"/>
                  <a:pt x="192" y="192"/>
                </a:cubicBezTo>
                <a:close/>
              </a:path>
              <a:path w="512" h="512">
                <a:moveTo>
                  <a:pt x="192" y="288"/>
                </a:moveTo>
                <a:cubicBezTo>
                  <a:pt x="192" y="270"/>
                  <a:pt x="178" y="256"/>
                  <a:pt x="160" y="256"/>
                </a:cubicBezTo>
                <a:cubicBezTo>
                  <a:pt x="142" y="256"/>
                  <a:pt x="128" y="270"/>
                  <a:pt x="128" y="288"/>
                </a:cubicBezTo>
                <a:cubicBezTo>
                  <a:pt x="128" y="306"/>
                  <a:pt x="142" y="320"/>
                  <a:pt x="160" y="320"/>
                </a:cubicBezTo>
                <a:cubicBezTo>
                  <a:pt x="178" y="320"/>
                  <a:pt x="192" y="306"/>
                  <a:pt x="192" y="288"/>
                </a:cubicBezTo>
                <a:close/>
              </a:path>
              <a:path w="512" h="512">
                <a:moveTo>
                  <a:pt x="208" y="384"/>
                </a:moveTo>
                <a:cubicBezTo>
                  <a:pt x="217" y="384"/>
                  <a:pt x="224" y="377"/>
                  <a:pt x="224" y="368"/>
                </a:cubicBezTo>
                <a:cubicBezTo>
                  <a:pt x="224" y="359"/>
                  <a:pt x="217" y="352"/>
                  <a:pt x="208" y="352"/>
                </a:cubicBezTo>
                <a:cubicBezTo>
                  <a:pt x="199" y="352"/>
                  <a:pt x="192" y="359"/>
                  <a:pt x="192" y="368"/>
                </a:cubicBezTo>
                <a:cubicBezTo>
                  <a:pt x="192" y="377"/>
                  <a:pt x="199" y="384"/>
                  <a:pt x="208" y="384"/>
                </a:cubicBezTo>
                <a:close/>
              </a:path>
            </a:pathLst>
          </a:custGeom>
          <a:solidFill>
            <a:srgbClr val="E86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i1-h"/>
          <p:cNvSpPr txBox="1"/>
          <p:nvPr/>
        </p:nvSpPr>
        <p:spPr>
          <a:xfrm>
            <a:off x="6858000" y="2489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The black swan event</a:t>
            </a:r>
            <a:endParaRPr lang="en-US" sz="1450" noProof="1"/>
          </a:p>
        </p:txBody>
      </p:sp>
      <p:sp>
        <p:nvSpPr>
          <p:cNvPr id="9" name="i1-b"/>
          <p:cNvSpPr txBox="1"/>
          <p:nvPr/>
        </p:nvSpPr>
        <p:spPr>
          <a:xfrm>
            <a:off x="6858000" y="28194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A crisis, freak weather event or viral trend has no historical data trail. Deterministic AI cannot see it and consumer behaviour is scrambled overnight.</a:t>
            </a:r>
            <a:endParaRPr lang="en-US" sz="1050" noProof="1"/>
          </a:p>
        </p:txBody>
      </p:sp>
      <p:sp>
        <p:nvSpPr>
          <p:cNvPr id="10" name="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eyJpY29uTmFtZSI6ImZhczpzaHVmZmxlIn0</pptd:icon>
              </p:ext>
            </p:extLst>
          </p:nvPr>
        </p:nvSpPr>
        <p:spPr>
          <a:xfrm>
            <a:off x="6350000" y="3759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04" y="34"/>
                </a:moveTo>
                <a:cubicBezTo>
                  <a:pt x="416" y="29"/>
                  <a:pt x="430" y="32"/>
                  <a:pt x="439" y="41"/>
                </a:cubicBezTo>
                <a:lnTo>
                  <a:pt x="503" y="105"/>
                </a:lnTo>
                <a:cubicBezTo>
                  <a:pt x="509" y="111"/>
                  <a:pt x="512" y="119"/>
                  <a:pt x="512" y="128"/>
                </a:cubicBezTo>
                <a:cubicBezTo>
                  <a:pt x="512" y="136"/>
                  <a:pt x="509" y="145"/>
                  <a:pt x="503" y="151"/>
                </a:cubicBezTo>
                <a:lnTo>
                  <a:pt x="439" y="215"/>
                </a:lnTo>
                <a:cubicBezTo>
                  <a:pt x="430" y="224"/>
                  <a:pt x="416" y="226"/>
                  <a:pt x="404" y="221"/>
                </a:cubicBezTo>
                <a:cubicBezTo>
                  <a:pt x="392" y="216"/>
                  <a:pt x="384" y="205"/>
                  <a:pt x="384" y="192"/>
                </a:cubicBezTo>
                <a:lnTo>
                  <a:pt x="384" y="160"/>
                </a:lnTo>
                <a:lnTo>
                  <a:pt x="352" y="160"/>
                </a:lnTo>
                <a:cubicBezTo>
                  <a:pt x="342" y="160"/>
                  <a:pt x="332" y="165"/>
                  <a:pt x="326" y="173"/>
                </a:cubicBezTo>
                <a:lnTo>
                  <a:pt x="294" y="216"/>
                </a:lnTo>
                <a:lnTo>
                  <a:pt x="254" y="163"/>
                </a:lnTo>
                <a:lnTo>
                  <a:pt x="275" y="134"/>
                </a:lnTo>
                <a:cubicBezTo>
                  <a:pt x="293" y="110"/>
                  <a:pt x="322" y="96"/>
                  <a:pt x="352" y="96"/>
                </a:cubicBezTo>
                <a:lnTo>
                  <a:pt x="384" y="96"/>
                </a:lnTo>
                <a:lnTo>
                  <a:pt x="384" y="64"/>
                </a:lnTo>
                <a:cubicBezTo>
                  <a:pt x="384" y="51"/>
                  <a:pt x="392" y="39"/>
                  <a:pt x="404" y="34"/>
                </a:cubicBezTo>
                <a:close/>
              </a:path>
              <a:path w="512" h="512">
                <a:moveTo>
                  <a:pt x="154" y="296"/>
                </a:moveTo>
                <a:lnTo>
                  <a:pt x="194" y="349"/>
                </a:lnTo>
                <a:lnTo>
                  <a:pt x="173" y="378"/>
                </a:lnTo>
                <a:cubicBezTo>
                  <a:pt x="155" y="402"/>
                  <a:pt x="126" y="416"/>
                  <a:pt x="96" y="416"/>
                </a:cubicBezTo>
                <a:lnTo>
                  <a:pt x="32" y="416"/>
                </a:lnTo>
                <a:cubicBezTo>
                  <a:pt x="14" y="416"/>
                  <a:pt x="0" y="402"/>
                  <a:pt x="0" y="384"/>
                </a:cubicBezTo>
                <a:cubicBezTo>
                  <a:pt x="0" y="366"/>
                  <a:pt x="14" y="352"/>
                  <a:pt x="32" y="352"/>
                </a:cubicBezTo>
                <a:lnTo>
                  <a:pt x="96" y="352"/>
                </a:lnTo>
                <a:cubicBezTo>
                  <a:pt x="106" y="352"/>
                  <a:pt x="116" y="347"/>
                  <a:pt x="122" y="339"/>
                </a:cubicBezTo>
                <a:lnTo>
                  <a:pt x="154" y="296"/>
                </a:lnTo>
                <a:close/>
              </a:path>
              <a:path w="512" h="512">
                <a:moveTo>
                  <a:pt x="439" y="471"/>
                </a:moveTo>
                <a:cubicBezTo>
                  <a:pt x="429" y="480"/>
                  <a:pt x="416" y="483"/>
                  <a:pt x="404" y="478"/>
                </a:cubicBezTo>
                <a:cubicBezTo>
                  <a:pt x="392" y="473"/>
                  <a:pt x="384" y="461"/>
                  <a:pt x="384" y="448"/>
                </a:cubicBezTo>
                <a:lnTo>
                  <a:pt x="384" y="416"/>
                </a:lnTo>
                <a:lnTo>
                  <a:pt x="352" y="416"/>
                </a:lnTo>
                <a:cubicBezTo>
                  <a:pt x="322" y="416"/>
                  <a:pt x="293" y="402"/>
                  <a:pt x="275" y="378"/>
                </a:cubicBezTo>
                <a:lnTo>
                  <a:pt x="122" y="173"/>
                </a:lnTo>
                <a:cubicBezTo>
                  <a:pt x="116" y="165"/>
                  <a:pt x="106" y="160"/>
                  <a:pt x="96" y="160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cubicBezTo>
                  <a:pt x="126" y="96"/>
                  <a:pt x="155" y="110"/>
                  <a:pt x="173" y="134"/>
                </a:cubicBezTo>
                <a:lnTo>
                  <a:pt x="326" y="339"/>
                </a:lnTo>
                <a:cubicBezTo>
                  <a:pt x="332" y="347"/>
                  <a:pt x="342" y="352"/>
                  <a:pt x="352" y="352"/>
                </a:cubicBezTo>
                <a:lnTo>
                  <a:pt x="384" y="352"/>
                </a:lnTo>
                <a:lnTo>
                  <a:pt x="384" y="320"/>
                </a:lnTo>
                <a:cubicBezTo>
                  <a:pt x="384" y="307"/>
                  <a:pt x="392" y="295"/>
                  <a:pt x="404" y="290"/>
                </a:cubicBezTo>
                <a:cubicBezTo>
                  <a:pt x="416" y="285"/>
                  <a:pt x="430" y="288"/>
                  <a:pt x="439" y="297"/>
                </a:cubicBezTo>
                <a:lnTo>
                  <a:pt x="503" y="361"/>
                </a:lnTo>
                <a:cubicBezTo>
                  <a:pt x="509" y="367"/>
                  <a:pt x="512" y="375"/>
                  <a:pt x="512" y="384"/>
                </a:cubicBezTo>
                <a:cubicBezTo>
                  <a:pt x="512" y="392"/>
                  <a:pt x="509" y="401"/>
                  <a:pt x="503" y="407"/>
                </a:cubicBezTo>
                <a:lnTo>
                  <a:pt x="439" y="471"/>
                </a:lnTo>
                <a:close/>
              </a:path>
            </a:pathLst>
          </a:custGeom>
          <a:solidFill>
            <a:srgbClr val="E86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i2-h"/>
          <p:cNvSpPr txBox="1"/>
          <p:nvPr/>
        </p:nvSpPr>
        <p:spPr>
          <a:xfrm>
            <a:off x="6858000" y="3708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Algorithmic anomalies</a:t>
            </a:r>
            <a:endParaRPr lang="en-US" sz="1450" noProof="1"/>
          </a:p>
        </p:txBody>
      </p:sp>
      <p:sp>
        <p:nvSpPr>
          <p:cNvPr id="12" name="i2-b"/>
          <p:cNvSpPr txBox="1"/>
          <p:nvPr/>
        </p:nvSpPr>
        <p:spPr>
          <a:xfrm>
            <a:off x="6858000" y="40386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The wild, uncharacteristic purchase (storm, meme, broken phone) is not read as free will it is statistical noise, a chaotic variable to be mapped.</a:t>
            </a:r>
            <a:endParaRPr lang="en-US" sz="1050" noProof="1"/>
          </a:p>
        </p:txBody>
      </p:sp>
      <p:sp>
        <p:nvSpPr>
          <p:cNvPr id="13" name="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eyJpY29uTmFtZSI6ImZhczpjbG91ZCJ9</pptd:icon>
              </p:ext>
            </p:extLst>
          </p:nvPr>
        </p:nvSpPr>
        <p:spPr>
          <a:xfrm>
            <a:off x="6350000" y="4978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336"/>
                </a:moveTo>
                <a:cubicBezTo>
                  <a:pt x="0" y="416"/>
                  <a:pt x="65" y="480"/>
                  <a:pt x="144" y="480"/>
                </a:cubicBezTo>
                <a:lnTo>
                  <a:pt x="448" y="480"/>
                </a:lnTo>
                <a:cubicBezTo>
                  <a:pt x="519" y="480"/>
                  <a:pt x="576" y="423"/>
                  <a:pt x="576" y="352"/>
                </a:cubicBezTo>
                <a:cubicBezTo>
                  <a:pt x="576" y="300"/>
                  <a:pt x="546" y="256"/>
                  <a:pt x="502" y="236"/>
                </a:cubicBezTo>
                <a:cubicBezTo>
                  <a:pt x="508" y="223"/>
                  <a:pt x="512" y="208"/>
                  <a:pt x="512" y="192"/>
                </a:cubicBezTo>
                <a:cubicBezTo>
                  <a:pt x="512" y="139"/>
                  <a:pt x="469" y="96"/>
                  <a:pt x="416" y="96"/>
                </a:cubicBezTo>
                <a:cubicBezTo>
                  <a:pt x="398" y="96"/>
                  <a:pt x="382" y="101"/>
                  <a:pt x="368" y="109"/>
                </a:cubicBezTo>
                <a:cubicBezTo>
                  <a:pt x="344" y="63"/>
                  <a:pt x="295" y="32"/>
                  <a:pt x="240" y="32"/>
                </a:cubicBezTo>
                <a:cubicBezTo>
                  <a:pt x="161" y="32"/>
                  <a:pt x="96" y="97"/>
                  <a:pt x="96" y="176"/>
                </a:cubicBezTo>
                <a:cubicBezTo>
                  <a:pt x="96" y="184"/>
                  <a:pt x="97" y="192"/>
                  <a:pt x="98" y="200"/>
                </a:cubicBezTo>
                <a:cubicBezTo>
                  <a:pt x="41" y="219"/>
                  <a:pt x="0" y="273"/>
                  <a:pt x="0" y="336"/>
                </a:cubicBezTo>
                <a:close/>
              </a:path>
            </a:pathLst>
          </a:custGeom>
          <a:solidFill>
            <a:srgbClr val="E86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i3-h"/>
          <p:cNvSpPr txBox="1"/>
          <p:nvPr/>
        </p:nvSpPr>
        <p:spPr>
          <a:xfrm>
            <a:off x="6858000" y="49276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Probabilistic target clouds</a:t>
            </a:r>
            <a:endParaRPr lang="en-US" sz="1450" noProof="1"/>
          </a:p>
        </p:txBody>
      </p:sp>
      <p:sp>
        <p:nvSpPr>
          <p:cNvPr id="15" name="i3-b"/>
          <p:cNvSpPr txBox="1"/>
          <p:nvPr/>
        </p:nvSpPr>
        <p:spPr>
          <a:xfrm>
            <a:off x="6858000" y="52578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Modern marketing quotes cohorts, not people "82% probability this demographic converts under this stimulus." The particle cloud replaces the individual.</a:t>
            </a:r>
            <a:endParaRPr lang="en-US" sz="1050" noProof="1"/>
          </a:p>
        </p:txBody>
      </p:sp>
      <p:sp>
        <p:nvSpPr>
          <p:cNvPr id="16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06 / 14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When exact prediction fails, probability takes over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1"/>
          <p:cNvSpPr/>
          <p:nvPr/>
        </p:nvSpPr>
        <p:spPr>
          <a:xfrm>
            <a:off x="1016000" y="1778000"/>
            <a:ext cx="4572000" cy="7366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19050">
            <a:solidFill>
              <a:srgbClr val="96A0B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n1-t"/>
          <p:cNvSpPr txBox="1"/>
          <p:nvPr/>
        </p:nvSpPr>
        <p:spPr>
          <a:xfrm>
            <a:off x="1016000" y="1778000"/>
            <a:ext cx="457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strike="sngStrike" noProof="1">
                <a:solidFill>
                  <a:srgbClr val="96A0B3"/>
                </a:solidFill>
                <a:latin typeface="MiSans"/>
                <a:ea typeface="MiSans"/>
              </a:rPr>
              <a:t>PREDICT ONE PERSON, EXACTLY</a:t>
            </a:r>
            <a:endParaRPr lang="en-US" sz="14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eyJ2aWV3Qm94IjpbMSwzNF0sInBvaW50cyI6IjAsMCAwLDM0IiwiY3VydmUiOiJzaGFycCJ9</pptd:line>
              </p:ext>
            </p:extLst>
          </p:nvPr>
        </p:nvSpPr>
        <p:spPr>
          <a:xfrm>
            <a:off x="3302000" y="2514600"/>
            <a:ext cx="12700" cy="431800"/>
          </a:xfrm>
          <a:custGeom>
            <a:avLst/>
            <a:gdLst/>
            <a:ahLst/>
            <a:cxnLst/>
            <a:rect l="l" t="t" r="r" b="b"/>
            <a:pathLst>
              <a:path w="1" h="34">
                <a:moveTo>
                  <a:pt x="0" y="0"/>
                </a:moveTo>
                <a:lnTo>
                  <a:pt x="0" y="34"/>
                </a:lnTo>
              </a:path>
            </a:pathLst>
          </a:custGeom>
          <a:noFill/>
          <a:ln w="2540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" name="n2"/>
          <p:cNvSpPr/>
          <p:nvPr/>
        </p:nvSpPr>
        <p:spPr>
          <a:xfrm>
            <a:off x="1016000" y="2946400"/>
            <a:ext cx="4572000" cy="7366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2540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n2-t"/>
          <p:cNvSpPr txBox="1"/>
          <p:nvPr/>
        </p:nvSpPr>
        <p:spPr>
          <a:xfrm>
            <a:off x="1016000" y="2946400"/>
            <a:ext cx="457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5BBFAE"/>
                </a:solidFill>
                <a:latin typeface="MiSans"/>
                <a:ea typeface="MiSans"/>
              </a:rPr>
              <a:t>MODEL THE COHORT AS A CLOUD</a:t>
            </a:r>
            <a:endParaRPr lang="en-US" sz="1400" noProof="1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eyJ2aWV3Qm94IjpbMSwzNF0sInBvaW50cyI6IjAsMCAwLDM0IiwiY3VydmUiOiJzaGFycCJ9</pptd:line>
              </p:ext>
            </p:extLst>
          </p:nvPr>
        </p:nvSpPr>
        <p:spPr>
          <a:xfrm>
            <a:off x="3302000" y="3683000"/>
            <a:ext cx="12700" cy="431800"/>
          </a:xfrm>
          <a:custGeom>
            <a:avLst/>
            <a:gdLst/>
            <a:ahLst/>
            <a:cxnLst/>
            <a:rect l="l" t="t" r="r" b="b"/>
            <a:pathLst>
              <a:path w="1" h="34">
                <a:moveTo>
                  <a:pt x="0" y="0"/>
                </a:moveTo>
                <a:lnTo>
                  <a:pt x="0" y="34"/>
                </a:lnTo>
              </a:path>
            </a:pathLst>
          </a:custGeom>
          <a:noFill/>
          <a:ln w="2540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n3"/>
          <p:cNvSpPr/>
          <p:nvPr/>
        </p:nvSpPr>
        <p:spPr>
          <a:xfrm>
            <a:off x="1016000" y="4114800"/>
            <a:ext cx="4572000" cy="7366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25400">
            <a:solidFill>
              <a:srgbClr val="E8B0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n3-t"/>
          <p:cNvSpPr txBox="1"/>
          <p:nvPr/>
        </p:nvSpPr>
        <p:spPr>
          <a:xfrm>
            <a:off x="1016000" y="4114800"/>
            <a:ext cx="457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E8B04B"/>
                </a:solidFill>
                <a:latin typeface="MiSans"/>
                <a:ea typeface="MiSans"/>
              </a:rPr>
              <a:t>HEDGE THE SUPPLY CHAIN</a:t>
            </a:r>
            <a:endParaRPr lang="en-US" sz="1400" noProof="1"/>
          </a:p>
        </p:txBody>
      </p:sp>
      <p:sp>
        <p:nvSpPr>
          <p:cNvPr id="13" name="cap"/>
          <p:cNvSpPr txBox="1"/>
          <p:nvPr/>
        </p:nvSpPr>
        <p:spPr>
          <a:xfrm>
            <a:off x="1016000" y="5029200"/>
            <a:ext cx="482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"70% chance this ZIP code buys umbrellas tomorrow" →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stock enough to cover the cloud, never the whole map.</a:t>
            </a:r>
            <a:endParaRPr lang="en-US" sz="10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E86A5C"/>
                </a:solidFill>
                <a:latin typeface="MiSans"/>
                <a:ea typeface="MiSans"/>
              </a:rPr>
              <a:t>Quantum rule, commerce edition: probabilities, not certainties.</a:t>
            </a:r>
            <a:endParaRPr lang="en-US" sz="1050" noProof="1"/>
          </a:p>
        </p:txBody>
      </p:sp>
      <p:pic>
        <p:nvPicPr>
          <p:cNvPr id="14" name="img"/>
          <p:cNvPicPr/>
          <p:nvPr/>
        </p:nvPicPr>
        <p:blipFill>
          <a:blip r:embed="rId2"/>
          <a:srcRect l="16792" r="16792"/>
          <a:stretch>
            <a:fillRect/>
          </a:stretch>
        </p:blipFill>
        <p:spPr>
          <a:xfrm>
            <a:off x="6604000" y="1778000"/>
            <a:ext cx="4978400" cy="42164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15" name="img-cap"/>
          <p:cNvSpPr txBox="1"/>
          <p:nvPr/>
        </p:nvSpPr>
        <p:spPr>
          <a:xfrm>
            <a:off x="6604000" y="6096000"/>
            <a:ext cx="497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The electron cloud: where any single shopper lands is unknown — the shape of the crowd is not.</a:t>
            </a:r>
            <a:endParaRPr lang="en-US" sz="950" noProof="1"/>
          </a:p>
        </p:txBody>
      </p:sp>
      <p:sp>
        <p:nvSpPr>
          <p:cNvPr id="16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07 / 14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The value network is commerce's physical grid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def"/>
          <p:cNvSpPr txBox="1"/>
          <p:nvPr/>
        </p:nvSpPr>
        <p:spPr>
          <a:xfrm>
            <a:off x="609600" y="15748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5BBFAE"/>
                </a:solidFill>
                <a:latin typeface="MiSans"/>
                <a:ea typeface="MiSans"/>
              </a:rPr>
              <a:t>Value network =</a:t>
            </a: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 the interconnected web of suppliers, algorithms, logistics and platforms. It works like the physical grid of Greene's universe the environment that dictates how consumer particles move.</a:t>
            </a:r>
            <a:endParaRPr lang="en-US" sz="1300" noProof="1"/>
          </a:p>
        </p:txBody>
      </p:sp>
      <p:sp>
        <p:nvSpPr>
          <p:cNvPr id="6" name="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eyJpY29uTmFtZSI6ImZhczpib3JkZXItYWxsIn0</pptd:icon>
              </p:ext>
            </p:extLst>
          </p:nvPr>
        </p:nvSpPr>
        <p:spPr>
          <a:xfrm>
            <a:off x="609600" y="2743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384" y="96"/>
                </a:moveTo>
                <a:lnTo>
                  <a:pt x="384" y="224"/>
                </a:lnTo>
                <a:lnTo>
                  <a:pt x="256" y="224"/>
                </a:lnTo>
                <a:lnTo>
                  <a:pt x="256" y="96"/>
                </a:lnTo>
                <a:lnTo>
                  <a:pt x="384" y="96"/>
                </a:lnTo>
                <a:close/>
                <a:moveTo>
                  <a:pt x="384" y="288"/>
                </a:moveTo>
                <a:lnTo>
                  <a:pt x="384" y="416"/>
                </a:lnTo>
                <a:lnTo>
                  <a:pt x="256" y="416"/>
                </a:lnTo>
                <a:lnTo>
                  <a:pt x="256" y="288"/>
                </a:lnTo>
                <a:lnTo>
                  <a:pt x="384" y="288"/>
                </a:lnTo>
                <a:close/>
                <a:moveTo>
                  <a:pt x="192" y="224"/>
                </a:moveTo>
                <a:lnTo>
                  <a:pt x="64" y="224"/>
                </a:lnTo>
                <a:lnTo>
                  <a:pt x="64" y="96"/>
                </a:lnTo>
                <a:lnTo>
                  <a:pt x="192" y="96"/>
                </a:lnTo>
                <a:lnTo>
                  <a:pt x="192" y="224"/>
                </a:lnTo>
                <a:close/>
                <a:moveTo>
                  <a:pt x="64" y="288"/>
                </a:moveTo>
                <a:lnTo>
                  <a:pt x="192" y="288"/>
                </a:lnTo>
                <a:lnTo>
                  <a:pt x="192" y="416"/>
                </a:lnTo>
                <a:lnTo>
                  <a:pt x="64" y="416"/>
                </a:lnTo>
                <a:lnTo>
                  <a:pt x="64" y="288"/>
                </a:lnTo>
                <a:close/>
              </a:path>
            </a:pathLst>
          </a:custGeom>
          <a:solidFill>
            <a:srgbClr val="5BBF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i1-h"/>
          <p:cNvSpPr txBox="1"/>
          <p:nvPr/>
        </p:nvSpPr>
        <p:spPr>
          <a:xfrm>
            <a:off x="1117600" y="2692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Network constraints</a:t>
            </a:r>
            <a:endParaRPr lang="en-US" sz="1450" noProof="1"/>
          </a:p>
        </p:txBody>
      </p:sp>
      <p:sp>
        <p:nvSpPr>
          <p:cNvPr id="8" name="i1-b"/>
          <p:cNvSpPr txBox="1"/>
          <p:nvPr/>
        </p:nvSpPr>
        <p:spPr>
          <a:xfrm>
            <a:off x="1117600" y="3022600"/>
            <a:ext cx="482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A particle cannot move where space does not exist. A consumer cannot buy what the network fails to predict, stock or surface. The network sets the boundary conditions of "choice".</a:t>
            </a:r>
            <a:endParaRPr lang="en-US" sz="1050" noProof="1"/>
          </a:p>
        </p:txBody>
      </p:sp>
      <p:sp>
        <p:nvSpPr>
          <p:cNvPr id="9" name="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609600" y="4216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5BBF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i2-h"/>
          <p:cNvSpPr txBox="1"/>
          <p:nvPr/>
        </p:nvSpPr>
        <p:spPr>
          <a:xfrm>
            <a:off x="1117600" y="4165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Deterministic synchronization</a:t>
            </a:r>
            <a:endParaRPr lang="en-US" sz="1450" noProof="1"/>
          </a:p>
        </p:txBody>
      </p:sp>
      <p:sp>
        <p:nvSpPr>
          <p:cNvPr id="11" name="i2-b"/>
          <p:cNvSpPr txBox="1"/>
          <p:nvPr/>
        </p:nvSpPr>
        <p:spPr>
          <a:xfrm>
            <a:off x="1117600" y="4495800"/>
            <a:ext cx="482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One click automatically triggers raw-material ordering, factory scheduling and shipping. The "choice" is not an isolated event it is a single gear turning a massive, pre-programmed machine.</a:t>
            </a:r>
            <a:endParaRPr lang="en-US" sz="1050" noProof="1"/>
          </a:p>
        </p:txBody>
      </p:sp>
      <p:sp>
        <p:nvSpPr>
          <p:cNvPr id="12" name="note-bar"/>
          <p:cNvSpPr/>
          <p:nvPr/>
        </p:nvSpPr>
        <p:spPr>
          <a:xfrm>
            <a:off x="609600" y="5740400"/>
            <a:ext cx="50800" cy="508000"/>
          </a:xfrm>
          <a:prstGeom prst="rect">
            <a:avLst/>
          </a:prstGeom>
          <a:solidFill>
            <a:srgbClr val="5BBF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g"/>
          <p:cNvPicPr/>
          <p:nvPr/>
        </p:nvPicPr>
        <p:blipFill>
          <a:blip r:embed="rId2"/>
          <a:srcRect l="17901" r="17901"/>
          <a:stretch>
            <a:fillRect/>
          </a:stretch>
        </p:blipFill>
        <p:spPr>
          <a:xfrm>
            <a:off x="6248400" y="1574800"/>
            <a:ext cx="5334000" cy="46736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15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08 / 14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Your click turns a pre-programmed machine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ing"/>
          <p:cNvSpPr/>
          <p:nvPr/>
        </p:nvSpPr>
        <p:spPr>
          <a:xfrm>
            <a:off x="1905000" y="1600200"/>
            <a:ext cx="8382000" cy="4191000"/>
          </a:xfrm>
          <a:prstGeom prst="ellipse">
            <a:avLst/>
          </a:prstGeom>
          <a:noFill/>
          <a:ln w="19050">
            <a:solidFill>
              <a:srgbClr val="5BBF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ring-label-bg"/>
          <p:cNvSpPr/>
          <p:nvPr/>
        </p:nvSpPr>
        <p:spPr>
          <a:xfrm>
            <a:off x="4635500" y="1498600"/>
            <a:ext cx="2921000" cy="3048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ing-label"/>
          <p:cNvSpPr txBox="1"/>
          <p:nvPr/>
        </p:nvSpPr>
        <p:spPr>
          <a:xfrm>
            <a:off x="4826000" y="1524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kern="0" spc="300" noProof="1">
                <a:solidFill>
                  <a:srgbClr val="5BBFAE"/>
                </a:solidFill>
                <a:latin typeface="MiSans"/>
                <a:ea typeface="MiSans"/>
              </a:rPr>
              <a:t>THE VALUE NETWORK</a:t>
            </a:r>
            <a:endParaRPr lang="en-US" sz="1100" noProof="1"/>
          </a:p>
        </p:txBody>
      </p:sp>
      <p:sp>
        <p:nvSpPr>
          <p:cNvPr id="8" name="center"/>
          <p:cNvSpPr/>
          <p:nvPr/>
        </p:nvSpPr>
        <p:spPr>
          <a:xfrm>
            <a:off x="4572000" y="3048000"/>
            <a:ext cx="3048000" cy="1143000"/>
          </a:xfrm>
          <a:prstGeom prst="ellipse">
            <a:avLst/>
          </a:prstGeom>
          <a:solidFill>
            <a:srgbClr val="141E33"/>
          </a:solidFill>
          <a:ln w="3175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enter-t"/>
          <p:cNvSpPr txBox="1"/>
          <p:nvPr/>
        </p:nvSpPr>
        <p:spPr>
          <a:xfrm>
            <a:off x="4572000" y="304800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noProof="1">
                <a:solidFill>
                  <a:srgbClr val="EFEAE0"/>
                </a:solidFill>
                <a:latin typeface="MiSans"/>
                <a:ea typeface="MiSans"/>
              </a:rPr>
              <a:t>ONE CONSUMER CLICK</a:t>
            </a:r>
            <a:endParaRPr lang="en-US" sz="1600" noProof="1"/>
          </a:p>
        </p:txBody>
      </p:sp>
      <p:sp>
        <p:nvSpPr>
          <p:cNvPr id="10" name="gear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eyJpY29uTmFtZSI6ImZhczpnZWFyIn0</pptd:icon>
              </p:ext>
            </p:extLst>
          </p:nvPr>
        </p:nvSpPr>
        <p:spPr>
          <a:xfrm>
            <a:off x="5816600" y="426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5" y="10"/>
                </a:moveTo>
                <a:cubicBezTo>
                  <a:pt x="198" y="-5"/>
                  <a:pt x="211" y="-16"/>
                  <a:pt x="226" y="-16"/>
                </a:cubicBezTo>
                <a:lnTo>
                  <a:pt x="286" y="-16"/>
                </a:lnTo>
                <a:cubicBezTo>
                  <a:pt x="301" y="-16"/>
                  <a:pt x="315" y="-5"/>
                  <a:pt x="318" y="10"/>
                </a:cubicBezTo>
                <a:lnTo>
                  <a:pt x="332" y="80"/>
                </a:lnTo>
                <a:cubicBezTo>
                  <a:pt x="346" y="86"/>
                  <a:pt x="359" y="93"/>
                  <a:pt x="371" y="102"/>
                </a:cubicBezTo>
                <a:lnTo>
                  <a:pt x="439" y="80"/>
                </a:lnTo>
                <a:cubicBezTo>
                  <a:pt x="454" y="75"/>
                  <a:pt x="469" y="81"/>
                  <a:pt x="477" y="94"/>
                </a:cubicBezTo>
                <a:lnTo>
                  <a:pt x="507" y="146"/>
                </a:lnTo>
                <a:cubicBezTo>
                  <a:pt x="514" y="159"/>
                  <a:pt x="512" y="176"/>
                  <a:pt x="500" y="186"/>
                </a:cubicBezTo>
                <a:lnTo>
                  <a:pt x="447" y="233"/>
                </a:lnTo>
                <a:cubicBezTo>
                  <a:pt x="448" y="241"/>
                  <a:pt x="448" y="248"/>
                  <a:pt x="448" y="256"/>
                </a:cubicBezTo>
                <a:cubicBezTo>
                  <a:pt x="448" y="264"/>
                  <a:pt x="448" y="271"/>
                  <a:pt x="447" y="279"/>
                </a:cubicBezTo>
                <a:lnTo>
                  <a:pt x="500" y="326"/>
                </a:lnTo>
                <a:cubicBezTo>
                  <a:pt x="512" y="336"/>
                  <a:pt x="514" y="353"/>
                  <a:pt x="507" y="366"/>
                </a:cubicBezTo>
                <a:lnTo>
                  <a:pt x="477" y="418"/>
                </a:lnTo>
                <a:cubicBezTo>
                  <a:pt x="469" y="431"/>
                  <a:pt x="454" y="437"/>
                  <a:pt x="439" y="432"/>
                </a:cubicBezTo>
                <a:lnTo>
                  <a:pt x="371" y="410"/>
                </a:lnTo>
                <a:cubicBezTo>
                  <a:pt x="359" y="419"/>
                  <a:pt x="346" y="426"/>
                  <a:pt x="332" y="433"/>
                </a:cubicBezTo>
                <a:lnTo>
                  <a:pt x="318" y="503"/>
                </a:lnTo>
                <a:cubicBezTo>
                  <a:pt x="315" y="517"/>
                  <a:pt x="302" y="528"/>
                  <a:pt x="286" y="528"/>
                </a:cubicBezTo>
                <a:lnTo>
                  <a:pt x="227" y="528"/>
                </a:lnTo>
                <a:cubicBezTo>
                  <a:pt x="211" y="528"/>
                  <a:pt x="198" y="517"/>
                  <a:pt x="195" y="503"/>
                </a:cubicBezTo>
                <a:lnTo>
                  <a:pt x="181" y="433"/>
                </a:lnTo>
                <a:cubicBezTo>
                  <a:pt x="167" y="427"/>
                  <a:pt x="154" y="419"/>
                  <a:pt x="142" y="410"/>
                </a:cubicBezTo>
                <a:lnTo>
                  <a:pt x="74" y="432"/>
                </a:lnTo>
                <a:cubicBezTo>
                  <a:pt x="59" y="437"/>
                  <a:pt x="43" y="431"/>
                  <a:pt x="36" y="418"/>
                </a:cubicBezTo>
                <a:lnTo>
                  <a:pt x="6" y="366"/>
                </a:lnTo>
                <a:cubicBezTo>
                  <a:pt x="-2" y="353"/>
                  <a:pt x="1" y="336"/>
                  <a:pt x="12" y="326"/>
                </a:cubicBezTo>
                <a:lnTo>
                  <a:pt x="66" y="279"/>
                </a:lnTo>
                <a:cubicBezTo>
                  <a:pt x="65" y="271"/>
                  <a:pt x="64" y="264"/>
                  <a:pt x="64" y="256"/>
                </a:cubicBezTo>
                <a:cubicBezTo>
                  <a:pt x="64" y="248"/>
                  <a:pt x="65" y="241"/>
                  <a:pt x="66" y="233"/>
                </a:cubicBezTo>
                <a:lnTo>
                  <a:pt x="12" y="186"/>
                </a:lnTo>
                <a:cubicBezTo>
                  <a:pt x="1" y="176"/>
                  <a:pt x="-2" y="159"/>
                  <a:pt x="6" y="146"/>
                </a:cubicBezTo>
                <a:lnTo>
                  <a:pt x="36" y="94"/>
                </a:lnTo>
                <a:cubicBezTo>
                  <a:pt x="43" y="81"/>
                  <a:pt x="59" y="75"/>
                  <a:pt x="74" y="80"/>
                </a:cubicBezTo>
                <a:lnTo>
                  <a:pt x="141" y="102"/>
                </a:lnTo>
                <a:cubicBezTo>
                  <a:pt x="153" y="93"/>
                  <a:pt x="167" y="85"/>
                  <a:pt x="181" y="79"/>
                </a:cubicBezTo>
                <a:lnTo>
                  <a:pt x="195" y="10"/>
                </a:lnTo>
                <a:close/>
                <a:moveTo>
                  <a:pt x="256" y="336"/>
                </a:moveTo>
                <a:cubicBezTo>
                  <a:pt x="285" y="336"/>
                  <a:pt x="311" y="321"/>
                  <a:pt x="325" y="296"/>
                </a:cubicBezTo>
                <a:cubicBezTo>
                  <a:pt x="340" y="271"/>
                  <a:pt x="340" y="240"/>
                  <a:pt x="325" y="216"/>
                </a:cubicBezTo>
                <a:cubicBezTo>
                  <a:pt x="311" y="191"/>
                  <a:pt x="284" y="176"/>
                  <a:pt x="256" y="176"/>
                </a:cubicBezTo>
                <a:cubicBezTo>
                  <a:pt x="227" y="176"/>
                  <a:pt x="201" y="191"/>
                  <a:pt x="187" y="216"/>
                </a:cubicBezTo>
                <a:cubicBezTo>
                  <a:pt x="172" y="241"/>
                  <a:pt x="172" y="272"/>
                  <a:pt x="187" y="296"/>
                </a:cubicBezTo>
                <a:cubicBezTo>
                  <a:pt x="201" y="321"/>
                  <a:pt x="228" y="336"/>
                  <a:pt x="256" y="336"/>
                </a:cubicBezTo>
                <a:close/>
              </a:path>
            </a:pathLst>
          </a:custGeom>
          <a:solidFill>
            <a:srgbClr val="5BBF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m1"/>
          <p:cNvSpPr/>
          <p:nvPr/>
        </p:nvSpPr>
        <p:spPr>
          <a:xfrm>
            <a:off x="1270000" y="1905000"/>
            <a:ext cx="2667000" cy="7112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1905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m1-t"/>
          <p:cNvSpPr txBox="1"/>
          <p:nvPr/>
        </p:nvSpPr>
        <p:spPr>
          <a:xfrm>
            <a:off x="1270000" y="1905000"/>
            <a:ext cx="2667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EFEAE0"/>
                </a:solidFill>
                <a:latin typeface="MiSans"/>
                <a:ea typeface="MiSans"/>
              </a:rPr>
              <a:t>RAW MATERIALS ORDERED</a:t>
            </a:r>
            <a:endParaRPr lang="en-US" sz="1250" noProof="1"/>
          </a:p>
        </p:txBody>
      </p:sp>
      <p:sp>
        <p:nvSpPr>
          <p:cNvPr id="13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eyJ2aWV3Qm94IjpbMTAwLDYwXSwicG9pbnRzIjoiMCwwIDEwMCw2MCIsImN1cnZlIjoic2hhcnAifQ</pptd:line>
              </p:ext>
            </p:extLst>
          </p:nvPr>
        </p:nvSpPr>
        <p:spPr>
          <a:xfrm>
            <a:off x="3810000" y="2540000"/>
            <a:ext cx="1270000" cy="762000"/>
          </a:xfrm>
          <a:custGeom>
            <a:avLst/>
            <a:gdLst/>
            <a:ahLst/>
            <a:cxnLst/>
            <a:rect l="l" t="t" r="r" b="b"/>
            <a:pathLst>
              <a:path w="100" h="60">
                <a:moveTo>
                  <a:pt x="0" y="0"/>
                </a:moveTo>
                <a:lnTo>
                  <a:pt x="100" y="60"/>
                </a:lnTo>
              </a:path>
            </a:pathLst>
          </a:custGeom>
          <a:noFill/>
          <a:ln w="1905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m2"/>
          <p:cNvSpPr/>
          <p:nvPr/>
        </p:nvSpPr>
        <p:spPr>
          <a:xfrm>
            <a:off x="8255000" y="1905000"/>
            <a:ext cx="2667000" cy="7112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1905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m2-t"/>
          <p:cNvSpPr txBox="1"/>
          <p:nvPr/>
        </p:nvSpPr>
        <p:spPr>
          <a:xfrm>
            <a:off x="8255000" y="1905000"/>
            <a:ext cx="2667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EFEAE0"/>
                </a:solidFill>
                <a:latin typeface="MiSans"/>
                <a:ea typeface="MiSans"/>
              </a:rPr>
              <a:t>FACTORY RESCHEDULED</a:t>
            </a:r>
            <a:endParaRPr lang="en-US" sz="1250" noProof="1"/>
          </a:p>
        </p:txBody>
      </p:sp>
      <p:sp>
        <p:nvSpPr>
          <p:cNvPr id="16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eyJ2aWV3Qm94IjpbMTAwLDYwXSwicG9pbnRzIjoiMTAwLDAgMCw2MCIsImN1cnZlIjoic2hhcnAifQ</pptd:line>
              </p:ext>
            </p:extLst>
          </p:nvPr>
        </p:nvSpPr>
        <p:spPr>
          <a:xfrm>
            <a:off x="7112000" y="2540000"/>
            <a:ext cx="1270000" cy="762000"/>
          </a:xfrm>
          <a:custGeom>
            <a:avLst/>
            <a:gdLst/>
            <a:ahLst/>
            <a:cxnLst/>
            <a:rect l="l" t="t" r="r" b="b"/>
            <a:pathLst>
              <a:path w="100" h="60">
                <a:moveTo>
                  <a:pt x="100" y="0"/>
                </a:moveTo>
                <a:lnTo>
                  <a:pt x="0" y="60"/>
                </a:lnTo>
              </a:path>
            </a:pathLst>
          </a:custGeom>
          <a:noFill/>
          <a:ln w="1905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m3"/>
          <p:cNvSpPr/>
          <p:nvPr/>
        </p:nvSpPr>
        <p:spPr>
          <a:xfrm>
            <a:off x="1270000" y="4826000"/>
            <a:ext cx="2667000" cy="7112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1905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m3-t"/>
          <p:cNvSpPr txBox="1"/>
          <p:nvPr/>
        </p:nvSpPr>
        <p:spPr>
          <a:xfrm>
            <a:off x="1270000" y="4826000"/>
            <a:ext cx="2667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EFEAE0"/>
                </a:solidFill>
                <a:latin typeface="MiSans"/>
                <a:ea typeface="MiSans"/>
              </a:rPr>
              <a:t>INVENTORY REPLENISHED</a:t>
            </a:r>
            <a:endParaRPr lang="en-US" sz="1250" noProof="1"/>
          </a:p>
        </p:txBody>
      </p:sp>
      <p:sp>
        <p:nvSpPr>
          <p:cNvPr id="19" name="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eyJ2aWV3Qm94IjpbMTAwLDYwXSwicG9pbnRzIjoiMCw2MCAxMDAsMCIsImN1cnZlIjoic2hhcnAifQ</pptd:line>
              </p:ext>
            </p:extLst>
          </p:nvPr>
        </p:nvSpPr>
        <p:spPr>
          <a:xfrm>
            <a:off x="3810000" y="4191000"/>
            <a:ext cx="1270000" cy="762000"/>
          </a:xfrm>
          <a:custGeom>
            <a:avLst/>
            <a:gdLst/>
            <a:ahLst/>
            <a:cxnLst/>
            <a:rect l="l" t="t" r="r" b="b"/>
            <a:pathLst>
              <a:path w="100" h="60">
                <a:moveTo>
                  <a:pt x="0" y="60"/>
                </a:moveTo>
                <a:lnTo>
                  <a:pt x="100" y="0"/>
                </a:lnTo>
              </a:path>
            </a:pathLst>
          </a:custGeom>
          <a:noFill/>
          <a:ln w="1905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m4"/>
          <p:cNvSpPr/>
          <p:nvPr/>
        </p:nvSpPr>
        <p:spPr>
          <a:xfrm>
            <a:off x="8255000" y="4826000"/>
            <a:ext cx="2667000" cy="711200"/>
          </a:xfrm>
          <a:prstGeom prst="roundRect">
            <a:avLst>
              <a:gd name="adj" fmla="val 16000"/>
            </a:avLst>
          </a:prstGeom>
          <a:solidFill>
            <a:srgbClr val="141E33"/>
          </a:solidFill>
          <a:ln w="1905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m4-t"/>
          <p:cNvSpPr txBox="1"/>
          <p:nvPr/>
        </p:nvSpPr>
        <p:spPr>
          <a:xfrm>
            <a:off x="8255000" y="4826000"/>
            <a:ext cx="2667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EFEAE0"/>
                </a:solidFill>
                <a:latin typeface="MiSans"/>
                <a:ea typeface="MiSans"/>
              </a:rPr>
              <a:t>DELIVERY DISPATCHED</a:t>
            </a:r>
            <a:endParaRPr lang="en-US" sz="1250" noProof="1"/>
          </a:p>
        </p:txBody>
      </p:sp>
      <p:sp>
        <p:nvSpPr>
          <p:cNvPr id="22" name="a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eyJ2aWV3Qm94IjpbMTAwLDYwXSwicG9pbnRzIjoiMTAwLDYwIDAsMCIsImN1cnZlIjoic2hhcnAifQ</pptd:line>
              </p:ext>
            </p:extLst>
          </p:nvPr>
        </p:nvSpPr>
        <p:spPr>
          <a:xfrm>
            <a:off x="7112000" y="4191000"/>
            <a:ext cx="1270000" cy="762000"/>
          </a:xfrm>
          <a:custGeom>
            <a:avLst/>
            <a:gdLst/>
            <a:ahLst/>
            <a:cxnLst/>
            <a:rect l="l" t="t" r="r" b="b"/>
            <a:pathLst>
              <a:path w="100" h="60">
                <a:moveTo>
                  <a:pt x="100" y="6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take"/>
          <p:cNvSpPr txBox="1"/>
          <p:nvPr/>
        </p:nvSpPr>
        <p:spPr>
          <a:xfrm>
            <a:off x="2286000" y="59944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The purchase is not the end of the machine </a:t>
            </a:r>
            <a:r>
              <a:rPr lang="en-US" sz="1300" b="1" noProof="1">
                <a:solidFill>
                  <a:srgbClr val="5BBFAE"/>
                </a:solidFill>
                <a:latin typeface="MiSans"/>
                <a:ea typeface="MiSans"/>
              </a:rPr>
              <a:t>it is the machine turning</a:t>
            </a: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.</a:t>
            </a:r>
            <a:endParaRPr lang="en-US" sz="1300" noProof="1"/>
          </a:p>
        </p:txBody>
      </p:sp>
      <p:sp>
        <p:nvSpPr>
          <p:cNvPr id="24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09 / 14</a:t>
            </a:r>
            <a:endParaRPr lang="en-US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Lucky find? Luck is manufactured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def"/>
          <p:cNvSpPr txBox="1"/>
          <p:nvPr/>
        </p:nvSpPr>
        <p:spPr>
          <a:xfrm>
            <a:off x="609600" y="15748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00" b="1" noProof="1">
                <a:solidFill>
                  <a:srgbClr val="D77FA1"/>
                </a:solidFill>
                <a:latin typeface="MiSans"/>
                <a:ea typeface="MiSans"/>
              </a:rPr>
              <a:t>True spontaneity does not exist in marketing.</a:t>
            </a: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 A "spontaneous purchase" is a deterministic response to a hidden network trigger  engineered to </a:t>
            </a:r>
            <a:r>
              <a:rPr lang="en-US" sz="1300" i="1" noProof="1">
                <a:solidFill>
                  <a:srgbClr val="EFEAE0"/>
                </a:solidFill>
                <a:latin typeface="MiSans"/>
                <a:ea typeface="MiSans"/>
              </a:rPr>
              <a:t>feel</a:t>
            </a: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 random.</a:t>
            </a:r>
            <a:endParaRPr lang="en-US" sz="1300" noProof="1"/>
          </a:p>
        </p:txBody>
      </p:sp>
      <p:sp>
        <p:nvSpPr>
          <p:cNvPr id="6" name="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eyJpY29uTmFtZSI6ImZhczpib2x0In0</pptd:icon>
              </p:ext>
            </p:extLst>
          </p:nvPr>
        </p:nvSpPr>
        <p:spPr>
          <a:xfrm>
            <a:off x="609600" y="2743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D77F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i1-h"/>
          <p:cNvSpPr txBox="1"/>
          <p:nvPr/>
        </p:nvSpPr>
        <p:spPr>
          <a:xfrm>
            <a:off x="1117600" y="2692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Flash sales</a:t>
            </a:r>
            <a:endParaRPr lang="en-US" sz="1450" noProof="1"/>
          </a:p>
        </p:txBody>
      </p:sp>
      <p:sp>
        <p:nvSpPr>
          <p:cNvPr id="8" name="i1-b"/>
          <p:cNvSpPr txBox="1"/>
          <p:nvPr/>
        </p:nvSpPr>
        <p:spPr>
          <a:xfrm>
            <a:off x="1117600" y="3022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Artificial urgency forces an immediate, emotional reaction. The countdown timer is a physics nudge, not an opportunity.</a:t>
            </a:r>
            <a:endParaRPr lang="en-US" sz="1050" noProof="1"/>
          </a:p>
        </p:txBody>
      </p:sp>
      <p:sp>
        <p:nvSpPr>
          <p:cNvPr id="9" name="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eyJpY29uTmFtZSI6ImZhczp3YW5kLW1hZ2ljLXNwYXJrbGVzIn0</pptd:icon>
              </p:ext>
            </p:extLst>
          </p:nvPr>
        </p:nvSpPr>
        <p:spPr>
          <a:xfrm>
            <a:off x="609600" y="396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D77F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i2-h"/>
          <p:cNvSpPr txBox="1"/>
          <p:nvPr/>
        </p:nvSpPr>
        <p:spPr>
          <a:xfrm>
            <a:off x="1117600" y="3911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The "serendipity" algorithm</a:t>
            </a:r>
            <a:endParaRPr lang="en-US" sz="1450" noProof="1"/>
          </a:p>
        </p:txBody>
      </p:sp>
      <p:sp>
        <p:nvSpPr>
          <p:cNvPr id="11" name="i2-b"/>
          <p:cNvSpPr txBox="1"/>
          <p:nvPr/>
        </p:nvSpPr>
        <p:spPr>
          <a:xfrm>
            <a:off x="1117600" y="42418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The feed surfaces an "unexpected" product so you feel you discovered it by luck bypassing your analytical defenses.</a:t>
            </a:r>
            <a:endParaRPr lang="en-US" sz="1050" noProof="1"/>
          </a:p>
        </p:txBody>
      </p:sp>
      <p:sp>
        <p:nvSpPr>
          <p:cNvPr id="12" name="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eyJpY29uTmFtZSI6ImZhczp0cnVjay1mYXN0In0</pptd:icon>
              </p:ext>
            </p:extLst>
          </p:nvPr>
        </p:nvSpPr>
        <p:spPr>
          <a:xfrm>
            <a:off x="609600" y="5181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64" y="96"/>
                </a:moveTo>
                <a:cubicBezTo>
                  <a:pt x="64" y="61"/>
                  <a:pt x="93" y="32"/>
                  <a:pt x="128" y="32"/>
                </a:cubicBezTo>
                <a:lnTo>
                  <a:pt x="416" y="32"/>
                </a:lnTo>
                <a:cubicBezTo>
                  <a:pt x="451" y="32"/>
                  <a:pt x="480" y="61"/>
                  <a:pt x="480" y="96"/>
                </a:cubicBezTo>
                <a:lnTo>
                  <a:pt x="480" y="128"/>
                </a:lnTo>
                <a:lnTo>
                  <a:pt x="531" y="128"/>
                </a:lnTo>
                <a:cubicBezTo>
                  <a:pt x="548" y="128"/>
                  <a:pt x="564" y="135"/>
                  <a:pt x="576" y="147"/>
                </a:cubicBezTo>
                <a:lnTo>
                  <a:pt x="621" y="192"/>
                </a:lnTo>
                <a:cubicBezTo>
                  <a:pt x="633" y="204"/>
                  <a:pt x="640" y="220"/>
                  <a:pt x="640" y="237"/>
                </a:cubicBezTo>
                <a:lnTo>
                  <a:pt x="640" y="384"/>
                </a:lnTo>
                <a:cubicBezTo>
                  <a:pt x="640" y="419"/>
                  <a:pt x="611" y="448"/>
                  <a:pt x="576" y="448"/>
                </a:cubicBezTo>
                <a:lnTo>
                  <a:pt x="573" y="448"/>
                </a:lnTo>
                <a:cubicBezTo>
                  <a:pt x="562" y="485"/>
                  <a:pt x="528" y="512"/>
                  <a:pt x="488" y="512"/>
                </a:cubicBezTo>
                <a:cubicBezTo>
                  <a:pt x="448" y="512"/>
                  <a:pt x="414" y="485"/>
                  <a:pt x="403" y="448"/>
                </a:cubicBezTo>
                <a:lnTo>
                  <a:pt x="301" y="448"/>
                </a:lnTo>
                <a:cubicBezTo>
                  <a:pt x="290" y="485"/>
                  <a:pt x="256" y="512"/>
                  <a:pt x="216" y="512"/>
                </a:cubicBezTo>
                <a:cubicBezTo>
                  <a:pt x="176" y="512"/>
                  <a:pt x="142" y="485"/>
                  <a:pt x="131" y="448"/>
                </a:cubicBezTo>
                <a:lnTo>
                  <a:pt x="128" y="448"/>
                </a:lnTo>
                <a:cubicBezTo>
                  <a:pt x="93" y="448"/>
                  <a:pt x="64" y="419"/>
                  <a:pt x="64" y="384"/>
                </a:cubicBez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25"/>
                  <a:pt x="0" y="312"/>
                </a:cubicBezTo>
                <a:cubicBezTo>
                  <a:pt x="0" y="299"/>
                  <a:pt x="11" y="288"/>
                  <a:pt x="24" y="288"/>
                </a:cubicBezTo>
                <a:lnTo>
                  <a:pt x="136" y="288"/>
                </a:lnTo>
                <a:cubicBezTo>
                  <a:pt x="149" y="288"/>
                  <a:pt x="160" y="277"/>
                  <a:pt x="160" y="264"/>
                </a:cubicBezTo>
                <a:cubicBezTo>
                  <a:pt x="160" y="251"/>
                  <a:pt x="149" y="240"/>
                  <a:pt x="136" y="240"/>
                </a:cubicBezTo>
                <a:lnTo>
                  <a:pt x="24" y="240"/>
                </a:lnTo>
                <a:cubicBezTo>
                  <a:pt x="11" y="240"/>
                  <a:pt x="0" y="229"/>
                  <a:pt x="0" y="216"/>
                </a:cubicBezTo>
                <a:cubicBezTo>
                  <a:pt x="0" y="203"/>
                  <a:pt x="11" y="192"/>
                  <a:pt x="24" y="192"/>
                </a:cubicBezTo>
                <a:lnTo>
                  <a:pt x="200" y="192"/>
                </a:lnTo>
                <a:cubicBezTo>
                  <a:pt x="213" y="192"/>
                  <a:pt x="224" y="181"/>
                  <a:pt x="224" y="168"/>
                </a:cubicBezTo>
                <a:cubicBezTo>
                  <a:pt x="224" y="155"/>
                  <a:pt x="213" y="144"/>
                  <a:pt x="200" y="144"/>
                </a:cubicBezTo>
                <a:lnTo>
                  <a:pt x="24" y="144"/>
                </a:lnTo>
                <a:cubicBezTo>
                  <a:pt x="11" y="144"/>
                  <a:pt x="0" y="133"/>
                  <a:pt x="0" y="120"/>
                </a:cubicBezTo>
                <a:cubicBezTo>
                  <a:pt x="0" y="107"/>
                  <a:pt x="11" y="96"/>
                  <a:pt x="24" y="96"/>
                </a:cubicBezTo>
                <a:lnTo>
                  <a:pt x="64" y="96"/>
                </a:lnTo>
                <a:close/>
                <a:moveTo>
                  <a:pt x="576" y="288"/>
                </a:moveTo>
                <a:lnTo>
                  <a:pt x="576" y="237"/>
                </a:lnTo>
                <a:lnTo>
                  <a:pt x="531" y="192"/>
                </a:lnTo>
                <a:lnTo>
                  <a:pt x="480" y="192"/>
                </a:lnTo>
                <a:lnTo>
                  <a:pt x="480" y="288"/>
                </a:lnTo>
                <a:lnTo>
                  <a:pt x="576" y="288"/>
                </a:lnTo>
                <a:close/>
                <a:moveTo>
                  <a:pt x="256" y="424"/>
                </a:moveTo>
                <a:cubicBezTo>
                  <a:pt x="256" y="402"/>
                  <a:pt x="238" y="384"/>
                  <a:pt x="216" y="384"/>
                </a:cubicBezTo>
                <a:cubicBezTo>
                  <a:pt x="194" y="384"/>
                  <a:pt x="176" y="402"/>
                  <a:pt x="176" y="424"/>
                </a:cubicBezTo>
                <a:cubicBezTo>
                  <a:pt x="176" y="446"/>
                  <a:pt x="194" y="464"/>
                  <a:pt x="216" y="464"/>
                </a:cubicBezTo>
                <a:cubicBezTo>
                  <a:pt x="238" y="464"/>
                  <a:pt x="256" y="446"/>
                  <a:pt x="256" y="424"/>
                </a:cubicBezTo>
                <a:close/>
                <a:moveTo>
                  <a:pt x="488" y="464"/>
                </a:moveTo>
                <a:cubicBezTo>
                  <a:pt x="510" y="464"/>
                  <a:pt x="528" y="446"/>
                  <a:pt x="528" y="424"/>
                </a:cubicBezTo>
                <a:cubicBezTo>
                  <a:pt x="528" y="402"/>
                  <a:pt x="510" y="384"/>
                  <a:pt x="488" y="384"/>
                </a:cubicBezTo>
                <a:cubicBezTo>
                  <a:pt x="466" y="384"/>
                  <a:pt x="448" y="402"/>
                  <a:pt x="448" y="424"/>
                </a:cubicBezTo>
                <a:cubicBezTo>
                  <a:pt x="448" y="446"/>
                  <a:pt x="466" y="464"/>
                  <a:pt x="488" y="464"/>
                </a:cubicBezTo>
                <a:close/>
              </a:path>
            </a:pathLst>
          </a:custGeom>
          <a:solidFill>
            <a:srgbClr val="D77F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i3-h"/>
          <p:cNvSpPr txBox="1"/>
          <p:nvPr/>
        </p:nvSpPr>
        <p:spPr>
          <a:xfrm>
            <a:off x="1117600" y="5130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FEAE0"/>
                </a:solidFill>
                <a:latin typeface="MiSans"/>
                <a:ea typeface="MiSans"/>
              </a:rPr>
              <a:t>Capitalising on friction</a:t>
            </a:r>
            <a:endParaRPr lang="en-US" sz="1450" noProof="1"/>
          </a:p>
        </p:txBody>
      </p:sp>
      <p:sp>
        <p:nvSpPr>
          <p:cNvPr id="14" name="i3-b"/>
          <p:cNvSpPr txBox="1"/>
          <p:nvPr/>
        </p:nvSpPr>
        <p:spPr>
          <a:xfrm>
            <a:off x="1117600" y="5461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Phone breaks → the winner is not the brand that convinces you, but the one with the closest inventory and fastest delivery network.</a:t>
            </a:r>
            <a:endParaRPr lang="en-US" sz="1050" noProof="1"/>
          </a:p>
        </p:txBody>
      </p:sp>
      <p:pic>
        <p:nvPicPr>
          <p:cNvPr id="15" name="img"/>
          <p:cNvPicPr/>
          <p:nvPr/>
        </p:nvPicPr>
        <p:blipFill>
          <a:blip r:embed="rId2"/>
          <a:srcRect l="17901" r="17901"/>
          <a:stretch>
            <a:fillRect/>
          </a:stretch>
        </p:blipFill>
        <p:spPr>
          <a:xfrm>
            <a:off x="6248400" y="1574800"/>
            <a:ext cx="5334000" cy="46736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16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10 / 14</a:t>
            </a:r>
            <a:endParaRPr lang="en-US" sz="95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The loop how randomness becomes revenue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1"/>
          <p:cNvSpPr/>
          <p:nvPr/>
        </p:nvSpPr>
        <p:spPr>
          <a:xfrm>
            <a:off x="609600" y="1905000"/>
            <a:ext cx="3251200" cy="26670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1-bar"/>
          <p:cNvSpPr/>
          <p:nvPr/>
        </p:nvSpPr>
        <p:spPr>
          <a:xfrm>
            <a:off x="609600" y="1905000"/>
            <a:ext cx="3251200" cy="762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1-h"/>
          <p:cNvSpPr txBox="1"/>
          <p:nvPr/>
        </p:nvSpPr>
        <p:spPr>
          <a:xfrm>
            <a:off x="863600" y="21844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6A5C"/>
                </a:solidFill>
                <a:latin typeface="MiSans"/>
                <a:ea typeface="MiSans"/>
              </a:rPr>
              <a:t>1 · PURE RANDOMNESS</a:t>
            </a:r>
            <a:endParaRPr lang="en-US" sz="1500" noProof="1"/>
          </a:p>
        </p:txBody>
      </p:sp>
      <p:sp>
        <p:nvSpPr>
          <p:cNvPr id="8" name="s1-b"/>
          <p:cNvSpPr txBox="1"/>
          <p:nvPr/>
        </p:nvSpPr>
        <p:spPr>
          <a:xfrm>
            <a:off x="863600" y="2616200"/>
            <a:ext cx="2743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sudden storm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viral trend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celebrity sighting</a:t>
            </a:r>
            <a:endParaRPr lang="en-US" sz="1050" noProof="1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No historical data  nobody, human or algorithm, saw it coming.</a:t>
            </a:r>
            <a:endParaRPr lang="en-US" sz="1050" noProof="1"/>
          </a:p>
        </p:txBody>
      </p:sp>
      <p:sp>
        <p:nvSpPr>
          <p:cNvPr id="9" name="a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eyJ2aWV3Qm94IjpbMzQsMV0sInBvaW50cyI6IjAsMCAzNCwwIiwiY3VydmUiOiJzaGFycCJ9</pptd:line>
              </p:ext>
            </p:extLst>
          </p:nvPr>
        </p:nvSpPr>
        <p:spPr>
          <a:xfrm>
            <a:off x="3962400" y="3149600"/>
            <a:ext cx="431800" cy="12700"/>
          </a:xfrm>
          <a:custGeom>
            <a:avLst/>
            <a:gdLst/>
            <a:ahLst/>
            <a:cxnLst/>
            <a:rect l="l" t="t" r="r" b="b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noFill/>
          <a:ln w="317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ar1-l"/>
          <p:cNvSpPr txBox="1"/>
          <p:nvPr/>
        </p:nvSpPr>
        <p:spPr>
          <a:xfrm>
            <a:off x="3810000" y="2844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absorb</a:t>
            </a:r>
            <a:endParaRPr lang="en-US" sz="950" noProof="1"/>
          </a:p>
        </p:txBody>
      </p:sp>
      <p:sp>
        <p:nvSpPr>
          <p:cNvPr id="11" name="s2"/>
          <p:cNvSpPr/>
          <p:nvPr/>
        </p:nvSpPr>
        <p:spPr>
          <a:xfrm>
            <a:off x="4470400" y="1905000"/>
            <a:ext cx="3251200" cy="26670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2-bar"/>
          <p:cNvSpPr/>
          <p:nvPr/>
        </p:nvSpPr>
        <p:spPr>
          <a:xfrm>
            <a:off x="4470400" y="1905000"/>
            <a:ext cx="3251200" cy="76200"/>
          </a:xfrm>
          <a:prstGeom prst="rect">
            <a:avLst/>
          </a:prstGeom>
          <a:solidFill>
            <a:srgbClr val="5BBF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2-h"/>
          <p:cNvSpPr txBox="1"/>
          <p:nvPr/>
        </p:nvSpPr>
        <p:spPr>
          <a:xfrm>
            <a:off x="4724400" y="21844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5BBFAE"/>
                </a:solidFill>
                <a:latin typeface="MiSans"/>
                <a:ea typeface="MiSans"/>
              </a:rPr>
              <a:t>2 · NETWORK ABSORBS</a:t>
            </a:r>
            <a:endParaRPr lang="en-US" sz="1500" noProof="1"/>
          </a:p>
        </p:txBody>
      </p:sp>
      <p:sp>
        <p:nvSpPr>
          <p:cNvPr id="14" name="s2-b"/>
          <p:cNvSpPr txBox="1"/>
          <p:nvPr/>
        </p:nvSpPr>
        <p:spPr>
          <a:xfrm>
            <a:off x="4724400" y="2616200"/>
            <a:ext cx="2743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computer vision + social listening ingest the event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inventory recalibrated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feeds re-ranked</a:t>
            </a:r>
            <a:endParaRPr lang="en-US" sz="1050" noProof="1"/>
          </a:p>
        </p:txBody>
      </p:sp>
      <p:sp>
        <p:nvSpPr>
          <p:cNvPr id="15" name="ar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eyJ2aWV3Qm94IjpbMzQsMV0sInBvaW50cyI6IjAsMCAzNCwwIiwiY3VydmUiOiJzaGFycCJ9</pptd:line>
              </p:ext>
            </p:extLst>
          </p:nvPr>
        </p:nvSpPr>
        <p:spPr>
          <a:xfrm>
            <a:off x="7823200" y="3149600"/>
            <a:ext cx="431800" cy="12700"/>
          </a:xfrm>
          <a:custGeom>
            <a:avLst/>
            <a:gdLst/>
            <a:ahLst/>
            <a:cxnLst/>
            <a:rect l="l" t="t" r="r" b="b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noFill/>
          <a:ln w="31750">
            <a:solidFill>
              <a:srgbClr val="96A0B3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2-l"/>
          <p:cNvSpPr txBox="1"/>
          <p:nvPr/>
        </p:nvSpPr>
        <p:spPr>
          <a:xfrm>
            <a:off x="7670800" y="2844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monetise</a:t>
            </a:r>
            <a:endParaRPr lang="en-US" sz="950" noProof="1"/>
          </a:p>
        </p:txBody>
      </p:sp>
      <p:sp>
        <p:nvSpPr>
          <p:cNvPr id="17" name="s3"/>
          <p:cNvSpPr/>
          <p:nvPr/>
        </p:nvSpPr>
        <p:spPr>
          <a:xfrm>
            <a:off x="8331200" y="1905000"/>
            <a:ext cx="3251200" cy="26670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s3-bar"/>
          <p:cNvSpPr/>
          <p:nvPr/>
        </p:nvSpPr>
        <p:spPr>
          <a:xfrm>
            <a:off x="8331200" y="1905000"/>
            <a:ext cx="3251200" cy="76200"/>
          </a:xfrm>
          <a:prstGeom prst="rect">
            <a:avLst/>
          </a:prstGeom>
          <a:solidFill>
            <a:srgbClr val="D77F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s3-h"/>
          <p:cNvSpPr txBox="1"/>
          <p:nvPr/>
        </p:nvSpPr>
        <p:spPr>
          <a:xfrm>
            <a:off x="8585200" y="21844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D77FA1"/>
                </a:solidFill>
                <a:latin typeface="MiSans"/>
                <a:ea typeface="MiSans"/>
              </a:rPr>
              <a:t>3 · ENGINEERED SPONTANEITY</a:t>
            </a:r>
            <a:endParaRPr lang="en-US" sz="1500" noProof="1"/>
          </a:p>
        </p:txBody>
      </p:sp>
      <p:sp>
        <p:nvSpPr>
          <p:cNvPr id="20" name="s3-b"/>
          <p:cNvSpPr txBox="1"/>
          <p:nvPr/>
        </p:nvSpPr>
        <p:spPr>
          <a:xfrm>
            <a:off x="8585200" y="2616200"/>
            <a:ext cx="2743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app pushes a "discovered" rain-jacket promo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· purchase captured</a:t>
            </a:r>
            <a:endParaRPr lang="en-US" sz="1050" noProof="1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Feels like luck. Was recalibration.</a:t>
            </a:r>
            <a:endParaRPr lang="en-US" sz="1050" noProof="1"/>
          </a:p>
        </p:txBody>
      </p:sp>
      <p:sp>
        <p:nvSpPr>
          <p:cNvPr id="21" name="cap-bar"/>
          <p:cNvSpPr/>
          <p:nvPr/>
        </p:nvSpPr>
        <p:spPr>
          <a:xfrm>
            <a:off x="609600" y="5080000"/>
            <a:ext cx="50800" cy="660400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p"/>
          <p:cNvSpPr txBox="1"/>
          <p:nvPr/>
        </p:nvSpPr>
        <p:spPr>
          <a:xfrm>
            <a:off x="888999" y="5130800"/>
            <a:ext cx="11555761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2000" b="1" noProof="1">
                <a:solidFill>
                  <a:srgbClr val="E86A5C"/>
                </a:solidFill>
                <a:latin typeface="MiSans"/>
                <a:ea typeface="MiSans"/>
              </a:rPr>
              <a:t>Randomness is the catalyst</a:t>
            </a:r>
            <a:r>
              <a:rPr lang="en-US" sz="2000" noProof="1">
                <a:solidFill>
                  <a:srgbClr val="EFEAE0"/>
                </a:solidFill>
                <a:latin typeface="MiSans"/>
                <a:ea typeface="MiSans"/>
              </a:rPr>
              <a:t> · </a:t>
            </a:r>
            <a:r>
              <a:rPr lang="en-US" sz="2000" b="1" noProof="1">
                <a:solidFill>
                  <a:srgbClr val="5BBFAE"/>
                </a:solidFill>
                <a:latin typeface="MiSans"/>
                <a:ea typeface="MiSans"/>
              </a:rPr>
              <a:t>the value network is the converter</a:t>
            </a:r>
            <a:r>
              <a:rPr lang="en-US" sz="2000" noProof="1">
                <a:solidFill>
                  <a:srgbClr val="EFEAE0"/>
                </a:solidFill>
                <a:latin typeface="MiSans"/>
                <a:ea typeface="MiSans"/>
              </a:rPr>
              <a:t> · </a:t>
            </a:r>
            <a:r>
              <a:rPr lang="en-US" sz="2000" b="1" noProof="1">
                <a:solidFill>
                  <a:srgbClr val="E8B04B"/>
                </a:solidFill>
                <a:latin typeface="MiSans"/>
                <a:ea typeface="MiSans"/>
              </a:rPr>
              <a:t>determinism is the monetiser</a:t>
            </a:r>
            <a:r>
              <a:rPr lang="en-US" sz="2000" noProof="1">
                <a:solidFill>
                  <a:srgbClr val="EFEAE0"/>
                </a:solidFill>
                <a:latin typeface="MiSans"/>
                <a:ea typeface="MiSans"/>
              </a:rPr>
              <a:t>.</a:t>
            </a:r>
            <a:endParaRPr lang="en-US" sz="2000" noProof="1"/>
          </a:p>
        </p:txBody>
      </p:sp>
      <p:sp>
        <p:nvSpPr>
          <p:cNvPr id="23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11 / 14</a:t>
            </a:r>
            <a:endParaRPr lang="en-US" sz="95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Too much order stagnates; too much chaos collapses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f1-h"/>
          <p:cNvSpPr txBox="1"/>
          <p:nvPr/>
        </p:nvSpPr>
        <p:spPr>
          <a:xfrm>
            <a:off x="609600" y="16764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B04B"/>
                </a:solidFill>
                <a:latin typeface="MiSans"/>
                <a:ea typeface="MiSans"/>
              </a:rPr>
              <a:t>ONLY DETERMINISM → STAGNATION</a:t>
            </a:r>
            <a:endParaRPr lang="en-US" sz="1500" noProof="1"/>
          </a:p>
        </p:txBody>
      </p:sp>
      <p:sp>
        <p:nvSpPr>
          <p:cNvPr id="6" name="f1-b"/>
          <p:cNvSpPr txBox="1"/>
          <p:nvPr/>
        </p:nvSpPr>
        <p:spPr>
          <a:xfrm>
            <a:off x="609600" y="2057400"/>
            <a:ext cx="6096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Marketing becomes boring and repetitive. The brand is hyper-exposed to sudden market shifts, and it cannot innovate it can only re-predict what has already happened.</a:t>
            </a:r>
            <a:endParaRPr lang="en-US" sz="1300" noProof="1"/>
          </a:p>
        </p:txBody>
      </p:sp>
      <p:sp>
        <p:nvSpPr>
          <p:cNvPr id="7" name="f1-div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eyJ2aWV3Qm94IjpbNDgwLDFdLCJwb2ludHMiOiIwLDAgNDgwLDAiLCJjdXJ2ZSI6InNoYXJwIn0</pptd:line>
              </p:ext>
            </p:extLst>
          </p:nvPr>
        </p:nvSpPr>
        <p:spPr>
          <a:xfrm>
            <a:off x="609600" y="3505200"/>
            <a:ext cx="6096000" cy="12700"/>
          </a:xfrm>
          <a:custGeom>
            <a:avLst/>
            <a:gdLst/>
            <a:ahLst/>
            <a:cxnLst/>
            <a:rect l="l" t="t" r="r" b="b"/>
            <a:pathLst>
              <a:path w="480" h="1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f2-h"/>
          <p:cNvSpPr txBox="1"/>
          <p:nvPr/>
        </p:nvSpPr>
        <p:spPr>
          <a:xfrm>
            <a:off x="609600" y="37592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E86A5C"/>
                </a:solidFill>
                <a:latin typeface="MiSans"/>
                <a:ea typeface="MiSans"/>
              </a:rPr>
              <a:t>ONLY RANDOMNESS → COLLAPSE</a:t>
            </a:r>
            <a:endParaRPr lang="en-US" sz="1500" noProof="1"/>
          </a:p>
        </p:txBody>
      </p:sp>
      <p:sp>
        <p:nvSpPr>
          <p:cNvPr id="9" name="f2-b"/>
          <p:cNvSpPr txBox="1"/>
          <p:nvPr/>
        </p:nvSpPr>
        <p:spPr>
          <a:xfrm>
            <a:off x="609600" y="4140200"/>
            <a:ext cx="6096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EFEAE0"/>
                </a:solidFill>
                <a:latin typeface="MiSans"/>
                <a:ea typeface="MiSans"/>
              </a:rPr>
              <a:t>A supply chain that cannot predict anything drowns in inefficiency stockouts, wasted capital, and ultimately a network that fails to deliver at all.</a:t>
            </a:r>
            <a:endParaRPr lang="en-US" sz="1300" noProof="1"/>
          </a:p>
        </p:txBody>
      </p:sp>
      <p:sp>
        <p:nvSpPr>
          <p:cNvPr id="10" name="win-bar"/>
          <p:cNvSpPr/>
          <p:nvPr/>
        </p:nvSpPr>
        <p:spPr>
          <a:xfrm>
            <a:off x="609600" y="5740400"/>
            <a:ext cx="10972800" cy="558800"/>
          </a:xfrm>
          <a:prstGeom prst="rect">
            <a:avLst/>
          </a:prstGeom>
          <a:solidFill>
            <a:srgbClr val="122B27"/>
          </a:solidFill>
          <a:ln w="12700">
            <a:solidFill>
              <a:srgbClr val="5BBF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win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eyJpY29uTmFtZSI6ImZhczp0cm9waHkifQ</pptd:icon>
              </p:ext>
            </p:extLst>
          </p:nvPr>
        </p:nvSpPr>
        <p:spPr>
          <a:xfrm>
            <a:off x="838200" y="5880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0"/>
                </a:moveTo>
                <a:lnTo>
                  <a:pt x="368" y="0"/>
                </a:lnTo>
                <a:cubicBezTo>
                  <a:pt x="395" y="0"/>
                  <a:pt x="416" y="22"/>
                  <a:pt x="415" y="48"/>
                </a:cubicBezTo>
                <a:cubicBezTo>
                  <a:pt x="415" y="54"/>
                  <a:pt x="415" y="59"/>
                  <a:pt x="415" y="64"/>
                </a:cubicBezTo>
                <a:lnTo>
                  <a:pt x="464" y="64"/>
                </a:lnTo>
                <a:cubicBezTo>
                  <a:pt x="490" y="64"/>
                  <a:pt x="513" y="86"/>
                  <a:pt x="511" y="114"/>
                </a:cubicBezTo>
                <a:cubicBezTo>
                  <a:pt x="504" y="218"/>
                  <a:pt x="451" y="275"/>
                  <a:pt x="393" y="304"/>
                </a:cubicBezTo>
                <a:cubicBezTo>
                  <a:pt x="378" y="313"/>
                  <a:pt x="362" y="319"/>
                  <a:pt x="346" y="323"/>
                </a:cubicBezTo>
                <a:cubicBezTo>
                  <a:pt x="326" y="352"/>
                  <a:pt x="305" y="367"/>
                  <a:pt x="288" y="375"/>
                </a:cubicBezTo>
                <a:lnTo>
                  <a:pt x="288" y="448"/>
                </a:lnTo>
                <a:lnTo>
                  <a:pt x="352" y="448"/>
                </a:lnTo>
                <a:cubicBezTo>
                  <a:pt x="370" y="448"/>
                  <a:pt x="384" y="462"/>
                  <a:pt x="384" y="480"/>
                </a:cubicBezTo>
                <a:cubicBezTo>
                  <a:pt x="384" y="498"/>
                  <a:pt x="370" y="512"/>
                  <a:pt x="352" y="512"/>
                </a:cubicBezTo>
                <a:lnTo>
                  <a:pt x="160" y="512"/>
                </a:lnTo>
                <a:cubicBezTo>
                  <a:pt x="143" y="512"/>
                  <a:pt x="128" y="498"/>
                  <a:pt x="128" y="480"/>
                </a:cubicBezTo>
                <a:cubicBezTo>
                  <a:pt x="128" y="462"/>
                  <a:pt x="143" y="448"/>
                  <a:pt x="160" y="448"/>
                </a:cubicBezTo>
                <a:lnTo>
                  <a:pt x="224" y="448"/>
                </a:lnTo>
                <a:lnTo>
                  <a:pt x="224" y="375"/>
                </a:lnTo>
                <a:cubicBezTo>
                  <a:pt x="208" y="367"/>
                  <a:pt x="188" y="353"/>
                  <a:pt x="169" y="327"/>
                </a:cubicBezTo>
                <a:cubicBezTo>
                  <a:pt x="151" y="322"/>
                  <a:pt x="131" y="314"/>
                  <a:pt x="111" y="303"/>
                </a:cubicBezTo>
                <a:cubicBezTo>
                  <a:pt x="57" y="273"/>
                  <a:pt x="8" y="216"/>
                  <a:pt x="1" y="114"/>
                </a:cubicBezTo>
                <a:cubicBezTo>
                  <a:pt x="-1" y="85"/>
                  <a:pt x="22" y="64"/>
                  <a:pt x="48" y="64"/>
                </a:cubicBezTo>
                <a:lnTo>
                  <a:pt x="98" y="64"/>
                </a:lnTo>
                <a:cubicBezTo>
                  <a:pt x="98" y="59"/>
                  <a:pt x="97" y="53"/>
                  <a:pt x="97" y="48"/>
                </a:cubicBezTo>
                <a:cubicBezTo>
                  <a:pt x="96" y="22"/>
                  <a:pt x="118" y="0"/>
                  <a:pt x="144" y="0"/>
                </a:cubicBezTo>
                <a:close/>
                <a:moveTo>
                  <a:pt x="102" y="112"/>
                </a:moveTo>
                <a:lnTo>
                  <a:pt x="49" y="112"/>
                </a:lnTo>
                <a:cubicBezTo>
                  <a:pt x="55" y="197"/>
                  <a:pt x="94" y="239"/>
                  <a:pt x="134" y="262"/>
                </a:cubicBezTo>
                <a:cubicBezTo>
                  <a:pt x="120" y="224"/>
                  <a:pt x="108" y="176"/>
                  <a:pt x="102" y="112"/>
                </a:cubicBezTo>
                <a:close/>
                <a:moveTo>
                  <a:pt x="380" y="257"/>
                </a:moveTo>
                <a:cubicBezTo>
                  <a:pt x="421" y="233"/>
                  <a:pt x="457" y="191"/>
                  <a:pt x="463" y="112"/>
                </a:cubicBezTo>
                <a:lnTo>
                  <a:pt x="411" y="112"/>
                </a:lnTo>
                <a:cubicBezTo>
                  <a:pt x="405" y="173"/>
                  <a:pt x="394" y="220"/>
                  <a:pt x="380" y="257"/>
                </a:cubicBezTo>
                <a:close/>
              </a:path>
            </a:pathLst>
          </a:custGeom>
          <a:solidFill>
            <a:srgbClr val="5BBFA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win"/>
          <p:cNvSpPr txBox="1"/>
          <p:nvPr/>
        </p:nvSpPr>
        <p:spPr>
          <a:xfrm>
            <a:off x="1270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50" b="1" noProof="1">
                <a:solidFill>
                  <a:srgbClr val="5BBFAE"/>
                </a:solidFill>
                <a:latin typeface="MiSans"/>
                <a:ea typeface="MiSans"/>
              </a:rPr>
              <a:t>Winning formula:</a:t>
            </a:r>
            <a:r>
              <a:rPr lang="en-US" sz="1250" noProof="1">
                <a:solidFill>
                  <a:srgbClr val="EFEAE0"/>
                </a:solidFill>
                <a:latin typeface="MiSans"/>
                <a:ea typeface="MiSans"/>
              </a:rPr>
              <a:t> automated deterministic baseline + agile network that absorbs shocks + algorithm-served spontaneity.</a:t>
            </a:r>
            <a:endParaRPr lang="en-US" sz="1250" noProof="1"/>
          </a:p>
        </p:txBody>
      </p:sp>
      <p:pic>
        <p:nvPicPr>
          <p:cNvPr id="13" name="img"/>
          <p:cNvPicPr/>
          <p:nvPr/>
        </p:nvPicPr>
        <p:blipFill>
          <a:blip r:embed="rId2"/>
          <a:srcRect l="17857" r="17857"/>
          <a:stretch>
            <a:fillRect/>
          </a:stretch>
        </p:blipFill>
        <p:spPr>
          <a:xfrm>
            <a:off x="7112000" y="1574800"/>
            <a:ext cx="4470400" cy="3911600"/>
          </a:xfrm>
          <a:prstGeom prst="roundRect">
            <a:avLst>
              <a:gd name="adj" fmla="val 4000"/>
            </a:avLst>
          </a:prstGeom>
          <a:ln>
            <a:noFill/>
          </a:ln>
        </p:spPr>
      </p:pic>
      <p:sp>
        <p:nvSpPr>
          <p:cNvPr id="14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12 / 14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609600" y="609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EFEAE0"/>
                </a:solidFill>
                <a:latin typeface="MiSans"/>
                <a:ea typeface="MiSans"/>
              </a:rPr>
              <a:t>The future of commerce, mapped</a:t>
            </a:r>
            <a:endParaRPr lang="en-US" sz="2900" noProof="1"/>
          </a:p>
        </p:txBody>
      </p:sp>
      <p:sp>
        <p:nvSpPr>
          <p:cNvPr id="4" name="hair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eyJ2aWV3Qm94IjpbODY0LDFdLCJwb2ludHMiOiIwLDAgODY0LDAiLCJjdXJ2ZSI6InNoYXJwIn0</pptd:line>
              </p:ext>
            </p:extLst>
          </p:nvPr>
        </p:nvSpPr>
        <p:spPr>
          <a:xfrm>
            <a:off x="609600" y="1320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2E3D5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center"/>
          <p:cNvSpPr/>
          <p:nvPr/>
        </p:nvSpPr>
        <p:spPr>
          <a:xfrm>
            <a:off x="4826000" y="2743200"/>
            <a:ext cx="2540000" cy="1066800"/>
          </a:xfrm>
          <a:prstGeom prst="ellipse">
            <a:avLst/>
          </a:prstGeom>
          <a:solidFill>
            <a:srgbClr val="141E33"/>
          </a:solidFill>
          <a:ln w="31750">
            <a:solidFill>
              <a:srgbClr val="EFEA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center-t"/>
          <p:cNvSpPr txBox="1"/>
          <p:nvPr/>
        </p:nvSpPr>
        <p:spPr>
          <a:xfrm>
            <a:off x="4826000" y="27432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noProof="1">
                <a:solidFill>
                  <a:srgbClr val="EFEAE0"/>
                </a:solidFill>
                <a:latin typeface="MiSans"/>
                <a:ea typeface="MiSans"/>
              </a:rPr>
              <a:t>FUTURE OF COMMERCE</a:t>
            </a:r>
            <a:endParaRPr lang="en-US" sz="1500" noProof="1"/>
          </a:p>
        </p:txBody>
      </p:sp>
      <p:sp>
        <p:nvSpPr>
          <p:cNvPr id="7" name="b-tl-h"/>
          <p:cNvSpPr txBox="1"/>
          <p:nvPr/>
        </p:nvSpPr>
        <p:spPr>
          <a:xfrm>
            <a:off x="762000" y="17272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8B04B"/>
                </a:solidFill>
                <a:latin typeface="MiSans"/>
                <a:ea typeface="MiSans"/>
              </a:rPr>
              <a:t>DETERMINISM</a:t>
            </a:r>
            <a:endParaRPr lang="en-US" sz="1450" noProof="1"/>
          </a:p>
        </p:txBody>
      </p:sp>
      <p:sp>
        <p:nvSpPr>
          <p:cNvPr id="8" name="b-tl-b"/>
          <p:cNvSpPr txBox="1"/>
          <p:nvPr/>
        </p:nvSpPr>
        <p:spPr>
          <a:xfrm>
            <a:off x="762000" y="20574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predict the consumer · personalize the stimulus · pre-ship the product</a:t>
            </a:r>
            <a:endParaRPr lang="en-US" sz="1050" noProof="1"/>
          </a:p>
        </p:txBody>
      </p:sp>
      <p:sp>
        <p:nvSpPr>
          <p:cNvPr id="9" name="b-tr-h"/>
          <p:cNvSpPr txBox="1"/>
          <p:nvPr/>
        </p:nvSpPr>
        <p:spPr>
          <a:xfrm>
            <a:off x="8255000" y="17272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E86A5C"/>
                </a:solidFill>
                <a:latin typeface="MiSans"/>
                <a:ea typeface="MiSans"/>
              </a:rPr>
              <a:t>RANDOMNESS</a:t>
            </a:r>
            <a:endParaRPr lang="en-US" sz="1450" noProof="1"/>
          </a:p>
        </p:txBody>
      </p:sp>
      <p:sp>
        <p:nvSpPr>
          <p:cNvPr id="10" name="b-tr-b"/>
          <p:cNvSpPr txBox="1"/>
          <p:nvPr/>
        </p:nvSpPr>
        <p:spPr>
          <a:xfrm>
            <a:off x="8255000" y="20574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black swans scramble behaviour · cohorts modelled as probability clouds · inventory hedged, never certain</a:t>
            </a:r>
            <a:endParaRPr lang="en-US" sz="1050" noProof="1"/>
          </a:p>
        </p:txBody>
      </p:sp>
      <p:sp>
        <p:nvSpPr>
          <p:cNvPr id="11" name="b-bl-h"/>
          <p:cNvSpPr txBox="1"/>
          <p:nvPr/>
        </p:nvSpPr>
        <p:spPr>
          <a:xfrm>
            <a:off x="762000" y="4318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5BBFAE"/>
                </a:solidFill>
                <a:latin typeface="MiSans"/>
                <a:ea typeface="MiSans"/>
              </a:rPr>
              <a:t>VALUE NETWORK</a:t>
            </a:r>
            <a:endParaRPr lang="en-US" sz="1450" noProof="1"/>
          </a:p>
        </p:txBody>
      </p:sp>
      <p:sp>
        <p:nvSpPr>
          <p:cNvPr id="12" name="b-bl-b"/>
          <p:cNvSpPr txBox="1"/>
          <p:nvPr/>
        </p:nvSpPr>
        <p:spPr>
          <a:xfrm>
            <a:off x="762000" y="46482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sets the boundaries of choice · synchronizes supply to every click · the grid particles move on</a:t>
            </a:r>
            <a:endParaRPr lang="en-US" sz="1050" noProof="1"/>
          </a:p>
        </p:txBody>
      </p:sp>
      <p:sp>
        <p:nvSpPr>
          <p:cNvPr id="13" name="b-br-h"/>
          <p:cNvSpPr txBox="1"/>
          <p:nvPr/>
        </p:nvSpPr>
        <p:spPr>
          <a:xfrm>
            <a:off x="8255000" y="4318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50" b="1" noProof="1">
                <a:solidFill>
                  <a:srgbClr val="D77FA1"/>
                </a:solidFill>
                <a:latin typeface="MiSans"/>
                <a:ea typeface="MiSans"/>
              </a:rPr>
              <a:t>ENGINEERED SPONTANEITY</a:t>
            </a:r>
            <a:endParaRPr lang="en-US" sz="1450" noProof="1"/>
          </a:p>
        </p:txBody>
      </p:sp>
      <p:sp>
        <p:nvSpPr>
          <p:cNvPr id="14" name="b-br-b"/>
          <p:cNvSpPr txBox="1"/>
          <p:nvPr/>
        </p:nvSpPr>
        <p:spPr>
          <a:xfrm>
            <a:off x="8255000" y="46482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050" noProof="1">
                <a:solidFill>
                  <a:srgbClr val="96A0B3"/>
                </a:solidFill>
                <a:latin typeface="MiSans"/>
                <a:ea typeface="MiSans"/>
              </a:rPr>
              <a:t>flash sales · serendipity feeds · friction capture — calculated nudges that feel like luck</a:t>
            </a:r>
            <a:endParaRPr lang="en-US" sz="1050" noProof="1"/>
          </a:p>
        </p:txBody>
      </p:sp>
      <p:sp>
        <p:nvSpPr>
          <p:cNvPr id="15" name="a-t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eyJ2aWV3Qm94IjpbOTAsMzBdLCJwb2ludHMiOiIwLDAgOTAsMzAiLCJjdXJ2ZSI6InNoYXJwIn0</pptd:line>
              </p:ext>
            </p:extLst>
          </p:nvPr>
        </p:nvSpPr>
        <p:spPr>
          <a:xfrm>
            <a:off x="3937000" y="2540000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90" h="30">
                <a:moveTo>
                  <a:pt x="0" y="0"/>
                </a:moveTo>
                <a:lnTo>
                  <a:pt x="90" y="30"/>
                </a:lnTo>
              </a:path>
            </a:pathLst>
          </a:custGeom>
          <a:noFill/>
          <a:ln w="19050">
            <a:solidFill>
              <a:srgbClr val="E8B04B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a-t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eyJ2aWV3Qm94IjpbOTAsMzBdLCJwb2ludHMiOiI5MCwwIDAsMzAiLCJjdXJ2ZSI6InNoYXJwIn0</pptd:line>
              </p:ext>
            </p:extLst>
          </p:nvPr>
        </p:nvSpPr>
        <p:spPr>
          <a:xfrm>
            <a:off x="7112000" y="2540000"/>
            <a:ext cx="1143000" cy="381000"/>
          </a:xfrm>
          <a:custGeom>
            <a:avLst/>
            <a:gdLst/>
            <a:ahLst/>
            <a:cxnLst/>
            <a:rect l="l" t="t" r="r" b="b"/>
            <a:pathLst>
              <a:path w="90" h="30">
                <a:moveTo>
                  <a:pt x="90" y="0"/>
                </a:moveTo>
                <a:lnTo>
                  <a:pt x="0" y="30"/>
                </a:lnTo>
              </a:path>
            </a:pathLst>
          </a:custGeom>
          <a:noFill/>
          <a:ln w="19050">
            <a:solidFill>
              <a:srgbClr val="E86A5C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a-bl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eyJ2aWV3Qm94IjpbOTAsNjBdLCJwb2ludHMiOiIwLDYwIDkwLDAiLCJjdXJ2ZSI6InNoYXJwIn0</pptd:line>
              </p:ext>
            </p:extLst>
          </p:nvPr>
        </p:nvSpPr>
        <p:spPr>
          <a:xfrm>
            <a:off x="3937000" y="3683000"/>
            <a:ext cx="1143000" cy="762000"/>
          </a:xfrm>
          <a:custGeom>
            <a:avLst/>
            <a:gdLst/>
            <a:ahLst/>
            <a:cxnLst/>
            <a:rect l="l" t="t" r="r" b="b"/>
            <a:pathLst>
              <a:path w="90" h="60">
                <a:moveTo>
                  <a:pt x="0" y="60"/>
                </a:moveTo>
                <a:lnTo>
                  <a:pt x="90" y="0"/>
                </a:lnTo>
              </a:path>
            </a:pathLst>
          </a:custGeom>
          <a:noFill/>
          <a:ln w="19050">
            <a:solidFill>
              <a:srgbClr val="5BBFAE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a-b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eyJ2aWV3Qm94IjpbOTAsNjBdLCJwb2ludHMiOiI5MCw2MCAwLDAiLCJjdXJ2ZSI6InNoYXJwIn0</pptd:line>
              </p:ext>
            </p:extLst>
          </p:nvPr>
        </p:nvSpPr>
        <p:spPr>
          <a:xfrm>
            <a:off x="7112000" y="3683000"/>
            <a:ext cx="1143000" cy="762000"/>
          </a:xfrm>
          <a:custGeom>
            <a:avLst/>
            <a:gdLst/>
            <a:ahLst/>
            <a:cxnLst/>
            <a:rect l="l" t="t" r="r" b="b"/>
            <a:pathLst>
              <a:path w="90" h="60">
                <a:moveTo>
                  <a:pt x="90" y="6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D77FA1"/>
            </a:solidFill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take-bar"/>
          <p:cNvSpPr/>
          <p:nvPr/>
        </p:nvSpPr>
        <p:spPr>
          <a:xfrm>
            <a:off x="609600" y="5740400"/>
            <a:ext cx="50800" cy="660400"/>
          </a:xfrm>
          <a:prstGeom prst="rect">
            <a:avLst/>
          </a:prstGeom>
          <a:solidFill>
            <a:srgbClr val="EFEA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ake"/>
          <p:cNvSpPr txBox="1"/>
          <p:nvPr/>
        </p:nvSpPr>
        <p:spPr>
          <a:xfrm>
            <a:off x="889000" y="5791200"/>
            <a:ext cx="10693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EFEAE0"/>
                </a:solidFill>
                <a:latin typeface="MiSans"/>
                <a:ea typeface="MiSans"/>
              </a:rPr>
              <a:t>Marketing's goal is no longer to change minds, it is to build a network so precise that desire is </a:t>
            </a:r>
            <a:r>
              <a:rPr lang="en-US" sz="1250" b="1" noProof="1">
                <a:solidFill>
                  <a:srgbClr val="EFEAE0"/>
                </a:solidFill>
                <a:latin typeface="MiSans"/>
                <a:ea typeface="MiSans"/>
              </a:rPr>
              <a:t>predicted, captured and monetised before the consumer knows it exists</a:t>
            </a:r>
            <a:r>
              <a:rPr lang="en-US" sz="1250" noProof="1">
                <a:solidFill>
                  <a:srgbClr val="EFEAE0"/>
                </a:solidFill>
                <a:latin typeface="MiSans"/>
                <a:ea typeface="MiSans"/>
              </a:rPr>
              <a:t>.</a:t>
            </a:r>
            <a:endParaRPr lang="en-US" sz="1250" noProof="1"/>
          </a:p>
        </p:txBody>
      </p:sp>
      <p:sp>
        <p:nvSpPr>
          <p:cNvPr id="21" name="pageno"/>
          <p:cNvSpPr txBox="1"/>
          <p:nvPr/>
        </p:nvSpPr>
        <p:spPr>
          <a:xfrm>
            <a:off x="11176000" y="64516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6A0B3"/>
                </a:solidFill>
                <a:latin typeface="MiSans"/>
                <a:ea typeface="MiSans"/>
              </a:rPr>
              <a:t>13 / 14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BC4B26"/>
                </a:solidFill>
                <a:latin typeface="Quattrocento Sans"/>
                <a:ea typeface="Quattrocento Sans"/>
              </a:rPr>
              <a:t>TOPIC 1 · TIMELINE, PART 1 OF 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1979–2009: from experiments to a trillion-dollar industry</a:t>
            </a:r>
            <a:endParaRPr lang="en-US" sz="2600" noProof="1"/>
          </a:p>
        </p:txBody>
      </p:sp>
      <p:sp>
        <p:nvSpPr>
          <p:cNvPr id="4" name="axis"/>
          <p:cNvSpPr/>
          <p:nvPr/>
        </p:nvSpPr>
        <p:spPr>
          <a:xfrm>
            <a:off x="711200" y="3175000"/>
            <a:ext cx="10769600" cy="25400"/>
          </a:xfrm>
          <a:prstGeom prst="rect">
            <a:avLst/>
          </a:prstGeom>
          <a:solidFill>
            <a:srgbClr val="175E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m1-dot"/>
          <p:cNvSpPr/>
          <p:nvPr/>
        </p:nvSpPr>
        <p:spPr>
          <a:xfrm>
            <a:off x="7874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m1-year"/>
          <p:cNvSpPr txBox="1"/>
          <p:nvPr/>
        </p:nvSpPr>
        <p:spPr>
          <a:xfrm>
            <a:off x="5080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1979</a:t>
            </a:r>
            <a:endParaRPr lang="en-US" sz="1700" noProof="1"/>
          </a:p>
        </p:txBody>
      </p:sp>
      <p:sp>
        <p:nvSpPr>
          <p:cNvPr id="7" name="m1-text"/>
          <p:cNvSpPr txBox="1"/>
          <p:nvPr/>
        </p:nvSpPr>
        <p:spPr>
          <a:xfrm>
            <a:off x="508000" y="1625600"/>
            <a:ext cx="1371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Videotex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— Michael Aldrich demos online shopping via modified TV (UK)</a:t>
            </a:r>
            <a:endParaRPr lang="en-US" sz="1050" noProof="1"/>
          </a:p>
        </p:txBody>
      </p:sp>
      <p:sp>
        <p:nvSpPr>
          <p:cNvPr id="8" name="m2-dot"/>
          <p:cNvSpPr/>
          <p:nvPr/>
        </p:nvSpPr>
        <p:spPr>
          <a:xfrm>
            <a:off x="21336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2-year"/>
          <p:cNvSpPr txBox="1"/>
          <p:nvPr/>
        </p:nvSpPr>
        <p:spPr>
          <a:xfrm>
            <a:off x="1854200" y="3378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1995</a:t>
            </a:r>
            <a:endParaRPr lang="en-US" sz="1700" noProof="1"/>
          </a:p>
        </p:txBody>
      </p:sp>
      <p:sp>
        <p:nvSpPr>
          <p:cNvPr id="10" name="m2-text"/>
          <p:cNvSpPr txBox="1"/>
          <p:nvPr/>
        </p:nvSpPr>
        <p:spPr>
          <a:xfrm>
            <a:off x="1854200" y="3657600"/>
            <a:ext cx="1498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Amazon opens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("Earth's Biggest Bookstore"); </a:t>
            </a: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eBay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founded — marketplace &amp; catalogue models born</a:t>
            </a:r>
            <a:endParaRPr lang="en-US" sz="1050" noProof="1"/>
          </a:p>
        </p:txBody>
      </p:sp>
      <p:sp>
        <p:nvSpPr>
          <p:cNvPr id="11" name="m3-dot"/>
          <p:cNvSpPr/>
          <p:nvPr/>
        </p:nvSpPr>
        <p:spPr>
          <a:xfrm>
            <a:off x="36576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m3-year"/>
          <p:cNvSpPr txBox="1"/>
          <p:nvPr/>
        </p:nvSpPr>
        <p:spPr>
          <a:xfrm>
            <a:off x="33782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1998</a:t>
            </a:r>
            <a:endParaRPr lang="en-US" sz="1700" noProof="1"/>
          </a:p>
        </p:txBody>
      </p:sp>
      <p:sp>
        <p:nvSpPr>
          <p:cNvPr id="13" name="m3-text"/>
          <p:cNvSpPr txBox="1"/>
          <p:nvPr/>
        </p:nvSpPr>
        <p:spPr>
          <a:xfrm>
            <a:off x="3378200" y="1625600"/>
            <a:ext cx="1422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PayPal founded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— digital payments infrastructure arrives</a:t>
            </a:r>
            <a:endParaRPr lang="en-US" sz="1050" noProof="1"/>
          </a:p>
        </p:txBody>
      </p:sp>
      <p:sp>
        <p:nvSpPr>
          <p:cNvPr id="14" name="m4-dot"/>
          <p:cNvSpPr/>
          <p:nvPr/>
        </p:nvSpPr>
        <p:spPr>
          <a:xfrm>
            <a:off x="51308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m4-year"/>
          <p:cNvSpPr txBox="1"/>
          <p:nvPr/>
        </p:nvSpPr>
        <p:spPr>
          <a:xfrm>
            <a:off x="4851400" y="3378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1999</a:t>
            </a:r>
            <a:endParaRPr lang="en-US" sz="1700" noProof="1"/>
          </a:p>
        </p:txBody>
      </p:sp>
      <p:sp>
        <p:nvSpPr>
          <p:cNvPr id="16" name="m4-text"/>
          <p:cNvSpPr txBox="1"/>
          <p:nvPr/>
        </p:nvSpPr>
        <p:spPr>
          <a:xfrm>
            <a:off x="4851400" y="3657600"/>
            <a:ext cx="14478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Alibaba founded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— China's e-commerce giant emerges</a:t>
            </a:r>
            <a:endParaRPr lang="en-US" sz="1050" noProof="1"/>
          </a:p>
        </p:txBody>
      </p:sp>
      <p:sp>
        <p:nvSpPr>
          <p:cNvPr id="17" name="m5-dot"/>
          <p:cNvSpPr/>
          <p:nvPr/>
        </p:nvSpPr>
        <p:spPr>
          <a:xfrm>
            <a:off x="65786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m5-year"/>
          <p:cNvSpPr txBox="1"/>
          <p:nvPr/>
        </p:nvSpPr>
        <p:spPr>
          <a:xfrm>
            <a:off x="62992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2005</a:t>
            </a:r>
            <a:endParaRPr lang="en-US" sz="1700" noProof="1"/>
          </a:p>
        </p:txBody>
      </p:sp>
      <p:sp>
        <p:nvSpPr>
          <p:cNvPr id="19" name="m5-text"/>
          <p:cNvSpPr txBox="1"/>
          <p:nvPr/>
        </p:nvSpPr>
        <p:spPr>
          <a:xfrm>
            <a:off x="6299200" y="1625600"/>
            <a:ext cx="14478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Amazon Prime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launches ($79/yr) — loyalty rewires shipping expectations</a:t>
            </a:r>
            <a:endParaRPr lang="en-US" sz="1050" noProof="1"/>
          </a:p>
        </p:txBody>
      </p:sp>
      <p:sp>
        <p:nvSpPr>
          <p:cNvPr id="20" name="m6-dot"/>
          <p:cNvSpPr/>
          <p:nvPr/>
        </p:nvSpPr>
        <p:spPr>
          <a:xfrm>
            <a:off x="80010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m6-year"/>
          <p:cNvSpPr txBox="1"/>
          <p:nvPr/>
        </p:nvSpPr>
        <p:spPr>
          <a:xfrm>
            <a:off x="7721600" y="3378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2007</a:t>
            </a:r>
            <a:endParaRPr lang="en-US" sz="1700" noProof="1"/>
          </a:p>
        </p:txBody>
      </p:sp>
      <p:sp>
        <p:nvSpPr>
          <p:cNvPr id="22" name="m6-text"/>
          <p:cNvSpPr txBox="1"/>
          <p:nvPr/>
        </p:nvSpPr>
        <p:spPr>
          <a:xfrm>
            <a:off x="7721600" y="3657600"/>
            <a:ext cx="1473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iPhone launches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— the m-commerce era begins</a:t>
            </a:r>
            <a:endParaRPr lang="en-US" sz="1050" noProof="1"/>
          </a:p>
        </p:txBody>
      </p:sp>
      <p:sp>
        <p:nvSpPr>
          <p:cNvPr id="23" name="m7-dot"/>
          <p:cNvSpPr/>
          <p:nvPr/>
        </p:nvSpPr>
        <p:spPr>
          <a:xfrm>
            <a:off x="94488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m7-year"/>
          <p:cNvSpPr txBox="1"/>
          <p:nvPr/>
        </p:nvSpPr>
        <p:spPr>
          <a:xfrm>
            <a:off x="91694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2009</a:t>
            </a:r>
            <a:endParaRPr lang="en-US" sz="1700" noProof="1"/>
          </a:p>
        </p:txBody>
      </p:sp>
      <p:sp>
        <p:nvSpPr>
          <p:cNvPr id="25" name="m7-text"/>
          <p:cNvSpPr txBox="1"/>
          <p:nvPr/>
        </p:nvSpPr>
        <p:spPr>
          <a:xfrm>
            <a:off x="9169400" y="1625600"/>
            <a:ext cx="1651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First Singles' Day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(11.11) — event commerce is invented; &gt;$84B GMV by 2021</a:t>
            </a:r>
            <a:endParaRPr lang="en-US" sz="1050" noProof="1"/>
          </a:p>
        </p:txBody>
      </p:sp>
      <p:sp>
        <p:nvSpPr>
          <p:cNvPr id="28" name="src-line"/>
          <p:cNvSpPr txBox="1"/>
          <p:nvPr/>
        </p:nvSpPr>
        <p:spPr>
          <a:xfrm>
            <a:off x="711200" y="59690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research brief §1.5 milestone table; pre-2022 entries are standard, verifiable company history (company about-pages). Singles' Day GMV is company-reported.</a:t>
            </a:r>
            <a:endParaRPr lang="en-US" sz="1000" noProof="1"/>
          </a:p>
        </p:txBody>
      </p:sp>
      <p:sp>
        <p:nvSpPr>
          <p:cNvPr id="29" name="foot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foot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31" name="foot-right"/>
          <p:cNvSpPr txBox="1"/>
          <p:nvPr/>
        </p:nvSpPr>
        <p:spPr>
          <a:xfrm>
            <a:off x="5969000" y="6527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1 · Session B · Topic 1</a:t>
            </a:r>
            <a:endParaRPr lang="en-US" sz="950" noProof="1"/>
          </a:p>
        </p:txBody>
      </p:sp>
      <p:sp>
        <p:nvSpPr>
          <p:cNvPr id="32" name="foot-pagenum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17</a:t>
            </a:r>
            <a:endParaRPr lang="en-US" sz="9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BC4B26"/>
                </a:solidFill>
                <a:latin typeface="Quattrocento Sans"/>
                <a:ea typeface="Quattrocento Sans"/>
              </a:rPr>
              <a:t>TOPIC 1 · TIMELINE, PART 2 OF 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2010–2026: feeds, a pandemic, then machines that shop</a:t>
            </a:r>
            <a:endParaRPr lang="en-US" sz="2600" noProof="1"/>
          </a:p>
        </p:txBody>
      </p:sp>
      <p:sp>
        <p:nvSpPr>
          <p:cNvPr id="4" name="axis"/>
          <p:cNvSpPr/>
          <p:nvPr/>
        </p:nvSpPr>
        <p:spPr>
          <a:xfrm>
            <a:off x="711200" y="3175000"/>
            <a:ext cx="10769600" cy="25400"/>
          </a:xfrm>
          <a:prstGeom prst="rect">
            <a:avLst/>
          </a:prstGeom>
          <a:solidFill>
            <a:srgbClr val="175E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m1-dot"/>
          <p:cNvSpPr/>
          <p:nvPr/>
        </p:nvSpPr>
        <p:spPr>
          <a:xfrm>
            <a:off x="7874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m1-year"/>
          <p:cNvSpPr txBox="1"/>
          <p:nvPr/>
        </p:nvSpPr>
        <p:spPr>
          <a:xfrm>
            <a:off x="5080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2014</a:t>
            </a:r>
            <a:endParaRPr lang="en-US" sz="1700" noProof="1"/>
          </a:p>
        </p:txBody>
      </p:sp>
      <p:sp>
        <p:nvSpPr>
          <p:cNvPr id="7" name="m1-text"/>
          <p:cNvSpPr txBox="1"/>
          <p:nvPr/>
        </p:nvSpPr>
        <p:spPr>
          <a:xfrm>
            <a:off x="508000" y="1625600"/>
            <a:ext cx="1473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Alibaba IPO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(then-largest ever, $25B); </a:t>
            </a: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Amazon Echo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announced — voice hardware arrives</a:t>
            </a:r>
            <a:endParaRPr lang="en-US" sz="1050" noProof="1"/>
          </a:p>
        </p:txBody>
      </p:sp>
      <p:sp>
        <p:nvSpPr>
          <p:cNvPr id="8" name="m2-dot"/>
          <p:cNvSpPr/>
          <p:nvPr/>
        </p:nvSpPr>
        <p:spPr>
          <a:xfrm>
            <a:off x="23114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2-year"/>
          <p:cNvSpPr txBox="1"/>
          <p:nvPr/>
        </p:nvSpPr>
        <p:spPr>
          <a:xfrm>
            <a:off x="2032000" y="3378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2018</a:t>
            </a:r>
            <a:endParaRPr lang="en-US" sz="1700" noProof="1"/>
          </a:p>
        </p:txBody>
      </p:sp>
      <p:sp>
        <p:nvSpPr>
          <p:cNvPr id="10" name="m2-text"/>
          <p:cNvSpPr txBox="1"/>
          <p:nvPr/>
        </p:nvSpPr>
        <p:spPr>
          <a:xfrm>
            <a:off x="2032000" y="3657600"/>
            <a:ext cx="1473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Instagram shoppable tags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; L'Oréal buys ModiFace — social checkout + AR try-on converge</a:t>
            </a:r>
            <a:endParaRPr lang="en-US" sz="1050" noProof="1"/>
          </a:p>
        </p:txBody>
      </p:sp>
      <p:sp>
        <p:nvSpPr>
          <p:cNvPr id="11" name="m3-dot"/>
          <p:cNvSpPr/>
          <p:nvPr/>
        </p:nvSpPr>
        <p:spPr>
          <a:xfrm>
            <a:off x="38354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m3-year"/>
          <p:cNvSpPr txBox="1"/>
          <p:nvPr/>
        </p:nvSpPr>
        <p:spPr>
          <a:xfrm>
            <a:off x="35560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2020</a:t>
            </a:r>
            <a:endParaRPr lang="en-US" sz="1700" noProof="1"/>
          </a:p>
        </p:txBody>
      </p:sp>
      <p:sp>
        <p:nvSpPr>
          <p:cNvPr id="13" name="m3-text"/>
          <p:cNvSpPr txBox="1"/>
          <p:nvPr/>
        </p:nvSpPr>
        <p:spPr>
          <a:xfrm>
            <a:off x="3556000" y="1437821"/>
            <a:ext cx="1524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COVID-19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: US e-commerce +42% YoY; Facebook &amp; Instagram Shops launch — a decade of adoption in months</a:t>
            </a:r>
            <a:endParaRPr lang="en-US" sz="1050" noProof="1"/>
          </a:p>
        </p:txBody>
      </p:sp>
      <p:sp>
        <p:nvSpPr>
          <p:cNvPr id="14" name="m4-dot"/>
          <p:cNvSpPr/>
          <p:nvPr/>
        </p:nvSpPr>
        <p:spPr>
          <a:xfrm>
            <a:off x="54102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m4-year"/>
          <p:cNvSpPr txBox="1"/>
          <p:nvPr/>
        </p:nvSpPr>
        <p:spPr>
          <a:xfrm>
            <a:off x="5130800" y="3378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2022</a:t>
            </a:r>
            <a:endParaRPr lang="en-US" sz="1700" noProof="1"/>
          </a:p>
        </p:txBody>
      </p:sp>
      <p:sp>
        <p:nvSpPr>
          <p:cNvPr id="16" name="m4-text"/>
          <p:cNvSpPr txBox="1"/>
          <p:nvPr/>
        </p:nvSpPr>
        <p:spPr>
          <a:xfrm>
            <a:off x="5130800" y="3657600"/>
            <a:ext cx="1422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ChatGPT launches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(Nov) — the generative-AI wave begins; interface #5 gestates</a:t>
            </a:r>
            <a:endParaRPr lang="en-US" sz="1050" noProof="1"/>
          </a:p>
        </p:txBody>
      </p:sp>
      <p:sp>
        <p:nvSpPr>
          <p:cNvPr id="17" name="m5-dot"/>
          <p:cNvSpPr/>
          <p:nvPr/>
        </p:nvSpPr>
        <p:spPr>
          <a:xfrm>
            <a:off x="68834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m5-year"/>
          <p:cNvSpPr txBox="1"/>
          <p:nvPr/>
        </p:nvSpPr>
        <p:spPr>
          <a:xfrm>
            <a:off x="6604000" y="2540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2023</a:t>
            </a:r>
            <a:endParaRPr lang="en-US" sz="1700" noProof="1"/>
          </a:p>
        </p:txBody>
      </p:sp>
      <p:sp>
        <p:nvSpPr>
          <p:cNvPr id="19" name="m5-text"/>
          <p:cNvSpPr txBox="1"/>
          <p:nvPr/>
        </p:nvSpPr>
        <p:spPr>
          <a:xfrm>
            <a:off x="6604000" y="1625600"/>
            <a:ext cx="14732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TikTok Shop launches in the US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(Sept) — social commerce goes transactional in the West</a:t>
            </a:r>
            <a:endParaRPr lang="en-US" sz="1050" noProof="1"/>
          </a:p>
        </p:txBody>
      </p:sp>
      <p:sp>
        <p:nvSpPr>
          <p:cNvPr id="20" name="m6-dot"/>
          <p:cNvSpPr/>
          <p:nvPr/>
        </p:nvSpPr>
        <p:spPr>
          <a:xfrm>
            <a:off x="84074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m6-year"/>
          <p:cNvSpPr txBox="1"/>
          <p:nvPr/>
        </p:nvSpPr>
        <p:spPr>
          <a:xfrm>
            <a:off x="8128000" y="3378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2024</a:t>
            </a:r>
            <a:endParaRPr lang="en-US" sz="1700" noProof="1"/>
          </a:p>
        </p:txBody>
      </p:sp>
      <p:sp>
        <p:nvSpPr>
          <p:cNvPr id="22" name="m6-text"/>
          <p:cNvSpPr txBox="1"/>
          <p:nvPr/>
        </p:nvSpPr>
        <p:spPr>
          <a:xfrm>
            <a:off x="8128000" y="3657600"/>
            <a:ext cx="1498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Amazon Rufus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(Feb–Sept); </a:t>
            </a: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Perplexity Buy with Pro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(Nov) — AI assistants meet in-chat checkout</a:t>
            </a:r>
            <a:endParaRPr lang="en-US" sz="1050" noProof="1"/>
          </a:p>
        </p:txBody>
      </p:sp>
      <p:sp>
        <p:nvSpPr>
          <p:cNvPr id="23" name="m7-dot"/>
          <p:cNvSpPr/>
          <p:nvPr/>
        </p:nvSpPr>
        <p:spPr>
          <a:xfrm>
            <a:off x="9982200" y="31115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m7-year"/>
          <p:cNvSpPr txBox="1"/>
          <p:nvPr/>
        </p:nvSpPr>
        <p:spPr>
          <a:xfrm>
            <a:off x="9702800" y="254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noProof="1">
                <a:solidFill>
                  <a:srgbClr val="BC4B26"/>
                </a:solidFill>
                <a:latin typeface="Unna"/>
                <a:ea typeface="Unna"/>
              </a:rPr>
              <a:t>2025–26</a:t>
            </a:r>
            <a:endParaRPr lang="en-US" sz="1700" noProof="1"/>
          </a:p>
        </p:txBody>
      </p:sp>
      <p:sp>
        <p:nvSpPr>
          <p:cNvPr id="25" name="m7-text"/>
          <p:cNvSpPr txBox="1"/>
          <p:nvPr/>
        </p:nvSpPr>
        <p:spPr>
          <a:xfrm>
            <a:off x="9702800" y="1625600"/>
            <a:ext cx="1778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ChatGPT Instant Checkout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(Sept 2025); AI-referred traffic converts 54% better (2026)</a:t>
            </a:r>
            <a:endParaRPr lang="en-US" sz="1050" noProof="1"/>
          </a:p>
        </p:txBody>
      </p:sp>
      <p:sp>
        <p:nvSpPr>
          <p:cNvPr id="28" name="src-line"/>
          <p:cNvSpPr txBox="1"/>
          <p:nvPr/>
        </p:nvSpPr>
        <p:spPr>
          <a:xfrm>
            <a:off x="711200" y="59690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Adobe via Digital Commerce 360,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OpenAI timeline via Darkroom,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Perplexity, 2024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5"/>
              </a:rPr>
              <a:t>US Census via SellersCommerce, 2025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.</a:t>
            </a:r>
            <a:endParaRPr lang="en-US" sz="1000" noProof="1"/>
          </a:p>
        </p:txBody>
      </p:sp>
      <p:sp>
        <p:nvSpPr>
          <p:cNvPr id="29" name="foot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foot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31" name="foot-right"/>
          <p:cNvSpPr txBox="1"/>
          <p:nvPr/>
        </p:nvSpPr>
        <p:spPr>
          <a:xfrm>
            <a:off x="5969000" y="6527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1 · Session B · Topic 1</a:t>
            </a:r>
            <a:endParaRPr lang="en-US" sz="950" noProof="1"/>
          </a:p>
        </p:txBody>
      </p:sp>
      <p:sp>
        <p:nvSpPr>
          <p:cNvPr id="32" name="foot-pagenum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18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BC4B26"/>
                </a:solidFill>
                <a:latin typeface="Quattrocento Sans"/>
                <a:ea typeface="Quattrocento Sans"/>
              </a:rPr>
              <a:t>TOPIC 1 · FRAMEWORK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retail evolution continuum: channels layer, not replace</a:t>
            </a:r>
            <a:endParaRPr lang="en-US" sz="2600" noProof="1"/>
          </a:p>
        </p:txBody>
      </p:sp>
      <p:sp>
        <p:nvSpPr>
          <p:cNvPr id="4" name="chev1"/>
          <p:cNvSpPr/>
          <p:nvPr/>
        </p:nvSpPr>
        <p:spPr>
          <a:xfrm>
            <a:off x="711200" y="1422400"/>
            <a:ext cx="2286000" cy="787400"/>
          </a:xfrm>
          <a:prstGeom prst="homePlate">
            <a:avLst/>
          </a:prstGeom>
          <a:solidFill>
            <a:srgbClr val="175E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hev1-text"/>
          <p:cNvSpPr txBox="1"/>
          <p:nvPr/>
        </p:nvSpPr>
        <p:spPr>
          <a:xfrm>
            <a:off x="838200" y="15240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FFFFFF"/>
                </a:solidFill>
                <a:latin typeface="Quattrocento Sans"/>
                <a:ea typeface="Quattrocento Sans"/>
              </a:rPr>
              <a:t>1 · Brick-and-mortar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FFFFFF"/>
                </a:solidFill>
                <a:latin typeface="Quattrocento Sans"/>
                <a:ea typeface="Quattrocento Sans"/>
              </a:rPr>
              <a:t>pre-1994</a:t>
            </a:r>
            <a:endParaRPr lang="en-US" sz="1150" noProof="1"/>
          </a:p>
        </p:txBody>
      </p:sp>
      <p:sp>
        <p:nvSpPr>
          <p:cNvPr id="6" name="chev2"/>
          <p:cNvSpPr/>
          <p:nvPr/>
        </p:nvSpPr>
        <p:spPr>
          <a:xfrm>
            <a:off x="2832100" y="1422400"/>
            <a:ext cx="2286000" cy="787400"/>
          </a:xfrm>
          <a:prstGeom prst="chevron">
            <a:avLst/>
          </a:prstGeom>
          <a:solidFill>
            <a:srgbClr val="175E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chev2-text"/>
          <p:cNvSpPr txBox="1"/>
          <p:nvPr/>
        </p:nvSpPr>
        <p:spPr>
          <a:xfrm>
            <a:off x="3302000" y="1542143"/>
            <a:ext cx="1854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FFFFFF"/>
                </a:solidFill>
                <a:latin typeface="Quattrocento Sans"/>
                <a:ea typeface="Quattrocento Sans"/>
              </a:rPr>
              <a:t>2 · E-commerce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FFFFFF"/>
                </a:solidFill>
                <a:latin typeface="Quattrocento Sans"/>
                <a:ea typeface="Quattrocento Sans"/>
              </a:rPr>
              <a:t>1994–2007</a:t>
            </a:r>
            <a:endParaRPr lang="en-US" sz="1150" noProof="1"/>
          </a:p>
        </p:txBody>
      </p:sp>
      <p:sp>
        <p:nvSpPr>
          <p:cNvPr id="8" name="chev3"/>
          <p:cNvSpPr/>
          <p:nvPr/>
        </p:nvSpPr>
        <p:spPr>
          <a:xfrm>
            <a:off x="4953000" y="1422400"/>
            <a:ext cx="2286000" cy="787400"/>
          </a:xfrm>
          <a:prstGeom prst="chevron">
            <a:avLst/>
          </a:prstGeom>
          <a:solidFill>
            <a:srgbClr val="175E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hev3-text"/>
          <p:cNvSpPr txBox="1"/>
          <p:nvPr/>
        </p:nvSpPr>
        <p:spPr>
          <a:xfrm>
            <a:off x="5384800" y="1524000"/>
            <a:ext cx="1854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FFFFFF"/>
                </a:solidFill>
                <a:latin typeface="Quattrocento Sans"/>
                <a:ea typeface="Quattrocento Sans"/>
              </a:rPr>
              <a:t>3 · M-commerce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FFFFFF"/>
                </a:solidFill>
                <a:latin typeface="Quattrocento Sans"/>
                <a:ea typeface="Quattrocento Sans"/>
              </a:rPr>
              <a:t>2007–2015</a:t>
            </a:r>
            <a:endParaRPr lang="en-US" sz="1150" noProof="1"/>
          </a:p>
        </p:txBody>
      </p:sp>
      <p:sp>
        <p:nvSpPr>
          <p:cNvPr id="10" name="chev4"/>
          <p:cNvSpPr/>
          <p:nvPr/>
        </p:nvSpPr>
        <p:spPr>
          <a:xfrm>
            <a:off x="7073900" y="1422400"/>
            <a:ext cx="2286000" cy="787400"/>
          </a:xfrm>
          <a:prstGeom prst="chevron">
            <a:avLst/>
          </a:prstGeom>
          <a:solidFill>
            <a:srgbClr val="175E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chev4-text"/>
          <p:cNvSpPr txBox="1"/>
          <p:nvPr/>
        </p:nvSpPr>
        <p:spPr>
          <a:xfrm>
            <a:off x="7429500" y="1524000"/>
            <a:ext cx="1854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FFFFFF"/>
                </a:solidFill>
                <a:latin typeface="Quattrocento Sans"/>
                <a:ea typeface="Quattrocento Sans"/>
              </a:rPr>
              <a:t>4 · Social &amp; conversational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FFFFFF"/>
                </a:solidFill>
                <a:latin typeface="Quattrocento Sans"/>
                <a:ea typeface="Quattrocento Sans"/>
              </a:rPr>
              <a:t>2015–2023</a:t>
            </a:r>
            <a:endParaRPr lang="en-US" sz="1150" noProof="1"/>
          </a:p>
        </p:txBody>
      </p:sp>
      <p:sp>
        <p:nvSpPr>
          <p:cNvPr id="12" name="chev5"/>
          <p:cNvSpPr/>
          <p:nvPr/>
        </p:nvSpPr>
        <p:spPr>
          <a:xfrm>
            <a:off x="9194800" y="1422400"/>
            <a:ext cx="2286000" cy="787400"/>
          </a:xfrm>
          <a:prstGeom prst="chevron">
            <a:avLst/>
          </a:prstGeom>
          <a:solidFill>
            <a:srgbClr val="BC4B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hev5-text"/>
          <p:cNvSpPr txBox="1"/>
          <p:nvPr/>
        </p:nvSpPr>
        <p:spPr>
          <a:xfrm>
            <a:off x="9626600" y="1542143"/>
            <a:ext cx="1854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50" b="1" noProof="1">
                <a:solidFill>
                  <a:srgbClr val="FFFFFF"/>
                </a:solidFill>
                <a:latin typeface="Quattrocento Sans"/>
                <a:ea typeface="Quattrocento Sans"/>
              </a:rPr>
              <a:t>5 · Agentic</a:t>
            </a:r>
            <a:endParaRPr lang="en-US" sz="1150" noProof="1"/>
          </a:p>
          <a:p>
            <a:pPr>
              <a:lnSpc>
                <a:spcPct val="130000"/>
              </a:lnSpc>
            </a:pPr>
            <a:r>
              <a:rPr lang="en-US" sz="1150" noProof="1">
                <a:solidFill>
                  <a:srgbClr val="FFFFFF"/>
                </a:solidFill>
                <a:latin typeface="Quattrocento Sans"/>
                <a:ea typeface="Quattrocento Sans"/>
              </a:rPr>
              <a:t>2024 →</a:t>
            </a:r>
            <a:endParaRPr lang="en-US" sz="1150" noProof="1"/>
          </a:p>
        </p:txBody>
      </p:sp>
      <p:sp>
        <p:nvSpPr>
          <p:cNvPr id="14" name="c1-body"/>
          <p:cNvSpPr txBox="1"/>
          <p:nvPr/>
        </p:nvSpPr>
        <p:spPr>
          <a:xfrm>
            <a:off x="711200" y="2413000"/>
            <a:ext cx="1968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Interface: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physical store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Unlocks: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geographic assortment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i="1" noProof="1">
                <a:solidFill>
                  <a:srgbClr val="23272E"/>
                </a:solidFill>
                <a:latin typeface="Quattrocento Sans"/>
                <a:ea typeface="Quattrocento Sans"/>
              </a:rPr>
              <a:t>Walmart, Macy's</a:t>
            </a:r>
            <a:endParaRPr lang="en-US" sz="10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noProof="1">
                <a:solidFill>
                  <a:srgbClr val="BC4B26"/>
                </a:solidFill>
                <a:latin typeface="Unna"/>
                <a:ea typeface="Unna"/>
              </a:rPr>
              <a:t>~80%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of global retail still physical, 2025</a:t>
            </a:r>
            <a:endParaRPr lang="en-US" sz="1050" noProof="1"/>
          </a:p>
        </p:txBody>
      </p:sp>
      <p:sp>
        <p:nvSpPr>
          <p:cNvPr id="15" name="c2-body"/>
          <p:cNvSpPr txBox="1"/>
          <p:nvPr/>
        </p:nvSpPr>
        <p:spPr>
          <a:xfrm>
            <a:off x="2832100" y="2413000"/>
            <a:ext cx="1968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Interface: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desktop browser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Unlocks: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unlimited shelf, price comparison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i="1" noProof="1">
                <a:solidFill>
                  <a:srgbClr val="23272E"/>
                </a:solidFill>
                <a:latin typeface="Quattrocento Sans"/>
                <a:ea typeface="Quattrocento Sans"/>
              </a:rPr>
              <a:t>Amazon, eBay, Alibaba, Flipkart</a:t>
            </a:r>
            <a:endParaRPr lang="en-US" sz="10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noProof="1">
                <a:solidFill>
                  <a:srgbClr val="BC4B26"/>
                </a:solidFill>
                <a:latin typeface="Unna"/>
                <a:ea typeface="Unna"/>
              </a:rPr>
              <a:t>16.1%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US e-commerce share of retail, 2024</a:t>
            </a:r>
            <a:endParaRPr lang="en-US" sz="1050" noProof="1"/>
          </a:p>
        </p:txBody>
      </p:sp>
      <p:sp>
        <p:nvSpPr>
          <p:cNvPr id="16" name="c3-body"/>
          <p:cNvSpPr txBox="1"/>
          <p:nvPr/>
        </p:nvSpPr>
        <p:spPr>
          <a:xfrm>
            <a:off x="4953000" y="2413000"/>
            <a:ext cx="1968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Interface: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smartphone app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Unlocks: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commerce anywhere; app ecosystems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i="1" noProof="1">
                <a:solidFill>
                  <a:srgbClr val="23272E"/>
                </a:solidFill>
                <a:latin typeface="Quattrocento Sans"/>
                <a:ea typeface="Quattrocento Sans"/>
              </a:rPr>
              <a:t>Starbucks app, Uber, Myntra</a:t>
            </a:r>
            <a:endParaRPr lang="en-US" sz="10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noProof="1">
                <a:solidFill>
                  <a:srgbClr val="BC4B26"/>
                </a:solidFill>
                <a:latin typeface="Unna"/>
                <a:ea typeface="Unna"/>
              </a:rPr>
              <a:t>57–59%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of e-commerce sales on mobile, 2025</a:t>
            </a:r>
            <a:endParaRPr lang="en-US" sz="1050" noProof="1"/>
          </a:p>
        </p:txBody>
      </p:sp>
      <p:sp>
        <p:nvSpPr>
          <p:cNvPr id="17" name="c4-body"/>
          <p:cNvSpPr txBox="1"/>
          <p:nvPr/>
        </p:nvSpPr>
        <p:spPr>
          <a:xfrm>
            <a:off x="7073900" y="2413000"/>
            <a:ext cx="19685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Interface: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feed + chat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Unlocks: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discovery-led purchase, live selling, chatbots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i="1" noProof="1">
                <a:solidFill>
                  <a:srgbClr val="23272E"/>
                </a:solidFill>
                <a:latin typeface="Quattrocento Sans"/>
                <a:ea typeface="Quattrocento Sans"/>
              </a:rPr>
              <a:t>TikTok Shop, WeChat, Meesho</a:t>
            </a:r>
            <a:endParaRPr lang="en-US" sz="10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noProof="1">
                <a:solidFill>
                  <a:srgbClr val="BC4B26"/>
                </a:solidFill>
                <a:latin typeface="Unna"/>
                <a:ea typeface="Unna"/>
              </a:rPr>
              <a:t>$1.6T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global social-commerce market, 2025</a:t>
            </a:r>
            <a:endParaRPr lang="en-US" sz="1050" noProof="1"/>
          </a:p>
        </p:txBody>
      </p:sp>
      <p:sp>
        <p:nvSpPr>
          <p:cNvPr id="18" name="c5-body"/>
          <p:cNvSpPr txBox="1"/>
          <p:nvPr/>
        </p:nvSpPr>
        <p:spPr>
          <a:xfrm>
            <a:off x="9194800" y="2413000"/>
            <a:ext cx="2286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Interface: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AI agent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b="1" noProof="1">
                <a:solidFill>
                  <a:srgbClr val="23272E"/>
                </a:solidFill>
                <a:latin typeface="Quattrocento Sans"/>
                <a:ea typeface="Quattrocento Sans"/>
              </a:rPr>
              <a:t>Unlocks: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 delegated search, comparison, purchase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i="1" noProof="1">
                <a:solidFill>
                  <a:srgbClr val="23272E"/>
                </a:solidFill>
                <a:latin typeface="Quattrocento Sans"/>
                <a:ea typeface="Quattrocento Sans"/>
              </a:rPr>
              <a:t>Amazon Rufus, ChatGPT, Perplexity</a:t>
            </a:r>
            <a:endParaRPr lang="en-US" sz="10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noProof="1">
                <a:solidFill>
                  <a:srgbClr val="BC4B26"/>
                </a:solidFill>
                <a:latin typeface="Unna"/>
                <a:ea typeface="Unna"/>
              </a:rPr>
              <a:t>39%</a:t>
            </a:r>
            <a:endParaRPr lang="en-US" sz="1050" noProof="1"/>
          </a:p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of consumers use AI for product discovery, 2025</a:t>
            </a:r>
            <a:endParaRPr lang="en-US" sz="1050" noProof="1"/>
          </a:p>
        </p:txBody>
      </p:sp>
      <p:sp>
        <p:nvSpPr>
          <p:cNvPr id="19" name="diag-rule"/>
          <p:cNvSpPr/>
          <p:nvPr/>
        </p:nvSpPr>
        <p:spPr>
          <a:xfrm>
            <a:off x="711200" y="51562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diag"/>
          <p:cNvSpPr txBox="1"/>
          <p:nvPr/>
        </p:nvSpPr>
        <p:spPr>
          <a:xfrm>
            <a:off x="711200" y="5308600"/>
            <a:ext cx="10769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b="1" noProof="1">
                <a:solidFill>
                  <a:srgbClr val="6E675C"/>
                </a:solidFill>
                <a:latin typeface="Quattrocento Sans"/>
                <a:ea typeface="Quattrocento Sans"/>
              </a:rPr>
              <a:t>Apply it in 3 steps:</a:t>
            </a: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 ① map the company's revenue share by interface · ② name the constraint each new interface removed (shelf space → location → attention → effort → delegation) · ③ ask which constraint the </a:t>
            </a:r>
            <a:r>
              <a:rPr lang="en-US" sz="1150" i="1" noProof="1">
                <a:solidFill>
                  <a:srgbClr val="6E675C"/>
                </a:solidFill>
                <a:latin typeface="Quattrocento Sans"/>
                <a:ea typeface="Quattrocento Sans"/>
              </a:rPr>
              <a:t>next</a:t>
            </a: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 interface removes. Caveat: eras overlap — the continuum describes interfaces, not calendar decades.</a:t>
            </a:r>
            <a:endParaRPr lang="en-US" sz="1150" noProof="1"/>
          </a:p>
        </p:txBody>
      </p:sp>
      <p:sp>
        <p:nvSpPr>
          <p:cNvPr id="21" name="src-line"/>
          <p:cNvSpPr txBox="1"/>
          <p:nvPr/>
        </p:nvSpPr>
        <p:spPr>
          <a:xfrm>
            <a:off x="711200" y="60198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framework per research brief §1.2; stats: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US Census Bureau, 2025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·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Statista, 2025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·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Mordor Intelligence,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·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5"/>
              </a:rPr>
              <a:t>Salesforce, 2025</a:t>
            </a:r>
            <a:endParaRPr lang="en-US" sz="1000" noProof="1"/>
          </a:p>
        </p:txBody>
      </p:sp>
      <p:sp>
        <p:nvSpPr>
          <p:cNvPr id="22" name="foot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foot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4" name="foot-right"/>
          <p:cNvSpPr txBox="1"/>
          <p:nvPr/>
        </p:nvSpPr>
        <p:spPr>
          <a:xfrm>
            <a:off x="5969000" y="6527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1 · Session B · Topic 1</a:t>
            </a:r>
            <a:endParaRPr lang="en-US" sz="950" noProof="1"/>
          </a:p>
        </p:txBody>
      </p:sp>
      <p:sp>
        <p:nvSpPr>
          <p:cNvPr id="25" name="foot-pagenum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19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BC4B26"/>
                </a:solidFill>
                <a:latin typeface="Quattrocento Sans"/>
                <a:ea typeface="Quattrocento Sans"/>
              </a:rPr>
              <a:t>TOPIC 1 · GLOSSARY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Seven terms, precisely defined learn them once, use them all course</a:t>
            </a:r>
            <a:endParaRPr lang="en-US" sz="2600" noProof="1"/>
          </a:p>
        </p:txBody>
      </p:sp>
      <p:graphicFrame>
        <p:nvGraphicFramePr>
          <p:cNvPr id="4" name="glossary-table"/>
          <p:cNvGraphicFramePr>
            <a:graphicFrameLocks noGrp="1"/>
          </p:cNvGraphicFramePr>
          <p:nvPr/>
        </p:nvGraphicFramePr>
        <p:xfrm>
          <a:off x="711200" y="1371600"/>
          <a:ext cx="10769600" cy="4876798"/>
        </p:xfrm>
        <a:graphic>
          <a:graphicData uri="http://schemas.openxmlformats.org/drawingml/2006/table">
            <a:tbl>
              <a:tblPr/>
              <a:tblGrid>
                <a:gridCol w="2261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Definition and one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E-commerce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Buying/selling goods, services, funds or data over an electronic network — primarily the internet; B2C, B2B, C2C, D2C, any device. Example: any Amazon order.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M-commerce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The subset of e-commerce transacted on handheld devices via mobile web or apps; marked by location-awareness, push notifications, biometric payment. Example: ordering in the Starbucks app.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Social 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Buying and selling directly within social platforms — discovery, evaluation and checkout in the same app. Example: TikTok Shop. Distinct from social-</a:t>
                      </a:r>
                      <a:r>
                        <a:rPr lang="en-US" sz="1100" i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influenced</a:t>
                      </a:r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 commerce, where social only sends traffic elsewhere.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Conversational 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Commerce through dialogue interfaces — messaging apps, chatbots, voice assistants — where the conversation itself is the storefront. Example: reordering via WhatsApp chat or Alexa.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Agentic 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An AI agent autonomously performs multi-step shopping tasks — interpreting goals, searching, comparing and (with permission) transacting — on the buyer's behalf. Example: ChatGPT Instant Checkout.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614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Headless commerce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Architecture decoupling the customer-facing front end from back-end commerce logic, joined by APIs — one engine can serve web, app, kiosk, voice or AI-agent fronts. Example: a Shopify back end powering a custom app.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738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Omnichannel / channel mix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Deliberate allocation of assortment, marketing and fulfilment across channels, managed as one integrated customer experience rather than competing silos. Example: buy online, pick up in store.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foot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oot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7" name="foot-right"/>
          <p:cNvSpPr txBox="1"/>
          <p:nvPr/>
        </p:nvSpPr>
        <p:spPr>
          <a:xfrm>
            <a:off x="5969000" y="6527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1 · Session B · Topic 1</a:t>
            </a:r>
            <a:endParaRPr lang="en-US" sz="950" noProof="1"/>
          </a:p>
        </p:txBody>
      </p:sp>
      <p:sp>
        <p:nvSpPr>
          <p:cNvPr id="8" name="foot-pagenum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25</a:t>
            </a:r>
            <a:endParaRPr lang="en-US" sz="9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BC4B26"/>
                </a:solidFill>
                <a:latin typeface="Quattrocento Sans"/>
                <a:ea typeface="Quattrocento Sans"/>
              </a:rPr>
              <a:t>TOPIC 1 · THEORY · ROGERS, 1962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Diffusion of Innovation: adoption is a bell curve, growth an S</a:t>
            </a:r>
            <a:endParaRPr lang="en-US" sz="2600" noProof="1"/>
          </a:p>
        </p:txBody>
      </p:sp>
      <p:graphicFrame>
        <p:nvGraphicFramePr>
          <p:cNvPr id="4" name="rogers-chart"/>
          <p:cNvGraphicFramePr/>
          <p:nvPr/>
        </p:nvGraphicFramePr>
        <p:xfrm>
          <a:off x="711200" y="1473200"/>
          <a:ext cx="5969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author-head"/>
          <p:cNvSpPr txBox="1"/>
          <p:nvPr/>
        </p:nvSpPr>
        <p:spPr>
          <a:xfrm>
            <a:off x="7188200" y="1473200"/>
            <a:ext cx="429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175E54"/>
                </a:solidFill>
                <a:latin typeface="Quattrocento Sans"/>
                <a:ea typeface="Quattrocento Sans"/>
              </a:rPr>
              <a:t>The theory in one paragraph</a:t>
            </a:r>
            <a:endParaRPr lang="en-US" sz="1350" noProof="1"/>
          </a:p>
        </p:txBody>
      </p:sp>
      <p:sp>
        <p:nvSpPr>
          <p:cNvPr id="6" name="author-body"/>
          <p:cNvSpPr txBox="1"/>
          <p:nvPr/>
        </p:nvSpPr>
        <p:spPr>
          <a:xfrm>
            <a:off x="7188200" y="1803400"/>
            <a:ext cx="42926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Everett M. Rogers, </a:t>
            </a:r>
            <a:r>
              <a:rPr lang="en-US" sz="1200" i="1" noProof="1">
                <a:solidFill>
                  <a:srgbClr val="23272E"/>
                </a:solidFill>
                <a:latin typeface="Quattrocento Sans"/>
                <a:ea typeface="Quattrocento Sans"/>
              </a:rPr>
              <a:t>Diffusion of Innovations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(1962; 5th ed. 2003), synthesised 500+ diffusion studies. Any population adopts a new technology in a predictable order — innovators (2.5%) → early adopters (13.5%) → early majority (34%) → late majority (34%) → laggards (16%) — so cumulative adoption always traces an S-curve.</a:t>
            </a:r>
            <a:endParaRPr lang="en-US" sz="1200" noProof="1"/>
          </a:p>
        </p:txBody>
      </p:sp>
      <p:sp>
        <p:nvSpPr>
          <p:cNvPr id="7" name="attr-head"/>
          <p:cNvSpPr txBox="1"/>
          <p:nvPr/>
        </p:nvSpPr>
        <p:spPr>
          <a:xfrm>
            <a:off x="7188200" y="3606800"/>
            <a:ext cx="4292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 noProof="1">
                <a:solidFill>
                  <a:srgbClr val="175E54"/>
                </a:solidFill>
                <a:latin typeface="Quattrocento Sans"/>
                <a:ea typeface="Quattrocento Sans"/>
              </a:rPr>
              <a:t>Five attributes set the speed</a:t>
            </a:r>
            <a:endParaRPr lang="en-US" sz="1350" noProof="1"/>
          </a:p>
        </p:txBody>
      </p:sp>
      <p:sp>
        <p:nvSpPr>
          <p:cNvPr id="8" name="attr-body"/>
          <p:cNvSpPr txBox="1"/>
          <p:nvPr/>
        </p:nvSpPr>
        <p:spPr>
          <a:xfrm>
            <a:off x="7188200" y="3911600"/>
            <a:ext cx="4292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Relative advantage · compatibility · complexity (reversed) · trialability · observability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200" b="1" noProof="1">
                <a:solidFill>
                  <a:srgbClr val="23272E"/>
                </a:solidFill>
                <a:latin typeface="Quattrocento Sans"/>
                <a:ea typeface="Quattrocento Sans"/>
              </a:rPr>
              <a:t>Chasm (Moore, 1991):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many technologies stall between early adopters and the early majority</a:t>
            </a:r>
            <a:endParaRPr lang="en-US" sz="1200" noProof="1"/>
          </a:p>
        </p:txBody>
      </p:sp>
      <p:sp>
        <p:nvSpPr>
          <p:cNvPr id="9" name="src-line"/>
          <p:cNvSpPr txBox="1"/>
          <p:nvPr/>
        </p:nvSpPr>
        <p:spPr>
          <a:xfrm>
            <a:off x="711200" y="57404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Rogers, E. M., </a:t>
            </a:r>
            <a:r>
              <a:rPr lang="en-US" sz="1000" i="1" noProof="1">
                <a:solidFill>
                  <a:srgbClr val="9A9284"/>
                </a:solidFill>
                <a:latin typeface="Quattrocento Sans"/>
                <a:ea typeface="Quattrocento Sans"/>
              </a:rPr>
              <a:t>Diffusion of Innovations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, 1962/2003 (Free Press) — adopter shares are the book's canonical figures; Moore, G., </a:t>
            </a:r>
            <a:r>
              <a:rPr lang="en-US" sz="1000" i="1" noProof="1">
                <a:solidFill>
                  <a:srgbClr val="9A9284"/>
                </a:solidFill>
                <a:latin typeface="Quattrocento Sans"/>
                <a:ea typeface="Quattrocento Sans"/>
              </a:rPr>
              <a:t>Crossing the Chasm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, 1991.</a:t>
            </a:r>
            <a:endParaRPr lang="en-US" sz="1000" noProof="1"/>
          </a:p>
        </p:txBody>
      </p:sp>
      <p:sp>
        <p:nvSpPr>
          <p:cNvPr id="10" name="foot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oot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2" name="foot-right"/>
          <p:cNvSpPr txBox="1"/>
          <p:nvPr/>
        </p:nvSpPr>
        <p:spPr>
          <a:xfrm>
            <a:off x="5969000" y="6527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1 · Session B · Topic 1</a:t>
            </a:r>
            <a:endParaRPr lang="en-US" sz="950" noProof="1"/>
          </a:p>
        </p:txBody>
      </p:sp>
      <p:sp>
        <p:nvSpPr>
          <p:cNvPr id="13" name="foot-pagenum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26</a:t>
            </a:r>
            <a:endParaRPr lang="en-US" sz="9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BC4B26"/>
                </a:solidFill>
                <a:latin typeface="Quattrocento Sans"/>
                <a:ea typeface="Quattrocento Sans"/>
              </a:rPr>
              <a:t>TOPIC 1 · COMPANY EXAMPLE · AMAZON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Amazon: the only company that has crossed all five eras</a:t>
            </a:r>
            <a:endParaRPr lang="en-US" sz="2600" noProof="1"/>
          </a:p>
        </p:txBody>
      </p:sp>
      <p:sp>
        <p:nvSpPr>
          <p:cNvPr id="4" name="tl-head"/>
          <p:cNvSpPr txBox="1"/>
          <p:nvPr/>
        </p:nvSpPr>
        <p:spPr>
          <a:xfrm>
            <a:off x="711200" y="14224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5E54"/>
                </a:solidFill>
                <a:latin typeface="Quattrocento Sans"/>
                <a:ea typeface="Quattrocento Sans"/>
              </a:rPr>
              <a:t>Thirty years of layering</a:t>
            </a:r>
            <a:endParaRPr lang="en-US" sz="1300" noProof="1"/>
          </a:p>
        </p:txBody>
      </p:sp>
      <p:sp>
        <p:nvSpPr>
          <p:cNvPr id="5" name="tl-body"/>
          <p:cNvSpPr txBox="1"/>
          <p:nvPr/>
        </p:nvSpPr>
        <p:spPr>
          <a:xfrm>
            <a:off x="711200" y="1752600"/>
            <a:ext cx="6096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1994–95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Founded; opens as "Earth's Biggest Bookstore" (era 2 pioneer)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2000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Marketplace opens — catalogue + platform in one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2005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Prime ($79/yr) rewires shipping expectations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2006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AWS — infrastructure becomes a product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2014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Echo announced — voice hardware bet (era 4)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2024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Rufus launches (Feb beta, Sept full US) — era 5 from inside the incumbent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23272E"/>
                </a:solidFill>
                <a:latin typeface="Quattrocento Sans"/>
                <a:ea typeface="Quattrocento Sans"/>
              </a:rPr>
              <a:t>2025–26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· "Buy for me" agent pilots; AI review highlights</a:t>
            </a:r>
            <a:endParaRPr lang="en-US" sz="1250" noProof="1"/>
          </a:p>
        </p:txBody>
      </p:sp>
      <p:sp>
        <p:nvSpPr>
          <p:cNvPr id="6" name="num1-big"/>
          <p:cNvSpPr txBox="1"/>
          <p:nvPr/>
        </p:nvSpPr>
        <p:spPr>
          <a:xfrm>
            <a:off x="7620000" y="1473200"/>
            <a:ext cx="3860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noProof="1">
                <a:solidFill>
                  <a:srgbClr val="BC4B26"/>
                </a:solidFill>
                <a:latin typeface="Unna"/>
                <a:ea typeface="Unna"/>
              </a:rPr>
              <a:t>~37.6%</a:t>
            </a:r>
            <a:endParaRPr lang="en-US" sz="3800" noProof="1"/>
          </a:p>
        </p:txBody>
      </p:sp>
      <p:sp>
        <p:nvSpPr>
          <p:cNvPr id="7" name="num1-label"/>
          <p:cNvSpPr txBox="1"/>
          <p:nvPr/>
        </p:nvSpPr>
        <p:spPr>
          <a:xfrm>
            <a:off x="7620000" y="2082800"/>
            <a:ext cx="3860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the US e-commerce market — 6× the share of #2 Walmart</a:t>
            </a:r>
            <a:endParaRPr lang="en-US" sz="1200" noProof="1"/>
          </a:p>
        </p:txBody>
      </p:sp>
      <p:sp>
        <p:nvSpPr>
          <p:cNvPr id="8" name="num2-big"/>
          <p:cNvSpPr txBox="1"/>
          <p:nvPr/>
        </p:nvSpPr>
        <p:spPr>
          <a:xfrm>
            <a:off x="7620000" y="2844800"/>
            <a:ext cx="3860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noProof="1">
                <a:solidFill>
                  <a:srgbClr val="BC4B26"/>
                </a:solidFill>
                <a:latin typeface="Unna"/>
                <a:ea typeface="Unna"/>
              </a:rPr>
              <a:t>~250M</a:t>
            </a:r>
            <a:endParaRPr lang="en-US" sz="3800" noProof="1"/>
          </a:p>
        </p:txBody>
      </p:sp>
      <p:sp>
        <p:nvSpPr>
          <p:cNvPr id="9" name="num2-label"/>
          <p:cNvSpPr txBox="1"/>
          <p:nvPr/>
        </p:nvSpPr>
        <p:spPr>
          <a:xfrm>
            <a:off x="7620000" y="3454400"/>
            <a:ext cx="3860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Rufus users and ~14% of Amazon searches by late 2025 (company commentary + analyst estimate — directional)</a:t>
            </a:r>
            <a:endParaRPr lang="en-US" sz="1200" noProof="1"/>
          </a:p>
        </p:txBody>
      </p:sp>
      <p:sp>
        <p:nvSpPr>
          <p:cNvPr id="10" name="lesson-rule"/>
          <p:cNvSpPr/>
          <p:nvPr/>
        </p:nvSpPr>
        <p:spPr>
          <a:xfrm>
            <a:off x="711200" y="51054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lesson"/>
          <p:cNvSpPr txBox="1"/>
          <p:nvPr/>
        </p:nvSpPr>
        <p:spPr>
          <a:xfrm>
            <a:off x="711200" y="52832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b="1" noProof="1">
                <a:solidFill>
                  <a:srgbClr val="23272E"/>
                </a:solidFill>
                <a:latin typeface="Quattrocento Sans"/>
                <a:ea typeface="Quattrocento Sans"/>
              </a:rPr>
              <a:t>Why it matters: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Amazon shows the continuum's layering logic inside one firm — each new era was added on top of the last, funded by the previous era's profits and data. First-mover advantage plus relentless infrastructure investment is the hardest combination to catch.</a:t>
            </a:r>
            <a:endParaRPr lang="en-US" sz="1300" noProof="1"/>
          </a:p>
        </p:txBody>
      </p:sp>
      <p:sp>
        <p:nvSpPr>
          <p:cNvPr id="12" name="src-line"/>
          <p:cNvSpPr txBox="1"/>
          <p:nvPr/>
        </p:nvSpPr>
        <p:spPr>
          <a:xfrm>
            <a:off x="711200" y="60198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Statista via SellersCommerce, 2025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(US share); </a:t>
            </a:r>
            <a:r>
              <a:rPr lang="en-US" sz="1000" u="sng" noProof="1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Amazon earnings via Jarvio, 2025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(Rufus); timeline per research brief §1.5/§1.8.</a:t>
            </a:r>
            <a:endParaRPr lang="en-US" sz="1000" noProof="1"/>
          </a:p>
        </p:txBody>
      </p:sp>
      <p:sp>
        <p:nvSpPr>
          <p:cNvPr id="13" name="foot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oot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5" name="foot-right"/>
          <p:cNvSpPr txBox="1"/>
          <p:nvPr/>
        </p:nvSpPr>
        <p:spPr>
          <a:xfrm>
            <a:off x="5969000" y="6527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1 · Session B · Topic 1</a:t>
            </a:r>
            <a:endParaRPr lang="en-US" sz="950" noProof="1"/>
          </a:p>
        </p:txBody>
      </p:sp>
      <p:sp>
        <p:nvSpPr>
          <p:cNvPr id="16" name="foot-pagenum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34</a:t>
            </a:r>
            <a:endParaRPr lang="en-US" sz="9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2721</Words>
  <Application>Microsoft Macintosh PowerPoint</Application>
  <PresentationFormat>Widescreen</PresentationFormat>
  <Paragraphs>275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Quattrocento Sans</vt:lpstr>
      <vt:lpstr>Unna</vt:lpstr>
      <vt:lpstr>Aptos</vt:lpstr>
      <vt:lpstr>MiSans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Commerce — A Physics Lens on Marketing</dc:title>
  <cp:lastModifiedBy>Nikhil Soi</cp:lastModifiedBy>
  <cp:revision>9</cp:revision>
  <dcterms:modified xsi:type="dcterms:W3CDTF">2026-09-16T10:03:47Z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