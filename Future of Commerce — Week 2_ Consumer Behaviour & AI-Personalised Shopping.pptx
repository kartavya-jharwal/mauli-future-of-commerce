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charts/chart15_1.xml" ContentType="application/vnd.openxmlformats-officedocument.drawingml.chart+xml"/>
  <Override PartName="/ppt/charts/chart17_1.xml" ContentType="application/vnd.openxmlformats-officedocument.drawingml.chart+xml"/>
  <Override PartName="/ppt/charts/chart33_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 type="custom"/>
  <p:notesSz cx="12192000" cy="6858000"/>
  <p:embeddedFontLst>
    <p:embeddedFont>
      <p:font typeface="Quattrocento Sans" charset="-122" pitchFamily="34"/>
      <p:regular r:id="rId47"/>
    </p:embeddedFont>
    <p:embeddedFont>
      <p:font typeface="Unna" charset="-122" pitchFamily="34"/>
      <p:regular r:id="rId4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/Relationships>
</file>

<file path=ppt/charts/chart15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 sz="1100" noProof="1"/>
              <a:t>Iyengar &amp; Lepper jam study, 2000 (% of shoppers)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Stopped to taste (%)</c:v>
          </c:tx>
          <c:spPr>
            <a:solidFill>
              <a:srgbClr val="175E54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2"/>
              <c:pt idx="0">
                <c:v>24-jam display</c:v>
              </c:pt>
              <c:pt idx="1">
                <c:v>6-jam display</c:v>
              </c:pt>
            </c:strLit>
          </c:cat>
          <c:val>
            <c:numLit>
              <c:formatCode>General</c:formatCode>
              <c:ptCount val="2"/>
              <c:pt idx="0">
                <c:v>60</c:v>
              </c:pt>
              <c:pt idx="1">
                <c:v>40</c:v>
              </c:pt>
            </c:numLit>
          </c:val>
        </c:ser>
        <c:ser>
          <c:idx val="1"/>
          <c:order val="1"/>
          <c:tx>
            <c:v>Actually bought (%)</c:v>
          </c:tx>
          <c:spPr>
            <a:solidFill>
              <a:srgbClr val="BC4B26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2"/>
              <c:pt idx="0">
                <c:v>24-jam display</c:v>
              </c:pt>
              <c:pt idx="1">
                <c:v>6-jam display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30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noProof="1" b="0" i="0" u="none" strike="noStrike">
                <a:latin typeface="Quattrocento 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70"/>
          <c:min val="0"/>
        </c:scaling>
        <c:delete val="0"/>
        <c:axPos val="l"/>
        <c:majorGridlines>
          <c:spPr>
            <a:ln w="12700">
              <a:solidFill>
                <a:srgbClr val="D9D2C4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latin typeface="Quattrocento 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100" noProof="1" b="0" i="0" u="none" strike="noStrike">
              <a:latin typeface="Quattrocento Sans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Quattrocento Sans"/>
        </a:defRPr>
      </a:pPr>
      <a:endParaRPr lang="en-US" noProof="1"/>
    </a:p>
  </c:txPr>
</c:chartSpace>
</file>

<file path=ppt/charts/chart17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 sz="1100" noProof="1"/>
              <a:t>Smartphone-driven shopping behaviours (%)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% of smartphone users / mobile visits</c:v>
          </c:tx>
          <c:spPr>
            <a:solidFill>
              <a:srgbClr val="175E54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4"/>
              <c:pt idx="0">
                <c:v>Look up information mid-task</c:v>
              </c:pt>
              <c:pt idx="1">
                <c:v>Consult phone in-store while deciding</c:v>
              </c:pt>
              <c:pt idx="2">
                <c:v>Say message quality/timing shapes brand perception</c:v>
              </c:pt>
              <c:pt idx="3">
                <c:v>Abandon a mobile visit if load &gt; 3 s</c:v>
              </c:pt>
            </c:strLit>
          </c:cat>
          <c:val>
            <c:numLit>
              <c:formatCode>General</c:formatCode>
              <c:ptCount val="4"/>
              <c:pt idx="0">
                <c:v>91</c:v>
              </c:pt>
              <c:pt idx="1">
                <c:v>82</c:v>
              </c:pt>
              <c:pt idx="2">
                <c:v>69</c:v>
              </c:pt>
              <c:pt idx="3">
                <c:v>53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50" noProof="1" b="0" i="0" u="none" strike="noStrike">
                <a:latin typeface="Quattrocento 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l"/>
        <c:majorGridlines>
          <c:spPr>
            <a:ln w="12700">
              <a:solidFill>
                <a:srgbClr val="D9D2C4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latin typeface="Quattrocento 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1050" noProof="1" b="0" i="0" u="none" strike="noStrike">
              <a:latin typeface="Quattrocento Sans"/>
            </a:defRPr>
          </a:pPr>
          <a:endParaRPr lang="en-US" noProof="1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Quattrocento Sans"/>
        </a:defRPr>
      </a:pPr>
      <a:endParaRPr lang="en-US" noProof="1"/>
    </a:p>
  </c:txPr>
</c:chartSpace>
</file>

<file path=ppt/charts/chart33_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 sz="1100" noProof="1"/>
              <a:t>Consumer expectations of personalisation (%, McKinsey 2021)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% of consumers</c:v>
          </c:tx>
          <c:spPr>
            <a:solidFill>
              <a:srgbClr val="175E54"/>
            </a:solidFill>
          </c:spPr>
          <c:dLbls>
            <c:txPr>
              <a:bodyPr/>
              <a:lstStyle/>
              <a:p>
                <a:pPr>
                  <a:defRPr sz="1100" noProof="1" b="0" i="0" u="none" strike="noStrike">
                    <a:latin typeface="Arial"/>
                  </a:defRPr>
                </a:pPr>
                <a:endParaRPr lang="en-US" noProof="1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Lit>
              <c:ptCount val="3"/>
              <c:pt idx="0">
                <c:v>Expect personalised interactions</c:v>
              </c:pt>
              <c:pt idx="1">
                <c:v>Frustrated when they don't get them</c:v>
              </c:pt>
              <c:pt idx="2">
                <c:v>More likely to repurchase after personalised communication</c:v>
              </c:pt>
            </c:strLit>
          </c:cat>
          <c:val>
            <c:numLit>
              <c:formatCode>General</c:formatCode>
              <c:ptCount val="3"/>
              <c:pt idx="0">
                <c:v>71</c:v>
              </c:pt>
              <c:pt idx="1">
                <c:v>76</c:v>
              </c:pt>
              <c:pt idx="2">
                <c:v>78</c:v>
              </c:pt>
            </c:numLit>
          </c:val>
        </c:ser>
        <c:gapWidth val="56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50" noProof="1" b="0" i="0" u="none" strike="noStrike">
                <a:latin typeface="Quattrocento Sans"/>
              </a:defRPr>
            </a:pPr>
            <a:endParaRPr lang="en-US" noProof="1"/>
          </a:p>
        </c:txPr>
        <c:crossAx val="2"/>
        <c:crosses val="autoZero"/>
        <c:auto val="1"/>
        <c:lblAlgn val="ctr"/>
        <c:noMultiLvlLbl val="1"/>
      </c:catAx>
      <c:valAx>
        <c:axId val="2"/>
        <c:scaling>
          <c:orientation val="minMax"/>
          <c:max val="100"/>
          <c:min val="0"/>
        </c:scaling>
        <c:delete val="0"/>
        <c:axPos val="l"/>
        <c:majorGridlines>
          <c:spPr>
            <a:ln w="12700">
              <a:solidFill>
                <a:srgbClr val="D9D2C4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000" noProof="1" b="0" i="0" u="none" strike="noStrike">
                <a:latin typeface="Quattrocento Sans"/>
              </a:defRPr>
            </a:pPr>
            <a:endParaRPr lang="en-US" noProof="1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noProof="1" b="0" i="0" u="none" strike="noStrike">
          <a:latin typeface="Quattrocento Sans"/>
        </a:defRPr>
      </a:pPr>
      <a:endParaRPr lang="en-US" noProof="1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thinkwithgoogle.com/marketing-strategies/micro-moments/" TargetMode="Externa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ckinsey.com/capabilities/growth-marketing-and-sales/our-insights/the-consumer-decision-journey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ckinsey.com/capabilities/growth-marketing-and-sales/our-insights/the-consumer-decision-journey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thinkwithgoogle.com/marketing-strategies/micro-moments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thinkwithgoogle.com/marketing-strategies/micro-moments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ixelpanda.ai/statistics/online-shopping-statistics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_1.xml"/><Relationship Id="rId3" Type="http://schemas.openxmlformats.org/officeDocument/2006/relationships/hyperlink" Target="https://get-alfred.ai/blog/paradox-of-choice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_1.xml"/><Relationship Id="rId3" Type="http://schemas.openxmlformats.org/officeDocument/2006/relationships/hyperlink" Target="https://www.thinkwithgoogle.com/marketing-strategies/micro-moments/" TargetMode="External"/><Relationship Id="rId4" Type="http://schemas.openxmlformats.org/officeDocument/2006/relationships/hyperlink" Target="https://pixelpanda.ai/statistics/online-shopping-statistics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amraandelma.com/google-analytics-4-adoption-stats/" TargetMode="External"/><Relationship Id="rId3" Type="http://schemas.openxmlformats.org/officeDocument/2006/relationships/hyperlink" Target="https://www.hotjar.com/product/heatmaps/" TargetMode="External"/><Relationship Id="rId4" Type="http://schemas.openxmlformats.org/officeDocument/2006/relationships/hyperlink" Target="https://www.prnewswire.com/news-releases/customer-data-platform-market-worth-14-04-billion-by-2031--report-by-marketsandmarkets-302848109.html" TargetMode="External"/><Relationship Id="rId5" Type="http://schemas.openxmlformats.org/officeDocument/2006/relationships/hyperlink" Target="https://cdp.com/basics/cdp-industry-statistics/" TargetMode="Externa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ewamerica.org/insights/why-am-i-seeing-this/case-study-amazon/" TargetMode="Externa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rxiv.org/pdf/1710.08217" TargetMode="External"/><Relationship Id="rId3" Type="http://schemas.openxmlformats.org/officeDocument/2006/relationships/hyperlink" Target="https://vwo.com/blog/cro-best-practices-booking/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alesforce.com/news/stories/consumer-shopping-ai-trends-2025/" TargetMode="External"/><Relationship Id="rId3" Type="http://schemas.openxmlformats.org/officeDocument/2006/relationships/hyperlink" Target="https://www.mckinsey.com/capabilities/growth-marketing-and-sales/our-insights/the-value-of-getting-personalization-right-or-wrong-is-multiplied" TargetMode="Externa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3_1.xml"/><Relationship Id="rId3" Type="http://schemas.openxmlformats.org/officeDocument/2006/relationships/hyperlink" Target="https://www.mckinsey.com/capabilities/growth-marketing-and-sales/our-insights/the-value-of-getting-personalization-right-or-wrong-is-multiplied" TargetMode="Externa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ckinsey.com/capabilities/growth-marketing-and-sales/our-insights/the-value-of-getting-personalization-right-or-wrong-is-multiplied" TargetMode="Externa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jarvio.io/blog/amazon-rufus-ai-search" TargetMode="External"/><Relationship Id="rId3" Type="http://schemas.openxmlformats.org/officeDocument/2006/relationships/hyperlink" Target="https://www.azoma.ai/insights/what-percentage-of-amazon-shoppers-use-rufus-2026" TargetMode="External"/><Relationship Id="rId4" Type="http://schemas.openxmlformats.org/officeDocument/2006/relationships/hyperlink" Target="https://almcorp.com/blog/what-is-chatgpt-shopping-detailed-chatgpt-shopping-guide-ai-powered-shopping/" TargetMode="External"/><Relationship Id="rId5" Type="http://schemas.openxmlformats.org/officeDocument/2006/relationships/hyperlink" Target="https://www.darkroomagency.com/observatory/how-chatgpt-shopping-transforms-online-purchasing" TargetMode="External"/><Relationship Id="rId6" Type="http://schemas.openxmlformats.org/officeDocument/2006/relationships/hyperlink" Target="https://ai-showreel.com/en/cas/perplexity-buy-with-pro-2024.html" TargetMode="Externa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newamerica.org/insights/why-am-i-seeing-this/case-study-amazon/" TargetMode="External"/><Relationship Id="rId3" Type="http://schemas.openxmlformats.org/officeDocument/2006/relationships/hyperlink" Target="https://archive.news.ufl.edu/articles/2018/09/how-helpful-are-product-recommendations-really.html" TargetMode="External"/><Relationship Id="rId4" Type="http://schemas.openxmlformats.org/officeDocument/2006/relationships/hyperlink" Target="https://jarvio.io/blog/amazon-rufus-ai-search" TargetMode="Externa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i-showreel.com/en/cas/netflix-reco-personnalisee-2015.html" TargetMode="External"/><Relationship Id="rId3" Type="http://schemas.openxmlformats.org/officeDocument/2006/relationships/hyperlink" Target="https://litslink.com/blog/all-about-netflix-artificial-intelligence-the-truth-behind-personalized-content" TargetMode="External"/><Relationship Id="rId4" Type="http://schemas.openxmlformats.org/officeDocument/2006/relationships/hyperlink" Target="https://marketingino.com/the-netflix-recommendation-algorithm-how-personalization-drives-80-of-viewer-engagement/" TargetMode="Externa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newsroom.stitchfix.com/blog/the-predictive-power-of-stitch-fix-data/" TargetMode="External"/><Relationship Id="rId3" Type="http://schemas.openxmlformats.org/officeDocument/2006/relationships/hyperlink" Target="https://www.goodwatercap.com/insights/thesis/understanding-stitch-fix/" TargetMode="Externa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digitalcommerce360.com/2026/06/17/adobe-ai-referred-traffic-to-retail-sites-doubles-in-a-year/" TargetMode="External"/><Relationship Id="rId3" Type="http://schemas.openxmlformats.org/officeDocument/2006/relationships/hyperlink" Target="https://www.marketscale.com/industries/retail/zero-click-commerce-ai-agents-set-to-intermediate-15-trillion-in-b2b-purchases-by-2028" TargetMode="External"/><Relationship Id="rId4" Type="http://schemas.openxmlformats.org/officeDocument/2006/relationships/hyperlink" Target="https://www.fwdslash.ai/blog/ai-agent-statistics" TargetMode="Externa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ckinsey.com/capabilities/growth-marketing-and-sales/our-insights/the-consumer-decision-journey" TargetMode="External"/><Relationship Id="rId3" Type="http://schemas.openxmlformats.org/officeDocument/2006/relationships/hyperlink" Target="https://www.thinkwithgoogle.com/marketing-strategies/micro-moments/" TargetMode="External"/><Relationship Id="rId4" Type="http://schemas.openxmlformats.org/officeDocument/2006/relationships/hyperlink" Target="https://get-alfred.ai/blog/paradox-of-choice" TargetMode="External"/><Relationship Id="rId5" Type="http://schemas.openxmlformats.org/officeDocument/2006/relationships/hyperlink" Target="https://ai-showreel.com/en/cas/netflix-reco-personnalisee-2015.html" TargetMode="External"/><Relationship Id="rId6" Type="http://schemas.openxmlformats.org/officeDocument/2006/relationships/hyperlink" Target="https://www.newamerica.org/insights/why-am-i-seeing-this/case-study-amazon/" TargetMode="External"/><Relationship Id="rId7" Type="http://schemas.openxmlformats.org/officeDocument/2006/relationships/hyperlink" Target="https://archive.news.ufl.edu/articles/2018/09/how-helpful-are-product-recommendations-really.html" TargetMode="External"/><Relationship Id="rId8" Type="http://schemas.openxmlformats.org/officeDocument/2006/relationships/hyperlink" Target="https://arxiv.org/pdf/1710.08217" TargetMode="External"/><Relationship Id="rId9" Type="http://schemas.openxmlformats.org/officeDocument/2006/relationships/hyperlink" Target="https://vwo.com/blog/cro-best-practices-booking/" TargetMode="External"/><Relationship Id="rId10" Type="http://schemas.openxmlformats.org/officeDocument/2006/relationships/hyperlink" Target="https://newsroom.stitchfix.com/blog/the-predictive-power-of-stitch-fix-data/" TargetMode="External"/><Relationship Id="rId11" Type="http://schemas.openxmlformats.org/officeDocument/2006/relationships/hyperlink" Target="https://www.goodwatercap.com/insights/thesis/understanding-stitch-fix/" TargetMode="External"/><Relationship Id="rId12" Type="http://schemas.openxmlformats.org/officeDocument/2006/relationships/hyperlink" Target="https://litslink.com/blog/all-about-netflix-artificial-intelligence-the-truth-behind-personalized-content" TargetMode="External"/><Relationship Id="rId13" Type="http://schemas.openxmlformats.org/officeDocument/2006/relationships/hyperlink" Target="https://marketingino.com/the-netflix-recommendation-algorithm-how-personalization-drives-80-of-viewer-engagement/" TargetMode="External"/><Relationship Id="rId14" Type="http://schemas.openxmlformats.org/officeDocument/2006/relationships/hyperlink" Target="https://www.mckinsey.com/capabilities/growth-marketing-and-sales/our-insights/the-value-of-getting-personalization-right-or-wrong-is-multiplied" TargetMode="External"/><Relationship Id="rId15" Type="http://schemas.openxmlformats.org/officeDocument/2006/relationships/hyperlink" Target="https://www.salesforce.com/news/stories/consumer-shopping-ai-trends-2025/" TargetMode="External"/><Relationship Id="rId16" Type="http://schemas.openxmlformats.org/officeDocument/2006/relationships/hyperlink" Target="https://pixelpanda.ai/statistics/online-shopping-statistics" TargetMode="External"/><Relationship Id="rId17" Type="http://schemas.openxmlformats.org/officeDocument/2006/relationships/hyperlink" Target="https://www.amraandelma.com/google-analytics-4-adoption-stats/" TargetMode="External"/><Relationship Id="rId18" Type="http://schemas.openxmlformats.org/officeDocument/2006/relationships/hyperlink" Target="https://www.hotjar.com/product/heatmaps/" TargetMode="External"/><Relationship Id="rId19" Type="http://schemas.openxmlformats.org/officeDocument/2006/relationships/hyperlink" Target="https://www.prnewswire.com/news-releases/customer-data-platform-market-worth-14-04-billion-by-2031--report-by-marketsandmarkets-302848109.html" TargetMode="External"/><Relationship Id="rId20" Type="http://schemas.openxmlformats.org/officeDocument/2006/relationships/hyperlink" Target="https://cdp.com/basics/cdp-industry-statistics/" TargetMode="External"/><Relationship Id="rId21" Type="http://schemas.openxmlformats.org/officeDocument/2006/relationships/hyperlink" Target="https://www.digitalcommerce360.com/2026/06/17/adobe-ai-referred-traffic-to-retail-sites-doubles-in-a-year/" TargetMode="External"/><Relationship Id="rId22" Type="http://schemas.openxmlformats.org/officeDocument/2006/relationships/hyperlink" Target="https://www.marketscale.com/industries/retail/zero-click-commerce-ai-agents-set-to-intermediate-15-trillion-in-b2b-purchases-by-2028" TargetMode="External"/><Relationship Id="rId23" Type="http://schemas.openxmlformats.org/officeDocument/2006/relationships/hyperlink" Target="https://www.fwdslash.ai/blog/ai-agent-statistics" TargetMode="External"/><Relationship Id="rId24" Type="http://schemas.openxmlformats.org/officeDocument/2006/relationships/hyperlink" Target="https://jarvio.io/blog/amazon-rufus-ai-search" TargetMode="External"/><Relationship Id="rId25" Type="http://schemas.openxmlformats.org/officeDocument/2006/relationships/hyperlink" Target="https://www.azoma.ai/insights/what-percentage-of-amazon-shoppers-use-rufus-2026" TargetMode="External"/><Relationship Id="rId26" Type="http://schemas.openxmlformats.org/officeDocument/2006/relationships/hyperlink" Target="https://almcorp.com/blog/what-is-chatgpt-shopping-detailed-chatgpt-shopping-guide-ai-powered-shopping/" TargetMode="External"/><Relationship Id="rId27" Type="http://schemas.openxmlformats.org/officeDocument/2006/relationships/hyperlink" Target="https://www.darkroomagency.com/observatory/how-chatgpt-shopping-transforms-online-purchasing" TargetMode="External"/><Relationship Id="rId28" Type="http://schemas.openxmlformats.org/officeDocument/2006/relationships/hyperlink" Target="https://ai-showreel.com/en/cas/perplexity-buy-with-pro-2024.html" TargetMode="Externa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img"/>
          <p:cNvPicPr/>
          <p:nvPr/>
        </p:nvPicPr>
        <p:blipFill>
          <a:blip r:embed="rId2"/>
          <a:srcRect l="24792" r="24792"/>
          <a:stretch>
            <a:fillRect/>
          </a:stretch>
        </p:blipFill>
        <p:spPr>
          <a:xfrm>
            <a:off x="6045200" y="0"/>
            <a:ext cx="6146800" cy="6858000"/>
          </a:xfrm>
          <a:prstGeom prst="rect">
            <a:avLst/>
          </a:prstGeom>
          <a:ln>
            <a:noFill/>
          </a:ln>
        </p:spPr>
      </p:pic>
      <p:sp>
        <p:nvSpPr>
          <p:cNvPr id="3" name="cover-week"/>
          <p:cNvSpPr txBox="1"/>
          <p:nvPr/>
        </p:nvSpPr>
        <p:spPr>
          <a:xfrm>
            <a:off x="711200" y="1092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 spc="400" kern="0">
                <a:solidFill>
                  <a:srgbClr val="C09A3E"/>
                </a:solidFill>
                <a:latin typeface="Quattrocento Sans"/>
                <a:ea typeface="Quattrocento Sans"/>
              </a:rPr>
              <a:t>WEEK 2</a:t>
            </a:r>
            <a:endParaRPr lang="en-US" sz="1300" noProof="1"/>
          </a:p>
        </p:txBody>
      </p:sp>
      <p:sp>
        <p:nvSpPr>
          <p:cNvPr id="4" name="cover-kicker"/>
          <p:cNvSpPr txBox="1"/>
          <p:nvPr/>
        </p:nvSpPr>
        <p:spPr>
          <a:xfrm>
            <a:off x="711200" y="1397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F6E7DE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1200" noProof="1"/>
          </a:p>
        </p:txBody>
      </p:sp>
      <p:sp>
        <p:nvSpPr>
          <p:cNvPr id="5" name="cover-title"/>
          <p:cNvSpPr txBox="1"/>
          <p:nvPr/>
        </p:nvSpPr>
        <p:spPr>
          <a:xfrm>
            <a:off x="711200" y="1778000"/>
            <a:ext cx="508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2000"/>
              </a:lnSpc>
            </a:pPr>
            <a:r>
              <a:rPr lang="en-US" sz="4200" noProof="1">
                <a:solidFill>
                  <a:srgbClr val="FFFFFF"/>
                </a:solidFill>
                <a:latin typeface="Unna"/>
                <a:ea typeface="Unna"/>
              </a:rPr>
              <a:t>Inside the Digital Consumer's Mind</a:t>
            </a:r>
            <a:endParaRPr lang="en-US" sz="4200" noProof="1"/>
          </a:p>
        </p:txBody>
      </p:sp>
      <p:sp>
        <p:nvSpPr>
          <p:cNvPr id="6" name="cover-rule"/>
          <p:cNvSpPr/>
          <p:nvPr/>
        </p:nvSpPr>
        <p:spPr>
          <a:xfrm>
            <a:off x="711200" y="4089400"/>
            <a:ext cx="4318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</p:sp>
      <p:sp>
        <p:nvSpPr>
          <p:cNvPr id="7" name="cover-sessions"/>
          <p:cNvSpPr txBox="1"/>
          <p:nvPr/>
        </p:nvSpPr>
        <p:spPr>
          <a:xfrm>
            <a:off x="711200" y="431800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50" noProof="1" b="1">
                <a:solidFill>
                  <a:srgbClr val="F6E7DE"/>
                </a:solidFill>
                <a:latin typeface="Quattrocento Sans"/>
                <a:ea typeface="Quattrocento Sans"/>
              </a:rPr>
              <a:t>Session A · Topic 2</a:t>
            </a:r>
            <a:endParaRPr lang="en-US" sz="1350" noProof="1"/>
          </a:p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F6E7DE"/>
                </a:solidFill>
                <a:latin typeface="Quattrocento Sans"/>
                <a:ea typeface="Quattrocento Sans"/>
              </a:rPr>
              <a:t>Consumer Behaviour in the Digital Age</a:t>
            </a:r>
            <a:endParaRPr lang="en-US" sz="13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350" noProof="1" b="1">
                <a:solidFill>
                  <a:srgbClr val="F6E7DE"/>
                </a:solidFill>
                <a:latin typeface="Quattrocento Sans"/>
                <a:ea typeface="Quattrocento Sans"/>
              </a:rPr>
              <a:t>Session B · Topic 3</a:t>
            </a:r>
            <a:endParaRPr lang="en-US" sz="1350" noProof="1"/>
          </a:p>
          <a:p>
            <a:pPr>
              <a:lnSpc>
                <a:spcPct val="150000"/>
              </a:lnSpc>
            </a:pPr>
            <a:r>
              <a:rPr lang="en-US" sz="1350" noProof="1">
                <a:solidFill>
                  <a:srgbClr val="F6E7DE"/>
                </a:solidFill>
                <a:latin typeface="Quattrocento Sans"/>
                <a:ea typeface="Quattrocento Sans"/>
              </a:rPr>
              <a:t>AI in Personalised Shopping — an introduction</a:t>
            </a:r>
            <a:endParaRPr lang="en-US" sz="1350" noProof="1"/>
          </a:p>
        </p:txBody>
      </p:sp>
      <p:sp>
        <p:nvSpPr>
          <p:cNvPr id="8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9" name="footer-right"/>
          <p:cNvSpPr txBox="1"/>
          <p:nvPr/>
        </p:nvSpPr>
        <p:spPr>
          <a:xfrm>
            <a:off x="1778000" y="6527800"/>
            <a:ext cx="3759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Week 2 · Topics 2–3</a:t>
            </a:r>
            <a:endParaRPr lang="en-US" sz="950" noProof="1"/>
          </a:p>
        </p:txBody>
      </p:sp>
      <p:sp>
        <p:nvSpPr>
          <p:cNvPr id="10" name="footer-page"/>
          <p:cNvSpPr txBox="1"/>
          <p:nvPr/>
        </p:nvSpPr>
        <p:spPr>
          <a:xfrm>
            <a:off x="5588000" y="65278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01</a:t>
            </a:r>
            <a:endParaRPr lang="en-US" sz="9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v-img"/>
          <p:cNvPicPr/>
          <p:nvPr/>
        </p:nvPicPr>
        <p:blipFill>
          <a:blip r:embed="rId2">
            <a:alphaModFix amt="50000"/>
          </a:blip>
          <a:srcRect l="37292" r="37292"/>
          <a:stretch>
            <a:fillRect/>
          </a:stretch>
        </p:blipFill>
        <p:spPr>
          <a:xfrm>
            <a:off x="9093200" y="0"/>
            <a:ext cx="3098800" cy="6858000"/>
          </a:xfrm>
          <a:prstGeom prst="rect">
            <a:avLst/>
          </a:prstGeom>
          <a:ln>
            <a:noFill/>
          </a:ln>
        </p:spPr>
      </p:pic>
      <p:sp>
        <p:nvSpPr>
          <p:cNvPr id="3" name="div-num"/>
          <p:cNvSpPr txBox="1"/>
          <p:nvPr/>
        </p:nvSpPr>
        <p:spPr>
          <a:xfrm>
            <a:off x="609600" y="508000"/>
            <a:ext cx="381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4902"/>
                  </a:srgbClr>
                </a:solidFill>
                <a:latin typeface="Unna"/>
                <a:ea typeface="Unna"/>
              </a:rPr>
              <a:t>2</a:t>
            </a:r>
            <a:endParaRPr lang="en-US" sz="12800" noProof="1"/>
          </a:p>
        </p:txBody>
      </p:sp>
      <p:sp>
        <p:nvSpPr>
          <p:cNvPr id="4" name="div-kicker"/>
          <p:cNvSpPr txBox="1"/>
          <p:nvPr/>
        </p:nvSpPr>
        <p:spPr>
          <a:xfrm>
            <a:off x="711200" y="299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F6E7DE"/>
                </a:solidFill>
                <a:latin typeface="Quattrocento Sans"/>
                <a:ea typeface="Quattrocento Sans"/>
              </a:rPr>
              <a:t>SESSION A · TOPIC 2</a:t>
            </a:r>
            <a:endParaRPr lang="en-US" sz="1200" noProof="1"/>
          </a:p>
        </p:txBody>
      </p:sp>
      <p:sp>
        <p:nvSpPr>
          <p:cNvPr id="5" name="div-title"/>
          <p:cNvSpPr txBox="1"/>
          <p:nvPr/>
        </p:nvSpPr>
        <p:spPr>
          <a:xfrm>
            <a:off x="711200" y="3276600"/>
            <a:ext cx="7874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3400" noProof="1">
                <a:solidFill>
                  <a:srgbClr val="FFFFFF"/>
                </a:solidFill>
                <a:latin typeface="Unna"/>
                <a:ea typeface="Unna"/>
              </a:rPr>
              <a:t>Consumer Behaviour in the Digital Age</a:t>
            </a:r>
            <a:endParaRPr lang="en-US" sz="3400" noProof="1"/>
          </a:p>
        </p:txBody>
      </p:sp>
      <p:sp>
        <p:nvSpPr>
          <p:cNvPr id="6" name="div-agenda"/>
          <p:cNvSpPr txBox="1"/>
          <p:nvPr/>
        </p:nvSpPr>
        <p:spPr>
          <a:xfrm>
            <a:off x="711200" y="45720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01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The journey replaces the funnel: McKinsey's Consumer Decision Journey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02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Micro-moments and the smartphone shopper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03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Two theories of persuasion: ELM and Fogg's B=MAP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04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Choice overload and decision-point design</a:t>
            </a:r>
            <a:endParaRPr lang="en-US" sz="13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8" name="footer-right"/>
          <p:cNvSpPr txBox="1"/>
          <p:nvPr/>
        </p:nvSpPr>
        <p:spPr>
          <a:xfrm>
            <a:off x="3810000" y="6527800"/>
            <a:ext cx="444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9" name="footer-page"/>
          <p:cNvSpPr txBox="1"/>
          <p:nvPr/>
        </p:nvSpPr>
        <p:spPr>
          <a:xfrm>
            <a:off x="83312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02</a:t>
            </a:r>
            <a:endParaRPr lang="en-US" sz="9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2 · CONSUMER BEHAVIOUR IN THE DIGITAL AGE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By the end of this session, you will be able to…</a:t>
            </a:r>
            <a:endParaRPr lang="en-US" sz="2600" noProof="1"/>
          </a:p>
        </p:txBody>
      </p:sp>
      <p:sp>
        <p:nvSpPr>
          <p:cNvPr id="4" name="obj1-icon"/>
          <p:cNvSpPr/>
          <p:nvPr>
            <p:extLst>
              <p:ext uri="{F5677B7D-0D2A-4D9B-9A5C-6D8D7D0E5A5D}">
                <pptd:icon encoding="base64url">eyJpY29uTmFtZSI6ImZhczphcnJvd3Mtcm90YXRlIn0</pptd:icon>
              </p:ext>
            </p:extLst>
          </p:nvPr>
        </p:nvSpPr>
        <p:spPr>
          <a:xfrm>
            <a:off x="711200" y="1574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6" y="229"/>
                </a:moveTo>
                <a:cubicBezTo>
                  <a:pt x="79" y="136"/>
                  <a:pt x="159" y="64"/>
                  <a:pt x="256" y="64"/>
                </a:cubicBezTo>
                <a:cubicBezTo>
                  <a:pt x="309" y="64"/>
                  <a:pt x="357" y="86"/>
                  <a:pt x="392" y="120"/>
                </a:cubicBezTo>
                <a:cubicBezTo>
                  <a:pt x="392" y="120"/>
                  <a:pt x="392" y="121"/>
                  <a:pt x="392" y="121"/>
                </a:cubicBezTo>
                <a:lnTo>
                  <a:pt x="400" y="128"/>
                </a:lnTo>
                <a:lnTo>
                  <a:pt x="352" y="128"/>
                </a:lnTo>
                <a:cubicBezTo>
                  <a:pt x="334" y="128"/>
                  <a:pt x="320" y="142"/>
                  <a:pt x="320" y="160"/>
                </a:cubicBezTo>
                <a:cubicBezTo>
                  <a:pt x="320" y="178"/>
                  <a:pt x="334" y="192"/>
                  <a:pt x="352" y="192"/>
                </a:cubicBezTo>
                <a:lnTo>
                  <a:pt x="480" y="192"/>
                </a:lnTo>
                <a:cubicBezTo>
                  <a:pt x="498" y="192"/>
                  <a:pt x="512" y="178"/>
                  <a:pt x="512" y="160"/>
                </a:cubicBezTo>
                <a:lnTo>
                  <a:pt x="512" y="32"/>
                </a:lnTo>
                <a:cubicBezTo>
                  <a:pt x="512" y="14"/>
                  <a:pt x="498" y="0"/>
                  <a:pt x="480" y="0"/>
                </a:cubicBezTo>
                <a:cubicBezTo>
                  <a:pt x="462" y="0"/>
                  <a:pt x="448" y="14"/>
                  <a:pt x="448" y="32"/>
                </a:cubicBezTo>
                <a:lnTo>
                  <a:pt x="448" y="85"/>
                </a:lnTo>
                <a:lnTo>
                  <a:pt x="437" y="75"/>
                </a:lnTo>
                <a:cubicBezTo>
                  <a:pt x="391" y="29"/>
                  <a:pt x="327" y="0"/>
                  <a:pt x="256" y="0"/>
                </a:cubicBezTo>
                <a:cubicBezTo>
                  <a:pt x="127" y="0"/>
                  <a:pt x="20" y="95"/>
                  <a:pt x="3" y="220"/>
                </a:cubicBezTo>
                <a:cubicBezTo>
                  <a:pt x="0" y="237"/>
                  <a:pt x="12" y="253"/>
                  <a:pt x="30" y="256"/>
                </a:cubicBezTo>
                <a:cubicBezTo>
                  <a:pt x="47" y="258"/>
                  <a:pt x="63" y="246"/>
                  <a:pt x="66" y="229"/>
                </a:cubicBezTo>
                <a:close/>
                <a:moveTo>
                  <a:pt x="509" y="293"/>
                </a:moveTo>
                <a:cubicBezTo>
                  <a:pt x="512" y="275"/>
                  <a:pt x="500" y="259"/>
                  <a:pt x="482" y="256"/>
                </a:cubicBezTo>
                <a:cubicBezTo>
                  <a:pt x="465" y="254"/>
                  <a:pt x="449" y="266"/>
                  <a:pt x="446" y="283"/>
                </a:cubicBezTo>
                <a:cubicBezTo>
                  <a:pt x="433" y="376"/>
                  <a:pt x="353" y="448"/>
                  <a:pt x="256" y="448"/>
                </a:cubicBezTo>
                <a:cubicBezTo>
                  <a:pt x="203" y="448"/>
                  <a:pt x="155" y="426"/>
                  <a:pt x="120" y="392"/>
                </a:cubicBezTo>
                <a:cubicBezTo>
                  <a:pt x="120" y="392"/>
                  <a:pt x="120" y="391"/>
                  <a:pt x="120" y="391"/>
                </a:cubicBezTo>
                <a:lnTo>
                  <a:pt x="112" y="384"/>
                </a:lnTo>
                <a:lnTo>
                  <a:pt x="160" y="384"/>
                </a:lnTo>
                <a:cubicBezTo>
                  <a:pt x="178" y="384"/>
                  <a:pt x="192" y="370"/>
                  <a:pt x="192" y="352"/>
                </a:cubicBezTo>
                <a:cubicBezTo>
                  <a:pt x="192" y="334"/>
                  <a:pt x="178" y="320"/>
                  <a:pt x="160" y="320"/>
                </a:cubicBezTo>
                <a:lnTo>
                  <a:pt x="32" y="320"/>
                </a:lnTo>
                <a:cubicBezTo>
                  <a:pt x="24" y="320"/>
                  <a:pt x="15" y="323"/>
                  <a:pt x="9" y="330"/>
                </a:cubicBezTo>
                <a:cubicBezTo>
                  <a:pt x="3" y="336"/>
                  <a:pt x="0" y="344"/>
                  <a:pt x="0" y="352"/>
                </a:cubicBezTo>
                <a:lnTo>
                  <a:pt x="1" y="479"/>
                </a:lnTo>
                <a:cubicBezTo>
                  <a:pt x="1" y="497"/>
                  <a:pt x="16" y="511"/>
                  <a:pt x="33" y="511"/>
                </a:cubicBezTo>
                <a:cubicBezTo>
                  <a:pt x="51" y="511"/>
                  <a:pt x="65" y="496"/>
                  <a:pt x="65" y="479"/>
                </a:cubicBezTo>
                <a:lnTo>
                  <a:pt x="65" y="427"/>
                </a:lnTo>
                <a:lnTo>
                  <a:pt x="75" y="437"/>
                </a:lnTo>
                <a:cubicBezTo>
                  <a:pt x="122" y="483"/>
                  <a:pt x="186" y="512"/>
                  <a:pt x="256" y="512"/>
                </a:cubicBezTo>
                <a:cubicBezTo>
                  <a:pt x="385" y="512"/>
                  <a:pt x="492" y="417"/>
                  <a:pt x="509" y="293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obj1-text"/>
          <p:cNvSpPr txBox="1"/>
          <p:nvPr/>
        </p:nvSpPr>
        <p:spPr>
          <a:xfrm>
            <a:off x="1320800" y="14478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Contrast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the traditional purchase funnel with McKinsey's Consumer Decision Journey — and diagnose where a brand's budget is misallocated using the CDJ lens.</a:t>
            </a:r>
            <a:endParaRPr lang="en-US" sz="1350" noProof="1"/>
          </a:p>
        </p:txBody>
      </p:sp>
      <p:sp>
        <p:nvSpPr>
          <p:cNvPr id="6" name="obj1-rule"/>
          <p:cNvSpPr/>
          <p:nvPr/>
        </p:nvSpPr>
        <p:spPr>
          <a:xfrm>
            <a:off x="711200" y="24892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obj2-icon"/>
          <p:cNvSpPr/>
          <p:nvPr>
            <p:extLst>
              <p:ext uri="{F5677B7D-0D2A-4D9B-9A5C-6D8D7D0E5A5D}">
                <pptd:icon encoding="base64url">eyJpY29uTmFtZSI6ImZhczpicmFpbiJ9</pptd:icon>
              </p:ext>
            </p:extLst>
          </p:nvPr>
        </p:nvSpPr>
        <p:spPr>
          <a:xfrm>
            <a:off x="711200" y="2743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20" y="56"/>
                </a:moveTo>
                <a:cubicBezTo>
                  <a:pt x="120" y="25"/>
                  <a:pt x="145" y="0"/>
                  <a:pt x="176" y="0"/>
                </a:cubicBezTo>
                <a:lnTo>
                  <a:pt x="200" y="0"/>
                </a:lnTo>
                <a:cubicBezTo>
                  <a:pt x="218" y="0"/>
                  <a:pt x="232" y="14"/>
                  <a:pt x="232" y="32"/>
                </a:cubicBezTo>
                <a:lnTo>
                  <a:pt x="232" y="480"/>
                </a:lnTo>
                <a:cubicBezTo>
                  <a:pt x="232" y="498"/>
                  <a:pt x="218" y="512"/>
                  <a:pt x="200" y="512"/>
                </a:cubicBezTo>
                <a:lnTo>
                  <a:pt x="168" y="512"/>
                </a:lnTo>
                <a:cubicBezTo>
                  <a:pt x="138" y="512"/>
                  <a:pt x="113" y="492"/>
                  <a:pt x="106" y="464"/>
                </a:cubicBezTo>
                <a:cubicBezTo>
                  <a:pt x="105" y="464"/>
                  <a:pt x="105" y="464"/>
                  <a:pt x="104" y="464"/>
                </a:cubicBezTo>
                <a:cubicBezTo>
                  <a:pt x="60" y="464"/>
                  <a:pt x="24" y="428"/>
                  <a:pt x="24" y="384"/>
                </a:cubicBezTo>
                <a:cubicBezTo>
                  <a:pt x="24" y="366"/>
                  <a:pt x="30" y="349"/>
                  <a:pt x="40" y="336"/>
                </a:cubicBezTo>
                <a:cubicBezTo>
                  <a:pt x="21" y="321"/>
                  <a:pt x="8" y="298"/>
                  <a:pt x="8" y="272"/>
                </a:cubicBezTo>
                <a:cubicBezTo>
                  <a:pt x="8" y="241"/>
                  <a:pt x="26" y="214"/>
                  <a:pt x="51" y="201"/>
                </a:cubicBezTo>
                <a:cubicBezTo>
                  <a:pt x="44" y="189"/>
                  <a:pt x="40" y="175"/>
                  <a:pt x="40" y="160"/>
                </a:cubicBezTo>
                <a:cubicBezTo>
                  <a:pt x="40" y="116"/>
                  <a:pt x="76" y="80"/>
                  <a:pt x="120" y="80"/>
                </a:cubicBezTo>
                <a:lnTo>
                  <a:pt x="120" y="56"/>
                </a:lnTo>
                <a:close/>
                <a:moveTo>
                  <a:pt x="392" y="56"/>
                </a:moveTo>
                <a:lnTo>
                  <a:pt x="392" y="80"/>
                </a:lnTo>
                <a:cubicBezTo>
                  <a:pt x="436" y="80"/>
                  <a:pt x="472" y="116"/>
                  <a:pt x="472" y="160"/>
                </a:cubicBezTo>
                <a:cubicBezTo>
                  <a:pt x="472" y="175"/>
                  <a:pt x="468" y="189"/>
                  <a:pt x="461" y="201"/>
                </a:cubicBezTo>
                <a:cubicBezTo>
                  <a:pt x="487" y="214"/>
                  <a:pt x="504" y="241"/>
                  <a:pt x="504" y="272"/>
                </a:cubicBezTo>
                <a:cubicBezTo>
                  <a:pt x="504" y="298"/>
                  <a:pt x="491" y="321"/>
                  <a:pt x="472" y="336"/>
                </a:cubicBezTo>
                <a:cubicBezTo>
                  <a:pt x="482" y="349"/>
                  <a:pt x="488" y="366"/>
                  <a:pt x="488" y="384"/>
                </a:cubicBezTo>
                <a:cubicBezTo>
                  <a:pt x="488" y="428"/>
                  <a:pt x="452" y="464"/>
                  <a:pt x="408" y="464"/>
                </a:cubicBezTo>
                <a:cubicBezTo>
                  <a:pt x="407" y="464"/>
                  <a:pt x="407" y="464"/>
                  <a:pt x="406" y="464"/>
                </a:cubicBezTo>
                <a:cubicBezTo>
                  <a:pt x="399" y="492"/>
                  <a:pt x="374" y="512"/>
                  <a:pt x="344" y="512"/>
                </a:cubicBezTo>
                <a:lnTo>
                  <a:pt x="312" y="512"/>
                </a:lnTo>
                <a:cubicBezTo>
                  <a:pt x="294" y="512"/>
                  <a:pt x="280" y="498"/>
                  <a:pt x="280" y="480"/>
                </a:cubicBezTo>
                <a:lnTo>
                  <a:pt x="280" y="32"/>
                </a:lnTo>
                <a:cubicBezTo>
                  <a:pt x="280" y="14"/>
                  <a:pt x="294" y="0"/>
                  <a:pt x="312" y="0"/>
                </a:cubicBezTo>
                <a:lnTo>
                  <a:pt x="336" y="0"/>
                </a:lnTo>
                <a:cubicBezTo>
                  <a:pt x="367" y="0"/>
                  <a:pt x="392" y="25"/>
                  <a:pt x="392" y="56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8" name="obj2-text"/>
          <p:cNvSpPr txBox="1"/>
          <p:nvPr/>
        </p:nvSpPr>
        <p:spPr>
          <a:xfrm>
            <a:off x="1320800" y="26162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Apply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the Elaboration Likelihood Model and Fogg's Behavior Model (B=MAP) to redesign one element of an e-commerce product page.</a:t>
            </a:r>
            <a:endParaRPr lang="en-US" sz="1350" noProof="1"/>
          </a:p>
        </p:txBody>
      </p:sp>
      <p:sp>
        <p:nvSpPr>
          <p:cNvPr id="9" name="obj2-rule"/>
          <p:cNvSpPr/>
          <p:nvPr/>
        </p:nvSpPr>
        <p:spPr>
          <a:xfrm>
            <a:off x="711200" y="3657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obj3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711200" y="3911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1" name="obj3-text"/>
          <p:cNvSpPr txBox="1"/>
          <p:nvPr/>
        </p:nvSpPr>
        <p:spPr>
          <a:xfrm>
            <a:off x="1320800" y="37846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Define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path-to-purchase, the four micro-moments, and choice overload — and identify each of them in a real shopping session.</a:t>
            </a:r>
            <a:endParaRPr lang="en-US" sz="1350" noProof="1"/>
          </a:p>
        </p:txBody>
      </p:sp>
      <p:sp>
        <p:nvSpPr>
          <p:cNvPr id="12" name="obj3-rule"/>
          <p:cNvSpPr/>
          <p:nvPr/>
        </p:nvSpPr>
        <p:spPr>
          <a:xfrm>
            <a:off x="711200" y="48260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obj4-icon"/>
          <p:cNvSpPr/>
          <p:nvPr>
            <p:extLst>
              <p:ext uri="{F5677B7D-0D2A-4D9B-9A5C-6D8D7D0E5A5D}">
                <pptd:icon encoding="base64url">eyJpY29uTmFtZSI6ImZhczpjaGFydC1saW5lIn0</pptd:icon>
              </p:ext>
            </p:extLst>
          </p:nvPr>
        </p:nvSpPr>
        <p:spPr>
          <a:xfrm>
            <a:off x="711200" y="5080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4" name="obj4-text"/>
          <p:cNvSpPr txBox="1"/>
          <p:nvPr/>
        </p:nvSpPr>
        <p:spPr>
          <a:xfrm>
            <a:off x="1320800" y="4953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Propose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a micro-moment marketing plan and a decision-point personalisation tactic, specifying the analytics stack (GA4, heatmaps, CDP) needed to measure it.</a:t>
            </a:r>
            <a:endParaRPr lang="en-US" sz="1350" noProof="1"/>
          </a:p>
        </p:txBody>
      </p:sp>
      <p:sp>
        <p:nvSpPr>
          <p:cNvPr id="15" name="note"/>
          <p:cNvSpPr txBox="1"/>
          <p:nvPr/>
        </p:nvSpPr>
        <p:spPr>
          <a:xfrm>
            <a:off x="711200" y="59182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Objectives follow the session's teaching loop: frameworks first, then theory, evidence, companies, and a hands-on activity.</a:t>
            </a:r>
            <a:endParaRPr lang="en-US" sz="110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03</a:t>
            </a:r>
            <a:endParaRPr lang="en-US" sz="9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2 · CONSUMER BEHAVIOUR IN THE DIGITAL AGE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One shoe purchase, six micro-moments: what did the phone see first?</a:t>
            </a:r>
            <a:endParaRPr lang="en-US" sz="2600" noProof="1"/>
          </a:p>
        </p:txBody>
      </p:sp>
      <p:sp>
        <p:nvSpPr>
          <p:cNvPr id="4" name="scen-label"/>
          <p:cNvSpPr txBox="1"/>
          <p:nvPr/>
        </p:nvSpPr>
        <p:spPr>
          <a:xfrm>
            <a:off x="711200" y="127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Practice scenario — Maya, 20, buys running shoes. A composite of typical shopper behaviour.</a:t>
            </a:r>
            <a:endParaRPr lang="en-US" sz="1100" noProof="1"/>
          </a:p>
        </p:txBody>
      </p:sp>
      <p:sp>
        <p:nvSpPr>
          <p:cNvPr id="5" name="tl-line"/>
          <p:cNvSpPr/>
          <p:nvPr/>
        </p:nvSpPr>
        <p:spPr>
          <a:xfrm>
            <a:off x="965200" y="3378200"/>
            <a:ext cx="10261600" cy="254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6" name="n1-dot"/>
          <p:cNvSpPr/>
          <p:nvPr/>
        </p:nvSpPr>
        <p:spPr>
          <a:xfrm>
            <a:off x="1181100" y="3302000"/>
            <a:ext cx="177800" cy="1778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7" name="n1-time"/>
          <p:cNvSpPr txBox="1"/>
          <p:nvPr/>
        </p:nvSpPr>
        <p:spPr>
          <a:xfrm>
            <a:off x="571500" y="3581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07:40</a:t>
            </a:r>
            <a:endParaRPr lang="en-US" sz="1200" noProof="1"/>
          </a:p>
        </p:txBody>
      </p:sp>
      <p:sp>
        <p:nvSpPr>
          <p:cNvPr id="8" name="n1-text"/>
          <p:cNvSpPr txBox="1"/>
          <p:nvPr/>
        </p:nvSpPr>
        <p:spPr>
          <a:xfrm>
            <a:off x="406400" y="1625600"/>
            <a:ext cx="1727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I-WANT-TO-KNOW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Scrolling Instagram, Maya sees a friend's marathon post and a trainer ad. She saves it.</a:t>
            </a:r>
            <a:endParaRPr lang="en-US" sz="1050" noProof="1"/>
          </a:p>
        </p:txBody>
      </p:sp>
      <p:sp>
        <p:nvSpPr>
          <p:cNvPr id="9" name="n2-dot"/>
          <p:cNvSpPr/>
          <p:nvPr/>
        </p:nvSpPr>
        <p:spPr>
          <a:xfrm>
            <a:off x="3111500" y="3302000"/>
            <a:ext cx="177800" cy="1778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0" name="n2-time"/>
          <p:cNvSpPr txBox="1"/>
          <p:nvPr/>
        </p:nvSpPr>
        <p:spPr>
          <a:xfrm>
            <a:off x="2501900" y="3048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12:15</a:t>
            </a:r>
            <a:endParaRPr lang="en-US" sz="1200" noProof="1"/>
          </a:p>
        </p:txBody>
      </p:sp>
      <p:sp>
        <p:nvSpPr>
          <p:cNvPr id="11" name="n2-text"/>
          <p:cNvSpPr txBox="1"/>
          <p:nvPr/>
        </p:nvSpPr>
        <p:spPr>
          <a:xfrm>
            <a:off x="2336800" y="3784600"/>
            <a:ext cx="1727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I-WANT-TO-KNOW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Searches "best running shoes for flat feet 2026" and opens three comparison pages.</a:t>
            </a:r>
            <a:endParaRPr lang="en-US" sz="1050" noProof="1"/>
          </a:p>
        </p:txBody>
      </p:sp>
      <p:sp>
        <p:nvSpPr>
          <p:cNvPr id="12" name="n3-dot"/>
          <p:cNvSpPr/>
          <p:nvPr/>
        </p:nvSpPr>
        <p:spPr>
          <a:xfrm>
            <a:off x="5041900" y="3302000"/>
            <a:ext cx="177800" cy="1778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3" name="n3-time"/>
          <p:cNvSpPr txBox="1"/>
          <p:nvPr/>
        </p:nvSpPr>
        <p:spPr>
          <a:xfrm>
            <a:off x="4432300" y="3581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15:05</a:t>
            </a:r>
            <a:endParaRPr lang="en-US" sz="1200" noProof="1"/>
          </a:p>
        </p:txBody>
      </p:sp>
      <p:sp>
        <p:nvSpPr>
          <p:cNvPr id="14" name="n3-text"/>
          <p:cNvSpPr txBox="1"/>
          <p:nvPr/>
        </p:nvSpPr>
        <p:spPr>
          <a:xfrm>
            <a:off x="4267200" y="1625600"/>
            <a:ext cx="1727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I-WANT-TO-DO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Watches a 9-minute video: "how to lace running shoes for flat feet."</a:t>
            </a:r>
            <a:endParaRPr lang="en-US" sz="1050" noProof="1"/>
          </a:p>
        </p:txBody>
      </p:sp>
      <p:sp>
        <p:nvSpPr>
          <p:cNvPr id="15" name="n4-dot"/>
          <p:cNvSpPr/>
          <p:nvPr/>
        </p:nvSpPr>
        <p:spPr>
          <a:xfrm>
            <a:off x="6972300" y="3302000"/>
            <a:ext cx="177800" cy="1778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6" name="n4-time"/>
          <p:cNvSpPr txBox="1"/>
          <p:nvPr/>
        </p:nvSpPr>
        <p:spPr>
          <a:xfrm>
            <a:off x="6362700" y="3048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18:20</a:t>
            </a:r>
            <a:endParaRPr lang="en-US" sz="1200" noProof="1"/>
          </a:p>
        </p:txBody>
      </p:sp>
      <p:sp>
        <p:nvSpPr>
          <p:cNvPr id="17" name="n4-text"/>
          <p:cNvSpPr txBox="1"/>
          <p:nvPr/>
        </p:nvSpPr>
        <p:spPr>
          <a:xfrm>
            <a:off x="6197600" y="3784600"/>
            <a:ext cx="1727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I-WANT-TO-GO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Maps "running store near me open now" and walks in after work.</a:t>
            </a:r>
            <a:endParaRPr lang="en-US" sz="1050" noProof="1"/>
          </a:p>
        </p:txBody>
      </p:sp>
      <p:sp>
        <p:nvSpPr>
          <p:cNvPr id="18" name="n5-dot"/>
          <p:cNvSpPr/>
          <p:nvPr/>
        </p:nvSpPr>
        <p:spPr>
          <a:xfrm>
            <a:off x="8902700" y="3302000"/>
            <a:ext cx="177800" cy="1778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19" name="n5-time"/>
          <p:cNvSpPr txBox="1"/>
          <p:nvPr/>
        </p:nvSpPr>
        <p:spPr>
          <a:xfrm>
            <a:off x="8293100" y="35814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19:10</a:t>
            </a:r>
            <a:endParaRPr lang="en-US" sz="1200" noProof="1"/>
          </a:p>
        </p:txBody>
      </p:sp>
      <p:sp>
        <p:nvSpPr>
          <p:cNvPr id="20" name="n5-text"/>
          <p:cNvSpPr txBox="1"/>
          <p:nvPr/>
        </p:nvSpPr>
        <p:spPr>
          <a:xfrm>
            <a:off x="8128000" y="1625600"/>
            <a:ext cx="17272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BC4B26"/>
                </a:solidFill>
                <a:latin typeface="Quattrocento Sans"/>
                <a:ea typeface="Quattrocento Sans"/>
              </a:rPr>
              <a:t>I-WANT-TO-BUY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In the aisle, she checks reviews and a marketplace price on her phone.</a:t>
            </a:r>
            <a:endParaRPr lang="en-US" sz="1050" noProof="1"/>
          </a:p>
        </p:txBody>
      </p:sp>
      <p:sp>
        <p:nvSpPr>
          <p:cNvPr id="21" name="n6-dot"/>
          <p:cNvSpPr/>
          <p:nvPr/>
        </p:nvSpPr>
        <p:spPr>
          <a:xfrm>
            <a:off x="10833100" y="3302000"/>
            <a:ext cx="177800" cy="1778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22" name="n6-time"/>
          <p:cNvSpPr txBox="1"/>
          <p:nvPr/>
        </p:nvSpPr>
        <p:spPr>
          <a:xfrm>
            <a:off x="10223500" y="3048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21:40</a:t>
            </a:r>
            <a:endParaRPr lang="en-US" sz="1200" noProof="1"/>
          </a:p>
        </p:txBody>
      </p:sp>
      <p:sp>
        <p:nvSpPr>
          <p:cNvPr id="23" name="n6-text"/>
          <p:cNvSpPr txBox="1"/>
          <p:nvPr/>
        </p:nvSpPr>
        <p:spPr>
          <a:xfrm>
            <a:off x="10058400" y="3784600"/>
            <a:ext cx="17272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 b="1">
                <a:solidFill>
                  <a:srgbClr val="BC4B26"/>
                </a:solidFill>
                <a:latin typeface="Quattrocento Sans"/>
                <a:ea typeface="Quattrocento Sans"/>
              </a:rPr>
              <a:t>I-WANT-TO-BUY</a:t>
            </a:r>
            <a:endParaRPr lang="en-US" sz="1050" noProof="1"/>
          </a:p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Orders on the brand's app with a first-order coupon and a delivery-date promise.</a:t>
            </a:r>
            <a:endParaRPr lang="en-US" sz="1050" noProof="1"/>
          </a:p>
        </p:txBody>
      </p:sp>
      <p:sp>
        <p:nvSpPr>
          <p:cNvPr id="24" name="take-band"/>
          <p:cNvSpPr/>
          <p:nvPr/>
        </p:nvSpPr>
        <p:spPr>
          <a:xfrm>
            <a:off x="711200" y="5283200"/>
            <a:ext cx="10769600" cy="8128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25" name="take-text"/>
          <p:cNvSpPr txBox="1"/>
          <p:nvPr/>
        </p:nvSpPr>
        <p:spPr>
          <a:xfrm>
            <a:off x="914400" y="5384800"/>
            <a:ext cx="1036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Five of six moments happened on a phone; only one in a store. 82% of smartphone users consult their phone in-store while deciding — and 1 in 10 buys a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different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product than planned.</a:t>
            </a:r>
            <a:endParaRPr lang="en-US" sz="1250" noProof="1"/>
          </a:p>
        </p:txBody>
      </p:sp>
      <p:sp>
        <p:nvSpPr>
          <p:cNvPr id="26" name="take-src"/>
          <p:cNvSpPr txBox="1"/>
          <p:nvPr/>
        </p:nvSpPr>
        <p:spPr>
          <a:xfrm>
            <a:off x="914400" y="5867400"/>
            <a:ext cx="10363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Think with Google, 2015</a:t>
            </a:r>
            <a:endParaRPr lang="en-US" sz="1000" noProof="1"/>
          </a:p>
        </p:txBody>
      </p:sp>
      <p:sp>
        <p:nvSpPr>
          <p:cNvPr id="27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8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9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30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04</a:t>
            </a:r>
            <a:endParaRPr lang="en-US" sz="9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2 · CONSUMER BEHAVIOUR IN THE DIGITAL AGE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Path-to-purchase: the journey belongs to the shopper, not the brand</a:t>
            </a:r>
            <a:endParaRPr lang="en-US" sz="2600" noProof="1"/>
          </a:p>
        </p:txBody>
      </p:sp>
      <p:sp>
        <p:nvSpPr>
          <p:cNvPr id="4" name="def-block"/>
          <p:cNvSpPr/>
          <p:nvPr/>
        </p:nvSpPr>
        <p:spPr>
          <a:xfrm>
            <a:off x="711200" y="1422400"/>
            <a:ext cx="6858000" cy="19304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5" name="def-label"/>
          <p:cNvSpPr txBox="1"/>
          <p:nvPr/>
        </p:nvSpPr>
        <p:spPr>
          <a:xfrm>
            <a:off x="965200" y="1574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DEFINITION</a:t>
            </a:r>
            <a:endParaRPr lang="en-US" sz="1050" noProof="1"/>
          </a:p>
        </p:txBody>
      </p:sp>
      <p:sp>
        <p:nvSpPr>
          <p:cNvPr id="6" name="def-text"/>
          <p:cNvSpPr txBox="1"/>
          <p:nvPr/>
        </p:nvSpPr>
        <p:spPr>
          <a:xfrm>
            <a:off x="965200" y="1828800"/>
            <a:ext cx="635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50" noProof="1" b="1">
                <a:solidFill>
                  <a:srgbClr val="23272E"/>
                </a:solidFill>
                <a:latin typeface="Unna"/>
                <a:ea typeface="Unna"/>
              </a:rPr>
              <a:t>Path-to-purchase</a:t>
            </a:r>
            <a:r>
              <a:rPr lang="en-US" sz="1550" noProof="1">
                <a:solidFill>
                  <a:srgbClr val="23272E"/>
                </a:solidFill>
                <a:latin typeface="Unna"/>
                <a:ea typeface="Unna"/>
              </a:rPr>
              <a:t> — the complete sequence of touchpoints, across channels, devices, and time, that a consumer traverses from need recognition to purchase and repurchase. Digital paths are non-linear and measurable event-by-event.</a:t>
            </a:r>
            <a:endParaRPr lang="en-US" sz="1550" noProof="1"/>
          </a:p>
        </p:txBody>
      </p:sp>
      <p:sp>
        <p:nvSpPr>
          <p:cNvPr id="7" name="bound-head"/>
          <p:cNvSpPr txBox="1"/>
          <p:nvPr/>
        </p:nvSpPr>
        <p:spPr>
          <a:xfrm>
            <a:off x="7975600" y="1473200"/>
            <a:ext cx="3505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Where the boundary lies</a:t>
            </a:r>
            <a:endParaRPr lang="en-US" sz="1300" noProof="1"/>
          </a:p>
        </p:txBody>
      </p:sp>
      <p:sp>
        <p:nvSpPr>
          <p:cNvPr id="8" name="bound-text"/>
          <p:cNvSpPr txBox="1"/>
          <p:nvPr/>
        </p:nvSpPr>
        <p:spPr>
          <a:xfrm>
            <a:off x="7975600" y="1778000"/>
            <a:ext cx="35052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vs. consumer journey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same map; "journey" stresses the experience after the buy.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vs. the funnel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a funnel is the brand's planning model; the path is what the shopper actually does.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vs. a session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one visit; real paths span days, devices, and channels.</a:t>
            </a:r>
            <a:endParaRPr lang="en-US" sz="1150" noProof="1"/>
          </a:p>
        </p:txBody>
      </p:sp>
      <p:sp>
        <p:nvSpPr>
          <p:cNvPr id="9" name="ex-label"/>
          <p:cNvSpPr txBox="1"/>
          <p:nvPr/>
        </p:nvSpPr>
        <p:spPr>
          <a:xfrm>
            <a:off x="711200" y="38100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One intuitive path — buying a birthday gift</a:t>
            </a:r>
            <a:endParaRPr lang="en-US" sz="1300" noProof="1"/>
          </a:p>
        </p:txBody>
      </p:sp>
      <p:sp>
        <p:nvSpPr>
          <p:cNvPr id="10" name="chip1"/>
          <p:cNvSpPr/>
          <p:nvPr/>
        </p:nvSpPr>
        <p:spPr>
          <a:xfrm>
            <a:off x="711200" y="4191000"/>
            <a:ext cx="1574800" cy="508000"/>
          </a:xfrm>
          <a:prstGeom prst="homePlate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1" name="chip1-t"/>
          <p:cNvSpPr txBox="1"/>
          <p:nvPr/>
        </p:nvSpPr>
        <p:spPr>
          <a:xfrm>
            <a:off x="762000" y="4292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Google search</a:t>
            </a:r>
            <a:endParaRPr lang="en-US" sz="1000" noProof="1"/>
          </a:p>
        </p:txBody>
      </p:sp>
      <p:sp>
        <p:nvSpPr>
          <p:cNvPr id="12" name="chip2"/>
          <p:cNvSpPr/>
          <p:nvPr/>
        </p:nvSpPr>
        <p:spPr>
          <a:xfrm>
            <a:off x="2260600" y="4191000"/>
            <a:ext cx="1574800" cy="508000"/>
          </a:xfrm>
          <a:prstGeom prst="chevron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3" name="chip2-t"/>
          <p:cNvSpPr txBox="1"/>
          <p:nvPr/>
        </p:nvSpPr>
        <p:spPr>
          <a:xfrm>
            <a:off x="2413000" y="4292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Review video</a:t>
            </a:r>
            <a:endParaRPr lang="en-US" sz="1000" noProof="1"/>
          </a:p>
        </p:txBody>
      </p:sp>
      <p:sp>
        <p:nvSpPr>
          <p:cNvPr id="14" name="chip3"/>
          <p:cNvSpPr/>
          <p:nvPr/>
        </p:nvSpPr>
        <p:spPr>
          <a:xfrm>
            <a:off x="3810000" y="4191000"/>
            <a:ext cx="1574800" cy="508000"/>
          </a:xfrm>
          <a:prstGeom prst="chevron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5" name="chip3-t"/>
          <p:cNvSpPr txBox="1"/>
          <p:nvPr/>
        </p:nvSpPr>
        <p:spPr>
          <a:xfrm>
            <a:off x="3962400" y="4292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Marketplace page</a:t>
            </a:r>
            <a:endParaRPr lang="en-US" sz="1000" noProof="1"/>
          </a:p>
        </p:txBody>
      </p:sp>
      <p:sp>
        <p:nvSpPr>
          <p:cNvPr id="16" name="chip4"/>
          <p:cNvSpPr/>
          <p:nvPr/>
        </p:nvSpPr>
        <p:spPr>
          <a:xfrm>
            <a:off x="5359400" y="4191000"/>
            <a:ext cx="1574800" cy="508000"/>
          </a:xfrm>
          <a:prstGeom prst="chevron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17" name="chip4-t"/>
          <p:cNvSpPr txBox="1"/>
          <p:nvPr/>
        </p:nvSpPr>
        <p:spPr>
          <a:xfrm>
            <a:off x="5511800" y="4292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Cart abandoned</a:t>
            </a:r>
            <a:endParaRPr lang="en-US" sz="1000" noProof="1"/>
          </a:p>
        </p:txBody>
      </p:sp>
      <p:sp>
        <p:nvSpPr>
          <p:cNvPr id="18" name="chip5"/>
          <p:cNvSpPr/>
          <p:nvPr/>
        </p:nvSpPr>
        <p:spPr>
          <a:xfrm>
            <a:off x="6908800" y="4191000"/>
            <a:ext cx="1574800" cy="508000"/>
          </a:xfrm>
          <a:prstGeom prst="chevron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9" name="chip5-t"/>
          <p:cNvSpPr txBox="1"/>
          <p:nvPr/>
        </p:nvSpPr>
        <p:spPr>
          <a:xfrm>
            <a:off x="7061200" y="4292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Email reminder</a:t>
            </a:r>
            <a:endParaRPr lang="en-US" sz="1000" noProof="1"/>
          </a:p>
        </p:txBody>
      </p:sp>
      <p:sp>
        <p:nvSpPr>
          <p:cNvPr id="20" name="chip6"/>
          <p:cNvSpPr/>
          <p:nvPr/>
        </p:nvSpPr>
        <p:spPr>
          <a:xfrm>
            <a:off x="8458200" y="4191000"/>
            <a:ext cx="1574800" cy="508000"/>
          </a:xfrm>
          <a:prstGeom prst="chevron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21" name="chip6-t"/>
          <p:cNvSpPr txBox="1"/>
          <p:nvPr/>
        </p:nvSpPr>
        <p:spPr>
          <a:xfrm>
            <a:off x="8610600" y="4292600"/>
            <a:ext cx="1320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FFFFFF"/>
                </a:solidFill>
                <a:latin typeface="Quattrocento Sans"/>
                <a:ea typeface="Quattrocento Sans"/>
              </a:rPr>
              <a:t>Purchase</a:t>
            </a:r>
            <a:endParaRPr lang="en-US" sz="1000" noProof="1"/>
          </a:p>
        </p:txBody>
      </p:sp>
      <p:sp>
        <p:nvSpPr>
          <p:cNvPr id="22" name="chip7"/>
          <p:cNvSpPr/>
          <p:nvPr/>
        </p:nvSpPr>
        <p:spPr>
          <a:xfrm>
            <a:off x="10007600" y="4191000"/>
            <a:ext cx="1574800" cy="508000"/>
          </a:xfrm>
          <a:prstGeom prst="chevron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23" name="chip7-t"/>
          <p:cNvSpPr txBox="1"/>
          <p:nvPr/>
        </p:nvSpPr>
        <p:spPr>
          <a:xfrm>
            <a:off x="10134600" y="4292600"/>
            <a:ext cx="1371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Review posted</a:t>
            </a:r>
            <a:endParaRPr lang="en-US" sz="1000" noProof="1"/>
          </a:p>
        </p:txBody>
      </p:sp>
      <p:sp>
        <p:nvSpPr>
          <p:cNvPr id="24" name="caption"/>
          <p:cNvSpPr txBox="1"/>
          <p:nvPr/>
        </p:nvSpPr>
        <p:spPr>
          <a:xfrm>
            <a:off x="711200" y="5003800"/>
            <a:ext cx="10769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Seven touchpoints, three devices, nine days — and a stall in the middle. Because every step is an event, the path can be instrumented, analysed, and redesigned. The </a:t>
            </a: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decision point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— a moment where design measurably changes the outcome — is the unit we will keep returning to.</a:t>
            </a:r>
            <a:endParaRPr lang="en-US" sz="1200" noProof="1"/>
          </a:p>
        </p:txBody>
      </p:sp>
      <p:sp>
        <p:nvSpPr>
          <p:cNvPr id="25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7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8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05</a:t>
            </a:r>
            <a:endParaRPr lang="en-US" sz="9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2 · CONSUMER BEHAVIOUR IN THE DIGITAL AGE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classic funnel assumes shoppers narrow down — neatly, and forever</a:t>
            </a:r>
            <a:endParaRPr lang="en-US" sz="2600" noProof="1"/>
          </a:p>
        </p:txBody>
      </p:sp>
      <p:sp>
        <p:nvSpPr>
          <p:cNvPr id="4" name="f1"/>
          <p:cNvSpPr/>
          <p:nvPr/>
        </p:nvSpPr>
        <p:spPr>
          <a:xfrm flipV="1">
            <a:off x="685800" y="1524000"/>
            <a:ext cx="4114800" cy="660400"/>
          </a:xfrm>
          <a:prstGeom prst="trapezoid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5" name="f1-t"/>
          <p:cNvSpPr txBox="1"/>
          <p:nvPr/>
        </p:nvSpPr>
        <p:spPr>
          <a:xfrm>
            <a:off x="685800" y="1524000"/>
            <a:ext cx="4114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Awareness</a:t>
            </a:r>
            <a:endParaRPr lang="en-US" sz="1300" noProof="1"/>
          </a:p>
        </p:txBody>
      </p:sp>
      <p:sp>
        <p:nvSpPr>
          <p:cNvPr id="6" name="f2"/>
          <p:cNvSpPr/>
          <p:nvPr/>
        </p:nvSpPr>
        <p:spPr>
          <a:xfrm flipV="1">
            <a:off x="965200" y="2286000"/>
            <a:ext cx="3556000" cy="660400"/>
          </a:xfrm>
          <a:prstGeom prst="trapezoid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7" name="f2-t"/>
          <p:cNvSpPr txBox="1"/>
          <p:nvPr/>
        </p:nvSpPr>
        <p:spPr>
          <a:xfrm>
            <a:off x="965200" y="2286000"/>
            <a:ext cx="3556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Familiarity</a:t>
            </a:r>
            <a:endParaRPr lang="en-US" sz="1300" noProof="1"/>
          </a:p>
        </p:txBody>
      </p:sp>
      <p:sp>
        <p:nvSpPr>
          <p:cNvPr id="8" name="f3"/>
          <p:cNvSpPr/>
          <p:nvPr/>
        </p:nvSpPr>
        <p:spPr>
          <a:xfrm flipV="1">
            <a:off x="1244600" y="3048000"/>
            <a:ext cx="2997200" cy="660400"/>
          </a:xfrm>
          <a:prstGeom prst="trapezoid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9" name="f3-t"/>
          <p:cNvSpPr txBox="1"/>
          <p:nvPr/>
        </p:nvSpPr>
        <p:spPr>
          <a:xfrm>
            <a:off x="1244600" y="3048000"/>
            <a:ext cx="2997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Consideration</a:t>
            </a:r>
            <a:endParaRPr lang="en-US" sz="1300" noProof="1"/>
          </a:p>
        </p:txBody>
      </p:sp>
      <p:sp>
        <p:nvSpPr>
          <p:cNvPr id="10" name="f4"/>
          <p:cNvSpPr/>
          <p:nvPr/>
        </p:nvSpPr>
        <p:spPr>
          <a:xfrm flipV="1">
            <a:off x="1524000" y="3810000"/>
            <a:ext cx="2438400" cy="660400"/>
          </a:xfrm>
          <a:prstGeom prst="trapezoid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11" name="f4-t"/>
          <p:cNvSpPr txBox="1"/>
          <p:nvPr/>
        </p:nvSpPr>
        <p:spPr>
          <a:xfrm>
            <a:off x="1524000" y="3810000"/>
            <a:ext cx="2438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Quattrocento Sans"/>
                <a:ea typeface="Quattrocento Sans"/>
              </a:rPr>
              <a:t>Purchase</a:t>
            </a:r>
            <a:endParaRPr lang="en-US" sz="1300" noProof="1"/>
          </a:p>
        </p:txBody>
      </p:sp>
      <p:sp>
        <p:nvSpPr>
          <p:cNvPr id="12" name="f5"/>
          <p:cNvSpPr/>
          <p:nvPr/>
        </p:nvSpPr>
        <p:spPr>
          <a:xfrm flipV="1">
            <a:off x="1803400" y="4572000"/>
            <a:ext cx="1879600" cy="660400"/>
          </a:xfrm>
          <a:prstGeom prst="trapezoid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3" name="f5-t"/>
          <p:cNvSpPr txBox="1"/>
          <p:nvPr/>
        </p:nvSpPr>
        <p:spPr>
          <a:xfrm>
            <a:off x="1803400" y="4572000"/>
            <a:ext cx="187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FFFFFF"/>
                </a:solidFill>
                <a:latin typeface="Quattrocento Sans"/>
                <a:ea typeface="Quattrocento Sans"/>
              </a:rPr>
              <a:t>Loyalty</a:t>
            </a:r>
            <a:endParaRPr lang="en-US" sz="1300" noProof="1"/>
          </a:p>
        </p:txBody>
      </p:sp>
      <p:sp>
        <p:nvSpPr>
          <p:cNvPr id="14" name="assume-head"/>
          <p:cNvSpPr txBox="1"/>
          <p:nvPr/>
        </p:nvSpPr>
        <p:spPr>
          <a:xfrm>
            <a:off x="5334000" y="14732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The funnel's hidden assumptions</a:t>
            </a:r>
            <a:endParaRPr lang="en-US" sz="1300" noProof="1"/>
          </a:p>
        </p:txBody>
      </p:sp>
      <p:sp>
        <p:nvSpPr>
          <p:cNvPr id="15" name="assume-text"/>
          <p:cNvSpPr txBox="1"/>
          <p:nvPr/>
        </p:nvSpPr>
        <p:spPr>
          <a:xfrm>
            <a:off x="5334000" y="1778000"/>
            <a:ext cx="6146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Shoppers start with many brands and only ever subtract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The marketer pushes; the consumer follows a fixed script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Purchase is the finish line; loyalty is an afterthought</a:t>
            </a:r>
            <a:endParaRPr lang="en-US" sz="1200" noProof="1"/>
          </a:p>
        </p:txBody>
      </p:sp>
      <p:sp>
        <p:nvSpPr>
          <p:cNvPr id="16" name="break-head"/>
          <p:cNvSpPr txBox="1"/>
          <p:nvPr/>
        </p:nvSpPr>
        <p:spPr>
          <a:xfrm>
            <a:off x="5334000" y="3098800"/>
            <a:ext cx="614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Where it breaks in digital behaviour</a:t>
            </a:r>
            <a:endParaRPr lang="en-US" sz="1300" noProof="1"/>
          </a:p>
        </p:txBody>
      </p:sp>
      <p:sp>
        <p:nvSpPr>
          <p:cNvPr id="17" name="break-text"/>
          <p:cNvSpPr txBox="1"/>
          <p:nvPr/>
        </p:nvSpPr>
        <p:spPr>
          <a:xfrm>
            <a:off x="5334000" y="3403600"/>
            <a:ext cx="61468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Shoppers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add and drop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brands during evaluation — the set is not fixed at the start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Post-purchase experience feeds the next trigger — buying is a loop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Paths stall, skip stages, and jump devices; they rarely march in a line</a:t>
            </a:r>
            <a:endParaRPr lang="en-US" sz="1200" noProof="1"/>
          </a:p>
        </p:txBody>
      </p:sp>
      <p:sp>
        <p:nvSpPr>
          <p:cNvPr id="18" name="note-band"/>
          <p:cNvSpPr/>
          <p:nvPr/>
        </p:nvSpPr>
        <p:spPr>
          <a:xfrm>
            <a:off x="711200" y="5283200"/>
            <a:ext cx="10769600" cy="8128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9" name="note-text"/>
          <p:cNvSpPr txBox="1"/>
          <p:nvPr/>
        </p:nvSpPr>
        <p:spPr>
          <a:xfrm>
            <a:off x="914400" y="5384800"/>
            <a:ext cx="10363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Descended from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AIDA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(Attention–Interest–Desire–Action), a century-old advertising model, the funnel remains a decent communication checklist — but a weak map of digital behaviour. McKinsey's ~20,000-consumer study found it misdescribes how people decide.</a:t>
            </a:r>
            <a:endParaRPr lang="en-US" sz="1200" noProof="1"/>
          </a:p>
        </p:txBody>
      </p:sp>
      <p:sp>
        <p:nvSpPr>
          <p:cNvPr id="20" name="note-src"/>
          <p:cNvSpPr txBox="1"/>
          <p:nvPr/>
        </p:nvSpPr>
        <p:spPr>
          <a:xfrm>
            <a:off x="914400" y="5867400"/>
            <a:ext cx="103632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McKinsey Quarterly, 2009</a:t>
            </a:r>
            <a:endParaRPr lang="en-US" sz="1000" noProof="1"/>
          </a:p>
        </p:txBody>
      </p:sp>
      <p:sp>
        <p:nvSpPr>
          <p:cNvPr id="21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2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3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4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06</a:t>
            </a:r>
            <a:endParaRPr lang="en-US" sz="9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FRAMEWORK · MCKINSEY CONSUMER DECISION JOURNEY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Buying is a loop, not a line: the Consumer Decision Journey</a:t>
            </a:r>
            <a:endParaRPr lang="en-US" sz="2600" noProof="1"/>
          </a:p>
        </p:txBody>
      </p:sp>
      <p:sp>
        <p:nvSpPr>
          <p:cNvPr id="4" name="ring"/>
          <p:cNvSpPr/>
          <p:nvPr/>
        </p:nvSpPr>
        <p:spPr>
          <a:xfrm>
            <a:off x="1778000" y="2159000"/>
            <a:ext cx="3302000" cy="3302000"/>
          </a:xfrm>
          <a:prstGeom prst="donut">
            <a:avLst>
              <a:gd name="adj" fmla="val 10000"/>
            </a:avLst>
          </a:prstGeom>
          <a:solidFill>
            <a:srgbClr val="E2ECE8"/>
          </a:solidFill>
          <a:ln>
            <a:noFill/>
          </a:ln>
        </p:spPr>
      </p:sp>
      <p:sp>
        <p:nvSpPr>
          <p:cNvPr id="5" name="loop-center"/>
          <p:cNvSpPr txBox="1"/>
          <p:nvPr/>
        </p:nvSpPr>
        <p:spPr>
          <a:xfrm>
            <a:off x="2451100" y="3251200"/>
            <a:ext cx="19558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00" noProof="1" b="1">
                <a:solidFill>
                  <a:srgbClr val="175E54"/>
                </a:solidFill>
                <a:latin typeface="Quattrocento Sans"/>
                <a:ea typeface="Quattrocento Sans"/>
              </a:rPr>
              <a:t>THE LOYALTY LOOP — a strong post-purchase experience skips re-evaluation and returns straight to purchase</a:t>
            </a:r>
            <a:endParaRPr lang="en-US" sz="1100" noProof="1"/>
          </a:p>
        </p:txBody>
      </p:sp>
      <p:sp>
        <p:nvSpPr>
          <p:cNvPr id="6" name="nd1"/>
          <p:cNvSpPr/>
          <p:nvPr/>
        </p:nvSpPr>
        <p:spPr>
          <a:xfrm>
            <a:off x="3098800" y="1828800"/>
            <a:ext cx="660400" cy="660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7" name="nd1-n"/>
          <p:cNvSpPr txBox="1"/>
          <p:nvPr/>
        </p:nvSpPr>
        <p:spPr>
          <a:xfrm>
            <a:off x="3098800" y="1828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Unna"/>
                <a:ea typeface="Unna"/>
              </a:rPr>
              <a:t>1</a:t>
            </a:r>
            <a:endParaRPr lang="en-US" sz="1600" noProof="1"/>
          </a:p>
        </p:txBody>
      </p:sp>
      <p:sp>
        <p:nvSpPr>
          <p:cNvPr id="8" name="nd1-t"/>
          <p:cNvSpPr txBox="1"/>
          <p:nvPr/>
        </p:nvSpPr>
        <p:spPr>
          <a:xfrm>
            <a:off x="2667000" y="14986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Trigger</a:t>
            </a:r>
            <a:endParaRPr lang="en-US" sz="1150" noProof="1"/>
          </a:p>
        </p:txBody>
      </p:sp>
      <p:sp>
        <p:nvSpPr>
          <p:cNvPr id="9" name="nd2"/>
          <p:cNvSpPr/>
          <p:nvPr/>
        </p:nvSpPr>
        <p:spPr>
          <a:xfrm>
            <a:off x="4673600" y="2971800"/>
            <a:ext cx="660400" cy="660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0" name="nd2-n"/>
          <p:cNvSpPr txBox="1"/>
          <p:nvPr/>
        </p:nvSpPr>
        <p:spPr>
          <a:xfrm>
            <a:off x="4673600" y="2971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Unna"/>
                <a:ea typeface="Unna"/>
              </a:rPr>
              <a:t>2</a:t>
            </a:r>
            <a:endParaRPr lang="en-US" sz="1600" noProof="1"/>
          </a:p>
        </p:txBody>
      </p:sp>
      <p:sp>
        <p:nvSpPr>
          <p:cNvPr id="11" name="nd2-t"/>
          <p:cNvSpPr txBox="1"/>
          <p:nvPr/>
        </p:nvSpPr>
        <p:spPr>
          <a:xfrm>
            <a:off x="5461000" y="29972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Initial consideration set</a:t>
            </a:r>
            <a:endParaRPr lang="en-US" sz="1150" noProof="1"/>
          </a:p>
        </p:txBody>
      </p:sp>
      <p:sp>
        <p:nvSpPr>
          <p:cNvPr id="12" name="nd3"/>
          <p:cNvSpPr/>
          <p:nvPr/>
        </p:nvSpPr>
        <p:spPr>
          <a:xfrm>
            <a:off x="4064000" y="4813300"/>
            <a:ext cx="660400" cy="660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3" name="nd3-n"/>
          <p:cNvSpPr txBox="1"/>
          <p:nvPr/>
        </p:nvSpPr>
        <p:spPr>
          <a:xfrm>
            <a:off x="4064000" y="48133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Unna"/>
                <a:ea typeface="Unna"/>
              </a:rPr>
              <a:t>3</a:t>
            </a:r>
            <a:endParaRPr lang="en-US" sz="1600" noProof="1"/>
          </a:p>
        </p:txBody>
      </p:sp>
      <p:sp>
        <p:nvSpPr>
          <p:cNvPr id="14" name="nd3-t"/>
          <p:cNvSpPr txBox="1"/>
          <p:nvPr/>
        </p:nvSpPr>
        <p:spPr>
          <a:xfrm>
            <a:off x="4851400" y="4864100"/>
            <a:ext cx="1397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Active evaluation</a:t>
            </a:r>
            <a:endParaRPr lang="en-US" sz="1150" noProof="1"/>
          </a:p>
        </p:txBody>
      </p:sp>
      <p:sp>
        <p:nvSpPr>
          <p:cNvPr id="15" name="nd4"/>
          <p:cNvSpPr/>
          <p:nvPr/>
        </p:nvSpPr>
        <p:spPr>
          <a:xfrm>
            <a:off x="2133600" y="4813300"/>
            <a:ext cx="660400" cy="660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16" name="nd4-n"/>
          <p:cNvSpPr txBox="1"/>
          <p:nvPr/>
        </p:nvSpPr>
        <p:spPr>
          <a:xfrm>
            <a:off x="2133600" y="48133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Unna"/>
                <a:ea typeface="Unna"/>
              </a:rPr>
              <a:t>4</a:t>
            </a:r>
            <a:endParaRPr lang="en-US" sz="1600" noProof="1"/>
          </a:p>
        </p:txBody>
      </p:sp>
      <p:sp>
        <p:nvSpPr>
          <p:cNvPr id="17" name="nd4-t"/>
          <p:cNvSpPr txBox="1"/>
          <p:nvPr/>
        </p:nvSpPr>
        <p:spPr>
          <a:xfrm>
            <a:off x="711200" y="4864100"/>
            <a:ext cx="1320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Moment of purchase</a:t>
            </a:r>
            <a:endParaRPr lang="en-US" sz="1150" noProof="1"/>
          </a:p>
        </p:txBody>
      </p:sp>
      <p:sp>
        <p:nvSpPr>
          <p:cNvPr id="18" name="nd5"/>
          <p:cNvSpPr/>
          <p:nvPr/>
        </p:nvSpPr>
        <p:spPr>
          <a:xfrm>
            <a:off x="1524000" y="2971800"/>
            <a:ext cx="660400" cy="660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9" name="nd5-n"/>
          <p:cNvSpPr txBox="1"/>
          <p:nvPr/>
        </p:nvSpPr>
        <p:spPr>
          <a:xfrm>
            <a:off x="1524000" y="29718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Unna"/>
                <a:ea typeface="Unna"/>
              </a:rPr>
              <a:t>5</a:t>
            </a:r>
            <a:endParaRPr lang="en-US" sz="1600" noProof="1"/>
          </a:p>
        </p:txBody>
      </p:sp>
      <p:sp>
        <p:nvSpPr>
          <p:cNvPr id="20" name="nd5-t"/>
          <p:cNvSpPr txBox="1"/>
          <p:nvPr/>
        </p:nvSpPr>
        <p:spPr>
          <a:xfrm>
            <a:off x="203200" y="2997200"/>
            <a:ext cx="1219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2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Post-purchase experience</a:t>
            </a:r>
            <a:endParaRPr lang="en-US" sz="1150" noProof="1"/>
          </a:p>
        </p:txBody>
      </p:sp>
      <p:sp>
        <p:nvSpPr>
          <p:cNvPr id="21" name="col-head"/>
          <p:cNvSpPr txBox="1"/>
          <p:nvPr/>
        </p:nvSpPr>
        <p:spPr>
          <a:xfrm>
            <a:off x="7112000" y="1422400"/>
            <a:ext cx="4368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The four battleground phases</a:t>
            </a:r>
            <a:endParaRPr lang="en-US" sz="1300" noProof="1"/>
          </a:p>
        </p:txBody>
      </p:sp>
      <p:sp>
        <p:nvSpPr>
          <p:cNvPr id="22" name="col-text"/>
          <p:cNvSpPr txBox="1"/>
          <p:nvPr/>
        </p:nvSpPr>
        <p:spPr>
          <a:xfrm>
            <a:off x="7112000" y="1727200"/>
            <a:ext cx="43688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1 · Initial consideration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brands that come to mind when the trigger hits; built by prior experience more than by ads.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2 · Active evaluation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research, reviews, comparison; brands are </a:t>
            </a:r>
            <a:r>
              <a:rPr lang="en-US" sz="1150" noProof="1" i="1">
                <a:solidFill>
                  <a:srgbClr val="23272E"/>
                </a:solidFill>
                <a:latin typeface="Quattrocento Sans"/>
                <a:ea typeface="Quattrocento Sans"/>
              </a:rPr>
              <a:t>added and dropped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here — the moment funnels miss.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3 · Moment of purchase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checkout experience, availability, price presentation.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700"/>
              </a:spcBef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4 · Post-purchase experience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usage, service, unboxing; drives the loyalty loop.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150" noProof="1" b="1">
                <a:solidFill>
                  <a:srgbClr val="BC4B26"/>
                </a:solidFill>
                <a:latin typeface="Quattrocento Sans"/>
                <a:ea typeface="Quattrocento Sans"/>
              </a:rPr>
              <a:t>Watch out: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McKinsey separates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active loyalists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(advocates) from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passive loyalists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— repeat buyers who are open to being poached.</a:t>
            </a:r>
            <a:endParaRPr lang="en-US" sz="1150" noProof="1"/>
          </a:p>
        </p:txBody>
      </p:sp>
      <p:sp>
        <p:nvSpPr>
          <p:cNvPr id="23" name="col-src"/>
          <p:cNvSpPr txBox="1"/>
          <p:nvPr/>
        </p:nvSpPr>
        <p:spPr>
          <a:xfrm>
            <a:off x="7112000" y="58674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Court, Elzinga, Mulder &amp; Vetvik, McKinsey Quarterly, 2009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(~20,000 consumers, five industries, three continents)</a:t>
            </a:r>
            <a:endParaRPr lang="en-US" sz="1000" noProof="1"/>
          </a:p>
        </p:txBody>
      </p:sp>
      <p:sp>
        <p:nvSpPr>
          <p:cNvPr id="24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6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7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07</a:t>
            </a:r>
            <a:endParaRPr lang="en-US" sz="9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2 · CONSUMER BEHAVIOUR IN THE DIGITAL AGE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Same shopper, two maps: when the funnel lies and the journey explains</a:t>
            </a:r>
            <a:endParaRPr lang="en-US" sz="2600" noProof="1"/>
          </a:p>
        </p:txBody>
      </p:sp>
      <p:sp>
        <p:nvSpPr>
          <p:cNvPr id="4" name="scen"/>
          <p:cNvSpPr txBox="1"/>
          <p:nvPr/>
        </p:nvSpPr>
        <p:spPr>
          <a:xfrm>
            <a:off x="711200" y="12700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Illustrative example — one smartphone purchase traced through both models.</a:t>
            </a:r>
            <a:endParaRPr lang="en-US" sz="1100" noProof="1"/>
          </a:p>
        </p:txBody>
      </p:sp>
      <p:sp>
        <p:nvSpPr>
          <p:cNvPr id="5" name="left-head"/>
          <p:cNvSpPr txBox="1"/>
          <p:nvPr/>
        </p:nvSpPr>
        <p:spPr>
          <a:xfrm>
            <a:off x="711200" y="157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75E54"/>
                </a:solidFill>
                <a:latin typeface="Quattrocento Sans"/>
                <a:ea typeface="Quattrocento Sans"/>
              </a:rPr>
              <a:t>Through the funnel — the brand's plan</a:t>
            </a:r>
            <a:endParaRPr lang="en-US" sz="1350" noProof="1"/>
          </a:p>
        </p:txBody>
      </p:sp>
      <p:sp>
        <p:nvSpPr>
          <p:cNvPr id="6" name="left-text"/>
          <p:cNvSpPr txBox="1"/>
          <p:nvPr/>
        </p:nvSpPr>
        <p:spPr>
          <a:xfrm>
            <a:off x="711200" y="1905000"/>
            <a:ext cx="5080000" cy="274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1.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Aware of 8 brands (ads, sponsorships)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2.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Familiar with 5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3.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Considers 3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4.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Buys 1 — case closed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5.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"Loyal" by assumption</a:t>
            </a:r>
            <a:endParaRPr lang="en-US" sz="125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250" noProof="1">
                <a:solidFill>
                  <a:srgbClr val="6E675C"/>
                </a:solidFill>
                <a:latin typeface="Quattrocento Sans"/>
                <a:ea typeface="Quattrocento Sans"/>
              </a:rPr>
              <a:t>Neat, linear, marketer-driven. Nothing is ever added; nobody comes back.</a:t>
            </a:r>
            <a:endParaRPr lang="en-US" sz="1250" noProof="1"/>
          </a:p>
        </p:txBody>
      </p:sp>
      <p:sp>
        <p:nvSpPr>
          <p:cNvPr id="7" name="mid-rule"/>
          <p:cNvSpPr/>
          <p:nvPr/>
        </p:nvSpPr>
        <p:spPr>
          <a:xfrm>
            <a:off x="6045200" y="1574800"/>
            <a:ext cx="12700" cy="32766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8" name="right-head"/>
          <p:cNvSpPr txBox="1"/>
          <p:nvPr/>
        </p:nvSpPr>
        <p:spPr>
          <a:xfrm>
            <a:off x="6400800" y="157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BC4B26"/>
                </a:solidFill>
                <a:latin typeface="Quattrocento Sans"/>
                <a:ea typeface="Quattrocento Sans"/>
              </a:rPr>
              <a:t>Through the CDJ — what she actually did</a:t>
            </a:r>
            <a:endParaRPr lang="en-US" sz="1350" noProof="1"/>
          </a:p>
        </p:txBody>
      </p:sp>
      <p:sp>
        <p:nvSpPr>
          <p:cNvPr id="9" name="right-text"/>
          <p:cNvSpPr txBox="1"/>
          <p:nvPr/>
        </p:nvSpPr>
        <p:spPr>
          <a:xfrm>
            <a:off x="6400800" y="1905000"/>
            <a:ext cx="5080000" cy="294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Trigger: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her old phone dies.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Initial set: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the 2 brands she has owned — built by experience, not ads.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Active evaluation: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a YouTube review </a:t>
            </a:r>
            <a:r>
              <a:rPr lang="en-US" sz="1250" noProof="1" i="1">
                <a:solidFill>
                  <a:srgbClr val="23272E"/>
                </a:solidFill>
                <a:latin typeface="Quattrocento Sans"/>
                <a:ea typeface="Quattrocento Sans"/>
              </a:rPr>
              <a:t>adds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a challenger; bad reviews </a:t>
            </a:r>
            <a:r>
              <a:rPr lang="en-US" sz="1250" noProof="1" i="1">
                <a:solidFill>
                  <a:srgbClr val="23272E"/>
                </a:solidFill>
                <a:latin typeface="Quattrocento Sans"/>
                <a:ea typeface="Quattrocento Sans"/>
              </a:rPr>
              <a:t>drop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a familiar brand.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Purchase: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the challenger wins at checkout.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Post-purchase: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she posts a review — her experience seeds the next trigger, hers or someone else's.</a:t>
            </a:r>
            <a:endParaRPr lang="en-US" sz="1250" noProof="1"/>
          </a:p>
        </p:txBody>
      </p:sp>
      <p:sp>
        <p:nvSpPr>
          <p:cNvPr id="10" name="judge-band"/>
          <p:cNvSpPr/>
          <p:nvPr/>
        </p:nvSpPr>
        <p:spPr>
          <a:xfrm>
            <a:off x="711200" y="5054600"/>
            <a:ext cx="10769600" cy="10668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1" name="judge-head"/>
          <p:cNvSpPr txBox="1"/>
          <p:nvPr/>
        </p:nvSpPr>
        <p:spPr>
          <a:xfrm>
            <a:off x="914400" y="5181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WHEN TO USE WHICH — JUDGMENT CRITERIA</a:t>
            </a:r>
            <a:endParaRPr lang="en-US" sz="1200" noProof="1"/>
          </a:p>
        </p:txBody>
      </p:sp>
      <p:sp>
        <p:nvSpPr>
          <p:cNvPr id="12" name="judge-text"/>
          <p:cNvSpPr txBox="1"/>
          <p:nvPr/>
        </p:nvSpPr>
        <p:spPr>
          <a:xfrm>
            <a:off x="914400" y="5435600"/>
            <a:ext cx="1036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Funnel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planning media and awareness budgets; simple, low-involvement categories. ·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CDJ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diagnosing where buyers are actually won or lost, and reallocating spend to evaluation and post-purchase touchpoints.</a:t>
            </a:r>
            <a:endParaRPr lang="en-US" sz="1200" noProof="1"/>
          </a:p>
        </p:txBody>
      </p:sp>
      <p:sp>
        <p:nvSpPr>
          <p:cNvPr id="13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08</a:t>
            </a:r>
            <a:endParaRPr lang="en-US" sz="9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CONCEPT · GOOGLE'S MICRO-MOMENTS (2015)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Four micro-moments: every reflexive reach for the phone is one of four needs</a:t>
            </a:r>
            <a:endParaRPr lang="en-US" sz="2600" noProof="1"/>
          </a:p>
        </p:txBody>
      </p:sp>
      <p:sp>
        <p:nvSpPr>
          <p:cNvPr id="4" name="mm1-icon"/>
          <p:cNvSpPr/>
          <p:nvPr>
            <p:extLst>
              <p:ext uri="{F5677B7D-0D2A-4D9B-9A5C-6D8D7D0E5A5D}">
                <pptd:icon encoding="base64url">eyJpY29uTmFtZSI6ImZhczptYWduaWZ5aW5nLWdsYXNzIn0</pptd:icon>
              </p:ext>
            </p:extLst>
          </p:nvPr>
        </p:nvSpPr>
        <p:spPr>
          <a:xfrm>
            <a:off x="711200" y="1498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208" y="352"/>
                </a:moveTo>
                <a:cubicBezTo>
                  <a:pt x="288" y="352"/>
                  <a:pt x="352" y="288"/>
                  <a:pt x="352" y="208"/>
                </a:cubicBezTo>
                <a:cubicBezTo>
                  <a:pt x="352" y="128"/>
                  <a:pt x="288" y="64"/>
                  <a:pt x="208" y="64"/>
                </a:cubicBezTo>
                <a:cubicBezTo>
                  <a:pt x="128" y="64"/>
                  <a:pt x="64" y="128"/>
                  <a:pt x="64" y="208"/>
                </a:cubicBezTo>
                <a:cubicBezTo>
                  <a:pt x="64" y="288"/>
                  <a:pt x="128" y="352"/>
                  <a:pt x="208" y="352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mm1-name"/>
          <p:cNvSpPr txBox="1"/>
          <p:nvPr/>
        </p:nvSpPr>
        <p:spPr>
          <a:xfrm>
            <a:off x="1270000" y="1422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I-want-to-know</a:t>
            </a:r>
            <a:endParaRPr lang="en-US" sz="1400" noProof="1"/>
          </a:p>
        </p:txBody>
      </p:sp>
      <p:sp>
        <p:nvSpPr>
          <p:cNvPr id="6" name="mm1-def"/>
          <p:cNvSpPr txBox="1"/>
          <p:nvPr/>
        </p:nvSpPr>
        <p:spPr>
          <a:xfrm>
            <a:off x="1270000" y="1701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Researching or exploring — curious, not yet in purchase mode. Preferences are shaped here long before a cart exists.</a:t>
            </a:r>
            <a:endParaRPr lang="en-US" sz="1150" noProof="1"/>
          </a:p>
        </p:txBody>
      </p:sp>
      <p:sp>
        <p:nvSpPr>
          <p:cNvPr id="7" name="mm1-ex"/>
          <p:cNvSpPr txBox="1"/>
          <p:nvPr/>
        </p:nvSpPr>
        <p:spPr>
          <a:xfrm>
            <a:off x="6705600" y="14224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i="1">
                <a:solidFill>
                  <a:srgbClr val="23272E"/>
                </a:solidFill>
                <a:latin typeface="Quattrocento Sans"/>
                <a:ea typeface="Quattrocento Sans"/>
              </a:rPr>
              <a:t>"is almond milk good in coffee?"</a:t>
            </a:r>
            <a:endParaRPr lang="en-US" sz="11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Brand job: useful, snackable answers — not a hard sell.</a:t>
            </a:r>
            <a:endParaRPr lang="en-US" sz="1150" noProof="1"/>
          </a:p>
        </p:txBody>
      </p:sp>
      <p:sp>
        <p:nvSpPr>
          <p:cNvPr id="8" name="mm1-rule"/>
          <p:cNvSpPr/>
          <p:nvPr/>
        </p:nvSpPr>
        <p:spPr>
          <a:xfrm>
            <a:off x="711200" y="24638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9" name="mm2-icon"/>
          <p:cNvSpPr/>
          <p:nvPr>
            <p:extLst>
              <p:ext uri="{F5677B7D-0D2A-4D9B-9A5C-6D8D7D0E5A5D}">
                <pptd:icon encoding="base64url">eyJpY29uTmFtZSI6ImZhczpsb2NhdGlvbi1kb3QifQ</pptd:icon>
              </p:ext>
            </p:extLst>
          </p:nvPr>
        </p:nvSpPr>
        <p:spPr>
          <a:xfrm>
            <a:off x="711200" y="2641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0" y="189"/>
                </a:moveTo>
                <a:cubicBezTo>
                  <a:pt x="0" y="84"/>
                  <a:pt x="86" y="0"/>
                  <a:pt x="192" y="0"/>
                </a:cubicBezTo>
                <a:cubicBezTo>
                  <a:pt x="298" y="0"/>
                  <a:pt x="384" y="84"/>
                  <a:pt x="384" y="189"/>
                </a:cubicBezTo>
                <a:cubicBezTo>
                  <a:pt x="384" y="308"/>
                  <a:pt x="264" y="451"/>
                  <a:pt x="214" y="505"/>
                </a:cubicBezTo>
                <a:cubicBezTo>
                  <a:pt x="202" y="518"/>
                  <a:pt x="182" y="518"/>
                  <a:pt x="170" y="505"/>
                </a:cubicBezTo>
                <a:cubicBezTo>
                  <a:pt x="120" y="451"/>
                  <a:pt x="0" y="308"/>
                  <a:pt x="0" y="189"/>
                </a:cubicBezTo>
                <a:close/>
                <a:moveTo>
                  <a:pt x="192" y="256"/>
                </a:moveTo>
                <a:cubicBezTo>
                  <a:pt x="227" y="256"/>
                  <a:pt x="256" y="227"/>
                  <a:pt x="256" y="192"/>
                </a:cubicBezTo>
                <a:cubicBezTo>
                  <a:pt x="256" y="157"/>
                  <a:pt x="227" y="128"/>
                  <a:pt x="192" y="128"/>
                </a:cubicBezTo>
                <a:cubicBezTo>
                  <a:pt x="157" y="128"/>
                  <a:pt x="128" y="157"/>
                  <a:pt x="128" y="192"/>
                </a:cubicBezTo>
                <a:cubicBezTo>
                  <a:pt x="128" y="227"/>
                  <a:pt x="157" y="256"/>
                  <a:pt x="192" y="256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0" name="mm2-name"/>
          <p:cNvSpPr txBox="1"/>
          <p:nvPr/>
        </p:nvSpPr>
        <p:spPr>
          <a:xfrm>
            <a:off x="1270000" y="2565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I-want-to-go</a:t>
            </a:r>
            <a:endParaRPr lang="en-US" sz="1400" noProof="1"/>
          </a:p>
        </p:txBody>
      </p:sp>
      <p:sp>
        <p:nvSpPr>
          <p:cNvPr id="11" name="mm2-def"/>
          <p:cNvSpPr txBox="1"/>
          <p:nvPr/>
        </p:nvSpPr>
        <p:spPr>
          <a:xfrm>
            <a:off x="1270000" y="2844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Looking for a local business or considering buying a product at a nearby store — the digital-to-physical bridge.</a:t>
            </a:r>
            <a:endParaRPr lang="en-US" sz="1150" noProof="1"/>
          </a:p>
        </p:txBody>
      </p:sp>
      <p:sp>
        <p:nvSpPr>
          <p:cNvPr id="12" name="mm2-ex"/>
          <p:cNvSpPr txBox="1"/>
          <p:nvPr/>
        </p:nvSpPr>
        <p:spPr>
          <a:xfrm>
            <a:off x="6705600" y="25654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i="1">
                <a:solidFill>
                  <a:srgbClr val="23272E"/>
                </a:solidFill>
                <a:latin typeface="Quattrocento Sans"/>
                <a:ea typeface="Quattrocento Sans"/>
              </a:rPr>
              <a:t>"pharmacy open now near me"</a:t>
            </a:r>
            <a:endParaRPr lang="en-US" sz="11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Brand job: accurate listings, maps presence, local inventory ads.</a:t>
            </a:r>
            <a:endParaRPr lang="en-US" sz="1150" noProof="1"/>
          </a:p>
        </p:txBody>
      </p:sp>
      <p:sp>
        <p:nvSpPr>
          <p:cNvPr id="13" name="mm2-rule"/>
          <p:cNvSpPr/>
          <p:nvPr/>
        </p:nvSpPr>
        <p:spPr>
          <a:xfrm>
            <a:off x="711200" y="36068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4" name="mm3-icon"/>
          <p:cNvSpPr/>
          <p:nvPr>
            <p:extLst>
              <p:ext uri="{F5677B7D-0D2A-4D9B-9A5C-6D8D7D0E5A5D}">
                <pptd:icon encoding="base64url">eyJpY29uTmFtZSI6ImZhczpzY3Jld2RyaXZlci13cmVuY2gifQ</pptd:icon>
              </p:ext>
            </p:extLst>
          </p:nvPr>
        </p:nvSpPr>
        <p:spPr>
          <a:xfrm>
            <a:off x="711200" y="3784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5" name="mm3-name"/>
          <p:cNvSpPr txBox="1"/>
          <p:nvPr/>
        </p:nvSpPr>
        <p:spPr>
          <a:xfrm>
            <a:off x="1270000" y="3708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I-want-to-do</a:t>
            </a:r>
            <a:endParaRPr lang="en-US" sz="1400" noProof="1"/>
          </a:p>
        </p:txBody>
      </p:sp>
      <p:sp>
        <p:nvSpPr>
          <p:cNvPr id="16" name="mm3-def"/>
          <p:cNvSpPr txBox="1"/>
          <p:nvPr/>
        </p:nvSpPr>
        <p:spPr>
          <a:xfrm>
            <a:off x="1270000" y="3987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Needs help completing a task or trying something new — "how-to" intent, often mid-task and on mobile.</a:t>
            </a:r>
            <a:endParaRPr lang="en-US" sz="1150" noProof="1"/>
          </a:p>
        </p:txBody>
      </p:sp>
      <p:sp>
        <p:nvSpPr>
          <p:cNvPr id="17" name="mm3-ex"/>
          <p:cNvSpPr txBox="1"/>
          <p:nvPr/>
        </p:nvSpPr>
        <p:spPr>
          <a:xfrm>
            <a:off x="6705600" y="37084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i="1">
                <a:solidFill>
                  <a:srgbClr val="23272E"/>
                </a:solidFill>
                <a:latin typeface="Quattrocento Sans"/>
                <a:ea typeface="Quattrocento Sans"/>
              </a:rPr>
              <a:t>"how to fix a leaking tap video"</a:t>
            </a:r>
            <a:endParaRPr lang="en-US" sz="11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Brand job: how-to content that shows the product in use.</a:t>
            </a:r>
            <a:endParaRPr lang="en-US" sz="1150" noProof="1"/>
          </a:p>
        </p:txBody>
      </p:sp>
      <p:sp>
        <p:nvSpPr>
          <p:cNvPr id="18" name="mm3-rule"/>
          <p:cNvSpPr/>
          <p:nvPr/>
        </p:nvSpPr>
        <p:spPr>
          <a:xfrm>
            <a:off x="711200" y="47498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9" name="mm4-icon"/>
          <p:cNvSpPr/>
          <p:nvPr>
            <p:extLst>
              <p:ext uri="{F5677B7D-0D2A-4D9B-9A5C-6D8D7D0E5A5D}">
                <pptd:icon encoding="base64url">eyJpY29uTmFtZSI6ImZhczpjYXJ0LXNob3BwaW5nIn0</pptd:icon>
              </p:ext>
            </p:extLst>
          </p:nvPr>
        </p:nvSpPr>
        <p:spPr>
          <a:xfrm>
            <a:off x="711200" y="4927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4" y="-16"/>
                </a:moveTo>
                <a:cubicBezTo>
                  <a:pt x="11" y="-16"/>
                  <a:pt x="0" y="-5"/>
                  <a:pt x="0" y="8"/>
                </a:cubicBezTo>
                <a:cubicBezTo>
                  <a:pt x="0" y="21"/>
                  <a:pt x="11" y="32"/>
                  <a:pt x="24" y="32"/>
                </a:cubicBezTo>
                <a:lnTo>
                  <a:pt x="69" y="32"/>
                </a:lnTo>
                <a:cubicBezTo>
                  <a:pt x="73" y="32"/>
                  <a:pt x="77" y="35"/>
                  <a:pt x="77" y="39"/>
                </a:cubicBezTo>
                <a:lnTo>
                  <a:pt x="129" y="325"/>
                </a:lnTo>
                <a:cubicBezTo>
                  <a:pt x="136" y="359"/>
                  <a:pt x="165" y="384"/>
                  <a:pt x="200" y="384"/>
                </a:cubicBezTo>
                <a:lnTo>
                  <a:pt x="456" y="384"/>
                </a:lnTo>
                <a:cubicBezTo>
                  <a:pt x="469" y="384"/>
                  <a:pt x="480" y="373"/>
                  <a:pt x="480" y="360"/>
                </a:cubicBezTo>
                <a:cubicBezTo>
                  <a:pt x="480" y="347"/>
                  <a:pt x="469" y="336"/>
                  <a:pt x="456" y="336"/>
                </a:cubicBezTo>
                <a:lnTo>
                  <a:pt x="200" y="336"/>
                </a:lnTo>
                <a:cubicBezTo>
                  <a:pt x="189" y="336"/>
                  <a:pt x="179" y="328"/>
                  <a:pt x="177" y="316"/>
                </a:cubicBezTo>
                <a:lnTo>
                  <a:pt x="171" y="288"/>
                </a:lnTo>
                <a:lnTo>
                  <a:pt x="475" y="288"/>
                </a:lnTo>
                <a:cubicBezTo>
                  <a:pt x="506" y="288"/>
                  <a:pt x="532" y="266"/>
                  <a:pt x="538" y="236"/>
                </a:cubicBezTo>
                <a:lnTo>
                  <a:pt x="569" y="70"/>
                </a:lnTo>
                <a:cubicBezTo>
                  <a:pt x="573" y="50"/>
                  <a:pt x="558" y="32"/>
                  <a:pt x="537" y="32"/>
                </a:cubicBezTo>
                <a:lnTo>
                  <a:pt x="125" y="32"/>
                </a:lnTo>
                <a:lnTo>
                  <a:pt x="124" y="30"/>
                </a:lnTo>
                <a:cubicBezTo>
                  <a:pt x="119" y="3"/>
                  <a:pt x="96" y="-16"/>
                  <a:pt x="69" y="-16"/>
                </a:cubicBezTo>
                <a:lnTo>
                  <a:pt x="24" y="-16"/>
                </a:lnTo>
                <a:close/>
              </a:path>
              <a:path w="640" h="512">
                <a:moveTo>
                  <a:pt x="208" y="512"/>
                </a:moveTo>
                <a:cubicBezTo>
                  <a:pt x="235" y="512"/>
                  <a:pt x="256" y="491"/>
                  <a:pt x="256" y="464"/>
                </a:cubicBezTo>
                <a:cubicBezTo>
                  <a:pt x="256" y="437"/>
                  <a:pt x="235" y="416"/>
                  <a:pt x="208" y="416"/>
                </a:cubicBezTo>
                <a:cubicBezTo>
                  <a:pt x="181" y="416"/>
                  <a:pt x="160" y="437"/>
                  <a:pt x="160" y="464"/>
                </a:cubicBezTo>
                <a:cubicBezTo>
                  <a:pt x="160" y="491"/>
                  <a:pt x="181" y="512"/>
                  <a:pt x="208" y="512"/>
                </a:cubicBezTo>
                <a:close/>
              </a:path>
              <a:path w="640" h="512">
                <a:moveTo>
                  <a:pt x="432" y="512"/>
                </a:moveTo>
                <a:cubicBezTo>
                  <a:pt x="459" y="512"/>
                  <a:pt x="480" y="491"/>
                  <a:pt x="480" y="464"/>
                </a:cubicBezTo>
                <a:cubicBezTo>
                  <a:pt x="480" y="437"/>
                  <a:pt x="459" y="416"/>
                  <a:pt x="432" y="416"/>
                </a:cubicBezTo>
                <a:cubicBezTo>
                  <a:pt x="405" y="416"/>
                  <a:pt x="384" y="437"/>
                  <a:pt x="384" y="464"/>
                </a:cubicBezTo>
                <a:cubicBezTo>
                  <a:pt x="384" y="491"/>
                  <a:pt x="405" y="512"/>
                  <a:pt x="432" y="512"/>
                </a:cubicBezTo>
                <a:close/>
              </a:path>
            </a:pathLst>
          </a:custGeom>
          <a:solidFill>
            <a:srgbClr val="BC4B26"/>
          </a:solidFill>
          <a:ln>
            <a:noFill/>
          </a:ln>
        </p:spPr>
      </p:sp>
      <p:sp>
        <p:nvSpPr>
          <p:cNvPr id="20" name="mm4-name"/>
          <p:cNvSpPr txBox="1"/>
          <p:nvPr/>
        </p:nvSpPr>
        <p:spPr>
          <a:xfrm>
            <a:off x="1270000" y="4851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C4B26"/>
                </a:solidFill>
                <a:latin typeface="Quattrocento Sans"/>
                <a:ea typeface="Quattrocento Sans"/>
              </a:rPr>
              <a:t>I-want-to-buy</a:t>
            </a:r>
            <a:endParaRPr lang="en-US" sz="1400" noProof="1"/>
          </a:p>
        </p:txBody>
      </p:sp>
      <p:sp>
        <p:nvSpPr>
          <p:cNvPr id="21" name="mm4-def"/>
          <p:cNvSpPr txBox="1"/>
          <p:nvPr/>
        </p:nvSpPr>
        <p:spPr>
          <a:xfrm>
            <a:off x="1270000" y="5130800"/>
            <a:ext cx="5080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Ready to purchase — needs help deciding what to buy or how to buy it. The moment of highest commercial value.</a:t>
            </a:r>
            <a:endParaRPr lang="en-US" sz="1150" noProof="1"/>
          </a:p>
        </p:txBody>
      </p:sp>
      <p:sp>
        <p:nvSpPr>
          <p:cNvPr id="22" name="mm4-ex"/>
          <p:cNvSpPr txBox="1"/>
          <p:nvPr/>
        </p:nvSpPr>
        <p:spPr>
          <a:xfrm>
            <a:off x="6705600" y="4851400"/>
            <a:ext cx="47752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 i="1">
                <a:solidFill>
                  <a:srgbClr val="23272E"/>
                </a:solidFill>
                <a:latin typeface="Quattrocento Sans"/>
                <a:ea typeface="Quattrocento Sans"/>
              </a:rPr>
              <a:t>"iPhone 17 best price"</a:t>
            </a:r>
            <a:endParaRPr lang="en-US" sz="11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Brand job: clear price and stock, fast checkout, no surprises.</a:t>
            </a:r>
            <a:endParaRPr lang="en-US" sz="1150" noProof="1"/>
          </a:p>
        </p:txBody>
      </p:sp>
      <p:sp>
        <p:nvSpPr>
          <p:cNvPr id="23" name="mm-src"/>
          <p:cNvSpPr txBox="1"/>
          <p:nvPr/>
        </p:nvSpPr>
        <p:spPr>
          <a:xfrm>
            <a:off x="711200" y="60198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Think with Google (Sridhar Ramaswamy), 2015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— "intent-rich moments when decisions are made and preferences shaped"</a:t>
            </a:r>
            <a:endParaRPr lang="en-US" sz="1000" noProof="1"/>
          </a:p>
        </p:txBody>
      </p:sp>
      <p:sp>
        <p:nvSpPr>
          <p:cNvPr id="24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6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7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09</a:t>
            </a:r>
            <a:endParaRPr lang="en-US" sz="9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STRATEGY · MICRO-MOMENT MARKETING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Winning the moment: be there, be useful, be quick</a:t>
            </a:r>
            <a:endParaRPr lang="en-US" sz="2600" noProof="1"/>
          </a:p>
        </p:txBody>
      </p:sp>
      <p:sp>
        <p:nvSpPr>
          <p:cNvPr id="4" name="chev1"/>
          <p:cNvSpPr/>
          <p:nvPr/>
        </p:nvSpPr>
        <p:spPr>
          <a:xfrm>
            <a:off x="711200" y="1473200"/>
            <a:ext cx="3657600" cy="711200"/>
          </a:xfrm>
          <a:prstGeom prst="homePlat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5" name="chev1-t"/>
          <p:cNvSpPr txBox="1"/>
          <p:nvPr/>
        </p:nvSpPr>
        <p:spPr>
          <a:xfrm>
            <a:off x="914400" y="1549400"/>
            <a:ext cx="314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250" noProof="1" b="1">
                <a:solidFill>
                  <a:srgbClr val="FFFFFF"/>
                </a:solidFill>
                <a:latin typeface="Quattrocento Sans"/>
                <a:ea typeface="Quattrocento Sans"/>
              </a:rPr>
              <a:t>1 · BE THERE</a:t>
            </a:r>
            <a:endParaRPr lang="en-US" sz="1250" noProof="1"/>
          </a:p>
          <a:p>
            <a:pPr algn="l">
              <a:lnSpc>
                <a:spcPct val="125000"/>
              </a:lnSpc>
            </a:pPr>
            <a:r>
              <a:rPr lang="en-US" sz="1250" noProof="1">
                <a:solidFill>
                  <a:srgbClr val="FFFFFF"/>
                </a:solidFill>
                <a:latin typeface="Quattrocento Sans"/>
                <a:ea typeface="Quattrocento Sans"/>
              </a:rPr>
              <a:t>Anticipate the moments; cover them in search, maps, video</a:t>
            </a:r>
            <a:endParaRPr lang="en-US" sz="1250" noProof="1"/>
          </a:p>
        </p:txBody>
      </p:sp>
      <p:sp>
        <p:nvSpPr>
          <p:cNvPr id="6" name="chev2"/>
          <p:cNvSpPr/>
          <p:nvPr/>
        </p:nvSpPr>
        <p:spPr>
          <a:xfrm>
            <a:off x="4267200" y="1473200"/>
            <a:ext cx="3657600" cy="711200"/>
          </a:xfrm>
          <a:prstGeom prst="chevron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7" name="chev2-t"/>
          <p:cNvSpPr txBox="1"/>
          <p:nvPr/>
        </p:nvSpPr>
        <p:spPr>
          <a:xfrm>
            <a:off x="4673600" y="1549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250" noProof="1" b="1">
                <a:solidFill>
                  <a:srgbClr val="FFFFFF"/>
                </a:solidFill>
                <a:latin typeface="Quattrocento Sans"/>
                <a:ea typeface="Quattrocento Sans"/>
              </a:rPr>
              <a:t>2 · BE USEFUL</a:t>
            </a:r>
            <a:endParaRPr lang="en-US" sz="1250" noProof="1"/>
          </a:p>
          <a:p>
            <a:pPr algn="l">
              <a:lnSpc>
                <a:spcPct val="125000"/>
              </a:lnSpc>
            </a:pPr>
            <a:r>
              <a:rPr lang="en-US" sz="1250" noProof="1">
                <a:solidFill>
                  <a:srgbClr val="FFFFFF"/>
                </a:solidFill>
                <a:latin typeface="Quattrocento Sans"/>
                <a:ea typeface="Quattrocento Sans"/>
              </a:rPr>
              <a:t>Answer the moment's actual question, not your brand story</a:t>
            </a:r>
            <a:endParaRPr lang="en-US" sz="1250" noProof="1"/>
          </a:p>
        </p:txBody>
      </p:sp>
      <p:sp>
        <p:nvSpPr>
          <p:cNvPr id="8" name="chev3"/>
          <p:cNvSpPr/>
          <p:nvPr/>
        </p:nvSpPr>
        <p:spPr>
          <a:xfrm>
            <a:off x="7823200" y="1473200"/>
            <a:ext cx="3657600" cy="711200"/>
          </a:xfrm>
          <a:prstGeom prst="chevron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9" name="chev3-t"/>
          <p:cNvSpPr txBox="1"/>
          <p:nvPr/>
        </p:nvSpPr>
        <p:spPr>
          <a:xfrm>
            <a:off x="8229600" y="15494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5000"/>
              </a:lnSpc>
            </a:pPr>
            <a:r>
              <a:rPr lang="en-US" sz="1250" noProof="1" b="1">
                <a:solidFill>
                  <a:srgbClr val="FFFFFF"/>
                </a:solidFill>
                <a:latin typeface="Quattrocento Sans"/>
                <a:ea typeface="Quattrocento Sans"/>
              </a:rPr>
              <a:t>3 · BE QUICK</a:t>
            </a:r>
            <a:endParaRPr lang="en-US" sz="1250" noProof="1"/>
          </a:p>
          <a:p>
            <a:pPr algn="l">
              <a:lnSpc>
                <a:spcPct val="125000"/>
              </a:lnSpc>
            </a:pPr>
            <a:r>
              <a:rPr lang="en-US" sz="1250" noProof="1">
                <a:solidFill>
                  <a:srgbClr val="FFFFFF"/>
                </a:solidFill>
                <a:latin typeface="Quattrocento Sans"/>
                <a:ea typeface="Quattrocento Sans"/>
              </a:rPr>
              <a:t>Sub-3-second mobile load; frictionless next step</a:t>
            </a:r>
            <a:endParaRPr lang="en-US" sz="1250" noProof="1"/>
          </a:p>
        </p:txBody>
      </p:sp>
      <p:graphicFrame>
        <p:nvGraphicFramePr>
          <p:cNvPr id="10" name="tbl"/>
          <p:cNvGraphicFramePr>
            <a:graphicFrameLocks noGrp="1"/>
          </p:cNvGraphicFramePr>
          <p:nvPr/>
        </p:nvGraphicFramePr>
        <p:xfrm>
          <a:off x="711200" y="2438400"/>
          <a:ext cx="7874000" cy="3098800"/>
        </p:xfrm>
        <a:graphic>
          <a:graphicData uri="http://schemas.openxmlformats.org/drawingml/2006/table">
            <a:tbl>
              <a:tblPr/>
              <a:tblGrid>
                <a:gridCol w="1889760"/>
                <a:gridCol w="5984240"/>
              </a:tblGrid>
              <a:tr h="4958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Moment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How brands win it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6507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I-want-to-know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Search coverage, comparison pages, expert content that answers the real question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6507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I-want-to-go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Accurate map listings, opening hours, local inventory ads ("in stock 2 km away")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6507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I-want-to-do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How-to videos and AR try-ons that feature the product inside the task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65074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I-want-to-buy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Price and stock clarity, reviews at hand, one-tap or wallet checkout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</a:tbl>
          </a:graphicData>
        </a:graphic>
      </p:graphicFrame>
      <p:sp>
        <p:nvSpPr>
          <p:cNvPr id="11" name="stat-num"/>
          <p:cNvSpPr txBox="1"/>
          <p:nvPr/>
        </p:nvSpPr>
        <p:spPr>
          <a:xfrm>
            <a:off x="8991600" y="2743200"/>
            <a:ext cx="2489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5200" noProof="1">
                <a:solidFill>
                  <a:srgbClr val="BC4B26"/>
                </a:solidFill>
                <a:latin typeface="Unna"/>
                <a:ea typeface="Unna"/>
              </a:rPr>
              <a:t>53%</a:t>
            </a:r>
            <a:endParaRPr lang="en-US" sz="5200" noProof="1"/>
          </a:p>
        </p:txBody>
      </p:sp>
      <p:sp>
        <p:nvSpPr>
          <p:cNvPr id="12" name="stat-label"/>
          <p:cNvSpPr txBox="1"/>
          <p:nvPr/>
        </p:nvSpPr>
        <p:spPr>
          <a:xfrm>
            <a:off x="8737600" y="3606800"/>
            <a:ext cx="2743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mobile visits are abandoned if a page takes longer than 3 seconds to load</a:t>
            </a:r>
            <a:endParaRPr lang="en-US" sz="1200" noProof="1"/>
          </a:p>
        </p:txBody>
      </p:sp>
      <p:sp>
        <p:nvSpPr>
          <p:cNvPr id="13" name="stat-note"/>
          <p:cNvSpPr txBox="1"/>
          <p:nvPr/>
        </p:nvSpPr>
        <p:spPr>
          <a:xfrm>
            <a:off x="8737600" y="4648200"/>
            <a:ext cx="2743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Speed is not an engineering metric — it is a marketing budget decision.</a:t>
            </a:r>
            <a:endParaRPr lang="en-US" sz="1100" noProof="1"/>
          </a:p>
        </p:txBody>
      </p:sp>
      <p:sp>
        <p:nvSpPr>
          <p:cNvPr id="14" name="stat-src"/>
          <p:cNvSpPr txBox="1"/>
          <p:nvPr/>
        </p:nvSpPr>
        <p:spPr>
          <a:xfrm>
            <a:off x="711200" y="57404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Think with Google, 2015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("be there, be useful, be quick"); Google/SOASTA mobile-speed research via Think with Google, 2017 (flag: 2017 figure, widely republished)</a:t>
            </a:r>
            <a:endParaRPr lang="en-US" sz="1000" noProof="1"/>
          </a:p>
        </p:txBody>
      </p:sp>
      <p:sp>
        <p:nvSpPr>
          <p:cNvPr id="15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7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10</a:t>
            </a:r>
            <a:endParaRPr lang="en-US" sz="95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· ELABORATION LIKELIHOOD MODEL (ELM)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Two routes to "yes": why some shoppers read specs and others read stars</a:t>
            </a:r>
            <a:endParaRPr lang="en-US" sz="2600" noProof="1"/>
          </a:p>
        </p:txBody>
      </p:sp>
      <p:sp>
        <p:nvSpPr>
          <p:cNvPr id="4" name="author"/>
          <p:cNvSpPr txBox="1"/>
          <p:nvPr/>
        </p:nvSpPr>
        <p:spPr>
          <a:xfrm>
            <a:off x="711200" y="12700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Richard E. Petty &amp; John T. Cacioppo, 1986 — Communication and Persuasion; Advances in Experimental Social Psychology, Vol. 19.</a:t>
            </a:r>
            <a:endParaRPr lang="en-US" sz="1100" noProof="1"/>
          </a:p>
        </p:txBody>
      </p:sp>
      <p:sp>
        <p:nvSpPr>
          <p:cNvPr id="5" name="msg-box"/>
          <p:cNvSpPr/>
          <p:nvPr/>
        </p:nvSpPr>
        <p:spPr>
          <a:xfrm>
            <a:off x="711200" y="2794000"/>
            <a:ext cx="2413000" cy="889000"/>
          </a:xfrm>
          <a:prstGeom prst="rect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6" name="msg-t"/>
          <p:cNvSpPr txBox="1"/>
          <p:nvPr/>
        </p:nvSpPr>
        <p:spPr>
          <a:xfrm>
            <a:off x="838200" y="2870200"/>
            <a:ext cx="2159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FFFFFF"/>
                </a:solidFill>
                <a:latin typeface="Quattrocento Sans"/>
                <a:ea typeface="Quattrocento Sans"/>
              </a:rPr>
              <a:t>Persuasive message — ad, product page, review</a:t>
            </a:r>
            <a:endParaRPr lang="en-US" sz="1150" noProof="1"/>
          </a:p>
        </p:txBody>
      </p:sp>
      <p:sp>
        <p:nvSpPr>
          <p:cNvPr id="7" name="gate-t"/>
          <p:cNvSpPr txBox="1"/>
          <p:nvPr/>
        </p:nvSpPr>
        <p:spPr>
          <a:xfrm>
            <a:off x="3124200" y="2997200"/>
            <a:ext cx="1219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050" noProof="1" i="1">
                <a:solidFill>
                  <a:srgbClr val="6E675C"/>
                </a:solidFill>
                <a:latin typeface="Quattrocento Sans"/>
                <a:ea typeface="Quattrocento Sans"/>
              </a:rPr>
              <a:t>Motivation × ability to process?</a:t>
            </a:r>
            <a:endParaRPr lang="en-US" sz="1050" noProof="1"/>
          </a:p>
        </p:txBody>
      </p:sp>
      <p:sp>
        <p:nvSpPr>
          <p:cNvPr id="8" name="arr-up"/>
          <p:cNvSpPr/>
          <p:nvPr>
            <p:extLst>
              <p:ext uri="{F5677B7D-0D2A-4D9B-9A5C-6D8D7D0E5A5D}">
                <pptd:line encoding="base64url">eyJ2aWV3Qm94IjpbNDQsNTVdLCJwb2ludHMiOiIwLDU1IDQ0LDAifQ</pptd:line>
              </p:ext>
            </p:extLst>
          </p:nvPr>
        </p:nvSpPr>
        <p:spPr>
          <a:xfrm>
            <a:off x="3632200" y="2349500"/>
            <a:ext cx="558800" cy="698500"/>
          </a:xfrm>
          <a:custGeom>
            <a:avLst/>
            <a:gdLst/>
            <a:ahLst/>
            <a:cxnLst/>
            <a:rect l="l" t="t" r="r" b="b"/>
            <a:pathLst>
              <a:path w="44" h="55">
                <a:moveTo>
                  <a:pt x="0" y="55"/>
                </a:moveTo>
                <a:lnTo>
                  <a:pt x="44" y="0"/>
                </a:lnTo>
              </a:path>
            </a:pathLst>
          </a:custGeom>
          <a:noFill/>
          <a:ln w="19050" cap="rnd">
            <a:solidFill>
              <a:srgbClr val="175E54"/>
            </a:solidFill>
            <a:round/>
            <a:tailEnd type="stealth"/>
          </a:ln>
        </p:spPr>
      </p:sp>
      <p:sp>
        <p:nvSpPr>
          <p:cNvPr id="9" name="arr-dn"/>
          <p:cNvSpPr/>
          <p:nvPr>
            <p:extLst>
              <p:ext uri="{F5677B7D-0D2A-4D9B-9A5C-6D8D7D0E5A5D}">
                <pptd:line encoding="base64url">eyJ2aWV3Qm94IjpbNDQsNTVdLCJwb2ludHMiOiIwLDAgNDQsNTUifQ</pptd:line>
              </p:ext>
            </p:extLst>
          </p:nvPr>
        </p:nvSpPr>
        <p:spPr>
          <a:xfrm>
            <a:off x="3632200" y="3810000"/>
            <a:ext cx="558800" cy="698500"/>
          </a:xfrm>
          <a:custGeom>
            <a:avLst/>
            <a:gdLst/>
            <a:ahLst/>
            <a:cxnLst/>
            <a:rect l="l" t="t" r="r" b="b"/>
            <a:pathLst>
              <a:path w="44" h="55">
                <a:moveTo>
                  <a:pt x="0" y="0"/>
                </a:moveTo>
                <a:lnTo>
                  <a:pt x="44" y="55"/>
                </a:lnTo>
              </a:path>
            </a:pathLst>
          </a:custGeom>
          <a:noFill/>
          <a:ln w="19050" cap="rnd">
            <a:solidFill>
              <a:srgbClr val="BC4B26"/>
            </a:solidFill>
            <a:round/>
            <a:tailEnd type="stealth"/>
          </a:ln>
        </p:spPr>
      </p:sp>
      <p:sp>
        <p:nvSpPr>
          <p:cNvPr id="10" name="central-band"/>
          <p:cNvSpPr/>
          <p:nvPr/>
        </p:nvSpPr>
        <p:spPr>
          <a:xfrm>
            <a:off x="4191000" y="1651000"/>
            <a:ext cx="7289800" cy="1397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1" name="central-t"/>
          <p:cNvSpPr txBox="1"/>
          <p:nvPr/>
        </p:nvSpPr>
        <p:spPr>
          <a:xfrm>
            <a:off x="4445000" y="1803400"/>
            <a:ext cx="67818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CENTRAL ROUTE — high elaboration (high motivation + ability)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Argument quality decides: facts, spec comparisons, deep reviews, warranty terms. Attitude change is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durable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and predicts behaviour.</a:t>
            </a:r>
            <a:endParaRPr lang="en-US" sz="1200" noProof="1"/>
          </a:p>
        </p:txBody>
      </p:sp>
      <p:sp>
        <p:nvSpPr>
          <p:cNvPr id="12" name="periph-band"/>
          <p:cNvSpPr/>
          <p:nvPr/>
        </p:nvSpPr>
        <p:spPr>
          <a:xfrm>
            <a:off x="4191000" y="3810000"/>
            <a:ext cx="7289800" cy="13970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13" name="periph-t"/>
          <p:cNvSpPr txBox="1"/>
          <p:nvPr/>
        </p:nvSpPr>
        <p:spPr>
          <a:xfrm>
            <a:off x="4445000" y="3962400"/>
            <a:ext cx="67818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PERIPHERAL ROUTE — low elaboration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Cues decide: star rating and count, "only 3 left" badges, influencer imagery, one-tap buy. Attitude change is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temporary and fragile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.</a:t>
            </a:r>
            <a:endParaRPr lang="en-US" sz="1200" noProof="1"/>
          </a:p>
        </p:txBody>
      </p:sp>
      <p:sp>
        <p:nvSpPr>
          <p:cNvPr id="14" name="app-band"/>
          <p:cNvSpPr/>
          <p:nvPr/>
        </p:nvSpPr>
        <p:spPr>
          <a:xfrm>
            <a:off x="711200" y="5486400"/>
            <a:ext cx="10769600" cy="6604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5" name="app-t"/>
          <p:cNvSpPr txBox="1"/>
          <p:nvPr/>
        </p:nvSpPr>
        <p:spPr>
          <a:xfrm>
            <a:off x="914400" y="55753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Commerce application: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one product page must serve both routes — and the same shopper switches routes by category. Segment by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decision context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, not demographics. Bonus insight: fake-scarcity cues "work" briefly — until central processing catches up and trust erodes.</a:t>
            </a:r>
            <a:endParaRPr lang="en-US" sz="115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11</a:t>
            </a:r>
            <a:endParaRPr lang="en-US" sz="95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APPLIED · ELM IN THE AISLE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High involvement reads the fine print; low involvement reads the room</a:t>
            </a:r>
            <a:endParaRPr lang="en-US" sz="2600" noProof="1"/>
          </a:p>
        </p:txBody>
      </p:sp>
      <p:sp>
        <p:nvSpPr>
          <p:cNvPr id="4" name="lap-icon"/>
          <p:cNvSpPr/>
          <p:nvPr>
            <p:extLst>
              <p:ext uri="{F5677B7D-0D2A-4D9B-9A5C-6D8D7D0E5A5D}">
                <pptd:icon encoding="base64url">eyJpY29uTmFtZSI6ImZhczpsYXB0b3AifQ</pptd:icon>
              </p:ext>
            </p:extLst>
          </p:nvPr>
        </p:nvSpPr>
        <p:spPr>
          <a:xfrm>
            <a:off x="711200" y="154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28" y="32"/>
                </a:moveTo>
                <a:cubicBezTo>
                  <a:pt x="93" y="32"/>
                  <a:pt x="64" y="61"/>
                  <a:pt x="64" y="96"/>
                </a:cubicBezTo>
                <a:lnTo>
                  <a:pt x="64" y="336"/>
                </a:lnTo>
                <a:lnTo>
                  <a:pt x="128" y="336"/>
                </a:lnTo>
                <a:lnTo>
                  <a:pt x="128" y="96"/>
                </a:lnTo>
                <a:lnTo>
                  <a:pt x="512" y="96"/>
                </a:lnTo>
                <a:lnTo>
                  <a:pt x="512" y="336"/>
                </a:lnTo>
                <a:lnTo>
                  <a:pt x="576" y="336"/>
                </a:lnTo>
                <a:lnTo>
                  <a:pt x="576" y="96"/>
                </a:lnTo>
                <a:cubicBezTo>
                  <a:pt x="576" y="61"/>
                  <a:pt x="547" y="32"/>
                  <a:pt x="512" y="32"/>
                </a:cubicBezTo>
                <a:lnTo>
                  <a:pt x="128" y="32"/>
                </a:lnTo>
                <a:close/>
                <a:moveTo>
                  <a:pt x="19" y="384"/>
                </a:moveTo>
                <a:cubicBezTo>
                  <a:pt x="9" y="384"/>
                  <a:pt x="0" y="393"/>
                  <a:pt x="0" y="403"/>
                </a:cubicBezTo>
                <a:cubicBezTo>
                  <a:pt x="0" y="446"/>
                  <a:pt x="34" y="480"/>
                  <a:pt x="77" y="480"/>
                </a:cubicBezTo>
                <a:lnTo>
                  <a:pt x="563" y="480"/>
                </a:lnTo>
                <a:cubicBezTo>
                  <a:pt x="606" y="480"/>
                  <a:pt x="640" y="446"/>
                  <a:pt x="640" y="403"/>
                </a:cubicBezTo>
                <a:cubicBezTo>
                  <a:pt x="640" y="393"/>
                  <a:pt x="631" y="384"/>
                  <a:pt x="621" y="384"/>
                </a:cubicBezTo>
                <a:lnTo>
                  <a:pt x="19" y="384"/>
                </a:ln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lap-head"/>
          <p:cNvSpPr txBox="1"/>
          <p:nvPr/>
        </p:nvSpPr>
        <p:spPr>
          <a:xfrm>
            <a:off x="1193800" y="15494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75E54"/>
                </a:solidFill>
                <a:latin typeface="Quattrocento Sans"/>
                <a:ea typeface="Quattrocento Sans"/>
              </a:rPr>
              <a:t>Buying a laptop</a:t>
            </a:r>
            <a:endParaRPr lang="en-US" sz="1500" noProof="1"/>
          </a:p>
        </p:txBody>
      </p:sp>
      <p:sp>
        <p:nvSpPr>
          <p:cNvPr id="6" name="lap-sub"/>
          <p:cNvSpPr txBox="1"/>
          <p:nvPr/>
        </p:nvSpPr>
        <p:spPr>
          <a:xfrm>
            <a:off x="1193800" y="1854200"/>
            <a:ext cx="4648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₹80,000 · three-year commitment · high perceived risk</a:t>
            </a:r>
            <a:endParaRPr lang="en-US" sz="1100" noProof="1"/>
          </a:p>
        </p:txBody>
      </p:sp>
      <p:sp>
        <p:nvSpPr>
          <p:cNvPr id="7" name="lap-text"/>
          <p:cNvSpPr txBox="1"/>
          <p:nvPr/>
        </p:nvSpPr>
        <p:spPr>
          <a:xfrm>
            <a:off x="711200" y="2260600"/>
            <a:ext cx="51308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Route taken: CENTRAL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the shopper is motivated and able to process.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Cues that decide: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spec comparison tables, deep user reviews, expert benchmarks, warranty and return terms.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Page design implication: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dense factual detail, side-by-side comparison tools, Q&amp;A sections, downloadable spec sheets. Surface the arguments; do not distract from them.</a:t>
            </a:r>
            <a:endParaRPr lang="en-US" sz="1200" noProof="1"/>
          </a:p>
        </p:txBody>
      </p:sp>
      <p:sp>
        <p:nvSpPr>
          <p:cNvPr id="8" name="mid-rule"/>
          <p:cNvSpPr/>
          <p:nvPr/>
        </p:nvSpPr>
        <p:spPr>
          <a:xfrm>
            <a:off x="6096000" y="1549400"/>
            <a:ext cx="12700" cy="32512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9" name="sn-icon"/>
          <p:cNvSpPr/>
          <p:nvPr>
            <p:extLst>
              <p:ext uri="{F5677B7D-0D2A-4D9B-9A5C-6D8D7D0E5A5D}">
                <pptd:icon encoding="base64url">eyJpY29uTmFtZSI6ImZhczpjb29raWUtYml0ZSJ9</pptd:icon>
              </p:ext>
            </p:extLst>
          </p:nvPr>
        </p:nvSpPr>
        <p:spPr>
          <a:xfrm>
            <a:off x="6400800" y="154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8" y="28"/>
                </a:moveTo>
                <a:cubicBezTo>
                  <a:pt x="257" y="22"/>
                  <a:pt x="253" y="18"/>
                  <a:pt x="247" y="17"/>
                </a:cubicBezTo>
                <a:cubicBezTo>
                  <a:pt x="225" y="14"/>
                  <a:pt x="203" y="18"/>
                  <a:pt x="183" y="28"/>
                </a:cubicBezTo>
                <a:lnTo>
                  <a:pt x="109" y="68"/>
                </a:lnTo>
                <a:cubicBezTo>
                  <a:pt x="89" y="78"/>
                  <a:pt x="73" y="95"/>
                  <a:pt x="63" y="115"/>
                </a:cubicBezTo>
                <a:lnTo>
                  <a:pt x="27" y="191"/>
                </a:lnTo>
                <a:cubicBezTo>
                  <a:pt x="17" y="211"/>
                  <a:pt x="14" y="234"/>
                  <a:pt x="18" y="256"/>
                </a:cubicBezTo>
                <a:lnTo>
                  <a:pt x="32" y="338"/>
                </a:lnTo>
                <a:cubicBezTo>
                  <a:pt x="36" y="360"/>
                  <a:pt x="47" y="381"/>
                  <a:pt x="63" y="396"/>
                </a:cubicBezTo>
                <a:lnTo>
                  <a:pt x="123" y="455"/>
                </a:lnTo>
                <a:cubicBezTo>
                  <a:pt x="139" y="470"/>
                  <a:pt x="160" y="480"/>
                  <a:pt x="182" y="483"/>
                </a:cubicBezTo>
                <a:lnTo>
                  <a:pt x="265" y="495"/>
                </a:lnTo>
                <a:cubicBezTo>
                  <a:pt x="287" y="498"/>
                  <a:pt x="309" y="494"/>
                  <a:pt x="329" y="484"/>
                </a:cubicBezTo>
                <a:lnTo>
                  <a:pt x="403" y="444"/>
                </a:lnTo>
                <a:cubicBezTo>
                  <a:pt x="423" y="434"/>
                  <a:pt x="439" y="417"/>
                  <a:pt x="449" y="397"/>
                </a:cubicBezTo>
                <a:lnTo>
                  <a:pt x="485" y="321"/>
                </a:lnTo>
                <a:cubicBezTo>
                  <a:pt x="495" y="301"/>
                  <a:pt x="498" y="279"/>
                  <a:pt x="494" y="257"/>
                </a:cubicBezTo>
                <a:cubicBezTo>
                  <a:pt x="494" y="251"/>
                  <a:pt x="489" y="247"/>
                  <a:pt x="484" y="246"/>
                </a:cubicBezTo>
                <a:cubicBezTo>
                  <a:pt x="432" y="238"/>
                  <a:pt x="391" y="199"/>
                  <a:pt x="379" y="149"/>
                </a:cubicBezTo>
                <a:cubicBezTo>
                  <a:pt x="378" y="141"/>
                  <a:pt x="371" y="136"/>
                  <a:pt x="364" y="134"/>
                </a:cubicBezTo>
                <a:cubicBezTo>
                  <a:pt x="309" y="126"/>
                  <a:pt x="266" y="82"/>
                  <a:pt x="257" y="28"/>
                </a:cubicBezTo>
                <a:close/>
                <a:moveTo>
                  <a:pt x="208" y="144"/>
                </a:moveTo>
                <a:cubicBezTo>
                  <a:pt x="226" y="144"/>
                  <a:pt x="240" y="158"/>
                  <a:pt x="240" y="176"/>
                </a:cubicBezTo>
                <a:cubicBezTo>
                  <a:pt x="240" y="194"/>
                  <a:pt x="226" y="208"/>
                  <a:pt x="208" y="208"/>
                </a:cubicBezTo>
                <a:cubicBezTo>
                  <a:pt x="190" y="208"/>
                  <a:pt x="176" y="194"/>
                  <a:pt x="176" y="176"/>
                </a:cubicBezTo>
                <a:cubicBezTo>
                  <a:pt x="176" y="158"/>
                  <a:pt x="190" y="144"/>
                  <a:pt x="208" y="144"/>
                </a:cubicBezTo>
                <a:close/>
                <a:moveTo>
                  <a:pt x="144" y="336"/>
                </a:moveTo>
                <a:cubicBezTo>
                  <a:pt x="144" y="318"/>
                  <a:pt x="158" y="304"/>
                  <a:pt x="176" y="304"/>
                </a:cubicBezTo>
                <a:cubicBezTo>
                  <a:pt x="194" y="304"/>
                  <a:pt x="208" y="318"/>
                  <a:pt x="208" y="336"/>
                </a:cubicBezTo>
                <a:cubicBezTo>
                  <a:pt x="208" y="354"/>
                  <a:pt x="194" y="368"/>
                  <a:pt x="176" y="368"/>
                </a:cubicBezTo>
                <a:cubicBezTo>
                  <a:pt x="158" y="368"/>
                  <a:pt x="144" y="354"/>
                  <a:pt x="144" y="336"/>
                </a:cubicBezTo>
                <a:close/>
                <a:moveTo>
                  <a:pt x="368" y="272"/>
                </a:moveTo>
                <a:cubicBezTo>
                  <a:pt x="386" y="272"/>
                  <a:pt x="400" y="286"/>
                  <a:pt x="400" y="304"/>
                </a:cubicBezTo>
                <a:cubicBezTo>
                  <a:pt x="400" y="322"/>
                  <a:pt x="386" y="336"/>
                  <a:pt x="368" y="336"/>
                </a:cubicBezTo>
                <a:cubicBezTo>
                  <a:pt x="350" y="336"/>
                  <a:pt x="336" y="322"/>
                  <a:pt x="336" y="304"/>
                </a:cubicBezTo>
                <a:cubicBezTo>
                  <a:pt x="336" y="286"/>
                  <a:pt x="350" y="272"/>
                  <a:pt x="368" y="272"/>
                </a:cubicBezTo>
                <a:close/>
              </a:path>
            </a:pathLst>
          </a:custGeom>
          <a:solidFill>
            <a:srgbClr val="BC4B26"/>
          </a:solidFill>
          <a:ln>
            <a:noFill/>
          </a:ln>
        </p:spPr>
      </p:sp>
      <p:sp>
        <p:nvSpPr>
          <p:cNvPr id="10" name="sn-head"/>
          <p:cNvSpPr txBox="1"/>
          <p:nvPr/>
        </p:nvSpPr>
        <p:spPr>
          <a:xfrm>
            <a:off x="6883400" y="1549400"/>
            <a:ext cx="4597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C4B26"/>
                </a:solidFill>
                <a:latin typeface="Quattrocento Sans"/>
                <a:ea typeface="Quattrocento Sans"/>
              </a:rPr>
              <a:t>Buying a snack</a:t>
            </a:r>
            <a:endParaRPr lang="en-US" sz="1500" noProof="1"/>
          </a:p>
        </p:txBody>
      </p:sp>
      <p:sp>
        <p:nvSpPr>
          <p:cNvPr id="11" name="sn-sub"/>
          <p:cNvSpPr txBox="1"/>
          <p:nvPr/>
        </p:nvSpPr>
        <p:spPr>
          <a:xfrm>
            <a:off x="6883400" y="1854200"/>
            <a:ext cx="459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₹40 · three-second decision · zero perceived risk</a:t>
            </a:r>
            <a:endParaRPr lang="en-US" sz="1100" noProof="1"/>
          </a:p>
        </p:txBody>
      </p:sp>
      <p:sp>
        <p:nvSpPr>
          <p:cNvPr id="12" name="sn-text"/>
          <p:cNvSpPr txBox="1"/>
          <p:nvPr/>
        </p:nvSpPr>
        <p:spPr>
          <a:xfrm>
            <a:off x="6400800" y="2260600"/>
            <a:ext cx="5080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Route taken: PERIPHERAL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nobody elaborates over a ₹40 impulse.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Cues that decide: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star rating plus count, "only 3 left", appetising imagery, influencer tie-in, one-tap buy.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Page design implication: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big imagery, visible social proof, frictionless checkout. Every extra field is a chance to lose an impulse that was never deeply reasoned.</a:t>
            </a:r>
            <a:endParaRPr lang="en-US" sz="1200" noProof="1"/>
          </a:p>
        </p:txBody>
      </p:sp>
      <p:sp>
        <p:nvSpPr>
          <p:cNvPr id="13" name="judge-band"/>
          <p:cNvSpPr/>
          <p:nvPr/>
        </p:nvSpPr>
        <p:spPr>
          <a:xfrm>
            <a:off x="711200" y="5130800"/>
            <a:ext cx="10769600" cy="9906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4" name="judge-head"/>
          <p:cNvSpPr txBox="1"/>
          <p:nvPr/>
        </p:nvSpPr>
        <p:spPr>
          <a:xfrm>
            <a:off x="914400" y="52578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JUDGMENT CRITERIA — WHICH ROUTE WILL YOUR SHOPPER TAKE?</a:t>
            </a:r>
            <a:endParaRPr lang="en-US" sz="1200" noProof="1"/>
          </a:p>
        </p:txBody>
      </p:sp>
      <p:sp>
        <p:nvSpPr>
          <p:cNvPr id="15" name="judge-text"/>
          <p:cNvSpPr txBox="1"/>
          <p:nvPr/>
        </p:nvSpPr>
        <p:spPr>
          <a:xfrm>
            <a:off x="914400" y="5511800"/>
            <a:ext cx="10363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Diagnose involvement by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decision context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price, risk, expertise, time pressure — not by demographics. The same shopper is central-route for a laptop at 11:00 and peripheral-route for a snack at 12:30.</a:t>
            </a:r>
            <a:endParaRPr lang="en-US" sz="120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12</a:t>
            </a:r>
            <a:endParaRPr lang="en-US" sz="95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· FOGG BEHAVIOR MODEL (B=MAP)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B = M·A·P: behaviour fires only when motivation, ability and a prompt collide</a:t>
            </a:r>
            <a:endParaRPr lang="en-US" sz="2600" noProof="1"/>
          </a:p>
        </p:txBody>
      </p:sp>
      <p:sp>
        <p:nvSpPr>
          <p:cNvPr id="4" name="author"/>
          <p:cNvSpPr txBox="1"/>
          <p:nvPr/>
        </p:nvSpPr>
        <p:spPr>
          <a:xfrm>
            <a:off x="711200" y="1270000"/>
            <a:ext cx="1076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BJ Fogg, Stanford — "A Behavior Model for Persuasive Design", 2009; popularised in Tiny Habits (2019).</a:t>
            </a:r>
            <a:endParaRPr lang="en-US" sz="1100" noProof="1"/>
          </a:p>
        </p:txBody>
      </p:sp>
      <p:sp>
        <p:nvSpPr>
          <p:cNvPr id="5" name="ax-y"/>
          <p:cNvSpPr/>
          <p:nvPr>
            <p:extLst>
              <p:ext uri="{F5677B7D-0D2A-4D9B-9A5C-6D8D7D0E5A5D}">
                <pptd:line encoding="base64url">eyJ2aWV3Qm94IjpbMSwyODBdLCJwb2ludHMiOiIwLjUsMjgwIDAuNSwwIn0</pptd:line>
              </p:ext>
            </p:extLst>
          </p:nvPr>
        </p:nvSpPr>
        <p:spPr>
          <a:xfrm>
            <a:off x="1016000" y="1905000"/>
            <a:ext cx="12700" cy="3556000"/>
          </a:xfrm>
          <a:custGeom>
            <a:avLst/>
            <a:gdLst/>
            <a:ahLst/>
            <a:cxnLst/>
            <a:rect l="l" t="t" r="r" b="b"/>
            <a:pathLst>
              <a:path w="1" h="280">
                <a:moveTo>
                  <a:pt x="1" y="280"/>
                </a:moveTo>
                <a:lnTo>
                  <a:pt x="1" y="0"/>
                </a:lnTo>
              </a:path>
            </a:pathLst>
          </a:custGeom>
          <a:noFill/>
          <a:ln w="19050" cap="rnd">
            <a:solidFill>
              <a:srgbClr val="6E675C"/>
            </a:solidFill>
            <a:round/>
            <a:tailEnd type="stealth"/>
          </a:ln>
        </p:spPr>
      </p:sp>
      <p:sp>
        <p:nvSpPr>
          <p:cNvPr id="6" name="ax-x"/>
          <p:cNvSpPr/>
          <p:nvPr>
            <p:extLst>
              <p:ext uri="{F5677B7D-0D2A-4D9B-9A5C-6D8D7D0E5A5D}">
                <pptd:line encoding="base64url">eyJ2aWV3Qm94IjpbMzgwLDFdLCJwb2ludHMiOiIwLDAuNSAzODAsMC41In0</pptd:line>
              </p:ext>
            </p:extLst>
          </p:nvPr>
        </p:nvSpPr>
        <p:spPr>
          <a:xfrm>
            <a:off x="1016000" y="5461000"/>
            <a:ext cx="4826000" cy="12700"/>
          </a:xfrm>
          <a:custGeom>
            <a:avLst/>
            <a:gdLst/>
            <a:ahLst/>
            <a:cxnLst/>
            <a:rect l="l" t="t" r="r" b="b"/>
            <a:pathLst>
              <a:path w="380" h="1">
                <a:moveTo>
                  <a:pt x="0" y="1"/>
                </a:moveTo>
                <a:lnTo>
                  <a:pt x="380" y="1"/>
                </a:lnTo>
              </a:path>
            </a:pathLst>
          </a:custGeom>
          <a:noFill/>
          <a:ln w="19050" cap="rnd">
            <a:solidFill>
              <a:srgbClr val="6E675C"/>
            </a:solidFill>
            <a:round/>
            <a:tailEnd type="stealth"/>
          </a:ln>
        </p:spPr>
      </p:sp>
      <p:sp>
        <p:nvSpPr>
          <p:cNvPr id="7" name="ax-y-label"/>
          <p:cNvSpPr txBox="1"/>
          <p:nvPr/>
        </p:nvSpPr>
        <p:spPr>
          <a:xfrm>
            <a:off x="711200" y="1651000"/>
            <a:ext cx="203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MOTIVATION ↑ high</a:t>
            </a:r>
            <a:endParaRPr lang="en-US" sz="1050" noProof="1"/>
          </a:p>
        </p:txBody>
      </p:sp>
      <p:sp>
        <p:nvSpPr>
          <p:cNvPr id="8" name="ax-x-label"/>
          <p:cNvSpPr txBox="1"/>
          <p:nvPr/>
        </p:nvSpPr>
        <p:spPr>
          <a:xfrm>
            <a:off x="3810000" y="55880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ABILITY → easy to do</a:t>
            </a:r>
            <a:endParaRPr lang="en-US" sz="1050" noProof="1"/>
          </a:p>
        </p:txBody>
      </p:sp>
      <p:sp>
        <p:nvSpPr>
          <p:cNvPr id="9" name="action-line"/>
          <p:cNvSpPr/>
          <p:nvPr>
            <p:extLst>
              <p:ext uri="{F5677B7D-0D2A-4D9B-9A5C-6D8D7D0E5A5D}">
                <pptd:line encoding="base64url">eyJ2aWV3Qm94IjpbMzMwLDIzMF0sInBvaW50cyI6IjEwLDEwIDExMCw0MCAyMjAsMTEwIDMyMCwyMjAiLCJjdXJ2ZSI6InNtb290aCJ9</pptd:line>
              </p:ext>
            </p:extLst>
          </p:nvPr>
        </p:nvSpPr>
        <p:spPr>
          <a:xfrm>
            <a:off x="1270000" y="2159000"/>
            <a:ext cx="4191000" cy="2921000"/>
          </a:xfrm>
          <a:custGeom>
            <a:avLst/>
            <a:gdLst/>
            <a:ahLst/>
            <a:cxnLst/>
            <a:rect l="l" t="t" r="r" b="b"/>
            <a:pathLst>
              <a:path w="330" h="230">
                <a:moveTo>
                  <a:pt x="10" y="10"/>
                </a:moveTo>
                <a:cubicBezTo>
                  <a:pt x="110" y="40"/>
                  <a:pt x="220" y="110"/>
                  <a:pt x="320" y="220"/>
                </a:cubicBezTo>
              </a:path>
            </a:pathLst>
          </a:custGeom>
          <a:noFill/>
          <a:ln w="25400" cap="rnd">
            <a:solidFill>
              <a:srgbClr val="BC4B26"/>
            </a:solidFill>
            <a:prstDash val="dash"/>
            <a:round/>
          </a:ln>
        </p:spPr>
      </p:sp>
      <p:sp>
        <p:nvSpPr>
          <p:cNvPr id="10" name="action-label"/>
          <p:cNvSpPr txBox="1"/>
          <p:nvPr/>
        </p:nvSpPr>
        <p:spPr>
          <a:xfrm>
            <a:off x="4013200" y="26416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i="1">
                <a:solidFill>
                  <a:srgbClr val="BC4B26"/>
                </a:solidFill>
                <a:latin typeface="Quattrocento Sans"/>
                <a:ea typeface="Quattrocento Sans"/>
              </a:rPr>
              <a:t>the action line</a:t>
            </a:r>
            <a:endParaRPr lang="en-US" sz="1000" noProof="1"/>
          </a:p>
        </p:txBody>
      </p:sp>
      <p:sp>
        <p:nvSpPr>
          <p:cNvPr id="11" name="zone-fire"/>
          <p:cNvSpPr txBox="1"/>
          <p:nvPr/>
        </p:nvSpPr>
        <p:spPr>
          <a:xfrm>
            <a:off x="3175000" y="1930400"/>
            <a:ext cx="266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 b="1">
                <a:solidFill>
                  <a:srgbClr val="175E54"/>
                </a:solidFill>
                <a:latin typeface="Quattrocento Sans"/>
                <a:ea typeface="Quattrocento Sans"/>
              </a:rPr>
              <a:t>ABOVE THE LINE — behaviour happens</a:t>
            </a:r>
            <a:endParaRPr lang="en-US" sz="1000" noProof="1"/>
          </a:p>
        </p:txBody>
      </p:sp>
      <p:sp>
        <p:nvSpPr>
          <p:cNvPr id="12" name="zone-die"/>
          <p:cNvSpPr txBox="1"/>
          <p:nvPr/>
        </p:nvSpPr>
        <p:spPr>
          <a:xfrm>
            <a:off x="1168400" y="51562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75C"/>
                </a:solidFill>
                <a:latin typeface="Quattrocento Sans"/>
                <a:ea typeface="Quattrocento Sans"/>
              </a:rPr>
              <a:t>below the line — it doesn't</a:t>
            </a:r>
            <a:endParaRPr lang="en-US" sz="1000" noProof="1"/>
          </a:p>
        </p:txBody>
      </p:sp>
      <p:sp>
        <p:nvSpPr>
          <p:cNvPr id="13" name="dot1"/>
          <p:cNvSpPr/>
          <p:nvPr/>
        </p:nvSpPr>
        <p:spPr>
          <a:xfrm>
            <a:off x="5003800" y="24130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14" name="dot1-t"/>
          <p:cNvSpPr txBox="1"/>
          <p:nvPr/>
        </p:nvSpPr>
        <p:spPr>
          <a:xfrm>
            <a:off x="3454400" y="2184400"/>
            <a:ext cx="1498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 b="1">
                <a:solidFill>
                  <a:srgbClr val="23272E"/>
                </a:solidFill>
                <a:latin typeface="Quattrocento Sans"/>
                <a:ea typeface="Quattrocento Sans"/>
              </a:rPr>
              <a:t>1-Click reorder</a:t>
            </a:r>
            <a:endParaRPr lang="en-US" sz="1050" noProof="1"/>
          </a:p>
        </p:txBody>
      </p:sp>
      <p:sp>
        <p:nvSpPr>
          <p:cNvPr id="15" name="dot2"/>
          <p:cNvSpPr/>
          <p:nvPr/>
        </p:nvSpPr>
        <p:spPr>
          <a:xfrm>
            <a:off x="1955800" y="4749800"/>
            <a:ext cx="152400" cy="152400"/>
          </a:xfrm>
          <a:prstGeom prst="ellipse">
            <a:avLst/>
          </a:prstGeom>
          <a:solidFill>
            <a:srgbClr val="6E675C"/>
          </a:solidFill>
          <a:ln>
            <a:noFill/>
          </a:ln>
        </p:spPr>
      </p:sp>
      <p:sp>
        <p:nvSpPr>
          <p:cNvPr id="16" name="dot2-t"/>
          <p:cNvSpPr txBox="1"/>
          <p:nvPr/>
        </p:nvSpPr>
        <p:spPr>
          <a:xfrm>
            <a:off x="1168400" y="4368800"/>
            <a:ext cx="177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30-field checkout form</a:t>
            </a:r>
            <a:endParaRPr lang="en-US" sz="1050" noProof="1"/>
          </a:p>
        </p:txBody>
      </p:sp>
      <p:sp>
        <p:nvSpPr>
          <p:cNvPr id="17" name="dot3"/>
          <p:cNvSpPr/>
          <p:nvPr/>
        </p:nvSpPr>
        <p:spPr>
          <a:xfrm>
            <a:off x="3606800" y="3098800"/>
            <a:ext cx="152400" cy="152400"/>
          </a:xfrm>
          <a:prstGeom prst="ellipse">
            <a:avLst/>
          </a:prstGeom>
          <a:solidFill>
            <a:srgbClr val="C09A3E"/>
          </a:solidFill>
          <a:ln>
            <a:noFill/>
          </a:ln>
        </p:spPr>
      </p:sp>
      <p:sp>
        <p:nvSpPr>
          <p:cNvPr id="18" name="dot3-t"/>
          <p:cNvSpPr txBox="1"/>
          <p:nvPr/>
        </p:nvSpPr>
        <p:spPr>
          <a:xfrm>
            <a:off x="3124200" y="3327400"/>
            <a:ext cx="2413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cart reminder 1 hour later — the prompt tips it over</a:t>
            </a:r>
            <a:endParaRPr lang="en-US" sz="1050" noProof="1"/>
          </a:p>
        </p:txBody>
      </p:sp>
      <p:sp>
        <p:nvSpPr>
          <p:cNvPr id="19" name="col-text"/>
          <p:cNvSpPr txBox="1"/>
          <p:nvPr/>
        </p:nvSpPr>
        <p:spPr>
          <a:xfrm>
            <a:off x="6858000" y="1473200"/>
            <a:ext cx="46228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M — Motivation.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The desire to act; scarcity, social proof, and rewards can raise it — briefly.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A — Ability.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How easy the action is. The highest-leverage lever: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"make it easy" beats "make it desirable."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P — Prompt.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The trigger that fires the behaviour: a CTA, a notification, a reminder. Useless below the action line.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All three must converge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at the same moment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. No motivation rescues a hard action; no prompt fires without some motivation.</a:t>
            </a:r>
            <a:endParaRPr lang="en-US" sz="1200" noProof="1"/>
          </a:p>
        </p:txBody>
      </p:sp>
      <p:sp>
        <p:nvSpPr>
          <p:cNvPr id="20" name="app-band"/>
          <p:cNvSpPr/>
          <p:nvPr/>
        </p:nvSpPr>
        <p:spPr>
          <a:xfrm>
            <a:off x="711200" y="58420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1" name="app-text"/>
          <p:cNvSpPr txBox="1"/>
          <p:nvPr/>
        </p:nvSpPr>
        <p:spPr>
          <a:xfrm>
            <a:off x="711200" y="5969000"/>
            <a:ext cx="1076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Commerce application: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Amazon's 1-Click ordering (patented 1999) is the canonical ability play — the motivation already existed; the patent simply removed the friction.</a:t>
            </a:r>
            <a:endParaRPr lang="en-US" sz="1150" noProof="1"/>
          </a:p>
        </p:txBody>
      </p:sp>
      <p:sp>
        <p:nvSpPr>
          <p:cNvPr id="22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4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5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13</a:t>
            </a:r>
            <a:endParaRPr lang="en-US" sz="9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APPLIED · CHECKOUT DESIGN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Checkout is applied Fogg: raise ability, protect motivation, time the prompt</a:t>
            </a:r>
            <a:endParaRPr lang="en-US" sz="2600" noProof="1"/>
          </a:p>
        </p:txBody>
      </p:sp>
      <p:sp>
        <p:nvSpPr>
          <p:cNvPr id="4" name="b1"/>
          <p:cNvSpPr/>
          <p:nvPr/>
        </p:nvSpPr>
        <p:spPr>
          <a:xfrm>
            <a:off x="711200" y="1473200"/>
            <a:ext cx="7823200" cy="11684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5" name="b1-t"/>
          <p:cNvSpPr txBox="1"/>
          <p:nvPr/>
        </p:nvSpPr>
        <p:spPr>
          <a:xfrm>
            <a:off x="965200" y="1600200"/>
            <a:ext cx="7366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RAISE ABILITY — the highest-leverage lever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1-Click ordering (Amazon, patented 1999) · Apple Pay / Google Pay / UPI QR · guest checkout · address autofill. Every removed field moves the shopper right on the ability axis.</a:t>
            </a:r>
            <a:endParaRPr lang="en-US" sz="1200" noProof="1"/>
          </a:p>
        </p:txBody>
      </p:sp>
      <p:sp>
        <p:nvSpPr>
          <p:cNvPr id="6" name="b2"/>
          <p:cNvSpPr/>
          <p:nvPr/>
        </p:nvSpPr>
        <p:spPr>
          <a:xfrm>
            <a:off x="711200" y="2794000"/>
            <a:ext cx="7823200" cy="11684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7" name="b2-t"/>
          <p:cNvSpPr txBox="1"/>
          <p:nvPr/>
        </p:nvSpPr>
        <p:spPr>
          <a:xfrm>
            <a:off x="965200" y="2921000"/>
            <a:ext cx="7366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PROTECT MOTIVATION — don't kill desire at the prompt moment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Show the full price early. Unexpected extra costs are the top abandonment reason (48%) — the total changed exactly when the prompt fired, and motivation collapsed.</a:t>
            </a:r>
            <a:endParaRPr lang="en-US" sz="1200" noProof="1"/>
          </a:p>
        </p:txBody>
      </p:sp>
      <p:sp>
        <p:nvSpPr>
          <p:cNvPr id="8" name="b3"/>
          <p:cNvSpPr/>
          <p:nvPr/>
        </p:nvSpPr>
        <p:spPr>
          <a:xfrm>
            <a:off x="711200" y="4114800"/>
            <a:ext cx="7823200" cy="11684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9" name="b3-t"/>
          <p:cNvSpPr txBox="1"/>
          <p:nvPr/>
        </p:nvSpPr>
        <p:spPr>
          <a:xfrm>
            <a:off x="965200" y="4241800"/>
            <a:ext cx="7366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TIME THE PROMPT — fire when M and A are present</a:t>
            </a:r>
            <a:endParaRPr lang="en-US" sz="12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Cart-abandonment notification within the hour; replenishment prompt when the product is predicted to run out; exit-intent reminder before the tab closes.</a:t>
            </a:r>
            <a:endParaRPr lang="en-US" sz="1200" noProof="1"/>
          </a:p>
        </p:txBody>
      </p:sp>
      <p:sp>
        <p:nvSpPr>
          <p:cNvPr id="10" name="stat1-num"/>
          <p:cNvSpPr txBox="1"/>
          <p:nvPr/>
        </p:nvSpPr>
        <p:spPr>
          <a:xfrm>
            <a:off x="8890000" y="17780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~70%</a:t>
            </a:r>
            <a:endParaRPr lang="en-US" sz="4800" noProof="1"/>
          </a:p>
        </p:txBody>
      </p:sp>
      <p:sp>
        <p:nvSpPr>
          <p:cNvPr id="11" name="stat1-label"/>
          <p:cNvSpPr txBox="1"/>
          <p:nvPr/>
        </p:nvSpPr>
        <p:spPr>
          <a:xfrm>
            <a:off x="8890000" y="25908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average online cart abandonment rate (mobile ~80% vs desktop ~66%)</a:t>
            </a:r>
            <a:endParaRPr lang="en-US" sz="1200" noProof="1"/>
          </a:p>
        </p:txBody>
      </p:sp>
      <p:sp>
        <p:nvSpPr>
          <p:cNvPr id="12" name="stat2-num"/>
          <p:cNvSpPr txBox="1"/>
          <p:nvPr/>
        </p:nvSpPr>
        <p:spPr>
          <a:xfrm>
            <a:off x="8890000" y="3657600"/>
            <a:ext cx="2590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600" noProof="1">
                <a:solidFill>
                  <a:srgbClr val="BC4B26"/>
                </a:solidFill>
                <a:latin typeface="Unna"/>
                <a:ea typeface="Unna"/>
              </a:rPr>
              <a:t>48%</a:t>
            </a:r>
            <a:endParaRPr lang="en-US" sz="3600" noProof="1"/>
          </a:p>
        </p:txBody>
      </p:sp>
      <p:sp>
        <p:nvSpPr>
          <p:cNvPr id="13" name="stat2-label"/>
          <p:cNvSpPr txBox="1"/>
          <p:nvPr/>
        </p:nvSpPr>
        <p:spPr>
          <a:xfrm>
            <a:off x="8890000" y="4241800"/>
            <a:ext cx="2590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abandon because of unexpected extra costs — the #1 reason</a:t>
            </a:r>
            <a:endParaRPr lang="en-US" sz="1200" noProof="1"/>
          </a:p>
        </p:txBody>
      </p:sp>
      <p:sp>
        <p:nvSpPr>
          <p:cNvPr id="14" name="stat-src"/>
          <p:cNvSpPr txBox="1"/>
          <p:nvPr/>
        </p:nvSpPr>
        <p:spPr>
          <a:xfrm>
            <a:off x="711200" y="55372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Baymard Institute cart-abandonment research, 2025</a:t>
            </a:r>
            <a:endParaRPr lang="en-US" sz="1000" noProof="1"/>
          </a:p>
        </p:txBody>
      </p:sp>
      <p:sp>
        <p:nvSpPr>
          <p:cNvPr id="15" name="take"/>
          <p:cNvSpPr txBox="1"/>
          <p:nvPr/>
        </p:nvSpPr>
        <p:spPr>
          <a:xfrm>
            <a:off x="711200" y="5816600"/>
            <a:ext cx="1076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Diagnosis recipe: find where carts die, ask which of M, A, or P failed at that moment — then fix exactly one variable and test.</a:t>
            </a:r>
            <a:endParaRPr lang="en-US" sz="115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14</a:t>
            </a:r>
            <a:endParaRPr lang="en-US" sz="95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CONCEPT · CHOICE OVERLOAD (THE "JAM STUDY")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24 jams drew a crowd; 6 jams sold ten times more</a:t>
            </a:r>
            <a:endParaRPr lang="en-US" sz="2600" noProof="1"/>
          </a:p>
        </p:txBody>
      </p:sp>
      <p:graphicFrame>
        <p:nvGraphicFramePr>
          <p:cNvPr id="4" name="jam-chart"/>
          <p:cNvGraphicFramePr/>
          <p:nvPr/>
        </p:nvGraphicFramePr>
        <p:xfrm>
          <a:off x="711200" y="1524000"/>
          <a:ext cx="5969000" cy="3810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num1"/>
          <p:cNvSpPr txBox="1"/>
          <p:nvPr/>
        </p:nvSpPr>
        <p:spPr>
          <a:xfrm>
            <a:off x="7061200" y="1676400"/>
            <a:ext cx="203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>
                <a:solidFill>
                  <a:srgbClr val="175E54"/>
                </a:solidFill>
                <a:latin typeface="Unna"/>
                <a:ea typeface="Unna"/>
              </a:rPr>
              <a:t>3%</a:t>
            </a:r>
            <a:endParaRPr lang="en-US" sz="4800" noProof="1"/>
          </a:p>
        </p:txBody>
      </p:sp>
      <p:sp>
        <p:nvSpPr>
          <p:cNvPr id="6" name="num1-t"/>
          <p:cNvSpPr txBox="1"/>
          <p:nvPr/>
        </p:nvSpPr>
        <p:spPr>
          <a:xfrm>
            <a:off x="7061200" y="2413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bought after stopping at the 24-jam table</a:t>
            </a:r>
            <a:endParaRPr lang="en-US" sz="1150" noProof="1"/>
          </a:p>
        </p:txBody>
      </p:sp>
      <p:sp>
        <p:nvSpPr>
          <p:cNvPr id="7" name="num2"/>
          <p:cNvSpPr txBox="1"/>
          <p:nvPr/>
        </p:nvSpPr>
        <p:spPr>
          <a:xfrm>
            <a:off x="9448800" y="1676400"/>
            <a:ext cx="203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30%</a:t>
            </a:r>
            <a:endParaRPr lang="en-US" sz="4800" noProof="1"/>
          </a:p>
        </p:txBody>
      </p:sp>
      <p:sp>
        <p:nvSpPr>
          <p:cNvPr id="8" name="num2-t"/>
          <p:cNvSpPr txBox="1"/>
          <p:nvPr/>
        </p:nvSpPr>
        <p:spPr>
          <a:xfrm>
            <a:off x="9448800" y="2413000"/>
            <a:ext cx="203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bought after stopping at the 6-jam table</a:t>
            </a:r>
            <a:endParaRPr lang="en-US" sz="1150" noProof="1"/>
          </a:p>
        </p:txBody>
      </p:sp>
      <p:sp>
        <p:nvSpPr>
          <p:cNvPr id="9" name="gap-note"/>
          <p:cNvSpPr txBox="1"/>
          <p:nvPr/>
        </p:nvSpPr>
        <p:spPr>
          <a:xfrm>
            <a:off x="7061200" y="3048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big display attracted more attention (60% vs 40% stopped) — and converted ten times worse. Attraction ≠ conversion.</a:t>
            </a:r>
            <a:endParaRPr lang="en-US" sz="1250" noProof="1"/>
          </a:p>
        </p:txBody>
      </p:sp>
      <p:sp>
        <p:nvSpPr>
          <p:cNvPr id="10" name="defn"/>
          <p:cNvSpPr txBox="1"/>
          <p:nvPr/>
        </p:nvSpPr>
        <p:spPr>
          <a:xfrm>
            <a:off x="7061200" y="3708400"/>
            <a:ext cx="44196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Choice overload: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beyond a point, more options reduce purchase likelihood and post-choice satisfaction.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6E675C"/>
                </a:solidFill>
                <a:latin typeface="Quattrocento Sans"/>
                <a:ea typeface="Quattrocento Sans"/>
              </a:rPr>
              <a:t>Boundary: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meta-analyses find the average effect near zero — expertise, category, and option differentiation moderate it. Manage decision effort; don't chase a magic number of options.</a:t>
            </a:r>
            <a:endParaRPr lang="en-US" sz="1200" noProof="1"/>
          </a:p>
        </p:txBody>
      </p:sp>
      <p:sp>
        <p:nvSpPr>
          <p:cNvPr id="11" name="src"/>
          <p:cNvSpPr txBox="1"/>
          <p:nvPr/>
        </p:nvSpPr>
        <p:spPr>
          <a:xfrm>
            <a:off x="711200" y="56642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Iyengar &amp; Lepper, Journal of Personality and Social Psychology, 2000 (DOI 10.1037/0022-3514.79.6.995)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Scheibehenne, Greifeneder &amp; Todd, JCR 2010; Chernev et al. meta-analysis, 2015</a:t>
            </a:r>
            <a:endParaRPr lang="en-US" sz="1000" noProof="1"/>
          </a:p>
        </p:txBody>
      </p:sp>
      <p:sp>
        <p:nvSpPr>
          <p:cNvPr id="12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15</a:t>
            </a:r>
            <a:endParaRPr lang="en-US" sz="95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STRATEGY · FIGHTING CHOICE OVERLOAD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Curation beats abundance: four ways storefronts shrink the shelf</a:t>
            </a:r>
            <a:endParaRPr lang="en-US" sz="2600" noProof="1"/>
          </a:p>
        </p:txBody>
      </p:sp>
      <p:sp>
        <p:nvSpPr>
          <p:cNvPr id="4" name="s1-icon"/>
          <p:cNvSpPr/>
          <p:nvPr>
            <p:extLst>
              <p:ext uri="{F5677B7D-0D2A-4D9B-9A5C-6D8D7D0E5A5D}">
                <pptd:icon encoding="base64url">eyJpY29uTmFtZSI6ImZhczphd2FyZCJ9</pptd:icon>
              </p:ext>
            </p:extLst>
          </p:nvPr>
        </p:nvSpPr>
        <p:spPr>
          <a:xfrm>
            <a:off x="711200" y="152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46" y="-26"/>
                </a:moveTo>
                <a:cubicBezTo>
                  <a:pt x="233" y="-34"/>
                  <a:pt x="216" y="-34"/>
                  <a:pt x="202" y="-26"/>
                </a:cubicBezTo>
                <a:cubicBezTo>
                  <a:pt x="178" y="-11"/>
                  <a:pt x="163" y="-7"/>
                  <a:pt x="134" y="-8"/>
                </a:cubicBezTo>
                <a:cubicBezTo>
                  <a:pt x="118" y="-8"/>
                  <a:pt x="104" y="1"/>
                  <a:pt x="96" y="14"/>
                </a:cubicBezTo>
                <a:cubicBezTo>
                  <a:pt x="82" y="39"/>
                  <a:pt x="71" y="51"/>
                  <a:pt x="46" y="64"/>
                </a:cubicBezTo>
                <a:cubicBezTo>
                  <a:pt x="32" y="72"/>
                  <a:pt x="24" y="86"/>
                  <a:pt x="24" y="102"/>
                </a:cubicBezTo>
                <a:cubicBezTo>
                  <a:pt x="25" y="131"/>
                  <a:pt x="21" y="146"/>
                  <a:pt x="6" y="170"/>
                </a:cubicBezTo>
                <a:cubicBezTo>
                  <a:pt x="-2" y="184"/>
                  <a:pt x="-2" y="201"/>
                  <a:pt x="6" y="214"/>
                </a:cubicBezTo>
                <a:cubicBezTo>
                  <a:pt x="21" y="238"/>
                  <a:pt x="25" y="253"/>
                  <a:pt x="24" y="282"/>
                </a:cubicBezTo>
                <a:cubicBezTo>
                  <a:pt x="24" y="298"/>
                  <a:pt x="32" y="312"/>
                  <a:pt x="46" y="320"/>
                </a:cubicBezTo>
                <a:cubicBezTo>
                  <a:pt x="68" y="332"/>
                  <a:pt x="80" y="342"/>
                  <a:pt x="91" y="361"/>
                </a:cubicBezTo>
                <a:lnTo>
                  <a:pt x="43" y="459"/>
                </a:lnTo>
                <a:cubicBezTo>
                  <a:pt x="37" y="470"/>
                  <a:pt x="42" y="485"/>
                  <a:pt x="53" y="491"/>
                </a:cubicBezTo>
                <a:lnTo>
                  <a:pt x="139" y="534"/>
                </a:lnTo>
                <a:cubicBezTo>
                  <a:pt x="151" y="539"/>
                  <a:pt x="165" y="535"/>
                  <a:pt x="171" y="524"/>
                </a:cubicBezTo>
                <a:lnTo>
                  <a:pt x="224" y="429"/>
                </a:lnTo>
                <a:lnTo>
                  <a:pt x="277" y="524"/>
                </a:lnTo>
                <a:cubicBezTo>
                  <a:pt x="283" y="535"/>
                  <a:pt x="297" y="540"/>
                  <a:pt x="308" y="534"/>
                </a:cubicBezTo>
                <a:lnTo>
                  <a:pt x="394" y="491"/>
                </a:lnTo>
                <a:cubicBezTo>
                  <a:pt x="406" y="485"/>
                  <a:pt x="411" y="470"/>
                  <a:pt x="405" y="459"/>
                </a:cubicBezTo>
                <a:lnTo>
                  <a:pt x="356" y="361"/>
                </a:lnTo>
                <a:cubicBezTo>
                  <a:pt x="368" y="342"/>
                  <a:pt x="379" y="332"/>
                  <a:pt x="402" y="320"/>
                </a:cubicBezTo>
                <a:cubicBezTo>
                  <a:pt x="415" y="312"/>
                  <a:pt x="424" y="298"/>
                  <a:pt x="423" y="282"/>
                </a:cubicBezTo>
                <a:cubicBezTo>
                  <a:pt x="423" y="253"/>
                  <a:pt x="427" y="238"/>
                  <a:pt x="442" y="214"/>
                </a:cubicBezTo>
                <a:cubicBezTo>
                  <a:pt x="450" y="200"/>
                  <a:pt x="450" y="184"/>
                  <a:pt x="442" y="170"/>
                </a:cubicBezTo>
                <a:cubicBezTo>
                  <a:pt x="427" y="146"/>
                  <a:pt x="423" y="131"/>
                  <a:pt x="423" y="102"/>
                </a:cubicBezTo>
                <a:cubicBezTo>
                  <a:pt x="424" y="86"/>
                  <a:pt x="415" y="72"/>
                  <a:pt x="402" y="64"/>
                </a:cubicBezTo>
                <a:cubicBezTo>
                  <a:pt x="376" y="50"/>
                  <a:pt x="365" y="39"/>
                  <a:pt x="352" y="14"/>
                </a:cubicBezTo>
                <a:cubicBezTo>
                  <a:pt x="344" y="0"/>
                  <a:pt x="330" y="-8"/>
                  <a:pt x="314" y="-8"/>
                </a:cubicBezTo>
                <a:cubicBezTo>
                  <a:pt x="285" y="-7"/>
                  <a:pt x="270" y="-11"/>
                  <a:pt x="246" y="-26"/>
                </a:cubicBezTo>
                <a:close/>
                <a:moveTo>
                  <a:pt x="224" y="96"/>
                </a:moveTo>
                <a:cubicBezTo>
                  <a:pt x="277" y="96"/>
                  <a:pt x="320" y="139"/>
                  <a:pt x="320" y="192"/>
                </a:cubicBezTo>
                <a:cubicBezTo>
                  <a:pt x="320" y="245"/>
                  <a:pt x="277" y="288"/>
                  <a:pt x="224" y="288"/>
                </a:cubicBezTo>
                <a:cubicBezTo>
                  <a:pt x="171" y="288"/>
                  <a:pt x="128" y="245"/>
                  <a:pt x="128" y="192"/>
                </a:cubicBezTo>
                <a:cubicBezTo>
                  <a:pt x="128" y="139"/>
                  <a:pt x="171" y="96"/>
                  <a:pt x="224" y="96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s1-text"/>
          <p:cNvSpPr txBox="1"/>
          <p:nvPr/>
        </p:nvSpPr>
        <p:spPr>
          <a:xfrm>
            <a:off x="1270000" y="1422400"/>
            <a:ext cx="1021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CURATE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— show a credible few, not everything.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"Top 3 picks", editor's choice, bestseller badges. Amazon's "Best Seller" badge and default sort compress millions of SKUs into a trustworthy shortlist before the shopper ever scrolls.</a:t>
            </a:r>
            <a:endParaRPr lang="en-US" sz="1200" noProof="1"/>
          </a:p>
        </p:txBody>
      </p:sp>
      <p:sp>
        <p:nvSpPr>
          <p:cNvPr id="6" name="s1-rule"/>
          <p:cNvSpPr/>
          <p:nvPr/>
        </p:nvSpPr>
        <p:spPr>
          <a:xfrm>
            <a:off x="711200" y="23368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s2-icon"/>
          <p:cNvSpPr/>
          <p:nvPr>
            <p:extLst>
              <p:ext uri="{F5677B7D-0D2A-4D9B-9A5C-6D8D7D0E5A5D}">
                <pptd:icon encoding="base64url">eyJpY29uTmFtZSI6ImZhczpzcXVhcmUtY2hlY2sifQ</pptd:icon>
              </p:ext>
            </p:extLst>
          </p:nvPr>
        </p:nvSpPr>
        <p:spPr>
          <a:xfrm>
            <a:off x="711200" y="2565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342" y="146"/>
                </a:moveTo>
                <a:cubicBezTo>
                  <a:pt x="331" y="138"/>
                  <a:pt x="316" y="140"/>
                  <a:pt x="309" y="151"/>
                </a:cubicBezTo>
                <a:lnTo>
                  <a:pt x="189" y="315"/>
                </a:lnTo>
                <a:lnTo>
                  <a:pt x="137" y="263"/>
                </a:lnTo>
                <a:cubicBezTo>
                  <a:pt x="128" y="254"/>
                  <a:pt x="112" y="254"/>
                  <a:pt x="103" y="263"/>
                </a:cubicBezTo>
                <a:cubicBezTo>
                  <a:pt x="94" y="273"/>
                  <a:pt x="94" y="288"/>
                  <a:pt x="103" y="297"/>
                </a:cubicBezTo>
                <a:lnTo>
                  <a:pt x="175" y="369"/>
                </a:lnTo>
                <a:cubicBezTo>
                  <a:pt x="180" y="374"/>
                  <a:pt x="187" y="377"/>
                  <a:pt x="194" y="376"/>
                </a:cubicBezTo>
                <a:cubicBezTo>
                  <a:pt x="201" y="376"/>
                  <a:pt x="207" y="372"/>
                  <a:pt x="211" y="366"/>
                </a:cubicBezTo>
                <a:lnTo>
                  <a:pt x="347" y="179"/>
                </a:lnTo>
                <a:cubicBezTo>
                  <a:pt x="355" y="169"/>
                  <a:pt x="353" y="154"/>
                  <a:pt x="342" y="146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8" name="s2-text"/>
          <p:cNvSpPr txBox="1"/>
          <p:nvPr/>
        </p:nvSpPr>
        <p:spPr>
          <a:xfrm>
            <a:off x="1270000" y="2463800"/>
            <a:ext cx="1021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DEFAULT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— preselect the sensible option.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Recommended sort order, pre-chosen variant, pre-filled delivery slot. Defaults convert because "deciding not to choose" is itself a choice most shoppers avoid making.</a:t>
            </a:r>
            <a:endParaRPr lang="en-US" sz="1200" noProof="1"/>
          </a:p>
        </p:txBody>
      </p:sp>
      <p:sp>
        <p:nvSpPr>
          <p:cNvPr id="9" name="s2-rule"/>
          <p:cNvSpPr/>
          <p:nvPr/>
        </p:nvSpPr>
        <p:spPr>
          <a:xfrm>
            <a:off x="711200" y="33782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s3-icon"/>
          <p:cNvSpPr/>
          <p:nvPr>
            <p:extLst>
              <p:ext uri="{F5677B7D-0D2A-4D9B-9A5C-6D8D7D0E5A5D}">
                <pptd:icon encoding="base64url">eyJpY29uTmFtZSI6ImZhczpmaWx0ZXIifQ</pptd:icon>
              </p:ext>
            </p:extLst>
          </p:nvPr>
        </p:nvSpPr>
        <p:spPr>
          <a:xfrm>
            <a:off x="711200" y="360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19" y="64"/>
                  <a:pt x="7" y="72"/>
                  <a:pt x="2" y="84"/>
                </a:cubicBezTo>
                <a:cubicBezTo>
                  <a:pt x="-3" y="96"/>
                  <a:pt x="0" y="110"/>
                  <a:pt x="9" y="119"/>
                </a:cubicBezTo>
                <a:lnTo>
                  <a:pt x="192" y="301"/>
                </a:lnTo>
                <a:lnTo>
                  <a:pt x="192" y="416"/>
                </a:lnTo>
                <a:cubicBezTo>
                  <a:pt x="192" y="425"/>
                  <a:pt x="195" y="433"/>
                  <a:pt x="201" y="439"/>
                </a:cubicBezTo>
                <a:lnTo>
                  <a:pt x="265" y="503"/>
                </a:lnTo>
                <a:cubicBezTo>
                  <a:pt x="275" y="512"/>
                  <a:pt x="288" y="515"/>
                  <a:pt x="300" y="510"/>
                </a:cubicBezTo>
                <a:cubicBezTo>
                  <a:pt x="312" y="505"/>
                  <a:pt x="320" y="493"/>
                  <a:pt x="320" y="480"/>
                </a:cubicBezTo>
                <a:lnTo>
                  <a:pt x="320" y="301"/>
                </a:lnTo>
                <a:lnTo>
                  <a:pt x="503" y="119"/>
                </a:lnTo>
                <a:cubicBezTo>
                  <a:pt x="512" y="110"/>
                  <a:pt x="515" y="96"/>
                  <a:pt x="510" y="84"/>
                </a:cubicBezTo>
                <a:cubicBezTo>
                  <a:pt x="505" y="72"/>
                  <a:pt x="493" y="64"/>
                  <a:pt x="480" y="64"/>
                </a:cubicBezTo>
                <a:lnTo>
                  <a:pt x="32" y="64"/>
                </a:ln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1" name="s3-text"/>
          <p:cNvSpPr txBox="1"/>
          <p:nvPr/>
        </p:nvSpPr>
        <p:spPr>
          <a:xfrm>
            <a:off x="1270000" y="3505200"/>
            <a:ext cx="1021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FILTER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— let the shopper shrink the shelf themselves.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Guided-selling quizzes and faceted filters: Sephora's shade-finder turns "which of 200 lipsticks?" into three matches in under a minute.</a:t>
            </a:r>
            <a:endParaRPr lang="en-US" sz="1200" noProof="1"/>
          </a:p>
        </p:txBody>
      </p:sp>
      <p:sp>
        <p:nvSpPr>
          <p:cNvPr id="12" name="s3-rule"/>
          <p:cNvSpPr/>
          <p:nvPr/>
        </p:nvSpPr>
        <p:spPr>
          <a:xfrm>
            <a:off x="711200" y="4419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s4-icon"/>
          <p:cNvSpPr/>
          <p:nvPr>
            <p:extLst>
              <p:ext uri="{F5677B7D-0D2A-4D9B-9A5C-6D8D7D0E5A5D}">
                <pptd:icon encoding="base64url">eyJpY29uTmFtZSI6ImZhczp3YW5kLW1hZ2ljLXNwYXJrbGVzIn0</pptd:icon>
              </p:ext>
            </p:extLst>
          </p:nvPr>
        </p:nvSpPr>
        <p:spPr>
          <a:xfrm>
            <a:off x="711200" y="4648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3" y="-27"/>
                </a:moveTo>
                <a:lnTo>
                  <a:pt x="278" y="10"/>
                </a:lnTo>
                <a:lnTo>
                  <a:pt x="315" y="25"/>
                </a:lnTo>
                <a:cubicBezTo>
                  <a:pt x="318" y="26"/>
                  <a:pt x="320" y="29"/>
                  <a:pt x="320" y="32"/>
                </a:cubicBezTo>
                <a:cubicBezTo>
                  <a:pt x="320" y="35"/>
                  <a:pt x="318" y="38"/>
                  <a:pt x="315" y="39"/>
                </a:cubicBezTo>
                <a:lnTo>
                  <a:pt x="278" y="54"/>
                </a:lnTo>
                <a:lnTo>
                  <a:pt x="263" y="91"/>
                </a:lnTo>
                <a:cubicBezTo>
                  <a:pt x="262" y="94"/>
                  <a:pt x="259" y="96"/>
                  <a:pt x="256" y="96"/>
                </a:cubicBezTo>
                <a:cubicBezTo>
                  <a:pt x="253" y="96"/>
                  <a:pt x="250" y="94"/>
                  <a:pt x="249" y="91"/>
                </a:cubicBezTo>
                <a:lnTo>
                  <a:pt x="234" y="54"/>
                </a:lnTo>
                <a:lnTo>
                  <a:pt x="197" y="39"/>
                </a:lnTo>
                <a:cubicBezTo>
                  <a:pt x="194" y="38"/>
                  <a:pt x="192" y="35"/>
                  <a:pt x="192" y="32"/>
                </a:cubicBezTo>
                <a:cubicBezTo>
                  <a:pt x="192" y="29"/>
                  <a:pt x="194" y="26"/>
                  <a:pt x="197" y="25"/>
                </a:cubicBezTo>
                <a:lnTo>
                  <a:pt x="234" y="10"/>
                </a:lnTo>
                <a:lnTo>
                  <a:pt x="249" y="-27"/>
                </a:lnTo>
                <a:cubicBezTo>
                  <a:pt x="250" y="-30"/>
                  <a:pt x="253" y="-32"/>
                  <a:pt x="256" y="-32"/>
                </a:cubicBezTo>
                <a:cubicBezTo>
                  <a:pt x="259" y="-32"/>
                  <a:pt x="262" y="-30"/>
                  <a:pt x="263" y="-27"/>
                </a:cubicBezTo>
                <a:close/>
              </a:path>
              <a:path w="576" h="512">
                <a:moveTo>
                  <a:pt x="111" y="42"/>
                </a:moveTo>
                <a:lnTo>
                  <a:pt x="132" y="92"/>
                </a:lnTo>
                <a:lnTo>
                  <a:pt x="182" y="113"/>
                </a:lnTo>
                <a:cubicBezTo>
                  <a:pt x="188" y="116"/>
                  <a:pt x="192" y="122"/>
                  <a:pt x="192" y="128"/>
                </a:cubicBezTo>
                <a:cubicBezTo>
                  <a:pt x="192" y="134"/>
                  <a:pt x="188" y="140"/>
                  <a:pt x="182" y="143"/>
                </a:cubicBezTo>
                <a:lnTo>
                  <a:pt x="132" y="164"/>
                </a:lnTo>
                <a:lnTo>
                  <a:pt x="111" y="214"/>
                </a:lnTo>
                <a:cubicBezTo>
                  <a:pt x="108" y="220"/>
                  <a:pt x="102" y="224"/>
                  <a:pt x="96" y="224"/>
                </a:cubicBezTo>
                <a:cubicBezTo>
                  <a:pt x="90" y="224"/>
                  <a:pt x="84" y="220"/>
                  <a:pt x="81" y="214"/>
                </a:cubicBezTo>
                <a:lnTo>
                  <a:pt x="60" y="164"/>
                </a:lnTo>
                <a:lnTo>
                  <a:pt x="10" y="143"/>
                </a:lnTo>
                <a:cubicBezTo>
                  <a:pt x="4" y="140"/>
                  <a:pt x="0" y="134"/>
                  <a:pt x="0" y="128"/>
                </a:cubicBezTo>
                <a:cubicBezTo>
                  <a:pt x="0" y="122"/>
                  <a:pt x="4" y="116"/>
                  <a:pt x="10" y="113"/>
                </a:cubicBezTo>
                <a:lnTo>
                  <a:pt x="60" y="92"/>
                </a:lnTo>
                <a:lnTo>
                  <a:pt x="81" y="42"/>
                </a:lnTo>
                <a:cubicBezTo>
                  <a:pt x="84" y="36"/>
                  <a:pt x="90" y="32"/>
                  <a:pt x="96" y="32"/>
                </a:cubicBezTo>
                <a:cubicBezTo>
                  <a:pt x="102" y="32"/>
                  <a:pt x="108" y="36"/>
                  <a:pt x="111" y="42"/>
                </a:cubicBezTo>
                <a:close/>
              </a:path>
              <a:path w="576" h="512">
                <a:moveTo>
                  <a:pt x="464" y="304"/>
                </a:moveTo>
                <a:cubicBezTo>
                  <a:pt x="470" y="304"/>
                  <a:pt x="476" y="308"/>
                  <a:pt x="479" y="314"/>
                </a:cubicBezTo>
                <a:lnTo>
                  <a:pt x="500" y="364"/>
                </a:lnTo>
                <a:lnTo>
                  <a:pt x="550" y="385"/>
                </a:lnTo>
                <a:cubicBezTo>
                  <a:pt x="556" y="388"/>
                  <a:pt x="560" y="394"/>
                  <a:pt x="560" y="400"/>
                </a:cubicBezTo>
                <a:cubicBezTo>
                  <a:pt x="560" y="406"/>
                  <a:pt x="556" y="412"/>
                  <a:pt x="550" y="415"/>
                </a:cubicBezTo>
                <a:lnTo>
                  <a:pt x="500" y="436"/>
                </a:lnTo>
                <a:lnTo>
                  <a:pt x="479" y="486"/>
                </a:lnTo>
                <a:cubicBezTo>
                  <a:pt x="476" y="492"/>
                  <a:pt x="470" y="496"/>
                  <a:pt x="464" y="496"/>
                </a:cubicBezTo>
                <a:cubicBezTo>
                  <a:pt x="458" y="496"/>
                  <a:pt x="452" y="492"/>
                  <a:pt x="449" y="486"/>
                </a:cubicBezTo>
                <a:lnTo>
                  <a:pt x="428" y="436"/>
                </a:lnTo>
                <a:lnTo>
                  <a:pt x="378" y="415"/>
                </a:lnTo>
                <a:cubicBezTo>
                  <a:pt x="372" y="412"/>
                  <a:pt x="368" y="406"/>
                  <a:pt x="368" y="400"/>
                </a:cubicBezTo>
                <a:cubicBezTo>
                  <a:pt x="368" y="394"/>
                  <a:pt x="372" y="388"/>
                  <a:pt x="378" y="385"/>
                </a:cubicBezTo>
                <a:lnTo>
                  <a:pt x="428" y="364"/>
                </a:lnTo>
                <a:lnTo>
                  <a:pt x="449" y="314"/>
                </a:lnTo>
                <a:cubicBezTo>
                  <a:pt x="452" y="308"/>
                  <a:pt x="458" y="304"/>
                  <a:pt x="464" y="304"/>
                </a:cubicBezTo>
                <a:close/>
              </a:path>
              <a:path w="576" h="512">
                <a:moveTo>
                  <a:pt x="460" y="0"/>
                </a:moveTo>
                <a:cubicBezTo>
                  <a:pt x="471" y="0"/>
                  <a:pt x="482" y="4"/>
                  <a:pt x="490" y="12"/>
                </a:cubicBezTo>
                <a:lnTo>
                  <a:pt x="532" y="55"/>
                </a:lnTo>
                <a:cubicBezTo>
                  <a:pt x="540" y="62"/>
                  <a:pt x="544" y="73"/>
                  <a:pt x="544" y="84"/>
                </a:cubicBezTo>
                <a:cubicBezTo>
                  <a:pt x="544" y="95"/>
                  <a:pt x="540" y="106"/>
                  <a:pt x="532" y="114"/>
                </a:cubicBezTo>
                <a:lnTo>
                  <a:pt x="444" y="202"/>
                </a:lnTo>
                <a:lnTo>
                  <a:pt x="342" y="100"/>
                </a:lnTo>
                <a:lnTo>
                  <a:pt x="430" y="12"/>
                </a:lnTo>
                <a:cubicBezTo>
                  <a:pt x="438" y="4"/>
                  <a:pt x="449" y="0"/>
                  <a:pt x="460" y="0"/>
                </a:cubicBezTo>
                <a:close/>
              </a:path>
              <a:path w="576" h="512">
                <a:moveTo>
                  <a:pt x="44" y="399"/>
                </a:moveTo>
                <a:lnTo>
                  <a:pt x="308" y="134"/>
                </a:lnTo>
                <a:lnTo>
                  <a:pt x="410" y="236"/>
                </a:lnTo>
                <a:lnTo>
                  <a:pt x="146" y="500"/>
                </a:lnTo>
                <a:cubicBezTo>
                  <a:pt x="138" y="508"/>
                  <a:pt x="127" y="512"/>
                  <a:pt x="116" y="512"/>
                </a:cubicBezTo>
                <a:cubicBezTo>
                  <a:pt x="105" y="512"/>
                  <a:pt x="94" y="508"/>
                  <a:pt x="87" y="500"/>
                </a:cubicBezTo>
                <a:lnTo>
                  <a:pt x="44" y="458"/>
                </a:lnTo>
                <a:cubicBezTo>
                  <a:pt x="36" y="450"/>
                  <a:pt x="32" y="439"/>
                  <a:pt x="32" y="428"/>
                </a:cubicBezTo>
                <a:cubicBezTo>
                  <a:pt x="32" y="417"/>
                  <a:pt x="36" y="406"/>
                  <a:pt x="44" y="399"/>
                </a:cubicBezTo>
                <a:close/>
              </a:path>
            </a:pathLst>
          </a:custGeom>
          <a:solidFill>
            <a:srgbClr val="BC4B26"/>
          </a:solidFill>
          <a:ln>
            <a:noFill/>
          </a:ln>
        </p:spPr>
      </p:sp>
      <p:sp>
        <p:nvSpPr>
          <p:cNvPr id="14" name="s4-text"/>
          <p:cNvSpPr txBox="1"/>
          <p:nvPr/>
        </p:nvSpPr>
        <p:spPr>
          <a:xfrm>
            <a:off x="1270000" y="4546600"/>
            <a:ext cx="10210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RECOMMEND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— let behaviour do the curating.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Netflix's personalised rows and Amazon's "recommended for you" are curation computed from what shoppers actually did — the bridge to Session B's recommender systems.</a:t>
            </a:r>
            <a:endParaRPr lang="en-US" sz="1200" noProof="1"/>
          </a:p>
        </p:txBody>
      </p:sp>
      <p:sp>
        <p:nvSpPr>
          <p:cNvPr id="15" name="caveat-band"/>
          <p:cNvSpPr/>
          <p:nvPr/>
        </p:nvSpPr>
        <p:spPr>
          <a:xfrm>
            <a:off x="711200" y="5511800"/>
            <a:ext cx="10769600" cy="6350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16" name="caveat-t"/>
          <p:cNvSpPr txBox="1"/>
          <p:nvPr/>
        </p:nvSpPr>
        <p:spPr>
          <a:xfrm>
            <a:off x="914400" y="5600700"/>
            <a:ext cx="10363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Caveat from the evidence: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overload effects vary by expertise and category — curate, don't amputate. Keep a "see all" escape hatch for expert shoppers who want the 24-jam table.</a:t>
            </a:r>
            <a:endParaRPr lang="en-US" sz="1150" noProof="1"/>
          </a:p>
        </p:txBody>
      </p:sp>
      <p:sp>
        <p:nvSpPr>
          <p:cNvPr id="17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9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16</a:t>
            </a:r>
            <a:endParaRPr lang="en-US" sz="95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EVIDENCE · THE SMARTPHONE SHOPPER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phone rewired shopping behaviour — the evidence in five numbers</a:t>
            </a:r>
            <a:endParaRPr lang="en-US" sz="2600" noProof="1"/>
          </a:p>
        </p:txBody>
      </p:sp>
      <p:graphicFrame>
        <p:nvGraphicFramePr>
          <p:cNvPr id="4" name="ev-chart"/>
          <p:cNvGraphicFramePr/>
          <p:nvPr/>
        </p:nvGraphicFramePr>
        <p:xfrm>
          <a:off x="711200" y="1498600"/>
          <a:ext cx="6604000" cy="38354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stat1-num"/>
          <p:cNvSpPr txBox="1"/>
          <p:nvPr/>
        </p:nvSpPr>
        <p:spPr>
          <a:xfrm>
            <a:off x="7874000" y="1625600"/>
            <a:ext cx="3606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~70%</a:t>
            </a:r>
            <a:endParaRPr lang="en-US" sz="4800" noProof="1"/>
          </a:p>
        </p:txBody>
      </p:sp>
      <p:sp>
        <p:nvSpPr>
          <p:cNvPr id="6" name="stat1-t"/>
          <p:cNvSpPr txBox="1"/>
          <p:nvPr/>
        </p:nvSpPr>
        <p:spPr>
          <a:xfrm>
            <a:off x="7874000" y="2387600"/>
            <a:ext cx="3606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online carts are abandoned on average — ~80% on mobile vs ~66% on desktop</a:t>
            </a:r>
            <a:endParaRPr lang="en-US" sz="1200" noProof="1"/>
          </a:p>
        </p:txBody>
      </p:sp>
      <p:sp>
        <p:nvSpPr>
          <p:cNvPr id="7" name="stat2-num"/>
          <p:cNvSpPr txBox="1"/>
          <p:nvPr/>
        </p:nvSpPr>
        <p:spPr>
          <a:xfrm>
            <a:off x="7874000" y="3403600"/>
            <a:ext cx="3606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1 in 10</a:t>
            </a:r>
            <a:endParaRPr lang="en-US" sz="4800" noProof="1"/>
          </a:p>
        </p:txBody>
      </p:sp>
      <p:sp>
        <p:nvSpPr>
          <p:cNvPr id="8" name="stat2-t"/>
          <p:cNvSpPr txBox="1"/>
          <p:nvPr/>
        </p:nvSpPr>
        <p:spPr>
          <a:xfrm>
            <a:off x="7874000" y="4165600"/>
            <a:ext cx="36068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in-store phone-checkers ends up buying a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different product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than they planned — the shelf is no longer the last word</a:t>
            </a:r>
            <a:endParaRPr lang="en-US" sz="1200" noProof="1"/>
          </a:p>
        </p:txBody>
      </p:sp>
      <p:sp>
        <p:nvSpPr>
          <p:cNvPr id="9" name="src"/>
          <p:cNvSpPr txBox="1"/>
          <p:nvPr/>
        </p:nvSpPr>
        <p:spPr>
          <a:xfrm>
            <a:off x="711200" y="55880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Think with Google, 2015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(91%, 82%, 1-in-10, 69%); Google/SOASTA via Think with Google, 2017 (53%);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Baymard Institute, 2025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(cart abandonment)</a:t>
            </a:r>
            <a:endParaRPr lang="en-US" sz="1000" noProof="1"/>
          </a:p>
        </p:txBody>
      </p:sp>
      <p:sp>
        <p:nvSpPr>
          <p:cNvPr id="10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17</a:t>
            </a:r>
            <a:endParaRPr lang="en-US" sz="95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TECHNOLOGY · THE MEASUREMENT STACK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measurement stack: what happened, why, and who to act on</a:t>
            </a:r>
            <a:endParaRPr lang="en-US" sz="2600" noProof="1"/>
          </a:p>
        </p:txBody>
      </p:sp>
      <p:sp>
        <p:nvSpPr>
          <p:cNvPr id="4" name="layer1"/>
          <p:cNvSpPr/>
          <p:nvPr/>
        </p:nvSpPr>
        <p:spPr>
          <a:xfrm>
            <a:off x="711200" y="1422400"/>
            <a:ext cx="10769600" cy="10668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5" name="layer1-t"/>
          <p:cNvSpPr txBox="1"/>
          <p:nvPr/>
        </p:nvSpPr>
        <p:spPr>
          <a:xfrm>
            <a:off x="965200" y="15240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GA4 (Google Analytics 4) — WHAT happened.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Event-based analytics: every view, scroll, click, and purchase is an event; engagement rate replaces bounce rate; funnel and exploration reports trace paths.</a:t>
            </a:r>
            <a:endParaRPr lang="en-US" sz="1200" noProof="1"/>
          </a:p>
        </p:txBody>
      </p:sp>
      <p:sp>
        <p:nvSpPr>
          <p:cNvPr id="6" name="layer1-stat"/>
          <p:cNvSpPr txBox="1"/>
          <p:nvPr/>
        </p:nvSpPr>
        <p:spPr>
          <a:xfrm>
            <a:off x="8788400" y="15240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~49% of sites with a known analytics tool · 14M+ sites</a:t>
            </a:r>
            <a:endParaRPr lang="en-US" sz="1100" noProof="1"/>
          </a:p>
        </p:txBody>
      </p:sp>
      <p:sp>
        <p:nvSpPr>
          <p:cNvPr id="7" name="arr1"/>
          <p:cNvSpPr/>
          <p:nvPr/>
        </p:nvSpPr>
        <p:spPr>
          <a:xfrm>
            <a:off x="5943600" y="2514600"/>
            <a:ext cx="304800" cy="203200"/>
          </a:xfrm>
          <a:prstGeom prst="downArrow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8" name="layer2"/>
          <p:cNvSpPr/>
          <p:nvPr/>
        </p:nvSpPr>
        <p:spPr>
          <a:xfrm>
            <a:off x="711200" y="2743200"/>
            <a:ext cx="10769600" cy="10668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9" name="layer2-t"/>
          <p:cNvSpPr txBox="1"/>
          <p:nvPr/>
        </p:nvSpPr>
        <p:spPr>
          <a:xfrm>
            <a:off x="965200" y="28448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Heatmaps &amp; session replay (Hotjar, Microsoft Clarity) — WHY it happened.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Visual overlays of clicks, taps, scroll depth, and cursor movement reveal what users attend to versus ignore. Documented win: +63% mobile conversion after a heatmap diagnosis (Epiphany).</a:t>
            </a:r>
            <a:endParaRPr lang="en-US" sz="1200" noProof="1"/>
          </a:p>
        </p:txBody>
      </p:sp>
      <p:sp>
        <p:nvSpPr>
          <p:cNvPr id="10" name="layer2-stat"/>
          <p:cNvSpPr txBox="1"/>
          <p:nvPr/>
        </p:nvSpPr>
        <p:spPr>
          <a:xfrm>
            <a:off x="8788400" y="28448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Hotjar: 1.3M+ websites · 7.5M+ heatmaps</a:t>
            </a:r>
            <a:endParaRPr lang="en-US" sz="1100" noProof="1"/>
          </a:p>
        </p:txBody>
      </p:sp>
      <p:sp>
        <p:nvSpPr>
          <p:cNvPr id="11" name="arr2"/>
          <p:cNvSpPr/>
          <p:nvPr/>
        </p:nvSpPr>
        <p:spPr>
          <a:xfrm>
            <a:off x="5943600" y="3835400"/>
            <a:ext cx="304800" cy="203200"/>
          </a:xfrm>
          <a:prstGeom prst="downArrow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2" name="layer3"/>
          <p:cNvSpPr/>
          <p:nvPr/>
        </p:nvSpPr>
        <p:spPr>
          <a:xfrm>
            <a:off x="711200" y="4064000"/>
            <a:ext cx="10769600" cy="10668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13" name="layer3-t"/>
          <p:cNvSpPr txBox="1"/>
          <p:nvPr/>
        </p:nvSpPr>
        <p:spPr>
          <a:xfrm>
            <a:off x="965200" y="4165600"/>
            <a:ext cx="76200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Customer Data Platform (CDP) — WHO to act on.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Unifies data from every source into persistent, consented, individual-level profiles and pushes them to email, ads, and personalisation engines in real time.</a:t>
            </a:r>
            <a:endParaRPr lang="en-US" sz="1200" noProof="1"/>
          </a:p>
        </p:txBody>
      </p:sp>
      <p:sp>
        <p:nvSpPr>
          <p:cNvPr id="14" name="layer3-stat"/>
          <p:cNvSpPr txBox="1"/>
          <p:nvPr/>
        </p:nvSpPr>
        <p:spPr>
          <a:xfrm>
            <a:off x="8788400" y="4165600"/>
            <a:ext cx="2489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r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Market $6.35B (2025) → $14.04B (2031*) · ~208 vendors</a:t>
            </a:r>
            <a:endParaRPr lang="en-US" sz="1100" noProof="1"/>
          </a:p>
        </p:txBody>
      </p:sp>
      <p:sp>
        <p:nvSpPr>
          <p:cNvPr id="15" name="chain"/>
          <p:cNvSpPr txBox="1"/>
          <p:nvPr/>
        </p:nvSpPr>
        <p:spPr>
          <a:xfrm>
            <a:off x="711200" y="538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GA4 tells you </a:t>
            </a: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what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→ Hotjar shows </a:t>
            </a: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why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→ the CDP lets you act on </a:t>
            </a: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who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.</a:t>
            </a:r>
            <a:endParaRPr lang="en-US" sz="1300" noProof="1"/>
          </a:p>
        </p:txBody>
      </p:sp>
      <p:sp>
        <p:nvSpPr>
          <p:cNvPr id="16" name="src"/>
          <p:cNvSpPr txBox="1"/>
          <p:nvPr/>
        </p:nvSpPr>
        <p:spPr>
          <a:xfrm>
            <a:off x="711200" y="57912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W3Techs via Amra &amp; Elma,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Hotjar,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MarketsandMarkets,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5"/>
              </a:rPr>
              <a:t>CDP Institute, 2026</a:t>
            </a:r>
            <a:endParaRPr lang="en-US" sz="1000" noProof="1"/>
          </a:p>
        </p:txBody>
      </p:sp>
      <p:sp>
        <p:nvSpPr>
          <p:cNvPr id="17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9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20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18</a:t>
            </a:r>
            <a:endParaRPr lang="en-US" sz="95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COMPANY EXAMPLE · AMAZON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Amazon engineers every decision point — one tactic per journey stage</a:t>
            </a:r>
            <a:endParaRPr lang="en-US" sz="2600" noProof="1"/>
          </a:p>
        </p:txBody>
      </p:sp>
      <p:graphicFrame>
        <p:nvGraphicFramePr>
          <p:cNvPr id="4" name="amz-table"/>
          <p:cNvGraphicFramePr>
            <a:graphicFrameLocks noGrp="1"/>
          </p:cNvGraphicFramePr>
          <p:nvPr/>
        </p:nvGraphicFramePr>
        <p:xfrm>
          <a:off x="711200" y="1473200"/>
          <a:ext cx="7823200" cy="3403600"/>
        </p:xfrm>
        <a:graphic>
          <a:graphicData uri="http://schemas.openxmlformats.org/drawingml/2006/table">
            <a:tbl>
              <a:tblPr/>
              <a:tblGrid>
                <a:gridCol w="2034032"/>
                <a:gridCol w="3285744"/>
                <a:gridCol w="2503424"/>
              </a:tblGrid>
              <a:tr h="54457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CDJ stage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Amazon tactic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What it attacks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7147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Active evaluation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Verified reviews, Q&amp;A, comparison charts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Central-route shoppers need argument quality (ELM)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7147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Active evaluation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"Frequently bought together", "Customers who bought"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Computed curation that shrinks the shelf (choice overload)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7147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Moment of purchase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1-Click ordering (patented 1999); "order in the next 6h 12m"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Ability + urgency exactly at the prompt moment (Fogg)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7147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Post-purchase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Subscribe &amp; Save, reorder prompts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The loyalty loop — skips re-evaluation entirely (CDJ)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</a:tbl>
          </a:graphicData>
        </a:graphic>
      </p:graphicFrame>
      <p:sp>
        <p:nvSpPr>
          <p:cNvPr id="5" name="stat-num"/>
          <p:cNvSpPr txBox="1"/>
          <p:nvPr/>
        </p:nvSpPr>
        <p:spPr>
          <a:xfrm>
            <a:off x="8890000" y="1625600"/>
            <a:ext cx="2590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~35%</a:t>
            </a:r>
            <a:endParaRPr lang="en-US" sz="4800" noProof="1"/>
          </a:p>
        </p:txBody>
      </p:sp>
      <p:sp>
        <p:nvSpPr>
          <p:cNvPr id="6" name="stat-t"/>
          <p:cNvSpPr txBox="1"/>
          <p:nvPr/>
        </p:nvSpPr>
        <p:spPr>
          <a:xfrm>
            <a:off x="8788400" y="2387600"/>
            <a:ext cx="26924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Amazon purchases estimated to flow through recommendation placements</a:t>
            </a:r>
            <a:endParaRPr lang="en-US" sz="1200" noProof="1"/>
          </a:p>
        </p:txBody>
      </p:sp>
      <p:sp>
        <p:nvSpPr>
          <p:cNvPr id="7" name="stat-caveat"/>
          <p:cNvSpPr txBox="1"/>
          <p:nvPr/>
        </p:nvSpPr>
        <p:spPr>
          <a:xfrm>
            <a:off x="8788400" y="3835400"/>
            <a:ext cx="2692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050" noProof="1" b="1">
                <a:solidFill>
                  <a:srgbClr val="6E675C"/>
                </a:solidFill>
                <a:latin typeface="Quattrocento Sans"/>
                <a:ea typeface="Quattrocento Sans"/>
              </a:rPr>
              <a:t>Caveat:</a:t>
            </a:r>
            <a:r>
              <a:rPr lang="en-US" sz="1050" noProof="1">
                <a:solidFill>
                  <a:srgbClr val="6E675C"/>
                </a:solidFill>
                <a:latin typeface="Quattrocento Sans"/>
                <a:ea typeface="Quattrocento Sans"/>
              </a:rPr>
              <a:t> McKinsey estimate, 2013 — never confirmed by Amazon. Attribution is not causation (more on p38).</a:t>
            </a:r>
            <a:endParaRPr lang="en-US" sz="1050" noProof="1"/>
          </a:p>
        </p:txBody>
      </p:sp>
      <p:sp>
        <p:nvSpPr>
          <p:cNvPr id="8" name="take"/>
          <p:cNvSpPr txBox="1"/>
          <p:nvPr/>
        </p:nvSpPr>
        <p:spPr>
          <a:xfrm>
            <a:off x="711200" y="51308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Why it matters: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none of these is "advertising." Amazon's growth engine is decision-point design — each tactic is a theory (ELM, Fogg, CDJ) rendered as interface, then measured.</a:t>
            </a:r>
            <a:endParaRPr lang="en-US" sz="1200" noProof="1"/>
          </a:p>
        </p:txBody>
      </p:sp>
      <p:sp>
        <p:nvSpPr>
          <p:cNvPr id="9" name="src"/>
          <p:cNvSpPr txBox="1"/>
          <p:nvPr/>
        </p:nvSpPr>
        <p:spPr>
          <a:xfrm>
            <a:off x="711200" y="57404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McKinsey 2013 estimate via New America, "Case study: Amazon"</a:t>
            </a:r>
            <a:endParaRPr lang="en-US" sz="1000" noProof="1"/>
          </a:p>
        </p:txBody>
      </p:sp>
      <p:sp>
        <p:nvSpPr>
          <p:cNvPr id="10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19</a:t>
            </a:r>
            <a:endParaRPr lang="en-US" sz="95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COMPANY EXAMPLE · BOOKING.COM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Booking.com wins the peripheral route — a thousand experiments at a time</a:t>
            </a:r>
            <a:endParaRPr lang="en-US" sz="2600" noProof="1"/>
          </a:p>
        </p:txBody>
      </p:sp>
      <p:sp>
        <p:nvSpPr>
          <p:cNvPr id="4" name="left-head"/>
          <p:cNvSpPr txBox="1"/>
          <p:nvPr/>
        </p:nvSpPr>
        <p:spPr>
          <a:xfrm>
            <a:off x="711200" y="1473200"/>
            <a:ext cx="5130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BC4B26"/>
                </a:solidFill>
                <a:latin typeface="Quattrocento Sans"/>
                <a:ea typeface="Quattrocento Sans"/>
              </a:rPr>
              <a:t>The cues you see (ELM, peripheral route)</a:t>
            </a:r>
            <a:endParaRPr lang="en-US" sz="1350" noProof="1"/>
          </a:p>
        </p:txBody>
      </p:sp>
      <p:sp>
        <p:nvSpPr>
          <p:cNvPr id="5" name="left-text"/>
          <p:cNvSpPr txBox="1"/>
          <p:nvPr/>
        </p:nvSpPr>
        <p:spPr>
          <a:xfrm>
            <a:off x="711200" y="1803400"/>
            <a:ext cx="51308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"Only 2 rooms left at this price"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scarcity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"17 people are looking at this hotel"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social proof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"Deal ends in 04:12:33"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urgency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Nobody cross-tabulates cancellation policies at 23:40. In low-elaboration booking moments, cues decide — exactly as ELM predicts.</a:t>
            </a:r>
            <a:endParaRPr lang="en-US" sz="1200" noProof="1"/>
          </a:p>
        </p:txBody>
      </p:sp>
      <p:sp>
        <p:nvSpPr>
          <p:cNvPr id="6" name="mid-rule"/>
          <p:cNvSpPr/>
          <p:nvPr/>
        </p:nvSpPr>
        <p:spPr>
          <a:xfrm>
            <a:off x="6096000" y="1473200"/>
            <a:ext cx="12700" cy="29972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right-head"/>
          <p:cNvSpPr txBox="1"/>
          <p:nvPr/>
        </p:nvSpPr>
        <p:spPr>
          <a:xfrm>
            <a:off x="6400800" y="1473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75E54"/>
                </a:solidFill>
                <a:latin typeface="Quattrocento Sans"/>
                <a:ea typeface="Quattrocento Sans"/>
              </a:rPr>
              <a:t>The machine you don't see</a:t>
            </a:r>
            <a:endParaRPr lang="en-US" sz="1350" noProof="1"/>
          </a:p>
        </p:txBody>
      </p:sp>
      <p:sp>
        <p:nvSpPr>
          <p:cNvPr id="8" name="right-text"/>
          <p:cNvSpPr txBox="1"/>
          <p:nvPr/>
        </p:nvSpPr>
        <p:spPr>
          <a:xfrm>
            <a:off x="6400800" y="18034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~1,000 concurrent A/B tests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running at any time; any employee can launch one without permission.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Even a CEO's logo redesign had to win an experiment before shipping.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Booking assumes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~90% of tests fail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each failure is an eliminated hypothesis; compounding wins drive conversion.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Tests deploy across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75 countries / 43 languages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in under an hour.</a:t>
            </a:r>
            <a:endParaRPr lang="en-US" sz="1200" noProof="1"/>
          </a:p>
        </p:txBody>
      </p:sp>
      <p:sp>
        <p:nvSpPr>
          <p:cNvPr id="9" name="eth-band"/>
          <p:cNvSpPr/>
          <p:nvPr/>
        </p:nvSpPr>
        <p:spPr>
          <a:xfrm>
            <a:off x="711200" y="4724400"/>
            <a:ext cx="10769600" cy="9398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10" name="eth-t"/>
          <p:cNvSpPr txBox="1"/>
          <p:nvPr/>
        </p:nvSpPr>
        <p:spPr>
          <a:xfrm>
            <a:off x="914400" y="4838700"/>
            <a:ext cx="103632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Ethical note — where is the line?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Scarcity claims like these have drawn regulatory scrutiny. ELM predicts the backlash: peripheral tactics work until central processing catches up — then trust, the durable asset, erodes. Booking's own guardrail: personalise to reduce effort, never to deceive; nothing ships without an experiment.</a:t>
            </a:r>
            <a:endParaRPr lang="en-US" sz="1200" noProof="1"/>
          </a:p>
        </p:txBody>
      </p:sp>
      <p:sp>
        <p:nvSpPr>
          <p:cNvPr id="11" name="src"/>
          <p:cNvSpPr txBox="1"/>
          <p:nvPr/>
        </p:nvSpPr>
        <p:spPr>
          <a:xfrm>
            <a:off x="711200" y="58420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Booking.com engineering, arXiv:1710.08217, 2017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HBR case via VWO, 2025</a:t>
            </a:r>
            <a:endParaRPr lang="en-US" sz="1000" noProof="1"/>
          </a:p>
        </p:txBody>
      </p:sp>
      <p:sp>
        <p:nvSpPr>
          <p:cNvPr id="12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20</a:t>
            </a:r>
            <a:endParaRPr lang="en-US" sz="95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DISCUSSION + ACTIVITY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Activity: Spot the micro-moment — then design the winning response</a:t>
            </a:r>
            <a:endParaRPr lang="en-US" sz="2600" noProof="1"/>
          </a:p>
        </p:txBody>
      </p:sp>
      <p:sp>
        <p:nvSpPr>
          <p:cNvPr id="4" name="zone"/>
          <p:cNvSpPr/>
          <p:nvPr/>
        </p:nvSpPr>
        <p:spPr>
          <a:xfrm>
            <a:off x="711200" y="1371600"/>
            <a:ext cx="10769600" cy="47752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5" name="task"/>
          <p:cNvSpPr txBox="1"/>
          <p:nvPr/>
        </p:nvSpPr>
        <p:spPr>
          <a:xfrm>
            <a:off x="965200" y="14986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Practice scenario · In pairs, 15 minutes. Classify each scenario as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know / go / do / buy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, then pick one and write the brand response that would win that moment.</a:t>
            </a:r>
            <a:endParaRPr lang="en-US" sz="1250" noProof="1"/>
          </a:p>
        </p:txBody>
      </p:sp>
      <p:graphicFrame>
        <p:nvGraphicFramePr>
          <p:cNvPr id="6" name="act-table"/>
          <p:cNvGraphicFramePr>
            <a:graphicFrameLocks noGrp="1"/>
          </p:cNvGraphicFramePr>
          <p:nvPr/>
        </p:nvGraphicFramePr>
        <p:xfrm>
          <a:off x="965200" y="2006600"/>
          <a:ext cx="10261600" cy="2489200"/>
        </p:xfrm>
        <a:graphic>
          <a:graphicData uri="http://schemas.openxmlformats.org/drawingml/2006/table">
            <a:tbl>
              <a:tblPr/>
              <a:tblGrid>
                <a:gridCol w="513080"/>
                <a:gridCol w="7183120"/>
                <a:gridCol w="2565400"/>
              </a:tblGrid>
              <a:tr h="3235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#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Your call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"best wireless earbuds under ₹3,000" — searched at lunch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"petrol pump near me open now" — from the car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Watching "how to tie a bow tie" 20 minutes before a wedding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Comparing a shoe's online price on a phone, inside the store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"is the iPhone 17 waterproof?" — the night before pre-orders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36093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Reordering dog food by tapping a push notification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</a:tbl>
          </a:graphicData>
        </a:graphic>
      </p:graphicFrame>
      <p:sp>
        <p:nvSpPr>
          <p:cNvPr id="7" name="steps"/>
          <p:cNvSpPr txBox="1"/>
          <p:nvPr/>
        </p:nvSpPr>
        <p:spPr>
          <a:xfrm>
            <a:off x="965200" y="4648200"/>
            <a:ext cx="6350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Working steps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1 · Classify all six (note any that sit between types).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2 · Choose one moment and write the brand's response: the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useful answer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for that moment, the channel, and the metric that proves it worked.</a:t>
            </a:r>
            <a:endParaRPr lang="en-US" sz="1150" noProof="1"/>
          </a:p>
        </p:txBody>
      </p:sp>
      <p:sp>
        <p:nvSpPr>
          <p:cNvPr id="8" name="criteria"/>
          <p:cNvSpPr txBox="1"/>
          <p:nvPr/>
        </p:nvSpPr>
        <p:spPr>
          <a:xfrm>
            <a:off x="7620000" y="4648200"/>
            <a:ext cx="36068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Completion criteria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All six classified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One response with useful answer + channel + metric</a:t>
            </a:r>
            <a:endParaRPr lang="en-US" sz="1150" noProof="1"/>
          </a:p>
          <a:p>
            <a:pPr>
              <a:lnSpc>
                <a:spcPct val="14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Debrief: which moment type was hardest to classify — and why?</a:t>
            </a:r>
            <a:endParaRPr lang="en-US" sz="1150" noProof="1"/>
          </a:p>
        </p:txBody>
      </p:sp>
      <p:sp>
        <p:nvSpPr>
          <p:cNvPr id="9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1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21</a:t>
            </a:r>
            <a:endParaRPr lang="en-US" sz="95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SUMMARY · SESSION 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Session A takeaways: journeys loop, moments decide, ease converts</a:t>
            </a:r>
            <a:endParaRPr lang="en-US" sz="2600" noProof="1"/>
          </a:p>
        </p:txBody>
      </p:sp>
      <p:sp>
        <p:nvSpPr>
          <p:cNvPr id="4" name="tk1"/>
          <p:cNvSpPr txBox="1"/>
          <p:nvPr/>
        </p:nvSpPr>
        <p:spPr>
          <a:xfrm>
            <a:off x="711200" y="14224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The CDJ beats the funnel.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Shoppers add and drop brands during active evaluation, and post-purchase experience feeds the next trigger. Budget follows the battlegrounds, not awareness alone. </a:t>
            </a:r>
            <a:r>
              <a:rPr lang="en-US" sz="1300" noProof="1">
                <a:solidFill>
                  <a:srgbClr val="6E675C"/>
                </a:solidFill>
                <a:latin typeface="Quattrocento Sans"/>
                <a:ea typeface="Quattrocento Sans"/>
              </a:rPr>
              <a:t>(McKinsey, 2009)</a:t>
            </a:r>
            <a:endParaRPr lang="en-US" sz="1300" noProof="1"/>
          </a:p>
        </p:txBody>
      </p:sp>
      <p:sp>
        <p:nvSpPr>
          <p:cNvPr id="5" name="tk2"/>
          <p:cNvSpPr txBox="1"/>
          <p:nvPr/>
        </p:nvSpPr>
        <p:spPr>
          <a:xfrm>
            <a:off x="711200" y="21336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2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Micro-moments are the battleground.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Every reflexive reach for the phone is know, go, do, or buy. Win by being there, useful, and quick. </a:t>
            </a:r>
            <a:r>
              <a:rPr lang="en-US" sz="1300" noProof="1">
                <a:solidFill>
                  <a:srgbClr val="6E675C"/>
                </a:solidFill>
                <a:latin typeface="Quattrocento Sans"/>
                <a:ea typeface="Quattrocento Sans"/>
              </a:rPr>
              <a:t>(Think with Google, 2015)</a:t>
            </a:r>
            <a:endParaRPr lang="en-US" sz="1300" noProof="1"/>
          </a:p>
        </p:txBody>
      </p:sp>
      <p:sp>
        <p:nvSpPr>
          <p:cNvPr id="6" name="tk3"/>
          <p:cNvSpPr txBox="1"/>
          <p:nvPr/>
        </p:nvSpPr>
        <p:spPr>
          <a:xfrm>
            <a:off x="711200" y="28448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3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ELM: match the message to the route.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Facts and comparisons for high-involvement central processing; cues and one-tap ease for low-involvement peripheral processing — same shopper, different category. </a:t>
            </a:r>
            <a:r>
              <a:rPr lang="en-US" sz="1300" noProof="1">
                <a:solidFill>
                  <a:srgbClr val="6E675C"/>
                </a:solidFill>
                <a:latin typeface="Quattrocento Sans"/>
                <a:ea typeface="Quattrocento Sans"/>
              </a:rPr>
              <a:t>(Petty &amp; Cacioppo, 1986)</a:t>
            </a:r>
            <a:endParaRPr lang="en-US" sz="1300" noProof="1"/>
          </a:p>
        </p:txBody>
      </p:sp>
      <p:sp>
        <p:nvSpPr>
          <p:cNvPr id="7" name="tk4"/>
          <p:cNvSpPr txBox="1"/>
          <p:nvPr/>
        </p:nvSpPr>
        <p:spPr>
          <a:xfrm>
            <a:off x="711200" y="35560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4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Fogg B=MAP: ability is the highest-leverage lever.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~70% of carts die at the prompt moment — 48% over surprise costs. Make it easy, protect motivation, time the prompt. </a:t>
            </a:r>
            <a:r>
              <a:rPr lang="en-US" sz="1300" noProof="1">
                <a:solidFill>
                  <a:srgbClr val="6E675C"/>
                </a:solidFill>
                <a:latin typeface="Quattrocento Sans"/>
                <a:ea typeface="Quattrocento Sans"/>
              </a:rPr>
              <a:t>(Fogg, 2009; Baymard, 2025)</a:t>
            </a:r>
            <a:endParaRPr lang="en-US" sz="1300" noProof="1"/>
          </a:p>
        </p:txBody>
      </p:sp>
      <p:sp>
        <p:nvSpPr>
          <p:cNvPr id="8" name="tk5"/>
          <p:cNvSpPr txBox="1"/>
          <p:nvPr/>
        </p:nvSpPr>
        <p:spPr>
          <a:xfrm>
            <a:off x="711200" y="42672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5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Choice overload: curate, don't amputate.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Six jams outsold twenty-four by 10×. Curation, defaults, filters, and recommendations shrink the shelf. </a:t>
            </a:r>
            <a:r>
              <a:rPr lang="en-US" sz="1300" noProof="1">
                <a:solidFill>
                  <a:srgbClr val="6E675C"/>
                </a:solidFill>
                <a:latin typeface="Quattrocento Sans"/>
                <a:ea typeface="Quattrocento Sans"/>
              </a:rPr>
              <a:t>(Iyengar &amp; Lepper, 2000)</a:t>
            </a:r>
            <a:endParaRPr lang="en-US" sz="1300" noProof="1"/>
          </a:p>
        </p:txBody>
      </p:sp>
      <p:sp>
        <p:nvSpPr>
          <p:cNvPr id="9" name="bridge-band"/>
          <p:cNvSpPr/>
          <p:nvPr/>
        </p:nvSpPr>
        <p:spPr>
          <a:xfrm>
            <a:off x="711200" y="5156200"/>
            <a:ext cx="10769600" cy="7874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0" name="bridge-t"/>
          <p:cNvSpPr txBox="1"/>
          <p:nvPr/>
        </p:nvSpPr>
        <p:spPr>
          <a:xfrm>
            <a:off x="914400" y="5270500"/>
            <a:ext cx="10363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Bridge to Session B —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once you understand the journey, every decision point becomes a prediction problem. That is exactly what AI personalisation does: compute the right product, message, and moment — per shopper, at scale.</a:t>
            </a:r>
            <a:endParaRPr lang="en-US" sz="1250" noProof="1"/>
          </a:p>
        </p:txBody>
      </p:sp>
      <p:sp>
        <p:nvSpPr>
          <p:cNvPr id="11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A · Topic 2</a:t>
            </a:r>
            <a:endParaRPr lang="en-US" sz="95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22</a:t>
            </a:r>
            <a:endParaRPr lang="en-US" sz="95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E3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iv-img"/>
          <p:cNvPicPr/>
          <p:nvPr/>
        </p:nvPicPr>
        <p:blipFill>
          <a:blip r:embed="rId2">
            <a:alphaModFix amt="50000"/>
          </a:blip>
          <a:srcRect l="37292" r="37292"/>
          <a:stretch>
            <a:fillRect/>
          </a:stretch>
        </p:blipFill>
        <p:spPr>
          <a:xfrm>
            <a:off x="9093200" y="0"/>
            <a:ext cx="3098800" cy="6858000"/>
          </a:xfrm>
          <a:prstGeom prst="rect">
            <a:avLst/>
          </a:prstGeom>
          <a:ln>
            <a:noFill/>
          </a:ln>
        </p:spPr>
      </p:pic>
      <p:sp>
        <p:nvSpPr>
          <p:cNvPr id="3" name="div-num"/>
          <p:cNvSpPr txBox="1"/>
          <p:nvPr/>
        </p:nvSpPr>
        <p:spPr>
          <a:xfrm>
            <a:off x="609600" y="508000"/>
            <a:ext cx="3810000" cy="215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800" noProof="1">
                <a:solidFill>
                  <a:srgbClr val="FFFFFF">
                    <a:alpha val="14902"/>
                  </a:srgbClr>
                </a:solidFill>
                <a:latin typeface="Unna"/>
                <a:ea typeface="Unna"/>
              </a:rPr>
              <a:t>3</a:t>
            </a:r>
            <a:endParaRPr lang="en-US" sz="12800" noProof="1"/>
          </a:p>
        </p:txBody>
      </p:sp>
      <p:sp>
        <p:nvSpPr>
          <p:cNvPr id="4" name="div-kicker"/>
          <p:cNvSpPr txBox="1"/>
          <p:nvPr/>
        </p:nvSpPr>
        <p:spPr>
          <a:xfrm>
            <a:off x="711200" y="299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F6E7DE"/>
                </a:solidFill>
                <a:latin typeface="Quattrocento Sans"/>
                <a:ea typeface="Quattrocento Sans"/>
              </a:rPr>
              <a:t>SESSION B · TOPIC 3</a:t>
            </a:r>
            <a:endParaRPr lang="en-US" sz="1200" noProof="1"/>
          </a:p>
        </p:txBody>
      </p:sp>
      <p:sp>
        <p:nvSpPr>
          <p:cNvPr id="5" name="div-title"/>
          <p:cNvSpPr txBox="1"/>
          <p:nvPr/>
        </p:nvSpPr>
        <p:spPr>
          <a:xfrm>
            <a:off x="711200" y="3276600"/>
            <a:ext cx="7874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3400" noProof="1">
                <a:solidFill>
                  <a:srgbClr val="FFFFFF"/>
                </a:solidFill>
                <a:latin typeface="Unna"/>
                <a:ea typeface="Unna"/>
              </a:rPr>
              <a:t>AI in Personalised Shopping — an introduction</a:t>
            </a:r>
            <a:endParaRPr lang="en-US" sz="3400" noProof="1"/>
          </a:p>
        </p:txBody>
      </p:sp>
      <p:sp>
        <p:nvSpPr>
          <p:cNvPr id="6" name="div-agenda"/>
          <p:cNvSpPr txBox="1"/>
          <p:nvPr/>
        </p:nvSpPr>
        <p:spPr>
          <a:xfrm>
            <a:off x="711200" y="4572000"/>
            <a:ext cx="7874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01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What personalisation is — and what it is not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02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The maturity model: segment → 1:1 → predictive → agentic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03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How recommenders think: collaborative vs content-based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 b="1">
                <a:solidFill>
                  <a:srgbClr val="F6E7DE"/>
                </a:solidFill>
                <a:latin typeface="Quattrocento Sans"/>
                <a:ea typeface="Quattrocento Sans"/>
              </a:rPr>
              <a:t>04</a:t>
            </a:r>
            <a:r>
              <a:rPr lang="en-US" sz="1300" noProof="1">
                <a:solidFill>
                  <a:srgbClr val="F6E7DE"/>
                </a:solidFill>
                <a:latin typeface="Quattrocento Sans"/>
                <a:ea typeface="Quattrocento Sans"/>
              </a:rPr>
              <a:t> — The privacy trade-off, LLM shopping assistants, and what's next</a:t>
            </a:r>
            <a:endParaRPr lang="en-US" sz="1300" noProof="1"/>
          </a:p>
        </p:txBody>
      </p:sp>
      <p:sp>
        <p:nvSpPr>
          <p:cNvPr id="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8" name="footer-right"/>
          <p:cNvSpPr txBox="1"/>
          <p:nvPr/>
        </p:nvSpPr>
        <p:spPr>
          <a:xfrm>
            <a:off x="3810000" y="6527800"/>
            <a:ext cx="4445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9" name="footer-page"/>
          <p:cNvSpPr txBox="1"/>
          <p:nvPr/>
        </p:nvSpPr>
        <p:spPr>
          <a:xfrm>
            <a:off x="8331200" y="6527800"/>
            <a:ext cx="50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F6E7DE"/>
                </a:solidFill>
                <a:latin typeface="Quattrocento Sans"/>
                <a:ea typeface="Quattrocento Sans"/>
              </a:rPr>
              <a:t>23</a:t>
            </a:r>
            <a:endParaRPr lang="en-US" sz="95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3 · AI IN PERSONALISED SHOPPING (INTRO)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By the end of this session, you will be able to…</a:t>
            </a:r>
            <a:endParaRPr lang="en-US" sz="2600" noProof="1"/>
          </a:p>
        </p:txBody>
      </p:sp>
      <p:sp>
        <p:nvSpPr>
          <p:cNvPr id="4" name="obj1-icon"/>
          <p:cNvSpPr/>
          <p:nvPr>
            <p:extLst>
              <p:ext uri="{F5677B7D-0D2A-4D9B-9A5C-6D8D7D0E5A5D}">
                <pptd:icon encoding="base64url">eyJpY29uTmFtZSI6ImZhczpzdGFpcnMifQ</pptd:icon>
              </p:ext>
            </p:extLst>
          </p:nvPr>
        </p:nvSpPr>
        <p:spPr>
          <a:xfrm>
            <a:off x="711200" y="15748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64"/>
                </a:moveTo>
                <a:cubicBezTo>
                  <a:pt x="384" y="46"/>
                  <a:pt x="398" y="32"/>
                  <a:pt x="416" y="32"/>
                </a:cubicBezTo>
                <a:lnTo>
                  <a:pt x="544" y="32"/>
                </a:lnTo>
                <a:cubicBezTo>
                  <a:pt x="562" y="32"/>
                  <a:pt x="576" y="46"/>
                  <a:pt x="576" y="64"/>
                </a:cubicBezTo>
                <a:cubicBezTo>
                  <a:pt x="576" y="82"/>
                  <a:pt x="562" y="96"/>
                  <a:pt x="544" y="96"/>
                </a:cubicBezTo>
                <a:lnTo>
                  <a:pt x="448" y="96"/>
                </a:lnTo>
                <a:lnTo>
                  <a:pt x="448" y="192"/>
                </a:lnTo>
                <a:cubicBezTo>
                  <a:pt x="448" y="210"/>
                  <a:pt x="434" y="224"/>
                  <a:pt x="416" y="224"/>
                </a:cubicBezTo>
                <a:lnTo>
                  <a:pt x="320" y="224"/>
                </a:lnTo>
                <a:lnTo>
                  <a:pt x="320" y="320"/>
                </a:lnTo>
                <a:cubicBezTo>
                  <a:pt x="320" y="338"/>
                  <a:pt x="306" y="352"/>
                  <a:pt x="288" y="352"/>
                </a:cubicBezTo>
                <a:lnTo>
                  <a:pt x="192" y="352"/>
                </a:lnTo>
                <a:lnTo>
                  <a:pt x="192" y="448"/>
                </a:lnTo>
                <a:cubicBezTo>
                  <a:pt x="192" y="466"/>
                  <a:pt x="178" y="480"/>
                  <a:pt x="160" y="480"/>
                </a:cubicBezTo>
                <a:lnTo>
                  <a:pt x="32" y="480"/>
                </a:lnTo>
                <a:cubicBezTo>
                  <a:pt x="14" y="480"/>
                  <a:pt x="0" y="466"/>
                  <a:pt x="0" y="448"/>
                </a:cubicBezTo>
                <a:cubicBezTo>
                  <a:pt x="0" y="430"/>
                  <a:pt x="14" y="416"/>
                  <a:pt x="32" y="416"/>
                </a:cubicBezTo>
                <a:lnTo>
                  <a:pt x="128" y="416"/>
                </a:lnTo>
                <a:lnTo>
                  <a:pt x="128" y="320"/>
                </a:lnTo>
                <a:cubicBezTo>
                  <a:pt x="128" y="302"/>
                  <a:pt x="142" y="288"/>
                  <a:pt x="160" y="288"/>
                </a:cubicBezTo>
                <a:lnTo>
                  <a:pt x="256" y="288"/>
                </a:lnTo>
                <a:lnTo>
                  <a:pt x="256" y="192"/>
                </a:lnTo>
                <a:cubicBezTo>
                  <a:pt x="256" y="174"/>
                  <a:pt x="270" y="160"/>
                  <a:pt x="288" y="160"/>
                </a:cubicBezTo>
                <a:lnTo>
                  <a:pt x="384" y="160"/>
                </a:lnTo>
                <a:lnTo>
                  <a:pt x="384" y="64"/>
                </a:ln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obj1-text"/>
          <p:cNvSpPr txBox="1"/>
          <p:nvPr/>
        </p:nvSpPr>
        <p:spPr>
          <a:xfrm>
            <a:off x="1320800" y="14478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Place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a company's personalisation capability on the maturity model — segment → 1:1 rules → predictive → agentic — and justify the placement with evidence.</a:t>
            </a:r>
            <a:endParaRPr lang="en-US" sz="1350" noProof="1"/>
          </a:p>
        </p:txBody>
      </p:sp>
      <p:sp>
        <p:nvSpPr>
          <p:cNvPr id="6" name="obj1-rule"/>
          <p:cNvSpPr/>
          <p:nvPr/>
        </p:nvSpPr>
        <p:spPr>
          <a:xfrm>
            <a:off x="711200" y="24892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obj2-icon"/>
          <p:cNvSpPr/>
          <p:nvPr>
            <p:extLst>
              <p:ext uri="{F5677B7D-0D2A-4D9B-9A5C-6D8D7D0E5A5D}">
                <pptd:icon encoding="base64url">eyJpY29uTmFtZSI6ImZhczpwZW9wbGUtYXJyb3dzIn0</pptd:icon>
              </p:ext>
            </p:extLst>
          </p:nvPr>
        </p:nvSpPr>
        <p:spPr>
          <a:xfrm>
            <a:off x="711200" y="27432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64"/>
                </a:moveTo>
                <a:cubicBezTo>
                  <a:pt x="32" y="29"/>
                  <a:pt x="61" y="0"/>
                  <a:pt x="96" y="0"/>
                </a:cubicBezTo>
                <a:cubicBezTo>
                  <a:pt x="131" y="0"/>
                  <a:pt x="160" y="29"/>
                  <a:pt x="160" y="64"/>
                </a:cubicBezTo>
                <a:cubicBezTo>
                  <a:pt x="160" y="99"/>
                  <a:pt x="131" y="128"/>
                  <a:pt x="96" y="128"/>
                </a:cubicBezTo>
                <a:cubicBezTo>
                  <a:pt x="61" y="128"/>
                  <a:pt x="32" y="99"/>
                  <a:pt x="32" y="64"/>
                </a:cubicBezTo>
                <a:close/>
              </a:path>
              <a:path w="512" h="512">
                <a:moveTo>
                  <a:pt x="0" y="224"/>
                </a:moveTo>
                <a:cubicBezTo>
                  <a:pt x="0" y="189"/>
                  <a:pt x="29" y="160"/>
                  <a:pt x="64" y="160"/>
                </a:cubicBezTo>
                <a:lnTo>
                  <a:pt x="128" y="160"/>
                </a:lnTo>
                <a:cubicBezTo>
                  <a:pt x="131" y="160"/>
                  <a:pt x="134" y="160"/>
                  <a:pt x="138" y="161"/>
                </a:cubicBezTo>
                <a:lnTo>
                  <a:pt x="93" y="205"/>
                </a:lnTo>
                <a:cubicBezTo>
                  <a:pt x="65" y="233"/>
                  <a:pt x="65" y="279"/>
                  <a:pt x="93" y="307"/>
                </a:cubicBezTo>
                <a:lnTo>
                  <a:pt x="149" y="363"/>
                </a:lnTo>
                <a:cubicBezTo>
                  <a:pt x="153" y="366"/>
                  <a:pt x="156" y="369"/>
                  <a:pt x="160" y="372"/>
                </a:cubicBezTo>
                <a:lnTo>
                  <a:pt x="160" y="464"/>
                </a:lnTo>
                <a:cubicBezTo>
                  <a:pt x="160" y="491"/>
                  <a:pt x="139" y="512"/>
                  <a:pt x="112" y="512"/>
                </a:cubicBezTo>
                <a:lnTo>
                  <a:pt x="80" y="512"/>
                </a:lnTo>
                <a:cubicBezTo>
                  <a:pt x="54" y="512"/>
                  <a:pt x="32" y="491"/>
                  <a:pt x="32" y="464"/>
                </a:cubicBezTo>
                <a:lnTo>
                  <a:pt x="32" y="343"/>
                </a:lnTo>
                <a:cubicBezTo>
                  <a:pt x="13" y="332"/>
                  <a:pt x="0" y="312"/>
                  <a:pt x="0" y="288"/>
                </a:cubicBezTo>
                <a:lnTo>
                  <a:pt x="0" y="224"/>
                </a:lnTo>
                <a:close/>
              </a:path>
              <a:path w="512" h="512">
                <a:moveTo>
                  <a:pt x="352" y="64"/>
                </a:moveTo>
                <a:cubicBezTo>
                  <a:pt x="352" y="29"/>
                  <a:pt x="381" y="0"/>
                  <a:pt x="416" y="0"/>
                </a:cubicBezTo>
                <a:cubicBezTo>
                  <a:pt x="451" y="0"/>
                  <a:pt x="480" y="29"/>
                  <a:pt x="480" y="64"/>
                </a:cubicBezTo>
                <a:cubicBezTo>
                  <a:pt x="480" y="99"/>
                  <a:pt x="451" y="128"/>
                  <a:pt x="416" y="128"/>
                </a:cubicBezTo>
                <a:cubicBezTo>
                  <a:pt x="381" y="128"/>
                  <a:pt x="352" y="99"/>
                  <a:pt x="352" y="64"/>
                </a:cubicBezTo>
                <a:close/>
              </a:path>
              <a:path w="512" h="512">
                <a:moveTo>
                  <a:pt x="419" y="205"/>
                </a:moveTo>
                <a:lnTo>
                  <a:pt x="375" y="161"/>
                </a:lnTo>
                <a:cubicBezTo>
                  <a:pt x="378" y="160"/>
                  <a:pt x="381" y="160"/>
                  <a:pt x="384" y="160"/>
                </a:cubicBezTo>
                <a:lnTo>
                  <a:pt x="448" y="160"/>
                </a:lnTo>
                <a:cubicBezTo>
                  <a:pt x="483" y="160"/>
                  <a:pt x="512" y="189"/>
                  <a:pt x="512" y="224"/>
                </a:cubicBezTo>
                <a:lnTo>
                  <a:pt x="512" y="288"/>
                </a:lnTo>
                <a:cubicBezTo>
                  <a:pt x="512" y="312"/>
                  <a:pt x="499" y="332"/>
                  <a:pt x="480" y="343"/>
                </a:cubicBezTo>
                <a:lnTo>
                  <a:pt x="480" y="464"/>
                </a:lnTo>
                <a:cubicBezTo>
                  <a:pt x="480" y="491"/>
                  <a:pt x="459" y="512"/>
                  <a:pt x="432" y="512"/>
                </a:cubicBezTo>
                <a:lnTo>
                  <a:pt x="400" y="512"/>
                </a:lnTo>
                <a:cubicBezTo>
                  <a:pt x="374" y="512"/>
                  <a:pt x="352" y="491"/>
                  <a:pt x="352" y="464"/>
                </a:cubicBezTo>
                <a:lnTo>
                  <a:pt x="352" y="372"/>
                </a:lnTo>
                <a:cubicBezTo>
                  <a:pt x="356" y="369"/>
                  <a:pt x="360" y="366"/>
                  <a:pt x="363" y="363"/>
                </a:cubicBezTo>
                <a:lnTo>
                  <a:pt x="419" y="307"/>
                </a:lnTo>
                <a:cubicBezTo>
                  <a:pt x="447" y="279"/>
                  <a:pt x="447" y="233"/>
                  <a:pt x="419" y="205"/>
                </a:cubicBezTo>
                <a:close/>
              </a:path>
              <a:path w="512" h="512">
                <a:moveTo>
                  <a:pt x="303" y="178"/>
                </a:moveTo>
                <a:cubicBezTo>
                  <a:pt x="312" y="174"/>
                  <a:pt x="322" y="176"/>
                  <a:pt x="329" y="183"/>
                </a:cubicBezTo>
                <a:lnTo>
                  <a:pt x="385" y="239"/>
                </a:lnTo>
                <a:cubicBezTo>
                  <a:pt x="394" y="248"/>
                  <a:pt x="394" y="264"/>
                  <a:pt x="385" y="273"/>
                </a:cubicBezTo>
                <a:lnTo>
                  <a:pt x="329" y="329"/>
                </a:lnTo>
                <a:cubicBezTo>
                  <a:pt x="322" y="336"/>
                  <a:pt x="312" y="338"/>
                  <a:pt x="303" y="334"/>
                </a:cubicBezTo>
                <a:cubicBezTo>
                  <a:pt x="294" y="330"/>
                  <a:pt x="288" y="322"/>
                  <a:pt x="288" y="312"/>
                </a:cubicBezTo>
                <a:lnTo>
                  <a:pt x="288" y="288"/>
                </a:lnTo>
                <a:lnTo>
                  <a:pt x="224" y="288"/>
                </a:lnTo>
                <a:lnTo>
                  <a:pt x="224" y="312"/>
                </a:lnTo>
                <a:cubicBezTo>
                  <a:pt x="224" y="322"/>
                  <a:pt x="218" y="331"/>
                  <a:pt x="209" y="334"/>
                </a:cubicBezTo>
                <a:cubicBezTo>
                  <a:pt x="200" y="338"/>
                  <a:pt x="190" y="336"/>
                  <a:pt x="183" y="329"/>
                </a:cubicBezTo>
                <a:lnTo>
                  <a:pt x="127" y="273"/>
                </a:lnTo>
                <a:cubicBezTo>
                  <a:pt x="118" y="264"/>
                  <a:pt x="118" y="248"/>
                  <a:pt x="127" y="239"/>
                </a:cubicBezTo>
                <a:lnTo>
                  <a:pt x="183" y="183"/>
                </a:lnTo>
                <a:cubicBezTo>
                  <a:pt x="190" y="176"/>
                  <a:pt x="200" y="174"/>
                  <a:pt x="209" y="178"/>
                </a:cubicBezTo>
                <a:cubicBezTo>
                  <a:pt x="218" y="182"/>
                  <a:pt x="224" y="190"/>
                  <a:pt x="224" y="200"/>
                </a:cubicBezTo>
                <a:lnTo>
                  <a:pt x="224" y="224"/>
                </a:lnTo>
                <a:lnTo>
                  <a:pt x="288" y="224"/>
                </a:lnTo>
                <a:lnTo>
                  <a:pt x="288" y="200"/>
                </a:lnTo>
                <a:cubicBezTo>
                  <a:pt x="288" y="190"/>
                  <a:pt x="294" y="182"/>
                  <a:pt x="303" y="178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8" name="obj2-text"/>
          <p:cNvSpPr txBox="1"/>
          <p:nvPr/>
        </p:nvSpPr>
        <p:spPr>
          <a:xfrm>
            <a:off x="1320800" y="26162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Explain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collaborative filtering, content-based filtering, and hybrid recommender systems in plain language — including the cold-start problem and one mitigation.</a:t>
            </a:r>
            <a:endParaRPr lang="en-US" sz="1350" noProof="1"/>
          </a:p>
        </p:txBody>
      </p:sp>
      <p:sp>
        <p:nvSpPr>
          <p:cNvPr id="9" name="obj2-rule"/>
          <p:cNvSpPr/>
          <p:nvPr/>
        </p:nvSpPr>
        <p:spPr>
          <a:xfrm>
            <a:off x="711200" y="3657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obj3-icon"/>
          <p:cNvSpPr/>
          <p:nvPr>
            <p:extLst>
              <p:ext uri="{F5677B7D-0D2A-4D9B-9A5C-6D8D7D0E5A5D}">
                <pptd:icon encoding="base64url">eyJpY29uTmFtZSI6ImZhczpyb2JvdCJ9</pptd:icon>
              </p:ext>
            </p:extLst>
          </p:nvPr>
        </p:nvSpPr>
        <p:spPr>
          <a:xfrm>
            <a:off x="711200" y="3911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52" y="0"/>
                </a:moveTo>
                <a:cubicBezTo>
                  <a:pt x="352" y="-18"/>
                  <a:pt x="338" y="-32"/>
                  <a:pt x="320" y="-32"/>
                </a:cubicBezTo>
                <a:cubicBezTo>
                  <a:pt x="302" y="-32"/>
                  <a:pt x="288" y="-18"/>
                  <a:pt x="288" y="0"/>
                </a:cubicBezTo>
                <a:lnTo>
                  <a:pt x="288" y="64"/>
                </a:lnTo>
                <a:lnTo>
                  <a:pt x="192" y="64"/>
                </a:lnTo>
                <a:cubicBezTo>
                  <a:pt x="139" y="64"/>
                  <a:pt x="96" y="107"/>
                  <a:pt x="96" y="160"/>
                </a:cubicBezTo>
                <a:lnTo>
                  <a:pt x="96" y="384"/>
                </a:lnTo>
                <a:cubicBezTo>
                  <a:pt x="96" y="437"/>
                  <a:pt x="139" y="480"/>
                  <a:pt x="192" y="480"/>
                </a:cubicBezTo>
                <a:lnTo>
                  <a:pt x="448" y="480"/>
                </a:lnTo>
                <a:cubicBezTo>
                  <a:pt x="501" y="480"/>
                  <a:pt x="544" y="437"/>
                  <a:pt x="544" y="384"/>
                </a:cubicBezTo>
                <a:lnTo>
                  <a:pt x="544" y="160"/>
                </a:lnTo>
                <a:cubicBezTo>
                  <a:pt x="544" y="107"/>
                  <a:pt x="501" y="64"/>
                  <a:pt x="448" y="64"/>
                </a:cubicBezTo>
                <a:lnTo>
                  <a:pt x="352" y="64"/>
                </a:lnTo>
                <a:lnTo>
                  <a:pt x="352" y="0"/>
                </a:lnTo>
                <a:close/>
                <a:moveTo>
                  <a:pt x="160" y="368"/>
                </a:moveTo>
                <a:cubicBezTo>
                  <a:pt x="160" y="355"/>
                  <a:pt x="171" y="344"/>
                  <a:pt x="184" y="344"/>
                </a:cubicBezTo>
                <a:lnTo>
                  <a:pt x="216" y="344"/>
                </a:lnTo>
                <a:cubicBezTo>
                  <a:pt x="229" y="344"/>
                  <a:pt x="240" y="355"/>
                  <a:pt x="240" y="368"/>
                </a:cubicBezTo>
                <a:cubicBezTo>
                  <a:pt x="240" y="381"/>
                  <a:pt x="229" y="392"/>
                  <a:pt x="216" y="392"/>
                </a:cubicBezTo>
                <a:lnTo>
                  <a:pt x="184" y="392"/>
                </a:lnTo>
                <a:cubicBezTo>
                  <a:pt x="171" y="392"/>
                  <a:pt x="160" y="381"/>
                  <a:pt x="160" y="368"/>
                </a:cubicBezTo>
                <a:close/>
                <a:moveTo>
                  <a:pt x="280" y="368"/>
                </a:moveTo>
                <a:cubicBezTo>
                  <a:pt x="280" y="355"/>
                  <a:pt x="291" y="344"/>
                  <a:pt x="304" y="344"/>
                </a:cubicBezTo>
                <a:lnTo>
                  <a:pt x="336" y="344"/>
                </a:lnTo>
                <a:cubicBezTo>
                  <a:pt x="349" y="344"/>
                  <a:pt x="360" y="355"/>
                  <a:pt x="360" y="368"/>
                </a:cubicBezTo>
                <a:cubicBezTo>
                  <a:pt x="360" y="381"/>
                  <a:pt x="349" y="392"/>
                  <a:pt x="336" y="392"/>
                </a:cubicBezTo>
                <a:lnTo>
                  <a:pt x="304" y="392"/>
                </a:lnTo>
                <a:cubicBezTo>
                  <a:pt x="291" y="392"/>
                  <a:pt x="280" y="381"/>
                  <a:pt x="280" y="368"/>
                </a:cubicBezTo>
                <a:close/>
                <a:moveTo>
                  <a:pt x="400" y="368"/>
                </a:moveTo>
                <a:cubicBezTo>
                  <a:pt x="400" y="355"/>
                  <a:pt x="411" y="344"/>
                  <a:pt x="424" y="344"/>
                </a:cubicBezTo>
                <a:lnTo>
                  <a:pt x="456" y="344"/>
                </a:lnTo>
                <a:cubicBezTo>
                  <a:pt x="469" y="344"/>
                  <a:pt x="480" y="355"/>
                  <a:pt x="480" y="368"/>
                </a:cubicBezTo>
                <a:cubicBezTo>
                  <a:pt x="480" y="381"/>
                  <a:pt x="469" y="392"/>
                  <a:pt x="456" y="392"/>
                </a:cubicBezTo>
                <a:lnTo>
                  <a:pt x="424" y="392"/>
                </a:lnTo>
                <a:cubicBezTo>
                  <a:pt x="411" y="392"/>
                  <a:pt x="400" y="381"/>
                  <a:pt x="400" y="368"/>
                </a:cubicBezTo>
                <a:close/>
                <a:moveTo>
                  <a:pt x="224" y="176"/>
                </a:moveTo>
                <a:cubicBezTo>
                  <a:pt x="251" y="176"/>
                  <a:pt x="272" y="197"/>
                  <a:pt x="272" y="224"/>
                </a:cubicBezTo>
                <a:cubicBezTo>
                  <a:pt x="272" y="251"/>
                  <a:pt x="251" y="272"/>
                  <a:pt x="224" y="272"/>
                </a:cubicBezTo>
                <a:cubicBezTo>
                  <a:pt x="197" y="272"/>
                  <a:pt x="176" y="251"/>
                  <a:pt x="176" y="224"/>
                </a:cubicBezTo>
                <a:cubicBezTo>
                  <a:pt x="176" y="197"/>
                  <a:pt x="197" y="176"/>
                  <a:pt x="224" y="176"/>
                </a:cubicBezTo>
                <a:close/>
                <a:moveTo>
                  <a:pt x="368" y="224"/>
                </a:moveTo>
                <a:cubicBezTo>
                  <a:pt x="368" y="197"/>
                  <a:pt x="389" y="176"/>
                  <a:pt x="416" y="176"/>
                </a:cubicBezTo>
                <a:cubicBezTo>
                  <a:pt x="443" y="176"/>
                  <a:pt x="464" y="197"/>
                  <a:pt x="464" y="224"/>
                </a:cubicBezTo>
                <a:cubicBezTo>
                  <a:pt x="464" y="251"/>
                  <a:pt x="443" y="272"/>
                  <a:pt x="416" y="272"/>
                </a:cubicBezTo>
                <a:cubicBezTo>
                  <a:pt x="389" y="272"/>
                  <a:pt x="368" y="251"/>
                  <a:pt x="368" y="224"/>
                </a:cubicBezTo>
                <a:close/>
              </a:path>
              <a:path w="640" h="512">
                <a:moveTo>
                  <a:pt x="64" y="224"/>
                </a:moveTo>
                <a:cubicBezTo>
                  <a:pt x="64" y="206"/>
                  <a:pt x="50" y="192"/>
                  <a:pt x="32" y="192"/>
                </a:cubicBezTo>
                <a:cubicBezTo>
                  <a:pt x="14" y="192"/>
                  <a:pt x="0" y="206"/>
                  <a:pt x="0" y="224"/>
                </a:cubicBezTo>
                <a:lnTo>
                  <a:pt x="0" y="320"/>
                </a:lnTo>
                <a:cubicBezTo>
                  <a:pt x="0" y="338"/>
                  <a:pt x="14" y="352"/>
                  <a:pt x="32" y="352"/>
                </a:cubicBezTo>
                <a:cubicBezTo>
                  <a:pt x="50" y="352"/>
                  <a:pt x="64" y="338"/>
                  <a:pt x="64" y="320"/>
                </a:cubicBezTo>
                <a:lnTo>
                  <a:pt x="64" y="224"/>
                </a:lnTo>
                <a:close/>
              </a:path>
              <a:path w="640" h="512">
                <a:moveTo>
                  <a:pt x="608" y="192"/>
                </a:moveTo>
                <a:cubicBezTo>
                  <a:pt x="590" y="192"/>
                  <a:pt x="576" y="206"/>
                  <a:pt x="576" y="224"/>
                </a:cubicBezTo>
                <a:lnTo>
                  <a:pt x="576" y="320"/>
                </a:lnTo>
                <a:cubicBezTo>
                  <a:pt x="576" y="338"/>
                  <a:pt x="590" y="352"/>
                  <a:pt x="608" y="352"/>
                </a:cubicBezTo>
                <a:cubicBezTo>
                  <a:pt x="626" y="352"/>
                  <a:pt x="640" y="338"/>
                  <a:pt x="640" y="320"/>
                </a:cubicBezTo>
                <a:lnTo>
                  <a:pt x="640" y="224"/>
                </a:lnTo>
                <a:cubicBezTo>
                  <a:pt x="640" y="206"/>
                  <a:pt x="626" y="192"/>
                  <a:pt x="608" y="192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1" name="obj3-text"/>
          <p:cNvSpPr txBox="1"/>
          <p:nvPr/>
        </p:nvSpPr>
        <p:spPr>
          <a:xfrm>
            <a:off x="1320800" y="37846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Define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hyper-personalisation, AI shopping agent, and next-best-action — and distinguish each from basic segmentation.</a:t>
            </a:r>
            <a:endParaRPr lang="en-US" sz="1350" noProof="1"/>
          </a:p>
        </p:txBody>
      </p:sp>
      <p:sp>
        <p:nvSpPr>
          <p:cNvPr id="12" name="obj3-rule"/>
          <p:cNvSpPr/>
          <p:nvPr/>
        </p:nvSpPr>
        <p:spPr>
          <a:xfrm>
            <a:off x="711200" y="48260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obj4-icon"/>
          <p:cNvSpPr/>
          <p:nvPr>
            <p:extLst>
              <p:ext uri="{F5677B7D-0D2A-4D9B-9A5C-6D8D7D0E5A5D}">
                <pptd:icon encoding="base64url">eyJpY29uTmFtZSI6ImZhczpzY2FsZS1iYWxhbmNlZCJ9</pptd:icon>
              </p:ext>
            </p:extLst>
          </p:nvPr>
        </p:nvSpPr>
        <p:spPr>
          <a:xfrm>
            <a:off x="711200" y="5080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384" y="32"/>
                </a:moveTo>
                <a:lnTo>
                  <a:pt x="512" y="32"/>
                </a:lnTo>
                <a:cubicBezTo>
                  <a:pt x="530" y="32"/>
                  <a:pt x="544" y="46"/>
                  <a:pt x="544" y="64"/>
                </a:cubicBezTo>
                <a:cubicBezTo>
                  <a:pt x="544" y="82"/>
                  <a:pt x="530" y="96"/>
                  <a:pt x="512" y="96"/>
                </a:cubicBezTo>
                <a:lnTo>
                  <a:pt x="398" y="96"/>
                </a:lnTo>
                <a:cubicBezTo>
                  <a:pt x="393" y="122"/>
                  <a:pt x="376" y="143"/>
                  <a:pt x="352" y="153"/>
                </a:cubicBezTo>
                <a:lnTo>
                  <a:pt x="352" y="448"/>
                </a:lnTo>
                <a:lnTo>
                  <a:pt x="512" y="448"/>
                </a:lnTo>
                <a:cubicBezTo>
                  <a:pt x="530" y="448"/>
                  <a:pt x="544" y="462"/>
                  <a:pt x="544" y="480"/>
                </a:cubicBezTo>
                <a:cubicBezTo>
                  <a:pt x="544" y="498"/>
                  <a:pt x="530" y="512"/>
                  <a:pt x="512" y="512"/>
                </a:cubicBezTo>
                <a:lnTo>
                  <a:pt x="128" y="512"/>
                </a:lnTo>
                <a:cubicBezTo>
                  <a:pt x="110" y="512"/>
                  <a:pt x="96" y="498"/>
                  <a:pt x="96" y="480"/>
                </a:cubicBezTo>
                <a:cubicBezTo>
                  <a:pt x="96" y="462"/>
                  <a:pt x="110" y="448"/>
                  <a:pt x="128" y="448"/>
                </a:cubicBezTo>
                <a:lnTo>
                  <a:pt x="288" y="448"/>
                </a:lnTo>
                <a:lnTo>
                  <a:pt x="288" y="153"/>
                </a:lnTo>
                <a:cubicBezTo>
                  <a:pt x="265" y="143"/>
                  <a:pt x="247" y="122"/>
                  <a:pt x="242" y="96"/>
                </a:cubicBezTo>
                <a:lnTo>
                  <a:pt x="128" y="96"/>
                </a:lnTo>
                <a:cubicBezTo>
                  <a:pt x="110" y="96"/>
                  <a:pt x="96" y="82"/>
                  <a:pt x="96" y="64"/>
                </a:cubicBezTo>
                <a:cubicBezTo>
                  <a:pt x="96" y="46"/>
                  <a:pt x="110" y="32"/>
                  <a:pt x="128" y="32"/>
                </a:cubicBezTo>
                <a:lnTo>
                  <a:pt x="256" y="32"/>
                </a:lnTo>
                <a:cubicBezTo>
                  <a:pt x="271" y="13"/>
                  <a:pt x="294" y="0"/>
                  <a:pt x="320" y="0"/>
                </a:cubicBezTo>
                <a:cubicBezTo>
                  <a:pt x="346" y="0"/>
                  <a:pt x="369" y="13"/>
                  <a:pt x="384" y="32"/>
                </a:cubicBezTo>
                <a:close/>
              </a:path>
              <a:path w="640" h="512">
                <a:moveTo>
                  <a:pt x="512" y="416"/>
                </a:moveTo>
                <a:cubicBezTo>
                  <a:pt x="449" y="416"/>
                  <a:pt x="397" y="382"/>
                  <a:pt x="386" y="337"/>
                </a:cubicBezTo>
                <a:cubicBezTo>
                  <a:pt x="383" y="326"/>
                  <a:pt x="387" y="315"/>
                  <a:pt x="393" y="305"/>
                </a:cubicBezTo>
                <a:lnTo>
                  <a:pt x="488" y="142"/>
                </a:lnTo>
                <a:cubicBezTo>
                  <a:pt x="493" y="133"/>
                  <a:pt x="502" y="128"/>
                  <a:pt x="512" y="128"/>
                </a:cubicBezTo>
                <a:cubicBezTo>
                  <a:pt x="522" y="128"/>
                  <a:pt x="531" y="133"/>
                  <a:pt x="536" y="142"/>
                </a:cubicBezTo>
                <a:lnTo>
                  <a:pt x="631" y="305"/>
                </a:lnTo>
                <a:cubicBezTo>
                  <a:pt x="637" y="315"/>
                  <a:pt x="641" y="326"/>
                  <a:pt x="638" y="337"/>
                </a:cubicBezTo>
                <a:cubicBezTo>
                  <a:pt x="627" y="382"/>
                  <a:pt x="575" y="416"/>
                  <a:pt x="512" y="416"/>
                </a:cubicBezTo>
                <a:close/>
                <a:moveTo>
                  <a:pt x="440" y="320"/>
                </a:moveTo>
                <a:lnTo>
                  <a:pt x="584" y="320"/>
                </a:lnTo>
                <a:lnTo>
                  <a:pt x="512" y="196"/>
                </a:lnTo>
                <a:lnTo>
                  <a:pt x="440" y="320"/>
                </a:lnTo>
                <a:close/>
              </a:path>
              <a:path w="640" h="512">
                <a:moveTo>
                  <a:pt x="1" y="337"/>
                </a:moveTo>
                <a:cubicBezTo>
                  <a:pt x="-2" y="326"/>
                  <a:pt x="2" y="315"/>
                  <a:pt x="8" y="305"/>
                </a:cubicBezTo>
                <a:lnTo>
                  <a:pt x="103" y="142"/>
                </a:lnTo>
                <a:cubicBezTo>
                  <a:pt x="108" y="133"/>
                  <a:pt x="117" y="128"/>
                  <a:pt x="127" y="128"/>
                </a:cubicBezTo>
                <a:cubicBezTo>
                  <a:pt x="137" y="128"/>
                  <a:pt x="146" y="133"/>
                  <a:pt x="151" y="142"/>
                </a:cubicBezTo>
                <a:lnTo>
                  <a:pt x="246" y="305"/>
                </a:lnTo>
                <a:cubicBezTo>
                  <a:pt x="252" y="315"/>
                  <a:pt x="256" y="326"/>
                  <a:pt x="253" y="337"/>
                </a:cubicBezTo>
                <a:cubicBezTo>
                  <a:pt x="242" y="382"/>
                  <a:pt x="190" y="416"/>
                  <a:pt x="127" y="416"/>
                </a:cubicBezTo>
                <a:cubicBezTo>
                  <a:pt x="64" y="416"/>
                  <a:pt x="12" y="382"/>
                  <a:pt x="1" y="337"/>
                </a:cubicBezTo>
                <a:close/>
                <a:moveTo>
                  <a:pt x="127" y="196"/>
                </a:moveTo>
                <a:lnTo>
                  <a:pt x="54" y="320"/>
                </a:lnTo>
                <a:lnTo>
                  <a:pt x="199" y="320"/>
                </a:lnTo>
                <a:lnTo>
                  <a:pt x="127" y="196"/>
                </a:ln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4" name="obj4-text"/>
          <p:cNvSpPr txBox="1"/>
          <p:nvPr/>
        </p:nvSpPr>
        <p:spPr>
          <a:xfrm>
            <a:off x="1320800" y="4953000"/>
            <a:ext cx="1016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50" noProof="1" b="1">
                <a:solidFill>
                  <a:srgbClr val="23272E"/>
                </a:solidFill>
                <a:latin typeface="Quattrocento Sans"/>
                <a:ea typeface="Quattrocento Sans"/>
              </a:rPr>
              <a:t>Evaluate</a:t>
            </a:r>
            <a:r>
              <a:rPr lang="en-US" sz="1350" noProof="1">
                <a:solidFill>
                  <a:srgbClr val="23272E"/>
                </a:solidFill>
                <a:latin typeface="Quattrocento Sans"/>
                <a:ea typeface="Quattrocento Sans"/>
              </a:rPr>
              <a:t> the personalisation–privacy trade-off for a real brand, proposing a data strategy that survives both regulation and consumer trust tests.</a:t>
            </a:r>
            <a:endParaRPr lang="en-US" sz="1350" noProof="1"/>
          </a:p>
        </p:txBody>
      </p:sp>
      <p:sp>
        <p:nvSpPr>
          <p:cNvPr id="15" name="note"/>
          <p:cNvSpPr txBox="1"/>
          <p:nvPr/>
        </p:nvSpPr>
        <p:spPr>
          <a:xfrm>
            <a:off x="711200" y="59182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This week stays at introduction depth — the deep company case studies (Amazon, Netflix, Stitch Fix, Sephora, Starbucks) come in Week 3.</a:t>
            </a:r>
            <a:endParaRPr lang="en-US" sz="110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24</a:t>
            </a:r>
            <a:endParaRPr lang="en-US" sz="950" noProof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TOPIC 3 · AI IN PERSONALISED SHOPPING (INTRO)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How does Amazon know what you want before you do?</a:t>
            </a:r>
            <a:endParaRPr lang="en-US" sz="2600" noProof="1"/>
          </a:p>
        </p:txBody>
      </p:sp>
      <p:sp>
        <p:nvSpPr>
          <p:cNvPr id="4" name="framing"/>
          <p:cNvSpPr txBox="1"/>
          <p:nvPr/>
        </p:nvSpPr>
        <p:spPr>
          <a:xfrm>
            <a:off x="711200" y="1625600"/>
            <a:ext cx="4064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It isn't magic, and it isn't mind-reading.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It is decades of recommender science running on your own behaviour — every click, cart, skip, and purchase you have ever made, compared against millions of others.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This session unpacks how the prediction works, what it costs in data, and why the smartest retailers treat trust as the real currency.</a:t>
            </a:r>
            <a:endParaRPr lang="en-US" sz="1300" noProof="1"/>
          </a:p>
        </p:txBody>
      </p:sp>
      <p:sp>
        <p:nvSpPr>
          <p:cNvPr id="5" name="mid-rule"/>
          <p:cNvSpPr/>
          <p:nvPr/>
        </p:nvSpPr>
        <p:spPr>
          <a:xfrm>
            <a:off x="5232400" y="1625600"/>
            <a:ext cx="12700" cy="38100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6" name="st1-num"/>
          <p:cNvSpPr txBox="1"/>
          <p:nvPr/>
        </p:nvSpPr>
        <p:spPr>
          <a:xfrm>
            <a:off x="5588000" y="15240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BC4B26"/>
                </a:solidFill>
                <a:latin typeface="Unna"/>
                <a:ea typeface="Unna"/>
              </a:rPr>
              <a:t>39%</a:t>
            </a:r>
            <a:endParaRPr lang="en-US" sz="4000" noProof="1"/>
          </a:p>
        </p:txBody>
      </p:sp>
      <p:sp>
        <p:nvSpPr>
          <p:cNvPr id="7" name="st1-t"/>
          <p:cNvSpPr txBox="1"/>
          <p:nvPr/>
        </p:nvSpPr>
        <p:spPr>
          <a:xfrm>
            <a:off x="7518400" y="1549400"/>
            <a:ext cx="396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consumers — and over half of Gen Z — already use AI for product discovery</a:t>
            </a:r>
            <a:endParaRPr lang="en-US" sz="1200" noProof="1"/>
          </a:p>
        </p:txBody>
      </p:sp>
      <p:sp>
        <p:nvSpPr>
          <p:cNvPr id="8" name="st1-src"/>
          <p:cNvSpPr txBox="1"/>
          <p:nvPr/>
        </p:nvSpPr>
        <p:spPr>
          <a:xfrm>
            <a:off x="7518400" y="23622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Salesforce Connected Shoppers Report, 2025</a:t>
            </a:r>
            <a:endParaRPr lang="en-US" sz="1000" noProof="1"/>
          </a:p>
        </p:txBody>
      </p:sp>
      <p:sp>
        <p:nvSpPr>
          <p:cNvPr id="9" name="st2-num"/>
          <p:cNvSpPr txBox="1"/>
          <p:nvPr/>
        </p:nvSpPr>
        <p:spPr>
          <a:xfrm>
            <a:off x="5588000" y="29464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BC4B26"/>
                </a:solidFill>
                <a:latin typeface="Unna"/>
                <a:ea typeface="Unna"/>
              </a:rPr>
              <a:t>71%</a:t>
            </a:r>
            <a:endParaRPr lang="en-US" sz="4000" noProof="1"/>
          </a:p>
        </p:txBody>
      </p:sp>
      <p:sp>
        <p:nvSpPr>
          <p:cNvPr id="10" name="st2-t"/>
          <p:cNvSpPr txBox="1"/>
          <p:nvPr/>
        </p:nvSpPr>
        <p:spPr>
          <a:xfrm>
            <a:off x="7518400" y="2971800"/>
            <a:ext cx="396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consumers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expect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personalised interactions; 76% are frustrated when they don't get them</a:t>
            </a:r>
            <a:endParaRPr lang="en-US" sz="1200" noProof="1"/>
          </a:p>
        </p:txBody>
      </p:sp>
      <p:sp>
        <p:nvSpPr>
          <p:cNvPr id="11" name="st2-src"/>
          <p:cNvSpPr txBox="1"/>
          <p:nvPr/>
        </p:nvSpPr>
        <p:spPr>
          <a:xfrm>
            <a:off x="7518400" y="37846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McKinsey Next in Personalization, 2021</a:t>
            </a:r>
            <a:endParaRPr lang="en-US" sz="1000" noProof="1"/>
          </a:p>
        </p:txBody>
      </p:sp>
      <p:sp>
        <p:nvSpPr>
          <p:cNvPr id="12" name="st3-num"/>
          <p:cNvSpPr txBox="1"/>
          <p:nvPr/>
        </p:nvSpPr>
        <p:spPr>
          <a:xfrm>
            <a:off x="5588000" y="4368800"/>
            <a:ext cx="1778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000" noProof="1">
                <a:solidFill>
                  <a:srgbClr val="BC4B26"/>
                </a:solidFill>
                <a:latin typeface="Unna"/>
                <a:ea typeface="Unna"/>
              </a:rPr>
              <a:t>~60%</a:t>
            </a:r>
            <a:endParaRPr lang="en-US" sz="4000" noProof="1"/>
          </a:p>
        </p:txBody>
      </p:sp>
      <p:sp>
        <p:nvSpPr>
          <p:cNvPr id="13" name="st3-t"/>
          <p:cNvSpPr txBox="1"/>
          <p:nvPr/>
        </p:nvSpPr>
        <p:spPr>
          <a:xfrm>
            <a:off x="7518400" y="4394200"/>
            <a:ext cx="396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consumers have replaced some traditional search-engine use with generative AI</a:t>
            </a:r>
            <a:endParaRPr lang="en-US" sz="1200" noProof="1"/>
          </a:p>
        </p:txBody>
      </p:sp>
      <p:sp>
        <p:nvSpPr>
          <p:cNvPr id="14" name="st3-src"/>
          <p:cNvSpPr txBox="1"/>
          <p:nvPr/>
        </p:nvSpPr>
        <p:spPr>
          <a:xfrm>
            <a:off x="7518400" y="5207000"/>
            <a:ext cx="39624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Capgemini, 2025, via Salesforce</a:t>
            </a:r>
            <a:endParaRPr lang="en-US" sz="1000" noProof="1"/>
          </a:p>
        </p:txBody>
      </p:sp>
      <p:sp>
        <p:nvSpPr>
          <p:cNvPr id="15" name="take"/>
          <p:cNvSpPr txBox="1"/>
          <p:nvPr/>
        </p:nvSpPr>
        <p:spPr>
          <a:xfrm>
            <a:off x="711200" y="5791200"/>
            <a:ext cx="10769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The demand side has already moved: shoppers expect relevance, and increasingly they ask AI before they ask a search engine. The question for brands is not </a:t>
            </a:r>
            <a:r>
              <a:rPr lang="en-US" sz="1200" noProof="1" i="1">
                <a:solidFill>
                  <a:srgbClr val="6E675C"/>
                </a:solidFill>
                <a:latin typeface="Quattrocento Sans"/>
                <a:ea typeface="Quattrocento Sans"/>
              </a:rPr>
              <a:t>whether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 to personalise, but </a:t>
            </a:r>
            <a:r>
              <a:rPr lang="en-US" sz="1200" noProof="1" i="1">
                <a:solidFill>
                  <a:srgbClr val="6E675C"/>
                </a:solidFill>
                <a:latin typeface="Quattrocento Sans"/>
                <a:ea typeface="Quattrocento Sans"/>
              </a:rPr>
              <a:t>how well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.</a:t>
            </a:r>
            <a:endParaRPr lang="en-US" sz="120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25</a:t>
            </a:r>
            <a:endParaRPr lang="en-US" sz="950" noProof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DEFINITIONS · THREE DIFFERENT PROMISES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Customised, personalised, hyper-personalised: three different promises</a:t>
            </a:r>
            <a:endParaRPr lang="en-US" sz="2600" noProof="1"/>
          </a:p>
        </p:txBody>
      </p:sp>
      <p:sp>
        <p:nvSpPr>
          <p:cNvPr id="4" name="d1-block"/>
          <p:cNvSpPr/>
          <p:nvPr/>
        </p:nvSpPr>
        <p:spPr>
          <a:xfrm>
            <a:off x="711200" y="1473200"/>
            <a:ext cx="10769600" cy="12700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5" name="d1-t"/>
          <p:cNvSpPr txBox="1"/>
          <p:nvPr/>
        </p:nvSpPr>
        <p:spPr>
          <a:xfrm>
            <a:off x="965200" y="16002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23272E"/>
                </a:solidFill>
                <a:latin typeface="Unna"/>
                <a:ea typeface="Unna"/>
              </a:rPr>
              <a:t>Customisation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the user explicitly configures the product or experience: build-your-own trainers, choose your toppings, arrange your dashboard. </a:t>
            </a:r>
            <a:r>
              <a:rPr lang="en-US" sz="1500" noProof="1" i="1">
                <a:solidFill>
                  <a:srgbClr val="23272E"/>
                </a:solidFill>
                <a:latin typeface="Unna"/>
                <a:ea typeface="Unna"/>
              </a:rPr>
              <a:t>The customer does the work.</a:t>
            </a:r>
            <a:endParaRPr lang="en-US" sz="1500" noProof="1"/>
          </a:p>
        </p:txBody>
      </p:sp>
      <p:sp>
        <p:nvSpPr>
          <p:cNvPr id="6" name="d1-ex"/>
          <p:cNvSpPr txBox="1"/>
          <p:nvPr/>
        </p:nvSpPr>
        <p:spPr>
          <a:xfrm>
            <a:off x="8839200" y="1600200"/>
            <a:ext cx="2438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Example: picking your laptop's RAM and storage at checkout.</a:t>
            </a:r>
            <a:endParaRPr lang="en-US" sz="1100" noProof="1"/>
          </a:p>
        </p:txBody>
      </p:sp>
      <p:sp>
        <p:nvSpPr>
          <p:cNvPr id="7" name="d2-block"/>
          <p:cNvSpPr/>
          <p:nvPr/>
        </p:nvSpPr>
        <p:spPr>
          <a:xfrm>
            <a:off x="711200" y="2946400"/>
            <a:ext cx="10769600" cy="12700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8" name="d2-t"/>
          <p:cNvSpPr txBox="1"/>
          <p:nvPr/>
        </p:nvSpPr>
        <p:spPr>
          <a:xfrm>
            <a:off x="965200" y="30734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23272E"/>
                </a:solidFill>
                <a:latin typeface="Unna"/>
                <a:ea typeface="Unna"/>
              </a:rPr>
              <a:t>Personalisation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the system tailors content or offers using declared and observed data, via segments and rules: your name, your cart, your browse history. </a:t>
            </a:r>
            <a:r>
              <a:rPr lang="en-US" sz="1500" noProof="1" i="1">
                <a:solidFill>
                  <a:srgbClr val="23272E"/>
                </a:solidFill>
                <a:latin typeface="Unna"/>
                <a:ea typeface="Unna"/>
              </a:rPr>
              <a:t>The system does the work — from what it already knows.</a:t>
            </a:r>
            <a:endParaRPr lang="en-US" sz="1500" noProof="1"/>
          </a:p>
        </p:txBody>
      </p:sp>
      <p:sp>
        <p:nvSpPr>
          <p:cNvPr id="9" name="d2-ex"/>
          <p:cNvSpPr txBox="1"/>
          <p:nvPr/>
        </p:nvSpPr>
        <p:spPr>
          <a:xfrm>
            <a:off x="8839200" y="3073400"/>
            <a:ext cx="2438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Example: an abandoned-cart email with your exact item inside.</a:t>
            </a:r>
            <a:endParaRPr lang="en-US" sz="1100" noProof="1"/>
          </a:p>
        </p:txBody>
      </p:sp>
      <p:sp>
        <p:nvSpPr>
          <p:cNvPr id="10" name="d3-block"/>
          <p:cNvSpPr/>
          <p:nvPr/>
        </p:nvSpPr>
        <p:spPr>
          <a:xfrm>
            <a:off x="711200" y="4419600"/>
            <a:ext cx="10769600" cy="12700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11" name="d3-t"/>
          <p:cNvSpPr txBox="1"/>
          <p:nvPr/>
        </p:nvSpPr>
        <p:spPr>
          <a:xfrm>
            <a:off x="965200" y="4546600"/>
            <a:ext cx="7620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23272E"/>
                </a:solidFill>
                <a:latin typeface="Unna"/>
                <a:ea typeface="Unna"/>
              </a:rPr>
              <a:t>Hyper-personalisation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real-time, individual-level tailoring using behavioural + contextual data and AI: the right product, message, and moment computed for you, </a:t>
            </a:r>
            <a:r>
              <a:rPr lang="en-US" sz="1500" noProof="1" i="1">
                <a:solidFill>
                  <a:srgbClr val="23272E"/>
                </a:solidFill>
                <a:latin typeface="Unna"/>
                <a:ea typeface="Unna"/>
              </a:rPr>
              <a:t>now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beyond "Hi {first_name}".</a:t>
            </a:r>
            <a:endParaRPr lang="en-US" sz="1500" noProof="1"/>
          </a:p>
        </p:txBody>
      </p:sp>
      <p:sp>
        <p:nvSpPr>
          <p:cNvPr id="12" name="d3-ex"/>
          <p:cNvSpPr txBox="1"/>
          <p:nvPr/>
        </p:nvSpPr>
        <p:spPr>
          <a:xfrm>
            <a:off x="8839200" y="4546600"/>
            <a:ext cx="2438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Example: a homepage re-ranked for this visitor, this device, this hour.</a:t>
            </a:r>
            <a:endParaRPr lang="en-US" sz="1100" noProof="1"/>
          </a:p>
        </p:txBody>
      </p:sp>
      <p:sp>
        <p:nvSpPr>
          <p:cNvPr id="13" name="boundary"/>
          <p:cNvSpPr txBox="1"/>
          <p:nvPr/>
        </p:nvSpPr>
        <p:spPr>
          <a:xfrm>
            <a:off x="711200" y="58674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75C"/>
                </a:solidFill>
                <a:latin typeface="Quattrocento Sans"/>
                <a:ea typeface="Quattrocento Sans"/>
              </a:rPr>
              <a:t>Where the boundary lies:</a:t>
            </a: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 customisation asks; personalisation remembers; hyper-personalisation predicts. Each step up needs more data — and more trust.</a:t>
            </a:r>
            <a:endParaRPr lang="en-US" sz="1150" noProof="1"/>
          </a:p>
        </p:txBody>
      </p:sp>
      <p:sp>
        <p:nvSpPr>
          <p:cNvPr id="14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26</a:t>
            </a:r>
            <a:endParaRPr lang="en-US" sz="950" noProof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FRAMEWORK · PERSONALISATION MATURITY MODEL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maturity model: each stage funds the next stage's data</a:t>
            </a:r>
            <a:endParaRPr lang="en-US" sz="2600" noProof="1"/>
          </a:p>
        </p:txBody>
      </p:sp>
      <p:sp>
        <p:nvSpPr>
          <p:cNvPr id="4" name="asc-arrow"/>
          <p:cNvSpPr/>
          <p:nvPr>
            <p:extLst>
              <p:ext uri="{F5677B7D-0D2A-4D9B-9A5C-6D8D7D0E5A5D}">
                <pptd:line encoding="base64url">eyJ2aWV3Qm94IjpbNjQwLDE1MF0sInBvaW50cyI6IjAsMTUwIDY0MCwwIn0</pptd:line>
              </p:ext>
            </p:extLst>
          </p:nvPr>
        </p:nvSpPr>
        <p:spPr>
          <a:xfrm>
            <a:off x="1524000" y="1498600"/>
            <a:ext cx="8128000" cy="1905000"/>
          </a:xfrm>
          <a:custGeom>
            <a:avLst/>
            <a:gdLst/>
            <a:ahLst/>
            <a:cxnLst/>
            <a:rect l="l" t="t" r="r" b="b"/>
            <a:pathLst>
              <a:path w="640" h="150">
                <a:moveTo>
                  <a:pt x="0" y="150"/>
                </a:moveTo>
                <a:lnTo>
                  <a:pt x="640" y="0"/>
                </a:lnTo>
              </a:path>
            </a:pathLst>
          </a:custGeom>
          <a:noFill/>
          <a:ln w="19050" cap="rnd">
            <a:solidFill>
              <a:srgbClr val="C09A3E"/>
            </a:solidFill>
            <a:prstDash val="dash"/>
            <a:round/>
            <a:tailEnd type="stealth"/>
          </a:ln>
        </p:spPr>
      </p:sp>
      <p:sp>
        <p:nvSpPr>
          <p:cNvPr id="5" name="asc-label"/>
          <p:cNvSpPr txBox="1"/>
          <p:nvPr/>
        </p:nvSpPr>
        <p:spPr>
          <a:xfrm>
            <a:off x="4191000" y="16256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i="1">
                <a:solidFill>
                  <a:srgbClr val="C09A3E"/>
                </a:solidFill>
                <a:latin typeface="Quattrocento Sans"/>
                <a:ea typeface="Quattrocento Sans"/>
              </a:rPr>
              <a:t>increasing data sophistication →</a:t>
            </a:r>
            <a:endParaRPr lang="en-US" sz="1050" noProof="1"/>
          </a:p>
        </p:txBody>
      </p:sp>
      <p:sp>
        <p:nvSpPr>
          <p:cNvPr id="6" name="st1"/>
          <p:cNvSpPr/>
          <p:nvPr/>
        </p:nvSpPr>
        <p:spPr>
          <a:xfrm>
            <a:off x="711200" y="3657600"/>
            <a:ext cx="2540000" cy="16764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7" name="st1-t"/>
          <p:cNvSpPr txBox="1"/>
          <p:nvPr/>
        </p:nvSpPr>
        <p:spPr>
          <a:xfrm>
            <a:off x="863600" y="3759200"/>
            <a:ext cx="2235200" cy="147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1 · SEGMENT-BASED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Same message to broad groups ("women 25–34, metro").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Data: demographics, campaign tools. Ex: classic email blasts.</a:t>
            </a:r>
            <a:endParaRPr lang="en-US" sz="1050" noProof="1"/>
          </a:p>
        </p:txBody>
      </p:sp>
      <p:sp>
        <p:nvSpPr>
          <p:cNvPr id="8" name="st2"/>
          <p:cNvSpPr/>
          <p:nvPr/>
        </p:nvSpPr>
        <p:spPr>
          <a:xfrm>
            <a:off x="3403600" y="3098800"/>
            <a:ext cx="2540000" cy="22352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9" name="st2-t"/>
          <p:cNvSpPr txBox="1"/>
          <p:nvPr/>
        </p:nvSpPr>
        <p:spPr>
          <a:xfrm>
            <a:off x="3556000" y="3200400"/>
            <a:ext cx="22352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2 · 1:1 RULES-BASED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Individual triggers from explicit data — name, cart, browse.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Data: CRM + marketing automation, web analytics. Ex: abandoned-cart email with your exact item.</a:t>
            </a:r>
            <a:endParaRPr lang="en-US" sz="1050" noProof="1"/>
          </a:p>
        </p:txBody>
      </p:sp>
      <p:sp>
        <p:nvSpPr>
          <p:cNvPr id="10" name="st3"/>
          <p:cNvSpPr/>
          <p:nvPr/>
        </p:nvSpPr>
        <p:spPr>
          <a:xfrm>
            <a:off x="6096000" y="2540000"/>
            <a:ext cx="2540000" cy="2794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1" name="st3-t"/>
          <p:cNvSpPr txBox="1"/>
          <p:nvPr/>
        </p:nvSpPr>
        <p:spPr>
          <a:xfrm>
            <a:off x="6248400" y="2641600"/>
            <a:ext cx="2235200" cy="259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3 · PREDICTIVE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ML infers what you'll want next from behavioural patterns at scale.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Data: recommender systems, propensity models, CDP. Ex: Netflix rows, Amazon "recommended for you", Stitch Fix.</a:t>
            </a:r>
            <a:endParaRPr lang="en-US" sz="1050" noProof="1"/>
          </a:p>
        </p:txBody>
      </p:sp>
      <p:sp>
        <p:nvSpPr>
          <p:cNvPr id="12" name="st4"/>
          <p:cNvSpPr/>
          <p:nvPr/>
        </p:nvSpPr>
        <p:spPr>
          <a:xfrm>
            <a:off x="8788400" y="1981200"/>
            <a:ext cx="2692400" cy="3352800"/>
          </a:xfrm>
          <a:prstGeom prst="rect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3" name="st4-t"/>
          <p:cNvSpPr txBox="1"/>
          <p:nvPr/>
        </p:nvSpPr>
        <p:spPr>
          <a:xfrm>
            <a:off x="8940800" y="2082800"/>
            <a:ext cx="2387600" cy="314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4 · AGENTIC</a:t>
            </a: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 </a:t>
            </a:r>
            <a:r>
              <a:rPr lang="en-US" sz="900" noProof="1">
                <a:solidFill>
                  <a:srgbClr val="C09A3E"/>
                </a:solidFill>
                <a:latin typeface="Quattrocento Sans"/>
                <a:ea typeface="Quattrocento Sans"/>
              </a:rPr>
              <a:t>THE FRONTIER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An AI agent holds goals and acts across steps — researches, compares, negotiates, buys (with permission).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Data: LLM agents, tool use, payment delegation. Ex: Rufus, ChatGPT Instant Checkout, Perplexity Buy with Pro.</a:t>
            </a:r>
            <a:endParaRPr lang="en-US" sz="1050" noProof="1"/>
          </a:p>
        </p:txBody>
      </p:sp>
      <p:sp>
        <p:nvSpPr>
          <p:cNvPr id="14" name="fly-band"/>
          <p:cNvSpPr/>
          <p:nvPr/>
        </p:nvSpPr>
        <p:spPr>
          <a:xfrm>
            <a:off x="711200" y="5588000"/>
            <a:ext cx="10769600" cy="6096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5" name="fly-t"/>
          <p:cNvSpPr txBox="1"/>
          <p:nvPr/>
        </p:nvSpPr>
        <p:spPr>
          <a:xfrm>
            <a:off x="914400" y="5676900"/>
            <a:ext cx="10363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moat is the data flywheel: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more users → more data → better recommendations → more users. Most mid-market retailers sit at stage 1–2; the leaders climbed by letting each stage fund the next stage's data.</a:t>
            </a:r>
            <a:endParaRPr lang="en-US" sz="1150" noProof="1"/>
          </a:p>
        </p:txBody>
      </p:sp>
      <p:sp>
        <p:nvSpPr>
          <p:cNvPr id="16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9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27</a:t>
            </a:r>
            <a:endParaRPr lang="en-US" sz="950" noProof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FRAMEWORK APPLIED · MATURITY AUDIT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Climbing the staircase: what data and technology each stage demands</a:t>
            </a:r>
            <a:endParaRPr lang="en-US" sz="2600" noProof="1"/>
          </a:p>
        </p:txBody>
      </p:sp>
      <p:graphicFrame>
        <p:nvGraphicFramePr>
          <p:cNvPr id="4" name="mm-table"/>
          <p:cNvGraphicFramePr>
            <a:graphicFrameLocks noGrp="1"/>
          </p:cNvGraphicFramePr>
          <p:nvPr/>
        </p:nvGraphicFramePr>
        <p:xfrm>
          <a:off x="711200" y="1422400"/>
          <a:ext cx="10769600" cy="2768600"/>
        </p:xfrm>
        <a:graphic>
          <a:graphicData uri="http://schemas.openxmlformats.org/drawingml/2006/table">
            <a:tbl>
              <a:tblPr/>
              <a:tblGrid>
                <a:gridCol w="1830832"/>
                <a:gridCol w="3230880"/>
                <a:gridCol w="3338576"/>
                <a:gridCol w="2369312"/>
              </a:tblGrid>
              <a:tr h="3876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What it does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Data &amp; tech required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5952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1 · Segment-based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Same message to broad demographic groups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Demographics; campaign and email tools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Classic weekly email blast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5952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2 · 1:1 rules-based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Individual triggers from explicit data (name, cart, browse)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CRM + marketing automation; web analytics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Abandoned-cart email with your exact item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5952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3 · Predictive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ML infers what you'll want next from behaviour at scale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Recommender systems; propensity models; CDP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Netflix rows; Amazon "recommended for you"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59524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4 · Agentic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An AI agent holds goals and acts across steps — researches, compares, buys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LLM agents; tool use; payment delegation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Rufus; ChatGPT Instant Checkout; Perplexity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</a:tbl>
          </a:graphicData>
        </a:graphic>
      </p:graphicFrame>
      <p:sp>
        <p:nvSpPr>
          <p:cNvPr id="5" name="audit-head"/>
          <p:cNvSpPr txBox="1"/>
          <p:nvPr/>
        </p:nvSpPr>
        <p:spPr>
          <a:xfrm>
            <a:off x="711200" y="4419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75E54"/>
                </a:solidFill>
                <a:latin typeface="Quattrocento Sans"/>
                <a:ea typeface="Quattrocento Sans"/>
              </a:rPr>
              <a:t>How to run a maturity audit (score 1–4 on each)</a:t>
            </a:r>
            <a:endParaRPr lang="en-US" sz="1300" noProof="1"/>
          </a:p>
        </p:txBody>
      </p:sp>
      <p:sp>
        <p:nvSpPr>
          <p:cNvPr id="6" name="audit-text"/>
          <p:cNvSpPr txBox="1"/>
          <p:nvPr/>
        </p:nvSpPr>
        <p:spPr>
          <a:xfrm>
            <a:off x="711200" y="4724400"/>
            <a:ext cx="6096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Data unification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is there a CDP, or scattered silos?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Decisioning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rules, ML, or an agent?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Channel coverage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one channel, or web + app + email + store?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Measurement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real holdout tests, or vanity attribution?</a:t>
            </a:r>
            <a:endParaRPr lang="en-US" sz="1200" noProof="1"/>
          </a:p>
        </p:txBody>
      </p:sp>
      <p:sp>
        <p:nvSpPr>
          <p:cNvPr id="7" name="sf-head"/>
          <p:cNvSpPr txBox="1"/>
          <p:nvPr/>
        </p:nvSpPr>
        <p:spPr>
          <a:xfrm>
            <a:off x="7366000" y="44196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Worked example — Stitch Fix's climb</a:t>
            </a:r>
            <a:endParaRPr lang="en-US" sz="1300" noProof="1"/>
          </a:p>
        </p:txBody>
      </p:sp>
      <p:sp>
        <p:nvSpPr>
          <p:cNvPr id="8" name="sf-text"/>
          <p:cNvSpPr txBox="1"/>
          <p:nvPr/>
        </p:nvSpPr>
        <p:spPr>
          <a:xfrm>
            <a:off x="7366000" y="4724400"/>
            <a:ext cx="41148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Stage 2 (2011): quiz-based stylist matching → Stage 3: algorithms rank inventory per client; Style Shuffle feeds continuous preference data → Stage 3.5: Freestyle direct-purchase recommendations → Stage 4 ambition: generative styling assistants.</a:t>
            </a:r>
            <a:endParaRPr lang="en-US" sz="1200" noProof="1"/>
          </a:p>
        </p:txBody>
      </p:sp>
      <p:sp>
        <p:nvSpPr>
          <p:cNvPr id="9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1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2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28</a:t>
            </a:r>
            <a:endParaRPr lang="en-US" sz="950" noProof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· RECOMMENDER SYSTEMS (1 OF 2)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Collaborative filtering: "people like you bought…"</a:t>
            </a:r>
            <a:endParaRPr lang="en-US" sz="2600" noProof="1"/>
          </a:p>
        </p:txBody>
      </p:sp>
      <p:graphicFrame>
        <p:nvGraphicFramePr>
          <p:cNvPr id="4" name="matrix"/>
          <p:cNvGraphicFramePr>
            <a:graphicFrameLocks noGrp="1"/>
          </p:cNvGraphicFramePr>
          <p:nvPr/>
        </p:nvGraphicFramePr>
        <p:xfrm>
          <a:off x="711200" y="1574800"/>
          <a:ext cx="5334000" cy="2413000"/>
        </p:xfrm>
        <a:graphic>
          <a:graphicData uri="http://schemas.openxmlformats.org/drawingml/2006/table">
            <a:tbl>
              <a:tblPr/>
              <a:tblGrid>
                <a:gridCol w="1173480"/>
                <a:gridCol w="1013460"/>
                <a:gridCol w="1013460"/>
                <a:gridCol w="1120140"/>
                <a:gridCol w="1013460"/>
              </a:tblGrid>
              <a:tr h="60325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Novel 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Novel 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Headphones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Yoga mat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603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Asha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BC4B26"/>
                          </a:solidFill>
                          <a:latin typeface="Quattrocento Sans"/>
                          <a:ea typeface="Quattrocento Sans"/>
                        </a:rPr>
                        <a:t>?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6E7DE"/>
                    </a:solidFill>
                  </a:tcPr>
                </a:tc>
              </a:tr>
              <a:tr h="603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Ravi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6032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Meera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5" name="matrix-note"/>
          <p:cNvSpPr txBox="1"/>
          <p:nvPr/>
        </p:nvSpPr>
        <p:spPr>
          <a:xfrm>
            <a:off x="711200" y="41656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Asha and Ravi overlap on three items — so the system bets Asha will like Ravi's yoga mat. The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?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becomes a recommendation. </a:t>
            </a:r>
            <a:r>
              <a:rPr lang="en-US" sz="1200" noProof="1">
                <a:solidFill>
                  <a:srgbClr val="6E675C"/>
                </a:solidFill>
                <a:latin typeface="Quattrocento Sans"/>
                <a:ea typeface="Quattrocento Sans"/>
              </a:rPr>
              <a:t>(Illustrative example)</a:t>
            </a:r>
            <a:endParaRPr lang="en-US" sz="1200" noProof="1"/>
          </a:p>
        </p:txBody>
      </p:sp>
      <p:sp>
        <p:nvSpPr>
          <p:cNvPr id="6" name="right-text"/>
          <p:cNvSpPr txBox="1"/>
          <p:nvPr/>
        </p:nvSpPr>
        <p:spPr>
          <a:xfrm>
            <a:off x="6756400" y="1574800"/>
            <a:ext cx="47244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No item features needed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only the user × item interaction matrix.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Two flavours: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user-based (find similar users) and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item-item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precompute "customers who bought A also bought B".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Amazon's item-item CF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(Linden, Smith &amp; York, 2003) scaled this to millions of items in real time — the canonical production recommender.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Weaknesses: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the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cold-start problem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(new users and items have no history) and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popularity bias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(the rich get richer).</a:t>
            </a:r>
            <a:endParaRPr lang="en-US" sz="1200" noProof="1"/>
          </a:p>
        </p:txBody>
      </p:sp>
      <p:sp>
        <p:nvSpPr>
          <p:cNvPr id="7" name="anchor-band"/>
          <p:cNvSpPr/>
          <p:nvPr/>
        </p:nvSpPr>
        <p:spPr>
          <a:xfrm>
            <a:off x="711200" y="5334000"/>
            <a:ext cx="10769600" cy="6604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8" name="anchor-t"/>
          <p:cNvSpPr txBox="1"/>
          <p:nvPr/>
        </p:nvSpPr>
        <p:spPr>
          <a:xfrm>
            <a:off x="914400" y="5435600"/>
            <a:ext cx="10363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Academic anchors: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Resnick et al., GroupLens (1994) founded CF; Linden, Smith &amp; York, "Amazon.com Recommendations: Item-to-Item Collaborative Filtering," IEEE Internet Computing (2003) made it industrial.</a:t>
            </a:r>
            <a:endParaRPr lang="en-US" sz="1150" noProof="1"/>
          </a:p>
        </p:txBody>
      </p:sp>
      <p:sp>
        <p:nvSpPr>
          <p:cNvPr id="9" name="src"/>
          <p:cNvSpPr txBox="1"/>
          <p:nvPr/>
        </p:nvSpPr>
        <p:spPr>
          <a:xfrm>
            <a:off x="711200" y="61214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Linden, Smith &amp; York, IEEE Internet Computing, 2003 (DOI 10.1109/MIC.2003.1167344)</a:t>
            </a:r>
            <a:endParaRPr lang="en-US" sz="1000" noProof="1"/>
          </a:p>
        </p:txBody>
      </p:sp>
      <p:sp>
        <p:nvSpPr>
          <p:cNvPr id="10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1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29</a:t>
            </a:r>
            <a:endParaRPr lang="en-US" sz="950" noProof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THEORY · RECOMMENDER SYSTEMS (2 OF 2)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Content-based filtering: "you liked X, so try things similar to X"</a:t>
            </a:r>
            <a:endParaRPr lang="en-US" sz="2600" noProof="1"/>
          </a:p>
        </p:txBody>
      </p:sp>
      <p:sp>
        <p:nvSpPr>
          <p:cNvPr id="4" name="col1-head"/>
          <p:cNvSpPr txBox="1"/>
          <p:nvPr/>
        </p:nvSpPr>
        <p:spPr>
          <a:xfrm>
            <a:off x="711200" y="15494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1 · Describe every item</a:t>
            </a:r>
            <a:endParaRPr lang="en-US" sz="1250" noProof="1"/>
          </a:p>
        </p:txBody>
      </p:sp>
      <p:sp>
        <p:nvSpPr>
          <p:cNvPr id="5" name="col1-box"/>
          <p:cNvSpPr/>
          <p:nvPr/>
        </p:nvSpPr>
        <p:spPr>
          <a:xfrm>
            <a:off x="711200" y="1879600"/>
            <a:ext cx="3175000" cy="2286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6" name="col1-t"/>
          <p:cNvSpPr txBox="1"/>
          <p:nvPr/>
        </p:nvSpPr>
        <p:spPr>
          <a:xfrm>
            <a:off x="914400" y="2006600"/>
            <a:ext cx="27686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Each product becomes a feature vector: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genre · brand · colour · price band · materials · specs · keywords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Good metadata is the fuel — garbage attributes, garbage matches.</a:t>
            </a:r>
            <a:endParaRPr lang="en-US" sz="1150" noProof="1"/>
          </a:p>
        </p:txBody>
      </p:sp>
      <p:sp>
        <p:nvSpPr>
          <p:cNvPr id="7" name="arr1"/>
          <p:cNvSpPr/>
          <p:nvPr/>
        </p:nvSpPr>
        <p:spPr>
          <a:xfrm>
            <a:off x="3987800" y="2844800"/>
            <a:ext cx="355600" cy="279400"/>
          </a:xfrm>
          <a:prstGeom prst="rightArrow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8" name="col2-head"/>
          <p:cNvSpPr txBox="1"/>
          <p:nvPr/>
        </p:nvSpPr>
        <p:spPr>
          <a:xfrm>
            <a:off x="4470400" y="15494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2 · Build the taste profile</a:t>
            </a:r>
            <a:endParaRPr lang="en-US" sz="1250" noProof="1"/>
          </a:p>
        </p:txBody>
      </p:sp>
      <p:sp>
        <p:nvSpPr>
          <p:cNvPr id="9" name="col2-box"/>
          <p:cNvSpPr/>
          <p:nvPr/>
        </p:nvSpPr>
        <p:spPr>
          <a:xfrm>
            <a:off x="4470400" y="1879600"/>
            <a:ext cx="3175000" cy="2286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0" name="col2-t"/>
          <p:cNvSpPr txBox="1"/>
          <p:nvPr/>
        </p:nvSpPr>
        <p:spPr>
          <a:xfrm>
            <a:off x="4673600" y="2006600"/>
            <a:ext cx="27686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Your demonstrated likes become weighted tastes: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sci-fi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0.9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· minimalist design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0.7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· budget ₹₹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0.6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· leather-free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0.8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(Illustrative weights — learned from clicks and purchases)</a:t>
            </a:r>
            <a:endParaRPr lang="en-US" sz="1150" noProof="1"/>
          </a:p>
        </p:txBody>
      </p:sp>
      <p:sp>
        <p:nvSpPr>
          <p:cNvPr id="11" name="arr2"/>
          <p:cNvSpPr/>
          <p:nvPr/>
        </p:nvSpPr>
        <p:spPr>
          <a:xfrm>
            <a:off x="7747000" y="2844800"/>
            <a:ext cx="355600" cy="279400"/>
          </a:xfrm>
          <a:prstGeom prst="rightArrow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2" name="col3-head"/>
          <p:cNvSpPr txBox="1"/>
          <p:nvPr/>
        </p:nvSpPr>
        <p:spPr>
          <a:xfrm>
            <a:off x="8229600" y="15494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3 · Score every candidate</a:t>
            </a:r>
            <a:endParaRPr lang="en-US" sz="1250" noProof="1"/>
          </a:p>
        </p:txBody>
      </p:sp>
      <p:sp>
        <p:nvSpPr>
          <p:cNvPr id="13" name="col3-box"/>
          <p:cNvSpPr/>
          <p:nvPr/>
        </p:nvSpPr>
        <p:spPr>
          <a:xfrm>
            <a:off x="8229600" y="1879600"/>
            <a:ext cx="3251200" cy="2286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4" name="col3-t"/>
          <p:cNvSpPr txBox="1"/>
          <p:nvPr/>
        </p:nvSpPr>
        <p:spPr>
          <a:xfrm>
            <a:off x="8432800" y="2006600"/>
            <a:ext cx="28448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Items ranked by match to the profile: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Item 1042 — </a:t>
            </a:r>
            <a:r>
              <a:rPr lang="en-US" sz="1150" noProof="1" b="1">
                <a:solidFill>
                  <a:srgbClr val="BC4B26"/>
                </a:solidFill>
                <a:latin typeface="Quattrocento Sans"/>
                <a:ea typeface="Quattrocento Sans"/>
              </a:rPr>
              <a:t>92%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Item 0387 — 87%</a:t>
            </a:r>
            <a:endParaRPr lang="en-US" sz="11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Item 2210 — 71%</a:t>
            </a:r>
            <a:endParaRPr lang="en-US" sz="115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Top matches fill the "recommended for you" slot.</a:t>
            </a:r>
            <a:endParaRPr lang="en-US" sz="1150" noProof="1"/>
          </a:p>
        </p:txBody>
      </p:sp>
      <p:sp>
        <p:nvSpPr>
          <p:cNvPr id="15" name="sw-band"/>
          <p:cNvSpPr/>
          <p:nvPr/>
        </p:nvSpPr>
        <p:spPr>
          <a:xfrm>
            <a:off x="711200" y="4521200"/>
            <a:ext cx="10769600" cy="10160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6" name="sw-t"/>
          <p:cNvSpPr txBox="1"/>
          <p:nvPr/>
        </p:nvSpPr>
        <p:spPr>
          <a:xfrm>
            <a:off x="914400" y="4648200"/>
            <a:ext cx="10363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Strength: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works for brand-</a:t>
            </a: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new items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with zero ratings — the fix for one half of the cold-start problem. No other users required.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400"/>
              </a:spcBef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Weakness: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over-specialisation — the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filter bubble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keeps recommending more of the same; and it lives or dies on the quality of item metadata.</a:t>
            </a:r>
            <a:endParaRPr lang="en-US" sz="1200" noProof="1"/>
          </a:p>
        </p:txBody>
      </p:sp>
      <p:sp>
        <p:nvSpPr>
          <p:cNvPr id="17" name="src"/>
          <p:cNvSpPr txBox="1"/>
          <p:nvPr/>
        </p:nvSpPr>
        <p:spPr>
          <a:xfrm>
            <a:off x="711200" y="57404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Reference: recommender-systems survey concepts; compare Gomez-Uribe &amp; Hunt, "The Netflix Recommender System," ACM TMIS, 2015/2016</a:t>
            </a:r>
            <a:endParaRPr lang="en-US" sz="1000" noProof="1"/>
          </a:p>
        </p:txBody>
      </p:sp>
      <p:sp>
        <p:nvSpPr>
          <p:cNvPr id="18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30</a:t>
            </a:r>
            <a:endParaRPr lang="en-US" sz="950" noProof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COMPARISON · RECOMMENDER TRADE-OFFS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Which recommender when? Collaborative vs content-based vs hybrid</a:t>
            </a:r>
            <a:endParaRPr lang="en-US" sz="2600" noProof="1"/>
          </a:p>
        </p:txBody>
      </p:sp>
      <p:graphicFrame>
        <p:nvGraphicFramePr>
          <p:cNvPr id="4" name="cmp-table"/>
          <p:cNvGraphicFramePr>
            <a:graphicFrameLocks noGrp="1"/>
          </p:cNvGraphicFramePr>
          <p:nvPr/>
        </p:nvGraphicFramePr>
        <p:xfrm>
          <a:off x="711200" y="1422400"/>
          <a:ext cx="10769600" cy="2997200"/>
        </p:xfrm>
        <a:graphic>
          <a:graphicData uri="http://schemas.openxmlformats.org/drawingml/2006/table">
            <a:tbl>
              <a:tblPr/>
              <a:tblGrid>
                <a:gridCol w="2153920"/>
                <a:gridCol w="2907792"/>
                <a:gridCol w="2907792"/>
                <a:gridCol w="2800096"/>
              </a:tblGrid>
              <a:tr h="38963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Judgment criterion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Collaborative (CF)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Content-based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</a:rPr>
                        <a:t>Hybrid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175E54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Signal used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Behaviour of similar users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Item attributes vs your taste profile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Both + context (time, device, session)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New-user problem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Severe — no history exists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Moderate — an onboarding quiz helps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Mitigated by design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New-item problem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Severe — no interactions yet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Mild — attributes alone suffice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Mitigated by design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Serendipity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Higher — crosses categories via other users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Low — filter-bubble risk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Tuned deliberately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1EDE3"/>
                    </a:solidFill>
                  </a:tcPr>
                </a:tc>
              </a:tr>
              <a:tr h="521513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Best for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Dense-traffic platforms (Amazon, Netflix)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Thin traffic, rich metadata (a 2,000-SKU store)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23272E"/>
                          </a:solidFill>
                          <a:latin typeface="Quattrocento Sans"/>
                          <a:ea typeface="Quattrocento Sans"/>
                        </a:rPr>
                        <a:t>Most serious deployments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FAF7F2"/>
                    </a:solidFill>
                  </a:tcPr>
                </a:tc>
              </a:tr>
            </a:tbl>
          </a:graphicData>
        </a:graphic>
      </p:graphicFrame>
      <p:sp>
        <p:nvSpPr>
          <p:cNvPr id="5" name="cs-band"/>
          <p:cNvSpPr/>
          <p:nvPr/>
        </p:nvSpPr>
        <p:spPr>
          <a:xfrm>
            <a:off x="711200" y="4622800"/>
            <a:ext cx="10769600" cy="9652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6" name="cs-t"/>
          <p:cNvSpPr txBox="1"/>
          <p:nvPr/>
        </p:nvSpPr>
        <p:spPr>
          <a:xfrm>
            <a:off x="914400" y="47371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Cold-start mitigations you should know: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onboarding quizzes (Stitch Fix's 85+ data-point style profile) · popularity/trending fallback for new users · content-based fallback for new items · explicit-feedback games (Style Shuffle, Netflix thumbs).</a:t>
            </a:r>
            <a:endParaRPr lang="en-US" sz="1200" noProof="1"/>
          </a:p>
        </p:txBody>
      </p:sp>
      <p:sp>
        <p:nvSpPr>
          <p:cNvPr id="7" name="hybrid-note"/>
          <p:cNvSpPr txBox="1"/>
          <p:nvPr/>
        </p:nvSpPr>
        <p:spPr>
          <a:xfrm>
            <a:off x="711200" y="57404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6E675C"/>
                </a:solidFill>
                <a:latin typeface="Quattrocento Sans"/>
                <a:ea typeface="Quattrocento Sans"/>
              </a:rPr>
              <a:t>Hybrid is the industry standard: Netflix = CF + metadata + contextual ranking + personalised artwork; Stitch Fix = algorithms + human stylists (a human-in-the-loop hybrid); Spotify Discover Weekly = CF + audio-content analysis + NLP on text.</a:t>
            </a:r>
            <a:endParaRPr lang="en-US" sz="1150" noProof="1"/>
          </a:p>
        </p:txBody>
      </p:sp>
      <p:sp>
        <p:nvSpPr>
          <p:cNvPr id="8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9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0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31</a:t>
            </a:r>
            <a:endParaRPr lang="en-US" sz="950" noProof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DEFINITIONS · VOCABULARY OF THE AGENTIC ERA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Two terms to master: AI shopping agent and next-best-action</a:t>
            </a:r>
            <a:endParaRPr lang="en-US" sz="2600" noProof="1"/>
          </a:p>
        </p:txBody>
      </p:sp>
      <p:sp>
        <p:nvSpPr>
          <p:cNvPr id="4" name="d1-block"/>
          <p:cNvSpPr/>
          <p:nvPr/>
        </p:nvSpPr>
        <p:spPr>
          <a:xfrm>
            <a:off x="711200" y="1473200"/>
            <a:ext cx="10769600" cy="14732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5" name="d1-label"/>
          <p:cNvSpPr txBox="1"/>
          <p:nvPr/>
        </p:nvSpPr>
        <p:spPr>
          <a:xfrm>
            <a:off x="965200" y="1600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DEFINITION 1</a:t>
            </a:r>
            <a:endParaRPr lang="en-US" sz="1050" noProof="1"/>
          </a:p>
        </p:txBody>
      </p:sp>
      <p:sp>
        <p:nvSpPr>
          <p:cNvPr id="6" name="d1-t"/>
          <p:cNvSpPr txBox="1"/>
          <p:nvPr/>
        </p:nvSpPr>
        <p:spPr>
          <a:xfrm>
            <a:off x="965200" y="1828800"/>
            <a:ext cx="711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23272E"/>
                </a:solidFill>
                <a:latin typeface="Unna"/>
                <a:ea typeface="Unna"/>
              </a:rPr>
              <a:t>AI shopping agent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an AI system that pursues a shopping goal on a user's behalf across multiple steps: understanding intent, researching options, comparing trade-offs, and (with authorisation) executing purchase and payment — rather than simply answering a single query.</a:t>
            </a:r>
            <a:endParaRPr lang="en-US" sz="1500" noProof="1"/>
          </a:p>
        </p:txBody>
      </p:sp>
      <p:sp>
        <p:nvSpPr>
          <p:cNvPr id="7" name="d1-ex"/>
          <p:cNvSpPr txBox="1"/>
          <p:nvPr/>
        </p:nvSpPr>
        <p:spPr>
          <a:xfrm>
            <a:off x="8432800" y="1600200"/>
            <a:ext cx="2844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6E675C"/>
                </a:solidFill>
                <a:latin typeface="Quattrocento Sans"/>
                <a:ea typeface="Quattrocento Sans"/>
              </a:rPr>
              <a:t>Scenario: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 "Find a carry-on under $150, rated 4★+, delivered by Friday" — the agent compares 40 listings and checks out. </a:t>
            </a:r>
            <a:r>
              <a:rPr lang="en-US" sz="1100" noProof="1" i="1">
                <a:solidFill>
                  <a:srgbClr val="6E675C"/>
                </a:solidFill>
                <a:latin typeface="Quattrocento Sans"/>
                <a:ea typeface="Quattrocento Sans"/>
              </a:rPr>
              <a:t>(Illustrative)</a:t>
            </a:r>
            <a:endParaRPr lang="en-US" sz="1100" noProof="1"/>
          </a:p>
        </p:txBody>
      </p:sp>
      <p:sp>
        <p:nvSpPr>
          <p:cNvPr id="8" name="d2-block"/>
          <p:cNvSpPr/>
          <p:nvPr/>
        </p:nvSpPr>
        <p:spPr>
          <a:xfrm>
            <a:off x="711200" y="3149600"/>
            <a:ext cx="10769600" cy="1473200"/>
          </a:xfrm>
          <a:prstGeom prst="rect">
            <a:avLst/>
          </a:prstGeom>
          <a:solidFill>
            <a:srgbClr val="F3ECDA"/>
          </a:solidFill>
          <a:ln>
            <a:noFill/>
          </a:ln>
        </p:spPr>
      </p:sp>
      <p:sp>
        <p:nvSpPr>
          <p:cNvPr id="9" name="d2-label"/>
          <p:cNvSpPr txBox="1"/>
          <p:nvPr/>
        </p:nvSpPr>
        <p:spPr>
          <a:xfrm>
            <a:off x="965200" y="3276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DEFINITION 2</a:t>
            </a:r>
            <a:endParaRPr lang="en-US" sz="1050" noProof="1"/>
          </a:p>
        </p:txBody>
      </p:sp>
      <p:sp>
        <p:nvSpPr>
          <p:cNvPr id="10" name="d2-t"/>
          <p:cNvSpPr txBox="1"/>
          <p:nvPr/>
        </p:nvSpPr>
        <p:spPr>
          <a:xfrm>
            <a:off x="965200" y="3505200"/>
            <a:ext cx="711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500" noProof="1" b="1">
                <a:solidFill>
                  <a:srgbClr val="23272E"/>
                </a:solidFill>
                <a:latin typeface="Unna"/>
                <a:ea typeface="Unna"/>
              </a:rPr>
              <a:t>Next-best-action (NBA)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a decisioning approach that computes, for each customer at each interaction, the single most valuable action for the business to take — recommend, offer, educate, or </a:t>
            </a:r>
            <a:r>
              <a:rPr lang="en-US" sz="1500" noProof="1" i="1">
                <a:solidFill>
                  <a:srgbClr val="23272E"/>
                </a:solidFill>
                <a:latin typeface="Unna"/>
                <a:ea typeface="Unna"/>
              </a:rPr>
              <a:t>stay silent</a:t>
            </a:r>
            <a:r>
              <a:rPr lang="en-US" sz="1500" noProof="1">
                <a:solidFill>
                  <a:srgbClr val="23272E"/>
                </a:solidFill>
                <a:latin typeface="Unna"/>
                <a:ea typeface="Unna"/>
              </a:rPr>
              <a:t> — using propensity models and business rules.</a:t>
            </a:r>
            <a:endParaRPr lang="en-US" sz="1500" noProof="1"/>
          </a:p>
        </p:txBody>
      </p:sp>
      <p:sp>
        <p:nvSpPr>
          <p:cNvPr id="11" name="d2-ex"/>
          <p:cNvSpPr txBox="1"/>
          <p:nvPr/>
        </p:nvSpPr>
        <p:spPr>
          <a:xfrm>
            <a:off x="8432800" y="3276600"/>
            <a:ext cx="28448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6E675C"/>
                </a:solidFill>
                <a:latin typeface="Quattrocento Sans"/>
                <a:ea typeface="Quattrocento Sans"/>
              </a:rPr>
              <a:t>Scenario: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 for a churn-risk subscriber, the NBA says "educate about a new feature" — not "discount". </a:t>
            </a:r>
            <a:r>
              <a:rPr lang="en-US" sz="1100" noProof="1" i="1">
                <a:solidFill>
                  <a:srgbClr val="6E675C"/>
                </a:solidFill>
                <a:latin typeface="Quattrocento Sans"/>
                <a:ea typeface="Quattrocento Sans"/>
              </a:rPr>
              <a:t>(Illustrative)</a:t>
            </a:r>
            <a:endParaRPr lang="en-US" sz="1100" noProof="1"/>
          </a:p>
        </p:txBody>
      </p:sp>
      <p:sp>
        <p:nvSpPr>
          <p:cNvPr id="12" name="boundary"/>
          <p:cNvSpPr/>
          <p:nvPr/>
        </p:nvSpPr>
        <p:spPr>
          <a:xfrm>
            <a:off x="711200" y="4978400"/>
            <a:ext cx="10769600" cy="6604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3" name="boundary-t"/>
          <p:cNvSpPr txBox="1"/>
          <p:nvPr/>
        </p:nvSpPr>
        <p:spPr>
          <a:xfrm>
            <a:off x="914400" y="5080000"/>
            <a:ext cx="10363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Where the boundary lies: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a chatbot answers; an agent </a:t>
            </a: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acts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. Segmentation treats groups; NBA computes for one customer at one moment — and "do nothing" can be the winning action.</a:t>
            </a:r>
            <a:endParaRPr lang="en-US" sz="1200" noProof="1"/>
          </a:p>
        </p:txBody>
      </p:sp>
      <p:sp>
        <p:nvSpPr>
          <p:cNvPr id="14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32</a:t>
            </a:r>
            <a:endParaRPr lang="en-US" sz="950" noProof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EVIDENCE · THE BUSINESS CASE FOR PERSONALISATION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Personalisation pays — and consumers now treat it as table stakes</a:t>
            </a:r>
            <a:endParaRPr lang="en-US" sz="2600" noProof="1"/>
          </a:p>
        </p:txBody>
      </p:sp>
      <p:graphicFrame>
        <p:nvGraphicFramePr>
          <p:cNvPr id="4" name="pers-chart"/>
          <p:cNvGraphicFramePr/>
          <p:nvPr/>
        </p:nvGraphicFramePr>
        <p:xfrm>
          <a:off x="711200" y="1498600"/>
          <a:ext cx="6350000" cy="38354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5" name="st1-num"/>
          <p:cNvSpPr txBox="1"/>
          <p:nvPr/>
        </p:nvSpPr>
        <p:spPr>
          <a:xfrm>
            <a:off x="7620000" y="16002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BC4B26"/>
                </a:solidFill>
                <a:latin typeface="Unna"/>
                <a:ea typeface="Unna"/>
              </a:rPr>
              <a:t>10–15%</a:t>
            </a:r>
            <a:endParaRPr lang="en-US" sz="4200" noProof="1"/>
          </a:p>
        </p:txBody>
      </p:sp>
      <p:sp>
        <p:nvSpPr>
          <p:cNvPr id="6" name="st1-t"/>
          <p:cNvSpPr txBox="1"/>
          <p:nvPr/>
        </p:nvSpPr>
        <p:spPr>
          <a:xfrm>
            <a:off x="7620000" y="2286000"/>
            <a:ext cx="3860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typical revenue lift from personalisation (range 5–25%)</a:t>
            </a:r>
            <a:endParaRPr lang="en-US" sz="1200" noProof="1"/>
          </a:p>
        </p:txBody>
      </p:sp>
      <p:sp>
        <p:nvSpPr>
          <p:cNvPr id="7" name="st2-num"/>
          <p:cNvSpPr txBox="1"/>
          <p:nvPr/>
        </p:nvSpPr>
        <p:spPr>
          <a:xfrm>
            <a:off x="7620000" y="30480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BC4B26"/>
                </a:solidFill>
                <a:latin typeface="Unna"/>
                <a:ea typeface="Unna"/>
              </a:rPr>
              <a:t>40%</a:t>
            </a:r>
            <a:endParaRPr lang="en-US" sz="4200" noProof="1"/>
          </a:p>
        </p:txBody>
      </p:sp>
      <p:sp>
        <p:nvSpPr>
          <p:cNvPr id="8" name="st2-t"/>
          <p:cNvSpPr txBox="1"/>
          <p:nvPr/>
        </p:nvSpPr>
        <p:spPr>
          <a:xfrm>
            <a:off x="7620000" y="3733800"/>
            <a:ext cx="3860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more revenue from personalisation for fast-growing companies vs slower peers</a:t>
            </a:r>
            <a:endParaRPr lang="en-US" sz="1200" noProof="1"/>
          </a:p>
        </p:txBody>
      </p:sp>
      <p:sp>
        <p:nvSpPr>
          <p:cNvPr id="9" name="st3-num"/>
          <p:cNvSpPr txBox="1"/>
          <p:nvPr/>
        </p:nvSpPr>
        <p:spPr>
          <a:xfrm>
            <a:off x="7620000" y="4495800"/>
            <a:ext cx="3860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BC4B26"/>
                </a:solidFill>
                <a:latin typeface="Unna"/>
                <a:ea typeface="Unna"/>
              </a:rPr>
              <a:t>&gt;$1T</a:t>
            </a:r>
            <a:endParaRPr lang="en-US" sz="4200" noProof="1"/>
          </a:p>
        </p:txBody>
      </p:sp>
      <p:sp>
        <p:nvSpPr>
          <p:cNvPr id="10" name="st3-t"/>
          <p:cNvSpPr txBox="1"/>
          <p:nvPr/>
        </p:nvSpPr>
        <p:spPr>
          <a:xfrm>
            <a:off x="7620000" y="5181600"/>
            <a:ext cx="3860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value at stake across US industries from getting personalisation right</a:t>
            </a:r>
            <a:endParaRPr lang="en-US" sz="1200" noProof="1"/>
          </a:p>
        </p:txBody>
      </p:sp>
      <p:sp>
        <p:nvSpPr>
          <p:cNvPr id="11" name="src"/>
          <p:cNvSpPr txBox="1"/>
          <p:nvPr/>
        </p:nvSpPr>
        <p:spPr>
          <a:xfrm>
            <a:off x="711200" y="57404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McKinsey, Next in Personalization, 2021</a:t>
            </a:r>
            <a:endParaRPr lang="en-US" sz="1000" noProof="1"/>
          </a:p>
        </p:txBody>
      </p:sp>
      <p:sp>
        <p:nvSpPr>
          <p:cNvPr id="12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33</a:t>
            </a:r>
            <a:endParaRPr lang="en-US" sz="950" noProof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FRAMEWORK · THE PERSONALISATION–PRIVACY TRADE-OFF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trade-off: shoppers want relevance and privacy at the same time</a:t>
            </a:r>
            <a:endParaRPr lang="en-US" sz="2600" noProof="1"/>
          </a:p>
        </p:txBody>
      </p:sp>
      <p:sp>
        <p:nvSpPr>
          <p:cNvPr id="4" name="exchange"/>
          <p:cNvSpPr txBox="1"/>
          <p:nvPr/>
        </p:nvSpPr>
        <p:spPr>
          <a:xfrm>
            <a:off x="711200" y="1371600"/>
            <a:ext cx="107696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value exchange in one line: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shoppers trade data when the benefit is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explicit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(they know what was shared),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immediate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(the payoff arrives now), and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proportionate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(the value matches the intimacy of the data).</a:t>
            </a:r>
            <a:endParaRPr lang="en-US" sz="1250" noProof="1"/>
          </a:p>
        </p:txBody>
      </p:sp>
      <p:sp>
        <p:nvSpPr>
          <p:cNvPr id="5" name="spec-line"/>
          <p:cNvSpPr/>
          <p:nvPr/>
        </p:nvSpPr>
        <p:spPr>
          <a:xfrm>
            <a:off x="1270000" y="3048000"/>
            <a:ext cx="9652000" cy="254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6" name="spec-left"/>
          <p:cNvSpPr txBox="1"/>
          <p:nvPr/>
        </p:nvSpPr>
        <p:spPr>
          <a:xfrm>
            <a:off x="711200" y="32766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← delightfully relevant</a:t>
            </a:r>
            <a:endParaRPr lang="en-US" sz="1200" noProof="1"/>
          </a:p>
        </p:txBody>
      </p:sp>
      <p:sp>
        <p:nvSpPr>
          <p:cNvPr id="7" name="spec-right"/>
          <p:cNvSpPr txBox="1"/>
          <p:nvPr/>
        </p:nvSpPr>
        <p:spPr>
          <a:xfrm>
            <a:off x="8686800" y="3276600"/>
            <a:ext cx="279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creepy →</a:t>
            </a:r>
            <a:endParaRPr lang="en-US" sz="1200" noProof="1"/>
          </a:p>
        </p:txBody>
      </p:sp>
      <p:sp>
        <p:nvSpPr>
          <p:cNvPr id="8" name="creep-mark"/>
          <p:cNvSpPr/>
          <p:nvPr/>
        </p:nvSpPr>
        <p:spPr>
          <a:xfrm>
            <a:off x="8890000" y="2870200"/>
            <a:ext cx="25400" cy="355600"/>
          </a:xfrm>
          <a:prstGeom prst="rect">
            <a:avLst/>
          </a:prstGeom>
          <a:solidFill>
            <a:srgbClr val="C09A3E"/>
          </a:solidFill>
          <a:ln>
            <a:noFill/>
          </a:ln>
        </p:spPr>
      </p:sp>
      <p:sp>
        <p:nvSpPr>
          <p:cNvPr id="9" name="creep-label"/>
          <p:cNvSpPr txBox="1"/>
          <p:nvPr/>
        </p:nvSpPr>
        <p:spPr>
          <a:xfrm>
            <a:off x="7442200" y="2641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50" noProof="1" i="1">
                <a:solidFill>
                  <a:srgbClr val="C09A3E"/>
                </a:solidFill>
                <a:latin typeface="Quattrocento Sans"/>
                <a:ea typeface="Quattrocento Sans"/>
              </a:rPr>
              <a:t>the creepiness line</a:t>
            </a:r>
            <a:endParaRPr lang="en-US" sz="1050" noProof="1"/>
          </a:p>
        </p:txBody>
      </p:sp>
      <p:sp>
        <p:nvSpPr>
          <p:cNvPr id="10" name="dot1"/>
          <p:cNvSpPr/>
          <p:nvPr/>
        </p:nvSpPr>
        <p:spPr>
          <a:xfrm>
            <a:off x="2209800" y="2959100"/>
            <a:ext cx="152400" cy="152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1" name="dot1-t"/>
          <p:cNvSpPr txBox="1"/>
          <p:nvPr/>
        </p:nvSpPr>
        <p:spPr>
          <a:xfrm>
            <a:off x="1270000" y="37084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cart email with your exact item (you left it there)</a:t>
            </a:r>
            <a:endParaRPr lang="en-US" sz="1050" noProof="1"/>
          </a:p>
        </p:txBody>
      </p:sp>
      <p:sp>
        <p:nvSpPr>
          <p:cNvPr id="12" name="dot2"/>
          <p:cNvSpPr/>
          <p:nvPr/>
        </p:nvSpPr>
        <p:spPr>
          <a:xfrm>
            <a:off x="5257800" y="2959100"/>
            <a:ext cx="152400" cy="152400"/>
          </a:xfrm>
          <a:prstGeom prst="ellips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13" name="dot2-t"/>
          <p:cNvSpPr txBox="1"/>
          <p:nvPr/>
        </p:nvSpPr>
        <p:spPr>
          <a:xfrm>
            <a:off x="4318000" y="37084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homepage re-ranked from your own browsing</a:t>
            </a:r>
            <a:endParaRPr lang="en-US" sz="1050" noProof="1"/>
          </a:p>
        </p:txBody>
      </p:sp>
      <p:sp>
        <p:nvSpPr>
          <p:cNvPr id="14" name="dot3"/>
          <p:cNvSpPr/>
          <p:nvPr/>
        </p:nvSpPr>
        <p:spPr>
          <a:xfrm>
            <a:off x="9829800" y="2959100"/>
            <a:ext cx="152400" cy="152400"/>
          </a:xfrm>
          <a:prstGeom prst="ellipse">
            <a:avLst/>
          </a:prstGeom>
          <a:solidFill>
            <a:srgbClr val="BC4B26"/>
          </a:solidFill>
          <a:ln>
            <a:noFill/>
          </a:ln>
        </p:spPr>
      </p:sp>
      <p:sp>
        <p:nvSpPr>
          <p:cNvPr id="15" name="dot3-t"/>
          <p:cNvSpPr txBox="1"/>
          <p:nvPr/>
        </p:nvSpPr>
        <p:spPr>
          <a:xfrm>
            <a:off x="9067800" y="3708400"/>
            <a:ext cx="2413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an ad that exposes a health condition inferred from purchases (illustrative)</a:t>
            </a:r>
            <a:endParaRPr lang="en-US" sz="1050" noProof="1"/>
          </a:p>
        </p:txBody>
      </p:sp>
      <p:sp>
        <p:nvSpPr>
          <p:cNvPr id="16" name="warn-band"/>
          <p:cNvSpPr/>
          <p:nvPr/>
        </p:nvSpPr>
        <p:spPr>
          <a:xfrm>
            <a:off x="711200" y="4724400"/>
            <a:ext cx="10769600" cy="12192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17" name="warn-t"/>
          <p:cNvSpPr txBox="1"/>
          <p:nvPr/>
        </p:nvSpPr>
        <p:spPr>
          <a:xfrm>
            <a:off x="914400" y="4838700"/>
            <a:ext cx="103632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tension in numbers: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71% of consumers expect personalised interactions and 76% are frustrated without them — yet the same consumers punish creepy or opaque data use.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Cautionary legend, not fact: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the 2012 "Target predicted a teen's pregnancy" story is the classic creepiness parable — but its details rest on one NYT Magazine article and are partly anecdotal. Teach it as a legend with sourcing caveats.</a:t>
            </a:r>
            <a:endParaRPr lang="en-US" sz="1200" noProof="1"/>
          </a:p>
        </p:txBody>
      </p:sp>
      <p:sp>
        <p:nvSpPr>
          <p:cNvPr id="18" name="src"/>
          <p:cNvSpPr txBox="1"/>
          <p:nvPr/>
        </p:nvSpPr>
        <p:spPr>
          <a:xfrm>
            <a:off x="711200" y="60706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McKinsey Next in Personalization, 2021</a:t>
            </a:r>
            <a:endParaRPr lang="en-US" sz="1000" noProof="1"/>
          </a:p>
        </p:txBody>
      </p:sp>
      <p:sp>
        <p:nvSpPr>
          <p:cNvPr id="19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1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22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34</a:t>
            </a:r>
            <a:endParaRPr lang="en-US" sz="950" noProof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STRATEGY · MANAGING THE TRADE-OFF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Five rules that keep personalisation on the right side of the line</a:t>
            </a:r>
            <a:endParaRPr lang="en-US" sz="2600" noProof="1"/>
          </a:p>
        </p:txBody>
      </p:sp>
      <p:sp>
        <p:nvSpPr>
          <p:cNvPr id="4" name="r1-icon"/>
          <p:cNvSpPr/>
          <p:nvPr>
            <p:extLst>
              <p:ext uri="{F5677B7D-0D2A-4D9B-9A5C-6D8D7D0E5A5D}">
                <pptd:icon encoding="base64url">eyJpY29uTmFtZSI6ImZhczpoYW5kc2hha2UifQ</pptd:icon>
              </p:ext>
            </p:extLst>
          </p:nvPr>
        </p:nvSpPr>
        <p:spPr>
          <a:xfrm>
            <a:off x="711200" y="152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69" y="85"/>
                </a:moveTo>
                <a:lnTo>
                  <a:pt x="152" y="215"/>
                </a:lnTo>
                <a:cubicBezTo>
                  <a:pt x="148" y="220"/>
                  <a:pt x="148" y="228"/>
                  <a:pt x="153" y="233"/>
                </a:cubicBezTo>
                <a:cubicBezTo>
                  <a:pt x="183" y="263"/>
                  <a:pt x="233" y="263"/>
                  <a:pt x="263" y="233"/>
                </a:cubicBezTo>
                <a:lnTo>
                  <a:pt x="295" y="201"/>
                </a:lnTo>
                <a:cubicBezTo>
                  <a:pt x="299" y="197"/>
                  <a:pt x="305" y="194"/>
                  <a:pt x="310" y="194"/>
                </a:cubicBezTo>
                <a:cubicBezTo>
                  <a:pt x="317" y="193"/>
                  <a:pt x="324" y="196"/>
                  <a:pt x="329" y="201"/>
                </a:cubicBezTo>
                <a:lnTo>
                  <a:pt x="506" y="376"/>
                </a:lnTo>
                <a:lnTo>
                  <a:pt x="576" y="320"/>
                </a:lnTo>
                <a:lnTo>
                  <a:pt x="576" y="32"/>
                </a:lnTo>
                <a:lnTo>
                  <a:pt x="464" y="96"/>
                </a:lnTo>
                <a:lnTo>
                  <a:pt x="440" y="80"/>
                </a:lnTo>
                <a:cubicBezTo>
                  <a:pt x="424" y="70"/>
                  <a:pt x="406" y="64"/>
                  <a:pt x="387" y="64"/>
                </a:cubicBezTo>
                <a:lnTo>
                  <a:pt x="317" y="64"/>
                </a:lnTo>
                <a:cubicBezTo>
                  <a:pt x="315" y="64"/>
                  <a:pt x="314" y="64"/>
                  <a:pt x="313" y="64"/>
                </a:cubicBezTo>
                <a:cubicBezTo>
                  <a:pt x="296" y="65"/>
                  <a:pt x="280" y="73"/>
                  <a:pt x="269" y="85"/>
                </a:cubicBezTo>
                <a:close/>
                <a:moveTo>
                  <a:pt x="117" y="183"/>
                </a:moveTo>
                <a:lnTo>
                  <a:pt x="223" y="64"/>
                </a:lnTo>
                <a:lnTo>
                  <a:pt x="184" y="64"/>
                </a:lnTo>
                <a:cubicBezTo>
                  <a:pt x="158" y="64"/>
                  <a:pt x="134" y="74"/>
                  <a:pt x="116" y="92"/>
                </a:cubicBezTo>
                <a:lnTo>
                  <a:pt x="112" y="96"/>
                </a:lnTo>
                <a:lnTo>
                  <a:pt x="0" y="32"/>
                </a:lnTo>
                <a:lnTo>
                  <a:pt x="0" y="320"/>
                </a:lnTo>
                <a:lnTo>
                  <a:pt x="156" y="450"/>
                </a:lnTo>
                <a:cubicBezTo>
                  <a:pt x="179" y="470"/>
                  <a:pt x="208" y="480"/>
                  <a:pt x="238" y="480"/>
                </a:cubicBezTo>
                <a:lnTo>
                  <a:pt x="254" y="480"/>
                </a:lnTo>
                <a:lnTo>
                  <a:pt x="247" y="473"/>
                </a:lnTo>
                <a:cubicBezTo>
                  <a:pt x="238" y="464"/>
                  <a:pt x="238" y="448"/>
                  <a:pt x="247" y="439"/>
                </a:cubicBezTo>
                <a:cubicBezTo>
                  <a:pt x="256" y="430"/>
                  <a:pt x="272" y="430"/>
                  <a:pt x="281" y="439"/>
                </a:cubicBezTo>
                <a:lnTo>
                  <a:pt x="322" y="480"/>
                </a:lnTo>
                <a:lnTo>
                  <a:pt x="331" y="480"/>
                </a:lnTo>
                <a:cubicBezTo>
                  <a:pt x="350" y="480"/>
                  <a:pt x="369" y="476"/>
                  <a:pt x="386" y="468"/>
                </a:cubicBezTo>
                <a:lnTo>
                  <a:pt x="359" y="441"/>
                </a:lnTo>
                <a:cubicBezTo>
                  <a:pt x="350" y="432"/>
                  <a:pt x="350" y="416"/>
                  <a:pt x="359" y="407"/>
                </a:cubicBezTo>
                <a:cubicBezTo>
                  <a:pt x="368" y="398"/>
                  <a:pt x="384" y="398"/>
                  <a:pt x="393" y="407"/>
                </a:cubicBezTo>
                <a:lnTo>
                  <a:pt x="425" y="439"/>
                </a:lnTo>
                <a:lnTo>
                  <a:pt x="442" y="422"/>
                </a:lnTo>
                <a:cubicBezTo>
                  <a:pt x="451" y="413"/>
                  <a:pt x="454" y="400"/>
                  <a:pt x="450" y="389"/>
                </a:cubicBezTo>
                <a:lnTo>
                  <a:pt x="312" y="252"/>
                </a:lnTo>
                <a:lnTo>
                  <a:pt x="297" y="267"/>
                </a:lnTo>
                <a:cubicBezTo>
                  <a:pt x="248" y="316"/>
                  <a:pt x="168" y="316"/>
                  <a:pt x="119" y="267"/>
                </a:cubicBezTo>
                <a:cubicBezTo>
                  <a:pt x="96" y="244"/>
                  <a:pt x="95" y="207"/>
                  <a:pt x="117" y="183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5" name="r1-t"/>
          <p:cNvSpPr txBox="1"/>
          <p:nvPr/>
        </p:nvSpPr>
        <p:spPr>
          <a:xfrm>
            <a:off x="1219200" y="1422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1 · Value exchange first.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Ask for data only when the payoff is explicit, immediate, and proportionate. Stitch Fix collects 85+ style data points willingly — because every answer visibly makes the next box better.</a:t>
            </a:r>
            <a:endParaRPr lang="en-US" sz="1200" noProof="1"/>
          </a:p>
        </p:txBody>
      </p:sp>
      <p:sp>
        <p:nvSpPr>
          <p:cNvPr id="6" name="r1-rule"/>
          <p:cNvSpPr/>
          <p:nvPr/>
        </p:nvSpPr>
        <p:spPr>
          <a:xfrm>
            <a:off x="711200" y="23114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7" name="r2-icon"/>
          <p:cNvSpPr/>
          <p:nvPr>
            <p:extLst>
              <p:ext uri="{F5677B7D-0D2A-4D9B-9A5C-6D8D7D0E5A5D}">
                <pptd:icon encoding="base64url">eyJpY29uTmFtZSI6ImZhczpkYXRhYmFzZSJ9</pptd:icon>
              </p:ext>
            </p:extLst>
          </p:nvPr>
        </p:nvSpPr>
        <p:spPr>
          <a:xfrm>
            <a:off x="711200" y="2540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8" name="r2-t"/>
          <p:cNvSpPr txBox="1"/>
          <p:nvPr/>
        </p:nvSpPr>
        <p:spPr>
          <a:xfrm>
            <a:off x="1219200" y="2438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2 · First- and zero-party over third-party.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Quizzes, preference centres, and loyalty programs beat bought data. Regulation (GDPR, CCPA, India's DPDP Act) and platform shifts (post-cookie, ATT) all push toward consented data.</a:t>
            </a:r>
            <a:endParaRPr lang="en-US" sz="1200" noProof="1"/>
          </a:p>
        </p:txBody>
      </p:sp>
      <p:sp>
        <p:nvSpPr>
          <p:cNvPr id="9" name="r2-rule"/>
          <p:cNvSpPr/>
          <p:nvPr/>
        </p:nvSpPr>
        <p:spPr>
          <a:xfrm>
            <a:off x="711200" y="33274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0" name="r3-icon"/>
          <p:cNvSpPr/>
          <p:nvPr>
            <p:extLst>
              <p:ext uri="{F5677B7D-0D2A-4D9B-9A5C-6D8D7D0E5A5D}">
                <pptd:icon encoding="base64url">eyJpY29uTmFtZSI6ImZhczpleWUifQ</pptd:icon>
              </p:ext>
            </p:extLst>
          </p:nvPr>
        </p:nvSpPr>
        <p:spPr>
          <a:xfrm>
            <a:off x="711200" y="355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288" y="32"/>
                </a:moveTo>
                <a:cubicBezTo>
                  <a:pt x="207" y="32"/>
                  <a:pt x="143" y="69"/>
                  <a:pt x="95" y="113"/>
                </a:cubicBezTo>
                <a:cubicBezTo>
                  <a:pt x="49" y="156"/>
                  <a:pt x="17" y="208"/>
                  <a:pt x="2" y="244"/>
                </a:cubicBezTo>
                <a:cubicBezTo>
                  <a:pt x="-1" y="252"/>
                  <a:pt x="-1" y="260"/>
                  <a:pt x="2" y="268"/>
                </a:cubicBezTo>
                <a:cubicBezTo>
                  <a:pt x="17" y="304"/>
                  <a:pt x="49" y="356"/>
                  <a:pt x="95" y="399"/>
                </a:cubicBezTo>
                <a:cubicBezTo>
                  <a:pt x="143" y="443"/>
                  <a:pt x="207" y="480"/>
                  <a:pt x="288" y="480"/>
                </a:cubicBezTo>
                <a:cubicBezTo>
                  <a:pt x="369" y="480"/>
                  <a:pt x="434" y="443"/>
                  <a:pt x="481" y="399"/>
                </a:cubicBezTo>
                <a:cubicBezTo>
                  <a:pt x="527" y="356"/>
                  <a:pt x="559" y="304"/>
                  <a:pt x="574" y="268"/>
                </a:cubicBezTo>
                <a:cubicBezTo>
                  <a:pt x="577" y="260"/>
                  <a:pt x="577" y="252"/>
                  <a:pt x="574" y="244"/>
                </a:cubicBezTo>
                <a:cubicBezTo>
                  <a:pt x="559" y="208"/>
                  <a:pt x="527" y="156"/>
                  <a:pt x="481" y="113"/>
                </a:cubicBezTo>
                <a:cubicBezTo>
                  <a:pt x="434" y="69"/>
                  <a:pt x="369" y="32"/>
                  <a:pt x="288" y="32"/>
                </a:cubicBezTo>
                <a:close/>
                <a:moveTo>
                  <a:pt x="144" y="256"/>
                </a:moveTo>
                <a:cubicBezTo>
                  <a:pt x="144" y="176"/>
                  <a:pt x="208" y="112"/>
                  <a:pt x="288" y="112"/>
                </a:cubicBezTo>
                <a:cubicBezTo>
                  <a:pt x="368" y="112"/>
                  <a:pt x="432" y="176"/>
                  <a:pt x="432" y="256"/>
                </a:cubicBezTo>
                <a:cubicBezTo>
                  <a:pt x="432" y="336"/>
                  <a:pt x="368" y="400"/>
                  <a:pt x="288" y="400"/>
                </a:cubicBezTo>
                <a:cubicBezTo>
                  <a:pt x="208" y="400"/>
                  <a:pt x="144" y="336"/>
                  <a:pt x="144" y="256"/>
                </a:cubicBezTo>
                <a:close/>
              </a:path>
              <a:path w="576" h="512">
                <a:moveTo>
                  <a:pt x="288" y="192"/>
                </a:moveTo>
                <a:cubicBezTo>
                  <a:pt x="288" y="227"/>
                  <a:pt x="259" y="256"/>
                  <a:pt x="224" y="256"/>
                </a:cubicBezTo>
                <a:cubicBezTo>
                  <a:pt x="213" y="256"/>
                  <a:pt x="202" y="253"/>
                  <a:pt x="192" y="248"/>
                </a:cubicBezTo>
                <a:cubicBezTo>
                  <a:pt x="191" y="259"/>
                  <a:pt x="192" y="270"/>
                  <a:pt x="195" y="281"/>
                </a:cubicBezTo>
                <a:cubicBezTo>
                  <a:pt x="209" y="332"/>
                  <a:pt x="262" y="362"/>
                  <a:pt x="313" y="349"/>
                </a:cubicBezTo>
                <a:cubicBezTo>
                  <a:pt x="364" y="335"/>
                  <a:pt x="394" y="282"/>
                  <a:pt x="381" y="231"/>
                </a:cubicBezTo>
                <a:cubicBezTo>
                  <a:pt x="369" y="185"/>
                  <a:pt x="325" y="156"/>
                  <a:pt x="280" y="160"/>
                </a:cubicBezTo>
                <a:cubicBezTo>
                  <a:pt x="285" y="170"/>
                  <a:pt x="288" y="180"/>
                  <a:pt x="288" y="192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1" name="r3-t"/>
          <p:cNvSpPr txBox="1"/>
          <p:nvPr/>
        </p:nvSpPr>
        <p:spPr>
          <a:xfrm>
            <a:off x="1219200" y="3454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3 · Run the creepiness test.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Would the customer be surprised that this data exists, or is used this way? If yes — redesign before you ship. Surprise is the leading indicator of backlash.</a:t>
            </a:r>
            <a:endParaRPr lang="en-US" sz="1200" noProof="1"/>
          </a:p>
        </p:txBody>
      </p:sp>
      <p:sp>
        <p:nvSpPr>
          <p:cNvPr id="12" name="r3-rule"/>
          <p:cNvSpPr/>
          <p:nvPr/>
        </p:nvSpPr>
        <p:spPr>
          <a:xfrm>
            <a:off x="711200" y="43434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r4-icon"/>
          <p:cNvSpPr/>
          <p:nvPr>
            <p:extLst>
              <p:ext uri="{F5677B7D-0D2A-4D9B-9A5C-6D8D7D0E5A5D}">
                <pptd:icon encoding="base64url">eyJpY29uTmFtZSI6ImZhczpjb21tZW50cyJ9</pptd:icon>
              </p:ext>
            </p:extLst>
          </p:nvPr>
        </p:nvSpPr>
        <p:spPr>
          <a:xfrm>
            <a:off x="711200" y="4572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84" y="144"/>
                </a:moveTo>
                <a:cubicBezTo>
                  <a:pt x="384" y="241"/>
                  <a:pt x="298" y="320"/>
                  <a:pt x="192" y="320"/>
                </a:cubicBezTo>
                <a:cubicBezTo>
                  <a:pt x="165" y="320"/>
                  <a:pt x="140" y="315"/>
                  <a:pt x="117" y="306"/>
                </a:cubicBezTo>
                <a:lnTo>
                  <a:pt x="35" y="349"/>
                </a:lnTo>
                <a:cubicBezTo>
                  <a:pt x="26" y="354"/>
                  <a:pt x="15" y="352"/>
                  <a:pt x="7" y="345"/>
                </a:cubicBezTo>
                <a:cubicBezTo>
                  <a:pt x="0" y="338"/>
                  <a:pt x="-2" y="326"/>
                  <a:pt x="3" y="317"/>
                </a:cubicBezTo>
                <a:lnTo>
                  <a:pt x="38" y="250"/>
                </a:lnTo>
                <a:cubicBezTo>
                  <a:pt x="14" y="220"/>
                  <a:pt x="0" y="184"/>
                  <a:pt x="0" y="144"/>
                </a:cubicBezTo>
                <a:cubicBezTo>
                  <a:pt x="0" y="47"/>
                  <a:pt x="86" y="-32"/>
                  <a:pt x="192" y="-32"/>
                </a:cubicBezTo>
                <a:cubicBezTo>
                  <a:pt x="298" y="-32"/>
                  <a:pt x="384" y="47"/>
                  <a:pt x="384" y="144"/>
                </a:cubicBezTo>
                <a:close/>
                <a:moveTo>
                  <a:pt x="384" y="512"/>
                </a:moveTo>
                <a:cubicBezTo>
                  <a:pt x="290" y="512"/>
                  <a:pt x="212" y="450"/>
                  <a:pt x="195" y="368"/>
                </a:cubicBezTo>
                <a:cubicBezTo>
                  <a:pt x="315" y="367"/>
                  <a:pt x="420" y="281"/>
                  <a:pt x="431" y="165"/>
                </a:cubicBezTo>
                <a:cubicBezTo>
                  <a:pt x="514" y="185"/>
                  <a:pt x="576" y="254"/>
                  <a:pt x="576" y="336"/>
                </a:cubicBezTo>
                <a:cubicBezTo>
                  <a:pt x="576" y="376"/>
                  <a:pt x="562" y="412"/>
                  <a:pt x="538" y="442"/>
                </a:cubicBezTo>
                <a:lnTo>
                  <a:pt x="573" y="509"/>
                </a:lnTo>
                <a:cubicBezTo>
                  <a:pt x="578" y="518"/>
                  <a:pt x="576" y="530"/>
                  <a:pt x="569" y="537"/>
                </a:cubicBezTo>
                <a:cubicBezTo>
                  <a:pt x="562" y="545"/>
                  <a:pt x="550" y="546"/>
                  <a:pt x="541" y="541"/>
                </a:cubicBezTo>
                <a:lnTo>
                  <a:pt x="459" y="498"/>
                </a:lnTo>
                <a:cubicBezTo>
                  <a:pt x="436" y="507"/>
                  <a:pt x="411" y="512"/>
                  <a:pt x="384" y="512"/>
                </a:cubicBezTo>
                <a:close/>
              </a:path>
            </a:pathLst>
          </a:custGeom>
          <a:solidFill>
            <a:srgbClr val="175E54"/>
          </a:solidFill>
          <a:ln>
            <a:noFill/>
          </a:ln>
        </p:spPr>
      </p:sp>
      <p:sp>
        <p:nvSpPr>
          <p:cNvPr id="14" name="r4-t"/>
          <p:cNvSpPr txBox="1"/>
          <p:nvPr/>
        </p:nvSpPr>
        <p:spPr>
          <a:xfrm>
            <a:off x="1219200" y="4470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75E54"/>
                </a:solidFill>
                <a:latin typeface="Quattrocento Sans"/>
                <a:ea typeface="Quattrocento Sans"/>
              </a:rPr>
              <a:t>4 · Make transparency a feature.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"Recommended because you watched X" — Netflix explains its rows and Amazon labels its placements. Explanation raises trust </a:t>
            </a: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and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click-through at the same time.</a:t>
            </a:r>
            <a:endParaRPr lang="en-US" sz="1200" noProof="1"/>
          </a:p>
        </p:txBody>
      </p:sp>
      <p:sp>
        <p:nvSpPr>
          <p:cNvPr id="15" name="r4-rule"/>
          <p:cNvSpPr/>
          <p:nvPr/>
        </p:nvSpPr>
        <p:spPr>
          <a:xfrm>
            <a:off x="711200" y="53594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6" name="r5-icon"/>
          <p:cNvSpPr/>
          <p:nvPr>
            <p:extLst>
              <p:ext uri="{F5677B7D-0D2A-4D9B-9A5C-6D8D7D0E5A5D}">
                <pptd:icon encoding="base64url">eyJpY29uTmFtZSI6ImZhczpnYXZlbCJ9</pptd:icon>
              </p:ext>
            </p:extLst>
          </p:nvPr>
        </p:nvSpPr>
        <p:spPr>
          <a:xfrm>
            <a:off x="711200" y="5588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70" y="153"/>
                </a:moveTo>
                <a:lnTo>
                  <a:pt x="151" y="135"/>
                </a:lnTo>
                <a:cubicBezTo>
                  <a:pt x="138" y="122"/>
                  <a:pt x="138" y="102"/>
                  <a:pt x="151" y="89"/>
                </a:cubicBezTo>
                <a:lnTo>
                  <a:pt x="266" y="-25"/>
                </a:lnTo>
                <a:cubicBezTo>
                  <a:pt x="278" y="-38"/>
                  <a:pt x="298" y="-38"/>
                  <a:pt x="311" y="-25"/>
                </a:cubicBezTo>
                <a:lnTo>
                  <a:pt x="330" y="-7"/>
                </a:lnTo>
                <a:cubicBezTo>
                  <a:pt x="342" y="6"/>
                  <a:pt x="342" y="26"/>
                  <a:pt x="330" y="39"/>
                </a:cubicBezTo>
                <a:lnTo>
                  <a:pt x="215" y="153"/>
                </a:lnTo>
                <a:cubicBezTo>
                  <a:pt x="202" y="166"/>
                  <a:pt x="182" y="166"/>
                  <a:pt x="170" y="153"/>
                </a:cubicBezTo>
                <a:close/>
              </a:path>
              <a:path w="576" h="512">
                <a:moveTo>
                  <a:pt x="276" y="212"/>
                </a:moveTo>
                <a:lnTo>
                  <a:pt x="245" y="180"/>
                </a:lnTo>
                <a:lnTo>
                  <a:pt x="357" y="68"/>
                </a:lnTo>
                <a:lnTo>
                  <a:pt x="476" y="188"/>
                </a:lnTo>
                <a:lnTo>
                  <a:pt x="364" y="300"/>
                </a:lnTo>
                <a:lnTo>
                  <a:pt x="333" y="268"/>
                </a:lnTo>
                <a:lnTo>
                  <a:pt x="101" y="500"/>
                </a:lnTo>
                <a:cubicBezTo>
                  <a:pt x="85" y="516"/>
                  <a:pt x="60" y="516"/>
                  <a:pt x="44" y="500"/>
                </a:cubicBezTo>
                <a:cubicBezTo>
                  <a:pt x="28" y="485"/>
                  <a:pt x="28" y="459"/>
                  <a:pt x="44" y="444"/>
                </a:cubicBezTo>
                <a:lnTo>
                  <a:pt x="276" y="212"/>
                </a:lnTo>
                <a:close/>
              </a:path>
              <a:path w="576" h="512">
                <a:moveTo>
                  <a:pt x="391" y="375"/>
                </a:moveTo>
                <a:cubicBezTo>
                  <a:pt x="378" y="362"/>
                  <a:pt x="378" y="342"/>
                  <a:pt x="391" y="329"/>
                </a:cubicBezTo>
                <a:lnTo>
                  <a:pt x="506" y="215"/>
                </a:lnTo>
                <a:cubicBezTo>
                  <a:pt x="518" y="202"/>
                  <a:pt x="538" y="202"/>
                  <a:pt x="551" y="215"/>
                </a:cubicBezTo>
                <a:lnTo>
                  <a:pt x="570" y="233"/>
                </a:lnTo>
                <a:cubicBezTo>
                  <a:pt x="582" y="246"/>
                  <a:pt x="582" y="266"/>
                  <a:pt x="570" y="279"/>
                </a:cubicBezTo>
                <a:lnTo>
                  <a:pt x="455" y="393"/>
                </a:lnTo>
                <a:cubicBezTo>
                  <a:pt x="442" y="406"/>
                  <a:pt x="422" y="406"/>
                  <a:pt x="410" y="393"/>
                </a:cubicBezTo>
                <a:lnTo>
                  <a:pt x="391" y="375"/>
                </a:lnTo>
                <a:close/>
              </a:path>
            </a:pathLst>
          </a:custGeom>
          <a:solidFill>
            <a:srgbClr val="BC4B26"/>
          </a:solidFill>
          <a:ln>
            <a:noFill/>
          </a:ln>
        </p:spPr>
      </p:sp>
      <p:sp>
        <p:nvSpPr>
          <p:cNvPr id="17" name="r5-t"/>
          <p:cNvSpPr txBox="1"/>
          <p:nvPr/>
        </p:nvSpPr>
        <p:spPr>
          <a:xfrm>
            <a:off x="1219200" y="5486400"/>
            <a:ext cx="10261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BC4B26"/>
                </a:solidFill>
                <a:latin typeface="Quattrocento Sans"/>
                <a:ea typeface="Quattrocento Sans"/>
              </a:rPr>
              <a:t>5 · Meet the regulatory baseline — and watch the frontier.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GDPR-style consent, purpose limitation, right to explanation. Agents add open questions: who is liable when your AI agent buys the wrong thing? Regulation is nascent as of 2026.</a:t>
            </a:r>
            <a:endParaRPr lang="en-US" sz="1200" noProof="1"/>
          </a:p>
        </p:txBody>
      </p:sp>
      <p:sp>
        <p:nvSpPr>
          <p:cNvPr id="18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0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21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35</a:t>
            </a:r>
            <a:endParaRPr lang="en-US" sz="950" noProof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TECHNOLOGY · UNDER THE HOOD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Anatomy of a recommendation engine: a loop, not a machine</a:t>
            </a:r>
            <a:endParaRPr lang="en-US" sz="2600" noProof="1"/>
          </a:p>
        </p:txBody>
      </p:sp>
      <p:sp>
        <p:nvSpPr>
          <p:cNvPr id="4" name="pipe1"/>
          <p:cNvSpPr/>
          <p:nvPr/>
        </p:nvSpPr>
        <p:spPr>
          <a:xfrm>
            <a:off x="711200" y="1778000"/>
            <a:ext cx="2032000" cy="1219200"/>
          </a:xfrm>
          <a:prstGeom prst="homePlate">
            <a:avLst/>
          </a:prstGeom>
          <a:solidFill>
            <a:srgbClr val="175E54"/>
          </a:solidFill>
          <a:ln>
            <a:noFill/>
          </a:ln>
        </p:spPr>
      </p:sp>
      <p:sp>
        <p:nvSpPr>
          <p:cNvPr id="5" name="pipe1-t"/>
          <p:cNvSpPr txBox="1"/>
          <p:nvPr/>
        </p:nvSpPr>
        <p:spPr>
          <a:xfrm>
            <a:off x="838200" y="1905000"/>
            <a:ext cx="16764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1 · DATA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clicks, carts, purchases, skips, ratings</a:t>
            </a:r>
            <a:endParaRPr lang="en-US" sz="1050" noProof="1"/>
          </a:p>
        </p:txBody>
      </p:sp>
      <p:sp>
        <p:nvSpPr>
          <p:cNvPr id="6" name="pipe2"/>
          <p:cNvSpPr/>
          <p:nvPr/>
        </p:nvSpPr>
        <p:spPr>
          <a:xfrm>
            <a:off x="2870200" y="1778000"/>
            <a:ext cx="2032000" cy="1219200"/>
          </a:xfrm>
          <a:prstGeom prst="chevron">
            <a:avLst>
              <a:gd name="adj" fmla="val 25000"/>
            </a:avLst>
          </a:prstGeom>
          <a:solidFill>
            <a:srgbClr val="175E54"/>
          </a:solidFill>
          <a:ln>
            <a:noFill/>
          </a:ln>
        </p:spPr>
      </p:sp>
      <p:sp>
        <p:nvSpPr>
          <p:cNvPr id="7" name="pipe2-t"/>
          <p:cNvSpPr txBox="1"/>
          <p:nvPr/>
        </p:nvSpPr>
        <p:spPr>
          <a:xfrm>
            <a:off x="3251200" y="1905000"/>
            <a:ext cx="1498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2 · FEATURES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user signals + item attributes + context</a:t>
            </a:r>
            <a:endParaRPr lang="en-US" sz="1050" noProof="1"/>
          </a:p>
        </p:txBody>
      </p:sp>
      <p:sp>
        <p:nvSpPr>
          <p:cNvPr id="8" name="pipe3"/>
          <p:cNvSpPr/>
          <p:nvPr/>
        </p:nvSpPr>
        <p:spPr>
          <a:xfrm>
            <a:off x="5029200" y="1778000"/>
            <a:ext cx="2032000" cy="1219200"/>
          </a:xfrm>
          <a:prstGeom prst="chevron">
            <a:avLst>
              <a:gd name="adj" fmla="val 25000"/>
            </a:avLst>
          </a:prstGeom>
          <a:solidFill>
            <a:srgbClr val="175E54"/>
          </a:solidFill>
          <a:ln>
            <a:noFill/>
          </a:ln>
        </p:spPr>
      </p:sp>
      <p:sp>
        <p:nvSpPr>
          <p:cNvPr id="9" name="pipe3-t"/>
          <p:cNvSpPr txBox="1"/>
          <p:nvPr/>
        </p:nvSpPr>
        <p:spPr>
          <a:xfrm>
            <a:off x="5410200" y="1905000"/>
            <a:ext cx="1498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3 · MODEL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matrix factorisation → two-tower &amp; sequence models</a:t>
            </a:r>
            <a:endParaRPr lang="en-US" sz="1050" noProof="1"/>
          </a:p>
        </p:txBody>
      </p:sp>
      <p:sp>
        <p:nvSpPr>
          <p:cNvPr id="10" name="pipe4"/>
          <p:cNvSpPr/>
          <p:nvPr/>
        </p:nvSpPr>
        <p:spPr>
          <a:xfrm>
            <a:off x="7188200" y="1778000"/>
            <a:ext cx="2032000" cy="1219200"/>
          </a:xfrm>
          <a:prstGeom prst="chevron">
            <a:avLst>
              <a:gd name="adj" fmla="val 25000"/>
            </a:avLst>
          </a:prstGeom>
          <a:solidFill>
            <a:srgbClr val="175E54"/>
          </a:solidFill>
          <a:ln>
            <a:noFill/>
          </a:ln>
        </p:spPr>
      </p:sp>
      <p:sp>
        <p:nvSpPr>
          <p:cNvPr id="11" name="pipe4-t"/>
          <p:cNvSpPr txBox="1"/>
          <p:nvPr/>
        </p:nvSpPr>
        <p:spPr>
          <a:xfrm>
            <a:off x="7569200" y="1905000"/>
            <a:ext cx="1498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4 · RANKING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scores + business rules: margin, stock, diversity</a:t>
            </a:r>
            <a:endParaRPr lang="en-US" sz="1050" noProof="1"/>
          </a:p>
        </p:txBody>
      </p:sp>
      <p:sp>
        <p:nvSpPr>
          <p:cNvPr id="12" name="pipe5"/>
          <p:cNvSpPr/>
          <p:nvPr/>
        </p:nvSpPr>
        <p:spPr>
          <a:xfrm>
            <a:off x="9347200" y="1778000"/>
            <a:ext cx="2032000" cy="1219200"/>
          </a:xfrm>
          <a:prstGeom prst="chevron">
            <a:avLst>
              <a:gd name="adj" fmla="val 25000"/>
            </a:avLst>
          </a:prstGeom>
          <a:solidFill>
            <a:srgbClr val="BC4B26"/>
          </a:solidFill>
          <a:ln>
            <a:noFill/>
          </a:ln>
        </p:spPr>
      </p:sp>
      <p:sp>
        <p:nvSpPr>
          <p:cNvPr id="13" name="pipe5-t"/>
          <p:cNvSpPr txBox="1"/>
          <p:nvPr/>
        </p:nvSpPr>
        <p:spPr>
          <a:xfrm>
            <a:off x="9728200" y="1905000"/>
            <a:ext cx="1498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200" noProof="1" b="1">
                <a:solidFill>
                  <a:srgbClr val="FFFFFF"/>
                </a:solidFill>
                <a:latin typeface="Quattrocento Sans"/>
                <a:ea typeface="Quattrocento Sans"/>
              </a:rPr>
              <a:t>5 · FEEDBACK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every impression and outcome becomes new data</a:t>
            </a:r>
            <a:endParaRPr lang="en-US" sz="1050" noProof="1"/>
          </a:p>
        </p:txBody>
      </p:sp>
      <p:sp>
        <p:nvSpPr>
          <p:cNvPr id="14" name="loop-arrow"/>
          <p:cNvSpPr/>
          <p:nvPr>
            <p:extLst>
              <p:ext uri="{F5677B7D-0D2A-4D9B-9A5C-6D8D7D0E5A5D}">
                <pptd:line encoding="base64url">eyJ2aWV3Qm94IjpbNjgwLDQ0XSwicG9pbnRzIjoiNjgwLDAgMzQwLDQ0IDAsMCIsImN1cnZlIjoicm91bmQifQ</pptd:line>
              </p:ext>
            </p:extLst>
          </p:nvPr>
        </p:nvSpPr>
        <p:spPr>
          <a:xfrm>
            <a:off x="1727200" y="3124200"/>
            <a:ext cx="8636000" cy="558800"/>
          </a:xfrm>
          <a:custGeom>
            <a:avLst/>
            <a:gdLst/>
            <a:ahLst/>
            <a:cxnLst/>
            <a:rect l="l" t="t" r="r" b="b"/>
            <a:pathLst>
              <a:path w="680" h="44">
                <a:moveTo>
                  <a:pt x="680" y="0"/>
                </a:moveTo>
                <a:lnTo>
                  <a:pt x="352" y="42"/>
                </a:lnTo>
                <a:quadBezTo>
                  <a:pt x="340" y="44"/>
                  <a:pt x="328" y="42"/>
                </a:quadBez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C09A3E"/>
            </a:solidFill>
            <a:prstDash val="dash"/>
            <a:round/>
            <a:tailEnd type="stealth"/>
          </a:ln>
        </p:spPr>
      </p:sp>
      <p:sp>
        <p:nvSpPr>
          <p:cNvPr id="15" name="loop-label"/>
          <p:cNvSpPr txBox="1"/>
          <p:nvPr/>
        </p:nvSpPr>
        <p:spPr>
          <a:xfrm>
            <a:off x="3556000" y="3556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 i="1">
                <a:solidFill>
                  <a:srgbClr val="C09A3E"/>
                </a:solidFill>
                <a:latin typeface="Quattrocento Sans"/>
                <a:ea typeface="Quattrocento Sans"/>
              </a:rPr>
              <a:t>the feedback loop retrains the model — this is the flywheel</a:t>
            </a:r>
            <a:endParaRPr lang="en-US" sz="1050" noProof="1"/>
          </a:p>
        </p:txBody>
      </p:sp>
      <p:sp>
        <p:nvSpPr>
          <p:cNvPr id="16" name="build-band"/>
          <p:cNvSpPr/>
          <p:nvPr/>
        </p:nvSpPr>
        <p:spPr>
          <a:xfrm>
            <a:off x="711200" y="4064000"/>
            <a:ext cx="10769600" cy="1066800"/>
          </a:xfrm>
          <a:prstGeom prst="rect">
            <a:avLst/>
          </a:prstGeom>
          <a:solidFill>
            <a:srgbClr val="F1EDE3"/>
          </a:solidFill>
          <a:ln>
            <a:noFill/>
          </a:ln>
        </p:spPr>
      </p:sp>
      <p:sp>
        <p:nvSpPr>
          <p:cNvPr id="17" name="build-t"/>
          <p:cNvSpPr txBox="1"/>
          <p:nvPr/>
        </p:nvSpPr>
        <p:spPr>
          <a:xfrm>
            <a:off x="914400" y="4178300"/>
            <a:ext cx="10363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Buy vs build: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most retailers deploy platforms — AWS Personalize, Google Vertex AI, Salesforce Einstein, Dynamic Yield (Mastercard). The leaders build in-house because their moat is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interaction density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, not the algorithm (Netflix, Amazon, Alibaba).</a:t>
            </a:r>
            <a:endParaRPr lang="en-US" sz="1200" noProof="1"/>
          </a:p>
        </p:txBody>
      </p:sp>
      <p:sp>
        <p:nvSpPr>
          <p:cNvPr id="18" name="note"/>
          <p:cNvSpPr txBox="1"/>
          <p:nvPr/>
        </p:nvSpPr>
        <p:spPr>
          <a:xfrm>
            <a:off x="711200" y="53848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Every arrow is measurable.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Booking.com's rule applies here too: nothing ships without an experiment — and holdout tests, not attribution, tell you what the model truly adds (next pages).</a:t>
            </a:r>
            <a:endParaRPr lang="en-US" sz="1200" noProof="1"/>
          </a:p>
        </p:txBody>
      </p:sp>
      <p:sp>
        <p:nvSpPr>
          <p:cNvPr id="19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1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22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36</a:t>
            </a:r>
            <a:endParaRPr lang="en-US" sz="950" noProof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TECHNOLOGY · LLM SHOPPING ASSISTANTS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2024–2026 frontier: assistants that shop inside the chat</a:t>
            </a:r>
            <a:endParaRPr lang="en-US" sz="2600" noProof="1"/>
          </a:p>
        </p:txBody>
      </p:sp>
      <p:sp>
        <p:nvSpPr>
          <p:cNvPr id="4" name="a-name"/>
          <p:cNvSpPr txBox="1"/>
          <p:nvPr/>
        </p:nvSpPr>
        <p:spPr>
          <a:xfrm>
            <a:off x="711200" y="14224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Amazon Rufus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00" noProof="1" b="1">
                <a:solidFill>
                  <a:srgbClr val="6E675C"/>
                </a:solidFill>
                <a:latin typeface="Quattrocento Sans"/>
                <a:ea typeface="Quattrocento Sans"/>
              </a:rPr>
              <a:t>beta Feb 2024 · full US rollout Sept 2024</a:t>
            </a:r>
            <a:endParaRPr lang="en-US" sz="1400" noProof="1"/>
          </a:p>
        </p:txBody>
      </p:sp>
      <p:sp>
        <p:nvSpPr>
          <p:cNvPr id="5" name="a-desc"/>
          <p:cNvSpPr txBox="1"/>
          <p:nvPr/>
        </p:nvSpPr>
        <p:spPr>
          <a:xfrm>
            <a:off x="3505200" y="14224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Conversational product Q&amp;A trained on Amazon's catalogue and reviews — "is this coffee maker easy to clean?" answered in place.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What's different: the assistant lives where the purchase already happens.</a:t>
            </a:r>
            <a:endParaRPr lang="en-US" sz="1150" noProof="1"/>
          </a:p>
        </p:txBody>
      </p:sp>
      <p:sp>
        <p:nvSpPr>
          <p:cNvPr id="6" name="a-stats"/>
          <p:cNvSpPr txBox="1"/>
          <p:nvPr/>
        </p:nvSpPr>
        <p:spPr>
          <a:xfrm>
            <a:off x="8839200" y="1422400"/>
            <a:ext cx="2641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~250M users · ~14% of Amazon searches · ~$10B projected incremental sales · users ~2.7× more likely to convert </a:t>
            </a:r>
            <a:r>
              <a:rPr lang="en-US" sz="1050" noProof="1">
                <a:solidFill>
                  <a:srgbClr val="9A9284"/>
                </a:solidFill>
                <a:latin typeface="Quattrocento Sans"/>
                <a:ea typeface="Quattrocento Sans"/>
              </a:rPr>
              <a:t>(company/analyst estimates)</a:t>
            </a:r>
            <a:endParaRPr lang="en-US" sz="10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Sources: </a:t>
            </a:r>
            <a:r>
              <a:rPr lang="en-US" sz="105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Amazon via Jarvio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5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Sensor Tower via Azoma</a:t>
            </a:r>
            <a:endParaRPr lang="en-US" sz="1050" noProof="1"/>
          </a:p>
        </p:txBody>
      </p:sp>
      <p:sp>
        <p:nvSpPr>
          <p:cNvPr id="7" name="a-rule"/>
          <p:cNvSpPr/>
          <p:nvPr/>
        </p:nvSpPr>
        <p:spPr>
          <a:xfrm>
            <a:off x="711200" y="28702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8" name="b-name"/>
          <p:cNvSpPr txBox="1"/>
          <p:nvPr/>
        </p:nvSpPr>
        <p:spPr>
          <a:xfrm>
            <a:off x="711200" y="30480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ChatGPT shopping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00" noProof="1" b="1">
                <a:solidFill>
                  <a:srgbClr val="6E675C"/>
                </a:solidFill>
                <a:latin typeface="Quattrocento Sans"/>
                <a:ea typeface="Quattrocento Sans"/>
              </a:rPr>
              <a:t>carousels Apr 2025 · Instant Checkout Sept 2025</a:t>
            </a:r>
            <a:endParaRPr lang="en-US" sz="1400" noProof="1"/>
          </a:p>
        </p:txBody>
      </p:sp>
      <p:sp>
        <p:nvSpPr>
          <p:cNvPr id="9" name="b-desc"/>
          <p:cNvSpPr txBox="1"/>
          <p:nvPr/>
        </p:nvSpPr>
        <p:spPr>
          <a:xfrm>
            <a:off x="3505200" y="30480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Product carousels in search →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Instant Checkout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with Etsy and Shopify merchants, built on the open Agentic Commerce Protocol with Stripe → Shopping Research buyer's guides (Nov 2025).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What's different: checkout inside a general-purpose assistant, on an open protocol.</a:t>
            </a:r>
            <a:endParaRPr lang="en-US" sz="1150" noProof="1"/>
          </a:p>
        </p:txBody>
      </p:sp>
      <p:sp>
        <p:nvSpPr>
          <p:cNvPr id="10" name="b-stats"/>
          <p:cNvSpPr txBox="1"/>
          <p:nvPr/>
        </p:nvSpPr>
        <p:spPr>
          <a:xfrm>
            <a:off x="8839200" y="3048000"/>
            <a:ext cx="2641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~900M weekly active users (Feb 2026); 50% of US shoppers have bought after researching with AI (Dec 2025 survey)</a:t>
            </a:r>
            <a:endParaRPr lang="en-US" sz="10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Sources: </a:t>
            </a:r>
            <a:r>
              <a:rPr lang="en-US" sz="105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OpenAI via ALM Corp</a:t>
            </a: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50" noProof="1" u="sng">
                <a:solidFill>
                  <a:srgbClr val="0563C1"/>
                </a:solidFill>
                <a:latin typeface="Quattrocento Sans"/>
                <a:ea typeface="Quattrocento Sans"/>
                <a:hlinkClick r:id="rId5"/>
              </a:rPr>
              <a:t>Darkroom/Semrush, 2025–26</a:t>
            </a:r>
            <a:endParaRPr lang="en-US" sz="1050" noProof="1"/>
          </a:p>
        </p:txBody>
      </p:sp>
      <p:sp>
        <p:nvSpPr>
          <p:cNvPr id="11" name="b-rule"/>
          <p:cNvSpPr/>
          <p:nvPr/>
        </p:nvSpPr>
        <p:spPr>
          <a:xfrm>
            <a:off x="711200" y="44958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2" name="c-name"/>
          <p:cNvSpPr txBox="1"/>
          <p:nvPr/>
        </p:nvSpPr>
        <p:spPr>
          <a:xfrm>
            <a:off x="711200" y="46736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400" noProof="1" b="1">
                <a:solidFill>
                  <a:srgbClr val="175E54"/>
                </a:solidFill>
                <a:latin typeface="Quattrocento Sans"/>
                <a:ea typeface="Quattrocento Sans"/>
              </a:rPr>
              <a:t>Perplexity — Buy with Pro</a:t>
            </a:r>
            <a:endParaRPr lang="en-US" sz="1400" noProof="1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00" noProof="1" b="1">
                <a:solidFill>
                  <a:srgbClr val="6E675C"/>
                </a:solidFill>
                <a:latin typeface="Quattrocento Sans"/>
                <a:ea typeface="Quattrocento Sans"/>
              </a:rPr>
              <a:t>launched Nov 2024</a:t>
            </a:r>
            <a:endParaRPr lang="en-US" sz="1400" noProof="1"/>
          </a:p>
        </p:txBody>
      </p:sp>
      <p:sp>
        <p:nvSpPr>
          <p:cNvPr id="13" name="c-desc"/>
          <p:cNvSpPr txBox="1"/>
          <p:nvPr/>
        </p:nvSpPr>
        <p:spPr>
          <a:xfrm>
            <a:off x="3505200" y="46736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One-click checkout inside the answer itself, with a free merchant program and Shopify integration —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merchants keep 100% of revenue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.</a:t>
            </a:r>
            <a:endParaRPr lang="en-US" sz="11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What's different: an answer engine monetising convenience, not commission.</a:t>
            </a:r>
            <a:endParaRPr lang="en-US" sz="1150" noProof="1"/>
          </a:p>
        </p:txBody>
      </p:sp>
      <p:sp>
        <p:nvSpPr>
          <p:cNvPr id="14" name="c-stats"/>
          <p:cNvSpPr txBox="1"/>
          <p:nvPr/>
        </p:nvSpPr>
        <p:spPr>
          <a:xfrm>
            <a:off x="8839200" y="4673600"/>
            <a:ext cx="2641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Shopping-intent queries grew 5× within months of launch; ~45M MAU by early 2026</a:t>
            </a:r>
            <a:endParaRPr lang="en-US" sz="1050" noProof="1"/>
          </a:p>
          <a:p>
            <a:pPr>
              <a:lnSpc>
                <a:spcPct val="13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Source: </a:t>
            </a:r>
            <a:r>
              <a:rPr lang="en-US" sz="1050" noProof="1" u="sng">
                <a:solidFill>
                  <a:srgbClr val="0563C1"/>
                </a:solidFill>
                <a:latin typeface="Quattrocento Sans"/>
                <a:ea typeface="Quattrocento Sans"/>
                <a:hlinkClick r:id="rId6"/>
              </a:rPr>
              <a:t>Perplexity/TechCrunch via AI Showreel, 2024–26</a:t>
            </a:r>
            <a:endParaRPr lang="en-US" sz="1050" noProof="1"/>
          </a:p>
        </p:txBody>
      </p:sp>
      <p:sp>
        <p:nvSpPr>
          <p:cNvPr id="15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7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37</a:t>
            </a:r>
            <a:endParaRPr lang="en-US" sz="950" noProof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COMPANY EXAMPLE · AMAZON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The original flywheel: Amazon's recommendations, measured honestly</a:t>
            </a:r>
            <a:endParaRPr lang="en-US" sz="2600" noProof="1"/>
          </a:p>
        </p:txBody>
      </p:sp>
      <p:sp>
        <p:nvSpPr>
          <p:cNvPr id="4" name="tl1"/>
          <p:cNvSpPr txBox="1"/>
          <p:nvPr/>
        </p:nvSpPr>
        <p:spPr>
          <a:xfrm>
            <a:off x="711200" y="1473200"/>
            <a:ext cx="58420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2003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Linden, Smith &amp; York's IEEE paper describes the production system: precompute item-to-item similarity from co-purchase and co-view behaviour; personalise every surface in real time.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2011–12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recommendations integrated across the </a:t>
            </a:r>
            <a:r>
              <a:rPr lang="en-US" sz="1250" noProof="1" i="1">
                <a:solidFill>
                  <a:srgbClr val="23272E"/>
                </a:solidFill>
                <a:latin typeface="Quattrocento Sans"/>
                <a:ea typeface="Quattrocento Sans"/>
              </a:rPr>
              <a:t>entire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purchase journey: homepage, product pages, cart, email. Q2 2012 sales rose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+29% YoY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($9.9B → $12.83B) as integration deepened.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2024–26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the same flywheel meets the LLM era: Rufus as conversational layer, AI review highlights, "Buy for me" agent pilots.</a:t>
            </a:r>
            <a:endParaRPr lang="en-US" sz="1250" noProof="1"/>
          </a:p>
        </p:txBody>
      </p:sp>
      <p:sp>
        <p:nvSpPr>
          <p:cNvPr id="5" name="stat-num"/>
          <p:cNvSpPr txBox="1"/>
          <p:nvPr/>
        </p:nvSpPr>
        <p:spPr>
          <a:xfrm>
            <a:off x="7112000" y="1549400"/>
            <a:ext cx="43688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800" noProof="1">
                <a:solidFill>
                  <a:srgbClr val="BC4B26"/>
                </a:solidFill>
                <a:latin typeface="Unna"/>
                <a:ea typeface="Unna"/>
              </a:rPr>
              <a:t>~35%</a:t>
            </a:r>
            <a:endParaRPr lang="en-US" sz="4800" noProof="1"/>
          </a:p>
        </p:txBody>
      </p:sp>
      <p:sp>
        <p:nvSpPr>
          <p:cNvPr id="6" name="stat-t"/>
          <p:cNvSpPr txBox="1"/>
          <p:nvPr/>
        </p:nvSpPr>
        <p:spPr>
          <a:xfrm>
            <a:off x="7112000" y="2311400"/>
            <a:ext cx="4368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40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purchases estimated to come via the recommendation engine —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McKinsey estimate, 2013; never confirmed by Amazon</a:t>
            </a:r>
            <a:endParaRPr lang="en-US" sz="1200" noProof="1"/>
          </a:p>
        </p:txBody>
      </p:sp>
      <p:sp>
        <p:nvSpPr>
          <p:cNvPr id="7" name="counter-band"/>
          <p:cNvSpPr/>
          <p:nvPr/>
        </p:nvSpPr>
        <p:spPr>
          <a:xfrm>
            <a:off x="7112000" y="3251200"/>
            <a:ext cx="4368800" cy="12700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8" name="counter-t"/>
          <p:cNvSpPr txBox="1"/>
          <p:nvPr/>
        </p:nvSpPr>
        <p:spPr>
          <a:xfrm>
            <a:off x="7315200" y="3352800"/>
            <a:ext cx="3962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honest counterpoint: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controlled experiments (Prof. Anuj Kumar, Univ. of Florida) show naive attribution overstates lift — many recommended purchases would have happened anyway. Holdout-tested incremental lift is often closer to </a:t>
            </a: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5–15%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.</a:t>
            </a:r>
            <a:endParaRPr lang="en-US" sz="1150" noProof="1"/>
          </a:p>
        </p:txBody>
      </p:sp>
      <p:sp>
        <p:nvSpPr>
          <p:cNvPr id="9" name="take-band"/>
          <p:cNvSpPr/>
          <p:nvPr/>
        </p:nvSpPr>
        <p:spPr>
          <a:xfrm>
            <a:off x="711200" y="4927600"/>
            <a:ext cx="10769600" cy="7620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0" name="take-t"/>
          <p:cNvSpPr txBox="1"/>
          <p:nvPr/>
        </p:nvSpPr>
        <p:spPr>
          <a:xfrm>
            <a:off x="914400" y="5029200"/>
            <a:ext cx="1036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Teaching takeaways: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(1) the moat is interaction density + integration across every decision point, not the algorithm; (2) attribution ≠ causation — holdout tests are the honest measurement; (3) the same flywheel now powers the agentic era.</a:t>
            </a:r>
            <a:endParaRPr lang="en-US" sz="1200" noProof="1"/>
          </a:p>
        </p:txBody>
      </p:sp>
      <p:sp>
        <p:nvSpPr>
          <p:cNvPr id="11" name="src"/>
          <p:cNvSpPr txBox="1"/>
          <p:nvPr/>
        </p:nvSpPr>
        <p:spPr>
          <a:xfrm>
            <a:off x="711200" y="58674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New America case study citing SEC filings &amp; McKinsey, 2013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Kumar, University of Florida, 2018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Amazon earnings commentary via Jarvio, 2026</a:t>
            </a:r>
            <a:endParaRPr lang="en-US" sz="1000" noProof="1"/>
          </a:p>
        </p:txBody>
      </p:sp>
      <p:sp>
        <p:nvSpPr>
          <p:cNvPr id="12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38</a:t>
            </a:r>
            <a:endParaRPr lang="en-US" sz="950" noProof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COMPANY EXAMPLE · NETFLIX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Netflix sells certainty: most of what you watch starts with a recommendation</a:t>
            </a:r>
            <a:endParaRPr lang="en-US" sz="2600" noProof="1"/>
          </a:p>
        </p:txBody>
      </p:sp>
      <p:sp>
        <p:nvSpPr>
          <p:cNvPr id="4" name="left-text"/>
          <p:cNvSpPr txBox="1"/>
          <p:nvPr/>
        </p:nvSpPr>
        <p:spPr>
          <a:xfrm>
            <a:off x="711200" y="1473200"/>
            <a:ext cx="5715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What they personalise — everything: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Ranking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the whole catalogue re-sorted per profile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Rows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which genres appear, and in what order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Artwork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a rom-com watcher and an action watcher see </a:t>
            </a:r>
            <a:r>
              <a:rPr lang="en-US" sz="1250" noProof="1" i="1">
                <a:solidFill>
                  <a:srgbClr val="23272E"/>
                </a:solidFill>
                <a:latin typeface="Quattrocento Sans"/>
                <a:ea typeface="Quattrocento Sans"/>
              </a:rPr>
              <a:t>different thumbnails for the same film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How: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a hybrid system — collaborative + content + contextual signals (time, device, recent viewing) — validated by one of the industry's most aggressive A/B testing programs.</a:t>
            </a:r>
            <a:endParaRPr lang="en-US" sz="1250" noProof="1"/>
          </a:p>
        </p:txBody>
      </p:sp>
      <p:sp>
        <p:nvSpPr>
          <p:cNvPr id="5" name="st1-num"/>
          <p:cNvSpPr txBox="1"/>
          <p:nvPr/>
        </p:nvSpPr>
        <p:spPr>
          <a:xfrm>
            <a:off x="7112000" y="1473200"/>
            <a:ext cx="4368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600" noProof="1">
                <a:solidFill>
                  <a:srgbClr val="BC4B26"/>
                </a:solidFill>
                <a:latin typeface="Unna"/>
                <a:ea typeface="Unna"/>
              </a:rPr>
              <a:t>~80%</a:t>
            </a:r>
            <a:endParaRPr lang="en-US" sz="4600" noProof="1"/>
          </a:p>
        </p:txBody>
      </p:sp>
      <p:sp>
        <p:nvSpPr>
          <p:cNvPr id="6" name="st1-t"/>
          <p:cNvSpPr txBox="1"/>
          <p:nvPr/>
        </p:nvSpPr>
        <p:spPr>
          <a:xfrm>
            <a:off x="7112000" y="21844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hours watched come from recommendations, not search (Netflix executives, ACM paper)</a:t>
            </a:r>
            <a:endParaRPr lang="en-US" sz="1200" noProof="1"/>
          </a:p>
        </p:txBody>
      </p:sp>
      <p:sp>
        <p:nvSpPr>
          <p:cNvPr id="7" name="st2-num"/>
          <p:cNvSpPr txBox="1"/>
          <p:nvPr/>
        </p:nvSpPr>
        <p:spPr>
          <a:xfrm>
            <a:off x="7112000" y="2870200"/>
            <a:ext cx="4368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600" noProof="1">
                <a:solidFill>
                  <a:srgbClr val="BC4B26"/>
                </a:solidFill>
                <a:latin typeface="Unna"/>
                <a:ea typeface="Unna"/>
              </a:rPr>
              <a:t>&gt;$1B/yr</a:t>
            </a:r>
            <a:endParaRPr lang="en-US" sz="4600" noProof="1"/>
          </a:p>
        </p:txBody>
      </p:sp>
      <p:sp>
        <p:nvSpPr>
          <p:cNvPr id="8" name="st2-t"/>
          <p:cNvSpPr txBox="1"/>
          <p:nvPr/>
        </p:nvSpPr>
        <p:spPr>
          <a:xfrm>
            <a:off x="7112000" y="35814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in retained subscriber value attributed to personalisation (churn reduction)</a:t>
            </a:r>
            <a:endParaRPr lang="en-US" sz="1200" noProof="1"/>
          </a:p>
        </p:txBody>
      </p:sp>
      <p:sp>
        <p:nvSpPr>
          <p:cNvPr id="9" name="st3-num"/>
          <p:cNvSpPr txBox="1"/>
          <p:nvPr/>
        </p:nvSpPr>
        <p:spPr>
          <a:xfrm>
            <a:off x="7112000" y="4267200"/>
            <a:ext cx="4368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600" noProof="1">
                <a:solidFill>
                  <a:srgbClr val="BC4B26"/>
                </a:solidFill>
                <a:latin typeface="Unna"/>
                <a:ea typeface="Unna"/>
              </a:rPr>
              <a:t>~16%</a:t>
            </a:r>
            <a:endParaRPr lang="en-US" sz="4600" noProof="1"/>
          </a:p>
        </p:txBody>
      </p:sp>
      <p:sp>
        <p:nvSpPr>
          <p:cNvPr id="10" name="st3-t"/>
          <p:cNvSpPr txBox="1"/>
          <p:nvPr/>
        </p:nvSpPr>
        <p:spPr>
          <a:xfrm>
            <a:off x="7112000" y="4978400"/>
            <a:ext cx="4368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engagement drop under </a:t>
            </a:r>
            <a:r>
              <a:rPr lang="en-US" sz="1200" noProof="1" i="1">
                <a:solidFill>
                  <a:srgbClr val="23272E"/>
                </a:solidFill>
                <a:latin typeface="Quattrocento Sans"/>
                <a:ea typeface="Quattrocento Sans"/>
              </a:rPr>
              <a:t>random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recommendations — causal evidence from a 2024 Netflix study</a:t>
            </a:r>
            <a:endParaRPr lang="en-US" sz="1200" noProof="1"/>
          </a:p>
        </p:txBody>
      </p:sp>
      <p:sp>
        <p:nvSpPr>
          <p:cNvPr id="11" name="link-band"/>
          <p:cNvSpPr/>
          <p:nvPr/>
        </p:nvSpPr>
        <p:spPr>
          <a:xfrm>
            <a:off x="711200" y="4826000"/>
            <a:ext cx="5842000" cy="9652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2" name="link-t"/>
          <p:cNvSpPr txBox="1"/>
          <p:nvPr/>
        </p:nvSpPr>
        <p:spPr>
          <a:xfrm>
            <a:off x="914400" y="4927600"/>
            <a:ext cx="5435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choice-overload link (p15):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with 15,000+ titles, Netflix is the 24-jam table at planetary scale — the recommender's job is to build each viewer a personal 6-jam table. Personalised "Effective Catalog Size" is ~4× better than non-personalised.</a:t>
            </a:r>
            <a:endParaRPr lang="en-US" sz="1150" noProof="1"/>
          </a:p>
        </p:txBody>
      </p:sp>
      <p:sp>
        <p:nvSpPr>
          <p:cNvPr id="13" name="src"/>
          <p:cNvSpPr txBox="1"/>
          <p:nvPr/>
        </p:nvSpPr>
        <p:spPr>
          <a:xfrm>
            <a:off x="711200" y="59436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Gomez-Uribe &amp; Hunt, ACM TMIS, 2015/2016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 (executive-stated figures);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Netflix research, 2024, via Litslink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Marketingino, 2026</a:t>
            </a:r>
            <a:endParaRPr lang="en-US" sz="1000" noProof="1"/>
          </a:p>
        </p:txBody>
      </p:sp>
      <p:sp>
        <p:nvSpPr>
          <p:cNvPr id="14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39</a:t>
            </a:r>
            <a:endParaRPr lang="en-US" sz="950" noProof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COMPANY EXAMPLE · STITCH FIX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Stitch Fix: algorithms shortlist, humans taste-make</a:t>
            </a:r>
            <a:endParaRPr lang="en-US" sz="2600" noProof="1"/>
          </a:p>
        </p:txBody>
      </p:sp>
      <p:sp>
        <p:nvSpPr>
          <p:cNvPr id="4" name="loop1"/>
          <p:cNvSpPr/>
          <p:nvPr/>
        </p:nvSpPr>
        <p:spPr>
          <a:xfrm>
            <a:off x="711200" y="1651000"/>
            <a:ext cx="2540000" cy="1066800"/>
          </a:xfrm>
          <a:prstGeom prst="homePlate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5" name="loop1-t"/>
          <p:cNvSpPr txBox="1"/>
          <p:nvPr/>
        </p:nvSpPr>
        <p:spPr>
          <a:xfrm>
            <a:off x="863600" y="1752600"/>
            <a:ext cx="20828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b="1">
                <a:solidFill>
                  <a:srgbClr val="23272E"/>
                </a:solidFill>
                <a:latin typeface="Quattrocento Sans"/>
                <a:ea typeface="Quattrocento Sans"/>
              </a:rPr>
              <a:t>1 · STYLE QUIZ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85+ data points at signup — zero-party data by design</a:t>
            </a:r>
            <a:endParaRPr lang="en-US" sz="1050" noProof="1"/>
          </a:p>
        </p:txBody>
      </p:sp>
      <p:sp>
        <p:nvSpPr>
          <p:cNvPr id="6" name="loop2"/>
          <p:cNvSpPr/>
          <p:nvPr/>
        </p:nvSpPr>
        <p:spPr>
          <a:xfrm>
            <a:off x="3454400" y="1651000"/>
            <a:ext cx="2540000" cy="1066800"/>
          </a:xfrm>
          <a:prstGeom prst="chevron">
            <a:avLst>
              <a:gd name="adj" fmla="val 25000"/>
            </a:avLst>
          </a:prstGeom>
          <a:solidFill>
            <a:srgbClr val="E2ECE8"/>
          </a:solidFill>
          <a:ln>
            <a:noFill/>
          </a:ln>
        </p:spPr>
      </p:sp>
      <p:sp>
        <p:nvSpPr>
          <p:cNvPr id="7" name="loop2-t"/>
          <p:cNvSpPr txBox="1"/>
          <p:nvPr/>
        </p:nvSpPr>
        <p:spPr>
          <a:xfrm>
            <a:off x="3886200" y="1752600"/>
            <a:ext cx="1879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b="1">
                <a:solidFill>
                  <a:srgbClr val="23272E"/>
                </a:solidFill>
                <a:latin typeface="Quattrocento Sans"/>
                <a:ea typeface="Quattrocento Sans"/>
              </a:rPr>
              <a:t>2 · ALGORITHM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ranks inventory per client — breadth and probability</a:t>
            </a:r>
            <a:endParaRPr lang="en-US" sz="1050" noProof="1"/>
          </a:p>
        </p:txBody>
      </p:sp>
      <p:sp>
        <p:nvSpPr>
          <p:cNvPr id="8" name="loop3"/>
          <p:cNvSpPr/>
          <p:nvPr/>
        </p:nvSpPr>
        <p:spPr>
          <a:xfrm>
            <a:off x="6197600" y="1651000"/>
            <a:ext cx="2540000" cy="1066800"/>
          </a:xfrm>
          <a:prstGeom prst="chevron">
            <a:avLst>
              <a:gd name="adj" fmla="val 25000"/>
            </a:avLst>
          </a:prstGeom>
          <a:solidFill>
            <a:srgbClr val="E2ECE8"/>
          </a:solidFill>
          <a:ln>
            <a:noFill/>
          </a:ln>
        </p:spPr>
      </p:sp>
      <p:sp>
        <p:nvSpPr>
          <p:cNvPr id="9" name="loop3-t"/>
          <p:cNvSpPr txBox="1"/>
          <p:nvPr/>
        </p:nvSpPr>
        <p:spPr>
          <a:xfrm>
            <a:off x="6629400" y="1752600"/>
            <a:ext cx="1879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b="1">
                <a:solidFill>
                  <a:srgbClr val="23272E"/>
                </a:solidFill>
                <a:latin typeface="Quattrocento Sans"/>
                <a:ea typeface="Quattrocento Sans"/>
              </a:rPr>
              <a:t>3 · HUMAN STYLIST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23272E"/>
                </a:solidFill>
                <a:latin typeface="Quattrocento Sans"/>
                <a:ea typeface="Quattrocento Sans"/>
              </a:rPr>
              <a:t>picks the final 5 items — context and taste</a:t>
            </a:r>
            <a:endParaRPr lang="en-US" sz="1050" noProof="1"/>
          </a:p>
        </p:txBody>
      </p:sp>
      <p:sp>
        <p:nvSpPr>
          <p:cNvPr id="10" name="loop4"/>
          <p:cNvSpPr/>
          <p:nvPr/>
        </p:nvSpPr>
        <p:spPr>
          <a:xfrm>
            <a:off x="8940800" y="1651000"/>
            <a:ext cx="2540000" cy="1066800"/>
          </a:xfrm>
          <a:prstGeom prst="chevron">
            <a:avLst>
              <a:gd name="adj" fmla="val 25000"/>
            </a:avLst>
          </a:prstGeom>
          <a:solidFill>
            <a:srgbClr val="175E54"/>
          </a:solidFill>
          <a:ln>
            <a:noFill/>
          </a:ln>
        </p:spPr>
      </p:sp>
      <p:sp>
        <p:nvSpPr>
          <p:cNvPr id="11" name="loop4-t"/>
          <p:cNvSpPr txBox="1"/>
          <p:nvPr/>
        </p:nvSpPr>
        <p:spPr>
          <a:xfrm>
            <a:off x="9372600" y="1752600"/>
            <a:ext cx="18796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1050" noProof="1" b="1">
                <a:solidFill>
                  <a:srgbClr val="FFFFFF"/>
                </a:solidFill>
                <a:latin typeface="Quattrocento Sans"/>
                <a:ea typeface="Quattrocento Sans"/>
              </a:rPr>
              <a:t>4 · FEEDBACK</a:t>
            </a:r>
            <a:endParaRPr lang="en-US" sz="1050" noProof="1"/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sz="1050" noProof="1">
                <a:solidFill>
                  <a:srgbClr val="FFFFFF"/>
                </a:solidFill>
                <a:latin typeface="Quattrocento Sans"/>
                <a:ea typeface="Quattrocento Sans"/>
              </a:rPr>
              <a:t>returns, Style Shuffle, Fix notes retrain the models</a:t>
            </a:r>
            <a:endParaRPr lang="en-US" sz="1050" noProof="1"/>
          </a:p>
        </p:txBody>
      </p:sp>
      <p:sp>
        <p:nvSpPr>
          <p:cNvPr id="12" name="loop-arrow"/>
          <p:cNvSpPr/>
          <p:nvPr>
            <p:extLst>
              <p:ext uri="{F5677B7D-0D2A-4D9B-9A5C-6D8D7D0E5A5D}">
                <pptd:line encoding="base64url">eyJ2aWV3Qm94IjpbNjQ4LDQwXSwicG9pbnRzIjoiNjQ4LDAgMzI0LDQwIDAsMCIsImN1cnZlIjoicm91bmQifQ</pptd:line>
              </p:ext>
            </p:extLst>
          </p:nvPr>
        </p:nvSpPr>
        <p:spPr>
          <a:xfrm>
            <a:off x="1981200" y="2844800"/>
            <a:ext cx="8229600" cy="508000"/>
          </a:xfrm>
          <a:custGeom>
            <a:avLst/>
            <a:gdLst/>
            <a:ahLst/>
            <a:cxnLst/>
            <a:rect l="l" t="t" r="r" b="b"/>
            <a:pathLst>
              <a:path w="648" h="40">
                <a:moveTo>
                  <a:pt x="648" y="0"/>
                </a:moveTo>
                <a:lnTo>
                  <a:pt x="336" y="39"/>
                </a:lnTo>
                <a:quadBezTo>
                  <a:pt x="324" y="40"/>
                  <a:pt x="312" y="39"/>
                </a:quadBez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C09A3E"/>
            </a:solidFill>
            <a:prstDash val="dash"/>
            <a:round/>
            <a:tailEnd type="stealth"/>
          </a:ln>
        </p:spPr>
      </p:sp>
      <p:sp>
        <p:nvSpPr>
          <p:cNvPr id="13" name="loop-label"/>
          <p:cNvSpPr txBox="1"/>
          <p:nvPr/>
        </p:nvSpPr>
        <p:spPr>
          <a:xfrm>
            <a:off x="3556000" y="3429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 i="1">
                <a:solidFill>
                  <a:srgbClr val="C09A3E"/>
                </a:solidFill>
                <a:latin typeface="Quattrocento Sans"/>
                <a:ea typeface="Quattrocento Sans"/>
              </a:rPr>
              <a:t>the honest hybrid — algorithms for breadth, humans for context</a:t>
            </a:r>
            <a:endParaRPr lang="en-US" sz="1050" noProof="1"/>
          </a:p>
        </p:txBody>
      </p:sp>
      <p:sp>
        <p:nvSpPr>
          <p:cNvPr id="14" name="st1-num"/>
          <p:cNvSpPr txBox="1"/>
          <p:nvPr/>
        </p:nvSpPr>
        <p:spPr>
          <a:xfrm>
            <a:off x="711200" y="3759200"/>
            <a:ext cx="254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>
                <a:solidFill>
                  <a:srgbClr val="BC4B26"/>
                </a:solidFill>
                <a:latin typeface="Unna"/>
                <a:ea typeface="Unna"/>
              </a:rPr>
              <a:t>83–86%</a:t>
            </a:r>
            <a:endParaRPr lang="en-US" sz="3800" noProof="1"/>
          </a:p>
        </p:txBody>
      </p:sp>
      <p:sp>
        <p:nvSpPr>
          <p:cNvPr id="15" name="st1-t"/>
          <p:cNvSpPr txBox="1"/>
          <p:nvPr/>
        </p:nvSpPr>
        <p:spPr>
          <a:xfrm>
            <a:off x="711200" y="43434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repeat purchase rates in 2016–17; ~70% ordered a second Fix within 90 days</a:t>
            </a:r>
            <a:endParaRPr lang="en-US" sz="1100" noProof="1"/>
          </a:p>
        </p:txBody>
      </p:sp>
      <p:sp>
        <p:nvSpPr>
          <p:cNvPr id="16" name="st2-num"/>
          <p:cNvSpPr txBox="1"/>
          <p:nvPr/>
        </p:nvSpPr>
        <p:spPr>
          <a:xfrm>
            <a:off x="3810000" y="37592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3800" noProof="1">
                <a:solidFill>
                  <a:srgbClr val="BC4B26"/>
                </a:solidFill>
                <a:latin typeface="Unna"/>
                <a:ea typeface="Unna"/>
              </a:rPr>
              <a:t>0.3M → 2.2M</a:t>
            </a:r>
            <a:endParaRPr lang="en-US" sz="3800" noProof="1"/>
          </a:p>
        </p:txBody>
      </p:sp>
      <p:sp>
        <p:nvSpPr>
          <p:cNvPr id="17" name="st2-t"/>
          <p:cNvSpPr txBox="1"/>
          <p:nvPr/>
        </p:nvSpPr>
        <p:spPr>
          <a:xfrm>
            <a:off x="3810000" y="4343400"/>
            <a:ext cx="2794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active clients, 2014 → 2017 IPO — with marketing at only 3–7% of revenue</a:t>
            </a:r>
            <a:endParaRPr lang="en-US" sz="1100" noProof="1"/>
          </a:p>
        </p:txBody>
      </p:sp>
      <p:sp>
        <p:nvSpPr>
          <p:cNvPr id="18" name="st3-num"/>
          <p:cNvSpPr txBox="1"/>
          <p:nvPr/>
        </p:nvSpPr>
        <p:spPr>
          <a:xfrm>
            <a:off x="7162800" y="3759200"/>
            <a:ext cx="431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3800" noProof="1">
                <a:solidFill>
                  <a:srgbClr val="BC4B26"/>
                </a:solidFill>
                <a:latin typeface="Unna"/>
                <a:ea typeface="Unna"/>
              </a:rPr>
              <a:t>4M+</a:t>
            </a:r>
            <a:endParaRPr lang="en-US" sz="3800" noProof="1"/>
          </a:p>
        </p:txBody>
      </p:sp>
      <p:sp>
        <p:nvSpPr>
          <p:cNvPr id="19" name="st3-t"/>
          <p:cNvSpPr txBox="1"/>
          <p:nvPr/>
        </p:nvSpPr>
        <p:spPr>
          <a:xfrm>
            <a:off x="7162800" y="43434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clients at peak (2021–22); data also drives private-label design and demand forecasting</a:t>
            </a:r>
            <a:endParaRPr lang="en-US" sz="1100" noProof="1"/>
          </a:p>
        </p:txBody>
      </p:sp>
      <p:sp>
        <p:nvSpPr>
          <p:cNvPr id="20" name="caution-band"/>
          <p:cNvSpPr/>
          <p:nvPr/>
        </p:nvSpPr>
        <p:spPr>
          <a:xfrm>
            <a:off x="711200" y="5283200"/>
            <a:ext cx="10769600" cy="6604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21" name="caution-t"/>
          <p:cNvSpPr txBox="1"/>
          <p:nvPr/>
        </p:nvSpPr>
        <p:spPr>
          <a:xfrm>
            <a:off x="914400" y="5384800"/>
            <a:ext cx="103632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Also a cautionary tale: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client numbers declined after 2022 — personalisation is a capability, not a guarantee of growth. The model still needs merchandise, economics, and trust.</a:t>
            </a:r>
            <a:endParaRPr lang="en-US" sz="1150" noProof="1"/>
          </a:p>
        </p:txBody>
      </p:sp>
      <p:sp>
        <p:nvSpPr>
          <p:cNvPr id="22" name="src"/>
          <p:cNvSpPr txBox="1"/>
          <p:nvPr/>
        </p:nvSpPr>
        <p:spPr>
          <a:xfrm>
            <a:off x="711200" y="6070600"/>
            <a:ext cx="10769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Stitch Fix Newsroom, 2022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Goodwater Capital analysis of the Stitch Fix S-1, 2017</a:t>
            </a:r>
            <a:endParaRPr lang="en-US" sz="1000" noProof="1"/>
          </a:p>
        </p:txBody>
      </p:sp>
      <p:sp>
        <p:nvSpPr>
          <p:cNvPr id="23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26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40</a:t>
            </a:r>
            <a:endParaRPr lang="en-US" sz="950" noProof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PREVIEW · AGENTIC COMMERCE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When agents shop for you, brands compete to be chosen by machines</a:t>
            </a:r>
            <a:endParaRPr lang="en-US" sz="2600" noProof="1"/>
          </a:p>
        </p:txBody>
      </p:sp>
      <p:sp>
        <p:nvSpPr>
          <p:cNvPr id="4" name="left-text"/>
          <p:cNvSpPr txBox="1"/>
          <p:nvPr/>
        </p:nvSpPr>
        <p:spPr>
          <a:xfrm>
            <a:off x="711200" y="1473200"/>
            <a:ext cx="5715000" cy="330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What changes when AI agents do the shopping:</a:t>
            </a:r>
            <a:endParaRPr lang="en-US" sz="1250" noProof="1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Delegation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agents interpret goals, search, compare, and (with permission) transact; the shopper supervises instead of browsing.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The journey compresses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awareness, evaluation, and purchase happen inside one conversation.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Brands optimise for machines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— </a:t>
            </a:r>
            <a:r>
              <a:rPr lang="en-US" sz="1250" noProof="1" b="1">
                <a:solidFill>
                  <a:srgbClr val="23272E"/>
                </a:solidFill>
                <a:latin typeface="Quattrocento Sans"/>
                <a:ea typeface="Quattrocento Sans"/>
              </a:rPr>
              <a:t>Answer Engine Optimisation (AEO)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: structured product data, reviews, and feeds so assistants correctly surface and represent the brand. The agentic-era successor to SEO.</a:t>
            </a:r>
            <a:endParaRPr lang="en-US" sz="1250" noProof="1"/>
          </a:p>
        </p:txBody>
      </p:sp>
      <p:sp>
        <p:nvSpPr>
          <p:cNvPr id="5" name="st1-num"/>
          <p:cNvSpPr txBox="1"/>
          <p:nvPr/>
        </p:nvSpPr>
        <p:spPr>
          <a:xfrm>
            <a:off x="7112000" y="1524000"/>
            <a:ext cx="4368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BC4B26"/>
                </a:solidFill>
                <a:latin typeface="Unna"/>
                <a:ea typeface="Unna"/>
              </a:rPr>
              <a:t>+1,324%</a:t>
            </a:r>
            <a:endParaRPr lang="en-US" sz="4200" noProof="1"/>
          </a:p>
        </p:txBody>
      </p:sp>
      <p:sp>
        <p:nvSpPr>
          <p:cNvPr id="6" name="st1-t"/>
          <p:cNvSpPr txBox="1"/>
          <p:nvPr/>
        </p:nvSpPr>
        <p:spPr>
          <a:xfrm>
            <a:off x="7112000" y="2209800"/>
            <a:ext cx="4368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growth in AI-referred traffic to US retail sites since Oct 2024 — and that traffic now converts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54% better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than other traffic (May 2026)</a:t>
            </a:r>
            <a:endParaRPr lang="en-US" sz="1200" noProof="1"/>
          </a:p>
        </p:txBody>
      </p:sp>
      <p:sp>
        <p:nvSpPr>
          <p:cNvPr id="7" name="st2-num"/>
          <p:cNvSpPr txBox="1"/>
          <p:nvPr/>
        </p:nvSpPr>
        <p:spPr>
          <a:xfrm>
            <a:off x="7112000" y="3200400"/>
            <a:ext cx="4368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4200" noProof="1">
                <a:solidFill>
                  <a:srgbClr val="BC4B26"/>
                </a:solidFill>
                <a:latin typeface="Unna"/>
                <a:ea typeface="Unna"/>
              </a:rPr>
              <a:t>33%</a:t>
            </a:r>
            <a:endParaRPr lang="en-US" sz="4200" noProof="1"/>
          </a:p>
        </p:txBody>
      </p:sp>
      <p:sp>
        <p:nvSpPr>
          <p:cNvPr id="8" name="st2-t"/>
          <p:cNvSpPr txBox="1"/>
          <p:nvPr/>
        </p:nvSpPr>
        <p:spPr>
          <a:xfrm>
            <a:off x="7112000" y="3886200"/>
            <a:ext cx="4368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of enterprise software will include agentic AI by 2028, up from </a:t>
            </a:r>
            <a:endParaRPr lang="en-US" sz="1200" noProof="1"/>
          </a:p>
        </p:txBody>
      </p:sp>
      <p:sp>
        <p:nvSpPr>
          <p:cNvPr id="9" name="counter"/>
          <p:cNvSpPr txBox="1"/>
          <p:nvPr/>
        </p:nvSpPr>
        <p:spPr>
          <a:xfrm>
            <a:off x="7112000" y="4851400"/>
            <a:ext cx="43688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r">
              <a:lnSpc>
                <a:spcPct val="135000"/>
              </a:lnSpc>
            </a:pPr>
            <a:r>
              <a:rPr lang="en-US" sz="1100" noProof="1" b="1">
                <a:solidFill>
                  <a:srgbClr val="6E675C"/>
                </a:solidFill>
                <a:latin typeface="Quattrocento Sans"/>
                <a:ea typeface="Quattrocento Sans"/>
              </a:rPr>
              <a:t>Counterpoint for balance:</a:t>
            </a:r>
            <a:r>
              <a:rPr lang="en-US" sz="1100" noProof="1">
                <a:solidFill>
                  <a:srgbClr val="6E675C"/>
                </a:solidFill>
                <a:latin typeface="Quattrocento Sans"/>
                <a:ea typeface="Quattrocento Sans"/>
              </a:rPr>
              <a:t> Gartner also predicts &gt;40% of agentic AI projects will be cancelled by end-2027 over cost, value, and risk.</a:t>
            </a:r>
            <a:endParaRPr lang="en-US" sz="1100" noProof="1"/>
          </a:p>
        </p:txBody>
      </p:sp>
      <p:sp>
        <p:nvSpPr>
          <p:cNvPr id="10" name="bridge-band"/>
          <p:cNvSpPr/>
          <p:nvPr/>
        </p:nvSpPr>
        <p:spPr>
          <a:xfrm>
            <a:off x="711200" y="5029200"/>
            <a:ext cx="5842000" cy="8128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1" name="bridge-t"/>
          <p:cNvSpPr txBox="1"/>
          <p:nvPr/>
        </p:nvSpPr>
        <p:spPr>
          <a:xfrm>
            <a:off x="914400" y="5130800"/>
            <a:ext cx="5435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Preview of Week 3:</a:t>
            </a: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 we take one company apart piece by piece — full case-study session — and add voice search to the picture.</a:t>
            </a:r>
            <a:endParaRPr lang="en-US" sz="1150" noProof="1"/>
          </a:p>
        </p:txBody>
      </p:sp>
      <p:sp>
        <p:nvSpPr>
          <p:cNvPr id="12" name="src"/>
          <p:cNvSpPr txBox="1"/>
          <p:nvPr/>
        </p:nvSpPr>
        <p:spPr>
          <a:xfrm>
            <a:off x="711200" y="5994400"/>
            <a:ext cx="10769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Sources: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Adobe Analytics via Digital Commerce 360, 2026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Gartner via MarketScale, 2024–25</a:t>
            </a:r>
            <a:r>
              <a:rPr lang="en-US" sz="1000" noProof="1">
                <a:solidFill>
                  <a:srgbClr val="9A9284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Gartner cancellation forecast via fwdslash, 2025</a:t>
            </a:r>
            <a:endParaRPr lang="en-US" sz="1000" noProof="1"/>
          </a:p>
        </p:txBody>
      </p:sp>
      <p:sp>
        <p:nvSpPr>
          <p:cNvPr id="13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41</a:t>
            </a:r>
            <a:endParaRPr lang="en-US" sz="950" noProof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DISCUSSION + ACTIVITY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Activity: design the next-best-action for Nimbus Coffee</a:t>
            </a:r>
            <a:endParaRPr lang="en-US" sz="2600" noProof="1"/>
          </a:p>
        </p:txBody>
      </p:sp>
      <p:sp>
        <p:nvSpPr>
          <p:cNvPr id="4" name="zone"/>
          <p:cNvSpPr/>
          <p:nvPr/>
        </p:nvSpPr>
        <p:spPr>
          <a:xfrm>
            <a:off x="711200" y="1371600"/>
            <a:ext cx="10769600" cy="4775200"/>
          </a:xfrm>
          <a:prstGeom prst="rect">
            <a:avLst/>
          </a:prstGeom>
          <a:solidFill>
            <a:srgbClr val="F6E7DE"/>
          </a:solidFill>
          <a:ln>
            <a:noFill/>
          </a:ln>
        </p:spPr>
      </p:sp>
      <p:sp>
        <p:nvSpPr>
          <p:cNvPr id="5" name="scen-label"/>
          <p:cNvSpPr txBox="1"/>
          <p:nvPr/>
        </p:nvSpPr>
        <p:spPr>
          <a:xfrm>
            <a:off x="965200" y="14986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PRACTICE SCENARIO</a:t>
            </a:r>
            <a:endParaRPr lang="en-US" sz="1050" noProof="1"/>
          </a:p>
        </p:txBody>
      </p:sp>
      <p:sp>
        <p:nvSpPr>
          <p:cNvPr id="6" name="scen"/>
          <p:cNvSpPr txBox="1"/>
          <p:nvPr/>
        </p:nvSpPr>
        <p:spPr>
          <a:xfrm>
            <a:off x="965200" y="1752600"/>
            <a:ext cx="6096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Nimbus Coffee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— a D2C subscription roaster. Customer file: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Maya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.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· 2 past orders: dark roast, whole bean · usual cycle 30 days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· No purchase in 45 days (lapsed)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· Opened the last email but didn't click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· Visited the site twice this week; viewed the subscriptions page</a:t>
            </a:r>
            <a:endParaRPr lang="en-US" sz="1200" noProof="1"/>
          </a:p>
        </p:txBody>
      </p:sp>
      <p:sp>
        <p:nvSpPr>
          <p:cNvPr id="7" name="task"/>
          <p:cNvSpPr txBox="1"/>
          <p:nvPr/>
        </p:nvSpPr>
        <p:spPr>
          <a:xfrm>
            <a:off x="7366000" y="1752600"/>
            <a:ext cx="38608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Your task — choose ONE next-best-action: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recommend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a product ·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offer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an incentive ·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educate</a:t>
            </a: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 with content · or </a:t>
            </a:r>
            <a:r>
              <a:rPr lang="en-US" sz="1200" noProof="1" b="1">
                <a:solidFill>
                  <a:srgbClr val="23272E"/>
                </a:solidFill>
                <a:latin typeface="Quattrocento Sans"/>
                <a:ea typeface="Quattrocento Sans"/>
              </a:rPr>
              <a:t>stay silent</a:t>
            </a:r>
            <a:endParaRPr lang="en-US" sz="1200" noProof="1"/>
          </a:p>
          <a:p>
            <a:pPr>
              <a:lnSpc>
                <a:spcPct val="145000"/>
              </a:lnSpc>
              <a:spcBef>
                <a:spcPts val="500"/>
              </a:spcBef>
            </a:pPr>
            <a:r>
              <a:rPr lang="en-US" sz="1200" noProof="1">
                <a:solidFill>
                  <a:srgbClr val="23272E"/>
                </a:solidFill>
                <a:latin typeface="Quattrocento Sans"/>
                <a:ea typeface="Quattrocento Sans"/>
              </a:rPr>
              <a:t>Specify: trigger · channel · message · privacy guardrail · success metric.</a:t>
            </a:r>
            <a:endParaRPr lang="en-US" sz="1200" noProof="1"/>
          </a:p>
        </p:txBody>
      </p:sp>
      <p:sp>
        <p:nvSpPr>
          <p:cNvPr id="8" name="zone-rule"/>
          <p:cNvSpPr/>
          <p:nvPr/>
        </p:nvSpPr>
        <p:spPr>
          <a:xfrm>
            <a:off x="965200" y="3810000"/>
            <a:ext cx="10261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9" name="steps"/>
          <p:cNvSpPr txBox="1"/>
          <p:nvPr/>
        </p:nvSpPr>
        <p:spPr>
          <a:xfrm>
            <a:off x="965200" y="3987800"/>
            <a:ext cx="60960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Working steps — teams of 3, 20 minutes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1 · Diagnose with Fogg: which failed — motivation, ability, or prompt? What does each signal in her file suggest?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2 · Pick the action and defend it with propensity logic: which signal points toward your choice?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3 · Write the actual message, one privacy guardrail (would she be surprised we know this?), and the metric that proves it worked.</a:t>
            </a:r>
            <a:endParaRPr lang="en-US" sz="1150" noProof="1"/>
          </a:p>
        </p:txBody>
      </p:sp>
      <p:sp>
        <p:nvSpPr>
          <p:cNvPr id="10" name="criteria"/>
          <p:cNvSpPr txBox="1"/>
          <p:nvPr/>
        </p:nvSpPr>
        <p:spPr>
          <a:xfrm>
            <a:off x="7366000" y="3987800"/>
            <a:ext cx="38608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 b="1">
                <a:solidFill>
                  <a:srgbClr val="23272E"/>
                </a:solidFill>
                <a:latin typeface="Quattrocento Sans"/>
                <a:ea typeface="Quattrocento Sans"/>
              </a:rPr>
              <a:t>Completion criteria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One action chosen and defended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Trigger + channel + message written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One privacy guardrail stated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One success metric defined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23272E"/>
                </a:solidFill>
                <a:latin typeface="Quattrocento Sans"/>
                <a:ea typeface="Quattrocento Sans"/>
              </a:rPr>
              <a:t>· 60-second pitch to the class</a:t>
            </a:r>
            <a:endParaRPr lang="en-US" sz="1150" noProof="1"/>
          </a:p>
        </p:txBody>
      </p:sp>
      <p:sp>
        <p:nvSpPr>
          <p:cNvPr id="11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42</a:t>
            </a:r>
            <a:endParaRPr lang="en-US" sz="950" noProof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SUMMARY · SESSION B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Session B takeaways: predict precisely, but keep the shopper's trust</a:t>
            </a:r>
            <a:endParaRPr lang="en-US" sz="2600" noProof="1"/>
          </a:p>
        </p:txBody>
      </p:sp>
      <p:sp>
        <p:nvSpPr>
          <p:cNvPr id="4" name="tk1"/>
          <p:cNvSpPr txBox="1"/>
          <p:nvPr/>
        </p:nvSpPr>
        <p:spPr>
          <a:xfrm>
            <a:off x="711200" y="14224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1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The maturity model is a staircase, not a switch.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Segment → 1:1 rules → predictive → agentic; each stage funds the next stage's data, and the moat is the flywheel, not the algorithm.</a:t>
            </a:r>
            <a:endParaRPr lang="en-US" sz="1300" noProof="1"/>
          </a:p>
        </p:txBody>
      </p:sp>
      <p:sp>
        <p:nvSpPr>
          <p:cNvPr id="5" name="tk2"/>
          <p:cNvSpPr txBox="1"/>
          <p:nvPr/>
        </p:nvSpPr>
        <p:spPr>
          <a:xfrm>
            <a:off x="711200" y="21336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2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Recommenders think two ways.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Collaborative ("people like you") vs content-based ("similar to what you liked"); hybrid wins, and cold start is a data problem with known mitigations — quizzes, fallbacks, feedback games.</a:t>
            </a:r>
            <a:endParaRPr lang="en-US" sz="1300" noProof="1"/>
          </a:p>
        </p:txBody>
      </p:sp>
      <p:sp>
        <p:nvSpPr>
          <p:cNvPr id="6" name="tk3"/>
          <p:cNvSpPr txBox="1"/>
          <p:nvPr/>
        </p:nvSpPr>
        <p:spPr>
          <a:xfrm>
            <a:off x="711200" y="28448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3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Personalisation is expected and it pays — measured honestly.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71% expect it; typical lift is 10–15%; but Amazon's "35%" is a 2013 estimate and holdout-tested lift is often 5–15%. Attribution ≠ causation.</a:t>
            </a:r>
            <a:endParaRPr lang="en-US" sz="1300" noProof="1"/>
          </a:p>
        </p:txBody>
      </p:sp>
      <p:sp>
        <p:nvSpPr>
          <p:cNvPr id="7" name="tk4"/>
          <p:cNvSpPr txBox="1"/>
          <p:nvPr/>
        </p:nvSpPr>
        <p:spPr>
          <a:xfrm>
            <a:off x="711200" y="35560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4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Privacy is the binding constraint.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Value exchange must be explicit, immediate, and proportionate; prefer zero/first-party data; make transparency a feature, not a disclaimer.</a:t>
            </a:r>
            <a:endParaRPr lang="en-US" sz="1300" noProof="1"/>
          </a:p>
        </p:txBody>
      </p:sp>
      <p:sp>
        <p:nvSpPr>
          <p:cNvPr id="8" name="tk5"/>
          <p:cNvSpPr txBox="1"/>
          <p:nvPr/>
        </p:nvSpPr>
        <p:spPr>
          <a:xfrm>
            <a:off x="711200" y="4267200"/>
            <a:ext cx="10769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 b="1">
                <a:solidFill>
                  <a:srgbClr val="BC4B26"/>
                </a:solidFill>
                <a:latin typeface="Quattrocento Sans"/>
                <a:ea typeface="Quattrocento Sans"/>
              </a:rPr>
              <a:t>5 ·</a:t>
            </a:r>
            <a:r>
              <a:rPr lang="en-US" sz="1300" noProof="1" b="1">
                <a:solidFill>
                  <a:srgbClr val="23272E"/>
                </a:solidFill>
                <a:latin typeface="Quattrocento Sans"/>
                <a:ea typeface="Quattrocento Sans"/>
              </a:rPr>
              <a:t> Agents are the next interface.</a:t>
            </a:r>
            <a:r>
              <a:rPr lang="en-US" sz="1300" noProof="1">
                <a:solidFill>
                  <a:srgbClr val="23272E"/>
                </a:solidFill>
                <a:latin typeface="Quattrocento Sans"/>
                <a:ea typeface="Quattrocento Sans"/>
              </a:rPr>
              <a:t> When AI shops on the shopper's behalf, brands compete to be chosen by machines — AEO is the new SEO.</a:t>
            </a:r>
            <a:endParaRPr lang="en-US" sz="1300" noProof="1"/>
          </a:p>
        </p:txBody>
      </p:sp>
      <p:sp>
        <p:nvSpPr>
          <p:cNvPr id="9" name="bridge-band"/>
          <p:cNvSpPr/>
          <p:nvPr/>
        </p:nvSpPr>
        <p:spPr>
          <a:xfrm>
            <a:off x="711200" y="5105400"/>
            <a:ext cx="10769600" cy="838200"/>
          </a:xfrm>
          <a:prstGeom prst="rect">
            <a:avLst/>
          </a:prstGeom>
          <a:solidFill>
            <a:srgbClr val="E2ECE8"/>
          </a:solidFill>
          <a:ln>
            <a:noFill/>
          </a:ln>
        </p:spPr>
      </p:sp>
      <p:sp>
        <p:nvSpPr>
          <p:cNvPr id="10" name="bridge-t"/>
          <p:cNvSpPr txBox="1"/>
          <p:nvPr/>
        </p:nvSpPr>
        <p:spPr>
          <a:xfrm>
            <a:off x="914400" y="5207000"/>
            <a:ext cx="103632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50" noProof="1" b="1">
                <a:solidFill>
                  <a:srgbClr val="175E54"/>
                </a:solidFill>
                <a:latin typeface="Quattrocento Sans"/>
                <a:ea typeface="Quattrocento Sans"/>
              </a:rPr>
              <a:t>Bridge to Week 3 —</a:t>
            </a:r>
            <a:r>
              <a:rPr lang="en-US" sz="1250" noProof="1">
                <a:solidFill>
                  <a:srgbClr val="23272E"/>
                </a:solidFill>
                <a:latin typeface="Quattrocento Sans"/>
                <a:ea typeface="Quattrocento Sans"/>
              </a:rPr>
              <a:t> next week we slow down and take one company apart piece by piece: a full case-study session on AI personalisation in production — plus voice search and where conversational commerce goes next.</a:t>
            </a:r>
            <a:endParaRPr lang="en-US" sz="1250" noProof="1"/>
          </a:p>
        </p:txBody>
      </p:sp>
      <p:sp>
        <p:nvSpPr>
          <p:cNvPr id="11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2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3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4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43</a:t>
            </a:r>
            <a:endParaRPr lang="en-US" sz="950" noProof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11200" y="4318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 spc="200" kern="0">
                <a:solidFill>
                  <a:srgbClr val="BC4B26"/>
                </a:solidFill>
                <a:latin typeface="Quattrocento Sans"/>
                <a:ea typeface="Quattrocento Sans"/>
              </a:rPr>
              <a:t>REFERENCES · WEEK 2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711200" y="660400"/>
            <a:ext cx="1076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15000"/>
              </a:lnSpc>
            </a:pPr>
            <a:r>
              <a:rPr lang="en-US" sz="2600" noProof="1">
                <a:solidFill>
                  <a:srgbClr val="23272E"/>
                </a:solidFill>
                <a:latin typeface="Unna"/>
                <a:ea typeface="Unna"/>
              </a:rPr>
              <a:t>Sources: every number on these slides, traceable</a:t>
            </a:r>
            <a:endParaRPr lang="en-US" sz="2600" noProof="1"/>
          </a:p>
        </p:txBody>
      </p:sp>
      <p:sp>
        <p:nvSpPr>
          <p:cNvPr id="4" name="colL-head1"/>
          <p:cNvSpPr txBox="1"/>
          <p:nvPr/>
        </p:nvSpPr>
        <p:spPr>
          <a:xfrm>
            <a:off x="711200" y="13716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75E54"/>
                </a:solidFill>
                <a:latin typeface="Quattrocento Sans"/>
                <a:ea typeface="Quattrocento Sans"/>
              </a:rPr>
              <a:t>FRAMEWORKS &amp; THEORY</a:t>
            </a:r>
            <a:endParaRPr lang="en-US" sz="1150" noProof="1"/>
          </a:p>
        </p:txBody>
      </p:sp>
      <p:sp>
        <p:nvSpPr>
          <p:cNvPr id="5" name="colL-1"/>
          <p:cNvSpPr txBox="1"/>
          <p:nvPr/>
        </p:nvSpPr>
        <p:spPr>
          <a:xfrm>
            <a:off x="711200" y="1625600"/>
            <a:ext cx="53340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Court, Elzinga, Mulder &amp; Vetvik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2"/>
              </a:rPr>
              <a:t>The Consumer Decision Journey, McKinsey Quarterly, 2009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Ramaswamy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"/>
              </a:rPr>
              <a:t>Micro-Moments, Think with Google, 2015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Petty &amp; Cacioppo — Elaboration Likelihood Model, 1986 (book / Adv. Exp. Social Psychology, Vol. 19)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Fogg — B=MAP, "A Behavior Model for Persuasive Design," 2009; Tiny Habits, 2019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Iyengar &amp; Lepper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"/>
              </a:rPr>
              <a:t>jam study, JPSP 2000 (DOI 10.1037/0022-3514.79.6.995)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Scheibehenne et al., JCR 2010; Chernev et al., 2015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Linden, Smith &amp; York — "Amazon.com Recommendations: Item-to-Item Collaborative Filtering," IEEE Internet Computing, 2003 (DOI 10.1109/MIC.2003.1167344)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Gomez-Uribe &amp; Hunt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5"/>
              </a:rPr>
              <a:t>"The Netflix Recommender System," ACM TMIS, 2015/16</a:t>
            </a:r>
            <a:endParaRPr lang="en-US" sz="1000" noProof="1"/>
          </a:p>
        </p:txBody>
      </p:sp>
      <p:sp>
        <p:nvSpPr>
          <p:cNvPr id="6" name="colL-head2"/>
          <p:cNvSpPr txBox="1"/>
          <p:nvPr/>
        </p:nvSpPr>
        <p:spPr>
          <a:xfrm>
            <a:off x="711200" y="40132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75E54"/>
                </a:solidFill>
                <a:latin typeface="Quattrocento Sans"/>
                <a:ea typeface="Quattrocento Sans"/>
              </a:rPr>
              <a:t>COMPANY CASES</a:t>
            </a:r>
            <a:endParaRPr lang="en-US" sz="1150" noProof="1"/>
          </a:p>
        </p:txBody>
      </p:sp>
      <p:sp>
        <p:nvSpPr>
          <p:cNvPr id="7" name="colL-2"/>
          <p:cNvSpPr txBox="1"/>
          <p:nvPr/>
        </p:nvSpPr>
        <p:spPr>
          <a:xfrm>
            <a:off x="711200" y="4267200"/>
            <a:ext cx="53340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6"/>
              </a:rPr>
              <a:t>New America — Amazon case study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(McKinsey 35% estimate, 2013 — never confirmed by Amazon)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7"/>
              </a:rPr>
              <a:t>Kumar, University of Florida, 2018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— holdout-tested recommendation lift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8"/>
              </a:rPr>
              <a:t>Booking.com engineering, arXiv:1710.08217, 2017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9"/>
              </a:rPr>
              <a:t>HBR case via VWO, 2025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10"/>
              </a:rPr>
              <a:t>Stitch Fix Newsroom, 2022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11"/>
              </a:rPr>
              <a:t>Goodwater Capital S-1 analysis, 2017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0"/>
              </a:rPr>
              <a:t>Netflix causal study, 2024, via Litslink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1"/>
              </a:rPr>
              <a:t>Marketingino, 2026</a:t>
            </a:r>
            <a:endParaRPr lang="en-US" sz="1000" noProof="1"/>
          </a:p>
        </p:txBody>
      </p:sp>
      <p:sp>
        <p:nvSpPr>
          <p:cNvPr id="8" name="mid-rule"/>
          <p:cNvSpPr/>
          <p:nvPr/>
        </p:nvSpPr>
        <p:spPr>
          <a:xfrm>
            <a:off x="6248400" y="1371600"/>
            <a:ext cx="12700" cy="48260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9" name="colR-head1"/>
          <p:cNvSpPr txBox="1"/>
          <p:nvPr/>
        </p:nvSpPr>
        <p:spPr>
          <a:xfrm>
            <a:off x="6502400" y="1371600"/>
            <a:ext cx="4978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75E54"/>
                </a:solidFill>
                <a:latin typeface="Quattrocento Sans"/>
                <a:ea typeface="Quattrocento Sans"/>
              </a:rPr>
              <a:t>DATA &amp; INDUSTRY</a:t>
            </a:r>
            <a:endParaRPr lang="en-US" sz="1150" noProof="1"/>
          </a:p>
        </p:txBody>
      </p:sp>
      <p:sp>
        <p:nvSpPr>
          <p:cNvPr id="10" name="colR-1"/>
          <p:cNvSpPr txBox="1"/>
          <p:nvPr/>
        </p:nvSpPr>
        <p:spPr>
          <a:xfrm>
            <a:off x="6502400" y="1625600"/>
            <a:ext cx="4978400" cy="223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2"/>
              </a:rPr>
              <a:t>McKinsey Next in Personalization, 2021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(71% / 76% / 10–15% lift / &gt;$1T)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3"/>
              </a:rPr>
              <a:t>Salesforce Connected Shoppers Report, 2025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Capgemini, 2025 (via Salesforce)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4"/>
              </a:rPr>
              <a:t>Baymard Institute, 2025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— cart abandonment; Google/SOASTA via Think with Google, 2017 (flag: 2017 figure)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5"/>
              </a:rPr>
              <a:t>W3Techs via Amra &amp; Elma, 2026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— GA4 adoption;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6"/>
              </a:rPr>
              <a:t>Hotjar, 2026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7"/>
              </a:rPr>
              <a:t>MarketsandMarkets, 2026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— CDP market;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8"/>
              </a:rPr>
              <a:t>CDP Institute, 2026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39"/>
              </a:rPr>
              <a:t>Adobe Analytics via Digital Commerce 360, 2026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0"/>
              </a:rPr>
              <a:t>Gartner via MarketScale, 2024–25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1"/>
              </a:rPr>
              <a:t>Gartner cancellation forecast via fwdslash, 2025</a:t>
            </a:r>
            <a:endParaRPr lang="en-US" sz="1000" noProof="1"/>
          </a:p>
        </p:txBody>
      </p:sp>
      <p:sp>
        <p:nvSpPr>
          <p:cNvPr id="11" name="colR-head2"/>
          <p:cNvSpPr txBox="1"/>
          <p:nvPr/>
        </p:nvSpPr>
        <p:spPr>
          <a:xfrm>
            <a:off x="6502400" y="4013200"/>
            <a:ext cx="4978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75E54"/>
                </a:solidFill>
                <a:latin typeface="Quattrocento Sans"/>
                <a:ea typeface="Quattrocento Sans"/>
              </a:rPr>
              <a:t>LLM ASSISTANTS &amp; AGENTIC FRONTIER</a:t>
            </a:r>
            <a:endParaRPr lang="en-US" sz="1150" noProof="1"/>
          </a:p>
        </p:txBody>
      </p:sp>
      <p:sp>
        <p:nvSpPr>
          <p:cNvPr id="12" name="colR-2"/>
          <p:cNvSpPr txBox="1"/>
          <p:nvPr/>
        </p:nvSpPr>
        <p:spPr>
          <a:xfrm>
            <a:off x="6502400" y="4267200"/>
            <a:ext cx="49784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Amazon Rufus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2"/>
              </a:rPr>
              <a:t>earnings commentary via Jarvio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3"/>
              </a:rPr>
              <a:t>Sensor Tower panel via Azoma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 (figures flagged as company/analyst estimates)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ChatGPT shopping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4"/>
              </a:rPr>
              <a:t>OpenAI via ALM Corp</a:t>
            </a: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;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5"/>
              </a:rPr>
              <a:t>Darkroom Observatory / Semrush, 2025–26</a:t>
            </a:r>
            <a:endParaRPr lang="en-US" sz="1000" noProof="1"/>
          </a:p>
          <a:p>
            <a:pPr>
              <a:lnSpc>
                <a:spcPct val="145000"/>
              </a:lnSpc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· Perplexity Buy with Pro — </a:t>
            </a:r>
            <a:r>
              <a:rPr lang="en-US" sz="1000" noProof="1" u="sng">
                <a:solidFill>
                  <a:srgbClr val="0563C1"/>
                </a:solidFill>
                <a:latin typeface="Quattrocento Sans"/>
                <a:ea typeface="Quattrocento Sans"/>
                <a:hlinkClick r:id="rId46"/>
              </a:rPr>
              <a:t>Perplexity/TechCrunch via AI Showreel, 2024–26</a:t>
            </a:r>
            <a:endParaRPr lang="en-US" sz="10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23272E"/>
                </a:solidFill>
                <a:latin typeface="Quattrocento Sans"/>
                <a:ea typeface="Quattrocento Sans"/>
              </a:rPr>
              <a:t>Caveat flags honoured throughout: Amazon 35% = 2013 estimate; Rufus figures = company/analyst estimates; the Target pregnancy story is taught as legend, not fact. Full verification notes: research/brief_topics_1_3.md.</a:t>
            </a:r>
            <a:endParaRPr lang="en-US" sz="1000" noProof="1"/>
          </a:p>
        </p:txBody>
      </p:sp>
      <p:sp>
        <p:nvSpPr>
          <p:cNvPr id="13" name="footer-rule"/>
          <p:cNvSpPr/>
          <p:nvPr/>
        </p:nvSpPr>
        <p:spPr>
          <a:xfrm>
            <a:off x="711200" y="6451600"/>
            <a:ext cx="10769600" cy="12700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11200" y="652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Future of Commerce · BBA</a:t>
            </a:r>
            <a:endParaRPr lang="en-US" sz="95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8128000" y="6527800"/>
            <a:ext cx="2692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Week 2 · Session B · Topic 3</a:t>
            </a:r>
            <a:endParaRPr lang="en-US" sz="95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922000" y="65278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9A9284"/>
                </a:solidFill>
                <a:latin typeface="Quattrocento Sans"/>
                <a:ea typeface="Quattrocento Sans"/>
              </a:rPr>
              <a:t>44</a:t>
            </a:r>
            <a:endParaRPr lang="en-US" sz="9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44</Slides>
</Properties>
</file>

<file path=docProps/core.xml><?xml version="1.0" encoding="utf-8"?>
<cp:coreProperties xmlns:dc="http://purl.org/dc/elements/1.1/" xmlns:cp="http://schemas.openxmlformats.org/package/2006/metadata/core-properties">
  <dc:title>Future of Commerce — Week 2: Consumer Behaviour &amp; AI-Personalised Shopping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