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f559d7eb9470c" /><Relationship Type="http://schemas.openxmlformats.org/officeDocument/2006/relationships/extended-properties" Target="/docProps/app.xml" Id="R818e1cfa01dd47ec" /><Relationship Type="http://schemas.openxmlformats.org/officeDocument/2006/relationships/officeDocument" Target="/ppt/presentation.xml" Id="Re4785a1454714239" /></Relationships>
</file>

<file path=ppt/presentation.xml><?xml version="1.0" encoding="utf-8"?>
<p:presentation xmlns:p="http://schemas.openxmlformats.org/presentationml/2006/main">
  <p:sldMasterIdLst>
    <p:sldMasterId xmlns:r="http://schemas.openxmlformats.org/officeDocument/2006/relationships" id="2147483648" r:id="R042ba4dbd4934978"/>
  </p:sldMasterIdLst>
  <p:notesMasterIdLst>
    <p:notesMasterId xmlns:r="http://schemas.openxmlformats.org/officeDocument/2006/relationships" r:id="R0d3ffa7ec1ff45cf"/>
  </p:notesMasterIdLst>
  <p:sldIdLst>
    <p:sldId xmlns:r="http://schemas.openxmlformats.org/officeDocument/2006/relationships" id="256" r:id="Rf272ca2cff284fe9"/>
    <p:sldId xmlns:r="http://schemas.openxmlformats.org/officeDocument/2006/relationships" id="257" r:id="R33bee8836e8043a7"/>
    <p:sldId xmlns:r="http://schemas.openxmlformats.org/officeDocument/2006/relationships" id="258" r:id="R205f0e24f34746ac"/>
    <p:sldId xmlns:r="http://schemas.openxmlformats.org/officeDocument/2006/relationships" id="259" r:id="R620724f5cac14433"/>
    <p:sldId xmlns:r="http://schemas.openxmlformats.org/officeDocument/2006/relationships" id="260" r:id="R0293dedb20b94d9b"/>
    <p:sldId xmlns:r="http://schemas.openxmlformats.org/officeDocument/2006/relationships" id="261" r:id="R5442438e393a4e16"/>
    <p:sldId xmlns:r="http://schemas.openxmlformats.org/officeDocument/2006/relationships" id="262" r:id="R05c5d3b7b4bc4d5c"/>
    <p:sldId xmlns:r="http://schemas.openxmlformats.org/officeDocument/2006/relationships" id="263" r:id="R32b70c4f6cc244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e489acdbd44d5d" /><Relationship Type="http://schemas.openxmlformats.org/officeDocument/2006/relationships/slideMaster" Target="/ppt/slideMasters/slideMaster1.xml" Id="R042ba4dbd4934978" /><Relationship Type="http://schemas.openxmlformats.org/officeDocument/2006/relationships/notesMaster" Target="/ppt/notesMasters/notesMaster1.xml" Id="R0d3ffa7ec1ff45cf" /><Relationship Type="http://schemas.openxmlformats.org/officeDocument/2006/relationships/presProps" Target="/ppt/presProps.xml" Id="Rdcdf600402d54e0e" /><Relationship Type="http://schemas.openxmlformats.org/officeDocument/2006/relationships/tableStyles" Target="/ppt/tableStyles.xml" Id="R424ba9027ed34e47" /><Relationship Type="http://schemas.openxmlformats.org/officeDocument/2006/relationships/slide" Target="/ppt/slides/slide1.xml" Id="Rf272ca2cff284fe9" /><Relationship Type="http://schemas.openxmlformats.org/officeDocument/2006/relationships/slide" Target="/ppt/slides/slide2.xml" Id="R33bee8836e8043a7" /><Relationship Type="http://schemas.openxmlformats.org/officeDocument/2006/relationships/slide" Target="/ppt/slides/slide3.xml" Id="R205f0e24f34746ac" /><Relationship Type="http://schemas.openxmlformats.org/officeDocument/2006/relationships/slide" Target="/ppt/slides/slide4.xml" Id="R620724f5cac14433" /><Relationship Type="http://schemas.openxmlformats.org/officeDocument/2006/relationships/slide" Target="/ppt/slides/slide5.xml" Id="R0293dedb20b94d9b" /><Relationship Type="http://schemas.openxmlformats.org/officeDocument/2006/relationships/slide" Target="/ppt/slides/slide6.xml" Id="R5442438e393a4e16" /><Relationship Type="http://schemas.openxmlformats.org/officeDocument/2006/relationships/slide" Target="/ppt/slides/slide7.xml" Id="R05c5d3b7b4bc4d5c" /><Relationship Type="http://schemas.openxmlformats.org/officeDocument/2006/relationships/slide" Target="/ppt/slides/slide8.xml" Id="R32b70c4f6cc244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681a322ac543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c812c86d8041a1" /><Relationship Type="http://schemas.openxmlformats.org/officeDocument/2006/relationships/notesMaster" Target="/ppt/notesMasters/notesMaster1.xml" Id="Rdb3ec1368d6146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23b4813c7f4339" /><Relationship Type="http://schemas.openxmlformats.org/officeDocument/2006/relationships/notesMaster" Target="/ppt/notesMasters/notesMaster1.xml" Id="R68692aa48ada4e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5256ed9004c19" /><Relationship Type="http://schemas.openxmlformats.org/officeDocument/2006/relationships/notesMaster" Target="/ppt/notesMasters/notesMaster1.xml" Id="R3ff58ca97e7c48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37ed8fc64c4a36" /><Relationship Type="http://schemas.openxmlformats.org/officeDocument/2006/relationships/notesMaster" Target="/ppt/notesMasters/notesMaster1.xml" Id="Re876b5d65b8747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0178deb1ee44bc" /><Relationship Type="http://schemas.openxmlformats.org/officeDocument/2006/relationships/notesMaster" Target="/ppt/notesMasters/notesMaster1.xml" Id="R9a915621171449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dd968167f945aa" /><Relationship Type="http://schemas.openxmlformats.org/officeDocument/2006/relationships/notesMaster" Target="/ppt/notesMasters/notesMaster1.xml" Id="R10728cb137ae4a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d9dcb0552b4b66" /><Relationship Type="http://schemas.openxmlformats.org/officeDocument/2006/relationships/notesMaster" Target="/ppt/notesMasters/notesMaster1.xml" Id="R47bb94fa7efd4a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a9f7346eb04214" /><Relationship Type="http://schemas.openxmlformats.org/officeDocument/2006/relationships/notesMaster" Target="/ppt/notesMasters/notesMaster1.xml" Id="Rab72f8c7bf8b4d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1/8. Timing: 25 seconds.</a:t>
            </a:r>
          </a:p>
          <a:p xmlns:a="http://schemas.openxmlformats.org/drawingml/2006/main">
            <a:r>
              <a:t>We recommend one incremental ritual-discovery campaign around Mauli's existing Shopify experience. It joins optional explainable personalisation with practitioner social/live education. The strategic aim is sustained relevance as discovery changes, while preserving customer choice and Mauli's human explanation. This is an initial coursework recommendation for review, with no claimed pilot results or client endorsement.</a:t>
            </a:r>
          </a:p>
          <a:p xmlns:a="http://schemas.openxmlformats.org/drawingml/2006/main">
            <a:r>
              <a:t>Sources: docs/brief/updated-project-brief.md (working recommendation, 10 October 2026); LOCAL-11: Mauli Rituals — Client Challenge Discussion.pptx (classroom synthesis of September 2026 founder Q&amp;A and August 2026 retailer deck), slides 9–12. Course attribution: Future of Commerce, Hult Business School, Professor Nikhil Soi, supplied by project owner. Names of seven team members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2/8. Timing: 45 seconds.</a:t>
            </a:r>
          </a:p>
          <a:p xmlns:a="http://schemas.openxmlformats.org/drawingml/2006/main">
            <a:r>
              <a:t>The course continuum says interfaces accumulate. Mauli already connects D2C with spas and retail. Therefore the practical problem is how those encounters carry meaning into useful choice and repeat practice. Classroom materials report £87 average order value, 61% D2C mix and 72% Meta marketing allocation. These are founder-attributed assertions, not audited current KPIs. We cannot derive CAC, profitability or retention from them. The acquisition economics justify a measured experiment, not an assumption that more reach or a higher basket will create profit.</a:t>
            </a:r>
          </a:p>
          <a:p xmlns:a="http://schemas.openxmlformats.org/drawingml/2006/main">
            <a:r>
              <a:t>Sources: LOCAL-11: Mauli Rituals — Client Challenge Discussion.pptx (classroom synthesis of September 2026 founder Q&amp;A and August 2026 retailer deck), slides 3, 5–6 and 10–12; LOCAL-05: Future of Commerce — Week 1_ Course Launch &amp; Evolution of Digital Commerce.pptx, slides 19, 31 and 41; docs/metrics/measurement-plan.md (proposed specifications, 10 October 2026). Team notes separately record 70/20 paid allocation and require reconciliation. Source dates: client Q&amp;A September 2026, retailer deck August 2026. Conversion accessed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3/8. Timing: 40 seconds.</a:t>
            </a:r>
          </a:p>
          <a:p xmlns:a="http://schemas.openxmlformats.org/drawingml/2006/main">
            <a:r>
              <a:t>Our research retains three umbrellas: cultural reconnection, spa-to-home continuation and premium concern-led care with luxury B2B partners. We select a visitor seeking a manageable home ritual for the demonstration. This can include a spa guest but does not require a new partnership to test. B2B provides an optional entry point once a qualified account agrees a pilot. McKinsey's Consumer Decision Journey reminds us that post-purchase experience feeds future consideration. AAARRR records events along this loop, rather than proving that every person follows a linear funnel.</a:t>
            </a:r>
          </a:p>
          <a:p xmlns:a="http://schemas.openxmlformats.org/drawingml/2006/main">
            <a:r>
              <a:t>Sources: docs/research/stp-and-icps.md (hypotheses, 10 October 2026); docs/brief/updated-project-brief.md (working recommendation, 10 October 2026), sections 3–5; LOCAL-06: Future of Commerce — Week 2_ Consumer Behaviour &amp; AI-Personalised Shopping.pptx, slides 7–9; LOCAL-11: Mauli Rituals — Client Challenge Discussion.pptx (classroom synthesis of September 2026 founder Q&amp;A and August 2026 retailer deck), slides 8 and 12. All audience attributes are research hypotheses, not verified customer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4/8. Timing: 50 seconds.</a:t>
            </a:r>
          </a:p>
          <a:p xmlns:a="http://schemas.openxmlformats.org/drawingml/2006/main">
            <a:r>
              <a:t>The prototype asks what the person wants, their available time and product preferences. It returns one feasible starting step, an explanation and the total price. This translates Fogg's ability component into a simpler task. ELM gives us a reason to pair sensory cues with accessible product facts for shoppers who want to examine the argument. Curation reduces unnecessary comparison without hiding alternatives. Start with inspectable rules and reviewed product content. We can demonstrate the experience before funding an AI service. A later AI layer needs factual and cost testing. The optional chord concept must help understanding, with a readable text alternative.</a:t>
            </a:r>
          </a:p>
          <a:p xmlns:a="http://schemas.openxmlformats.org/drawingml/2006/main">
            <a:r>
              <a:t>Sources: LOCAL-06: Future of Commerce — Week 2_ Consumer Behaviour &amp; AI-Personalised Shopping.pptx, slides 11–16 and 34–35; docs/brief/updated-project-brief.md (working recommendation, 10 October 2026), section 4. No prototype completion, uplift or diagnostic validity is claimed. Dosha content remains optional wellness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5/8. Timing: 50 seconds.</a:t>
            </a:r>
          </a:p>
          <a:p xmlns:a="http://schemas.openxmlformats.org/drawingml/2006/main">
            <a:r>
              <a:t>The companion campaign is one short, practitioner-led demonstration around a specific ritual occasion. It shows technique and texture, explains scent honestly and invites the same optional discovery flow. Digital content cannot deliver physical scent or touch, so a spa or sample can complement it where feasible. Positioning emphasises informed ritual practice. Merchandising offers a starter, fuller routine and product-free practice. Pricing shows the total cost and avoids automatic discounting. Customer experience connects explanation to choice and voluntary continuation. A video sending people to Shopify is social-influenced commerce. A live session is the education test, with native platform checkout a later eligibility decision.</a:t>
            </a:r>
          </a:p>
          <a:p xmlns:a="http://schemas.openxmlformats.org/drawingml/2006/main">
            <a:r>
              <a:t>Sources: LOCAL-16: Senses_in_AI_World_Deck.pdf, pages 4, 14, 16 and 25–27; LOCAL-05: Future of Commerce — Week 1_ Course Launch &amp; Evolution of Digital Commerce.pptx, slide 25; docs/brief/updated-project-brief.md (working recommendation, 10 October 2026), section 4. Recording/reuse permission, presenter capacity and content review remain prerequisites. Kautuka thread is a proposed motif, not a commercial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6/8. Timing: 60 seconds.</a:t>
            </a:r>
          </a:p>
          <a:p xmlns:a="http://schemas.openxmlformats.org/drawingml/2006/main">
            <a:r>
              <a:t>Our signature metric is Ritual Continuation Rate. At day 21 we ask a consenting recipient whether they practised the agreed ritual in the last seven days. Before launch, we define the practice threshold and eligible response window with the client. The numerator is eligible respondents who meet that threshold. The denominator is eligible responding recipients. We always report response coverage and sample counts because nonrespondents may behave differently. This measures reported practice, not clinical benefit, identity or sales. It can guide the clarity and feasibility of the guidance. Commercial checks remain contribution after acquisition and matured 90-day second purchase. A sale or an email open cannot prove a ritual continued.</a:t>
            </a:r>
          </a:p>
          <a:p xmlns:a="http://schemas.openxmlformats.org/drawingml/2006/main">
            <a:r>
              <a:t>Sources: LOCAL-11: Mauli Rituals — Client Challenge Discussion.pptx (classroom synthesis of September 2026 founder Q&amp;A and August 2026 retailer deck), slide 14 (new-metric criteria); docs/metrics/measurement-plan.md (proposed specifications, 10 October 2026), Ritual and cultural measures; project report draft day-21 protocol agreed for consistency. Threshold and window are proposals awaiting validation. Repeat metric includes only buyers with a complete 90-day observation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7/8. Timing: 50 seconds.</a:t>
            </a:r>
          </a:p>
          <a:p xmlns:a="http://schemas.openxmlformats.org/drawingml/2006/main">
            <a:r>
              <a:t>A local usability test checks comprehension before any commercial pilot. If the client proceeds, we compare eligible visitors with the existing journey using a holdout where feasible. We pre-agree the primary outcome, duration, cost ceiling and guardrails. Financial scenarios compare no campaign with downside, base and upside adoption. They include net basket, fulfilment, acquisition, support cost, cannibalisation and rollout delay. No forecast is an actual Mauli result. Expansion requires credible incremental contribution covering setup and operating costs within an agreed payback window, alongside acceptable comprehension and staff burden. If assignment cannot support causality, we call the findings observational.</a:t>
            </a:r>
          </a:p>
          <a:p xmlns:a="http://schemas.openxmlformats.org/drawingml/2006/main">
            <a:r>
              <a:t>Sources: docs/brief/updated-project-brief.md (working recommendation, 10 October 2026), section 5; docs/metrics/measurement-plan.md (proposed specifications, 10 October 2026), Pilot evaluation and accounting rules; docs/finance/model-guide.md and models/financial-scenarios/ workbook. CAC and contribution-based cohort value require reconciled spending and cost exports. Current CAC and margins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8/8. Timing: 40 seconds.</a:t>
            </a:r>
          </a:p>
          <a:p xmlns:a="http://schemas.openxmlformats.org/drawingml/2006/main">
            <a:r>
              <a:t>We ask for agreement on one journey and the evidence needed to test it. Immediately, finish the journey audit, reconcile reported figures and build the local discovery demonstration. A small campaign then depends on a named client owner, content review, measurement access and an agreed budget. Longer-term options include reusable knowledge assets and practitioner workflows if demand and account economics support them. Voice and more elaborate motion can remain presentation concepts until they prove value. We exclude a store replacement and a full therapist platform from this coursework MVP. This recommendation supports adaptability through measured increments rather than a feature list.</a:t>
            </a:r>
          </a:p>
          <a:p xmlns:a="http://schemas.openxmlformats.org/drawingml/2006/main">
            <a:r>
              <a:t>Sources: docs/brief/updated-project-brief.md (working recommendation, 10 October 2026), sections 4–6; LOCAL-05: Future of Commerce — Week 1_ Course Launch &amp; Evolution of Digital Commerce.pptx, slide 31. Timing total: 360 seconds for slides 1–8. Four-minute Q&amp;A uses optional appendices. Final client feedback, grades, actual pilot and final prototype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dba2a8b36c49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8e01d656db4c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04771c7a434b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a1fda0e2944b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6f2e32ddc841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0ec6862aee40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1F67BB-01DD-47CF-94C7-00F6A7B110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69DFF9-2E8E-4B01-9A2B-2D3A1DFCE90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CC9630-37DB-44E2-8E69-A2EDE36509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8ACD33-274D-421C-AC18-34C8EDC17E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10E3E4-18BE-4837-B689-E7673AA68F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59648F7-88C4-4D7B-AA94-006C867EDD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8B4B59-7FF9-473C-8542-777918ADE7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849CAF-E2AD-4A24-B55B-D0F7E563EE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BF1E6A-C11C-43D6-BD55-9B00E0603F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CB3FA7-5C94-4652-BCF0-354D0ECAB3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a20541905b4020" /><Relationship Type="http://schemas.openxmlformats.org/officeDocument/2006/relationships/slideLayout" Target="/ppt/slideLayouts/slideLayout1.xml" Id="R9041f5ced80c4068" /><Relationship Type="http://schemas.openxmlformats.org/officeDocument/2006/relationships/slideLayout" Target="/ppt/slideLayouts/slideLayout2.xml" Id="R9a5853aefabd4880" /><Relationship Type="http://schemas.openxmlformats.org/officeDocument/2006/relationships/slideLayout" Target="/ppt/slideLayouts/slideLayout3.xml" Id="R7174be3350884a9f" /><Relationship Type="http://schemas.openxmlformats.org/officeDocument/2006/relationships/slideLayout" Target="/ppt/slideLayouts/slideLayout4.xml" Id="R387a55e2a17e4131" /><Relationship Type="http://schemas.openxmlformats.org/officeDocument/2006/relationships/slideLayout" Target="/ppt/slideLayouts/slideLayout5.xml" Id="Rd48a46b148fe42ec" /><Relationship Type="http://schemas.openxmlformats.org/officeDocument/2006/relationships/slideLayout" Target="/ppt/slideLayouts/slideLayout6.xml" Id="R62412fe9a6b943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41f5ced80c4068"/>
    <p:sldLayoutId xmlns:r="http://schemas.openxmlformats.org/officeDocument/2006/relationships" id="2147483650" r:id="R9a5853aefabd4880"/>
    <p:sldLayoutId xmlns:r="http://schemas.openxmlformats.org/officeDocument/2006/relationships" id="2147483651" r:id="R7174be3350884a9f"/>
    <p:sldLayoutId xmlns:r="http://schemas.openxmlformats.org/officeDocument/2006/relationships" id="2147483652" r:id="R387a55e2a17e4131"/>
    <p:sldLayoutId xmlns:r="http://schemas.openxmlformats.org/officeDocument/2006/relationships" id="2147483653" r:id="Rd48a46b148fe42ec"/>
    <p:sldLayoutId xmlns:r="http://schemas.openxmlformats.org/officeDocument/2006/relationships" id="2147483654" r:id="R62412fe9a6b943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b918825df24baa" /><Relationship Type="http://schemas.openxmlformats.org/officeDocument/2006/relationships/notesSlide" Target="/ppt/notesSlides/notesSlide1.xml" Id="R89d305341bcc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6411ad47df47bf" /><Relationship Type="http://schemas.openxmlformats.org/officeDocument/2006/relationships/notesSlide" Target="/ppt/notesSlides/notesSlide2.xml" Id="R19fb3d08de0244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1c17db74f74cba" /><Relationship Type="http://schemas.openxmlformats.org/officeDocument/2006/relationships/notesSlide" Target="/ppt/notesSlides/notesSlide3.xml" Id="R294c717156f94f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8b27dd79f748fa" /><Relationship Type="http://schemas.openxmlformats.org/officeDocument/2006/relationships/notesSlide" Target="/ppt/notesSlides/notesSlide4.xml" Id="Recd291d7871543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18f31a16fd468a" /><Relationship Type="http://schemas.openxmlformats.org/officeDocument/2006/relationships/notesSlide" Target="/ppt/notesSlides/notesSlide5.xml" Id="Rc5dbc8e9df724d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5f830ab726420a" /><Relationship Type="http://schemas.openxmlformats.org/officeDocument/2006/relationships/notesSlide" Target="/ppt/notesSlides/notesSlide6.xml" Id="R6c545c9cc4c24f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9e107e6a2841ae" /><Relationship Type="http://schemas.openxmlformats.org/officeDocument/2006/relationships/notesSlide" Target="/ppt/notesSlides/notesSlide7.xml" Id="R2e80777ad4cf42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3f4d72fd874747" /><Relationship Type="http://schemas.openxmlformats.org/officeDocument/2006/relationships/notesSlide" Target="/ppt/notesSlides/notesSlide8.xml" Id="Raacacaf25cac4936" /></Relationships>
</file>

<file path=ppt/slides/slide1.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B379E2-3FA7-488C-A207-AC126ED07B32}"/>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Mauli Rituals</a:t>
            </a:r>
          </a:p>
        </p:txBody>
      </p:sp>
      <p:sp>
        <p:nvSpPr>
          <p:cNvPr id="2" name="">
            <a:extLst xmlns:a="http://schemas.openxmlformats.org/drawingml/2006/main">
              <a:ext uri="{FF2B5EF4-FFF2-40B4-BE49-F238E27FC236}">
                <a16:creationId xmlns:a16="http://schemas.microsoft.com/office/drawing/2014/main" id="{8966CAB2-74C6-4C2C-A298-ED9933F787E1}"/>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INITIAL DRAFT · 11 October 2026 · Independent pro bono student advisory work</a:t>
            </a:r>
          </a:p>
        </p:txBody>
      </p:sp>
      <p:sp>
        <p:nvSpPr>
          <p:cNvPr id="3" name="">
            <a:extLst xmlns:a="http://schemas.openxmlformats.org/drawingml/2006/main">
              <a:ext uri="{FF2B5EF4-FFF2-40B4-BE49-F238E27FC236}">
                <a16:creationId xmlns:a16="http://schemas.microsoft.com/office/drawing/2014/main" id="{C87BAF5E-FAD6-41BF-9100-4C754387E10B}"/>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A2C0ED5-767F-44C8-B71F-2A6D6FD6FFC8}"/>
              </a:ext>
            </a:extLst>
          </p:cNvPr>
          <p:cNvSpPr>
            <a:spLocks xmlns:a="http://schemas.openxmlformats.org/drawingml/2006/main" noGrp="1"/>
          </p:cNvSpPr>
          <p:nvPr/>
        </p:nvSpPr>
        <p:spPr>
          <a:xfrm xmlns:a="http://schemas.openxmlformats.org/drawingml/2006/main">
            <a:off x="666750" y="1857375"/>
            <a:ext cx="1000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0">
                <a:solidFill>
                  <a:srgbClr val="35251E"/>
                </a:solidFill>
                <a:latin typeface="Georgia"/>
                <a:ea typeface="Georgia"/>
                <a:cs typeface="Georgia"/>
              </a:defRPr>
            </a:defPPr>
          </a:lstStyle>
          <a:p xmlns:a="http://schemas.openxmlformats.org/drawingml/2006/main">
            <a:pPr>
              <a:defRPr sz="4800" b="0">
                <a:solidFill>
                  <a:srgbClr val="35251E"/>
                </a:solidFill>
                <a:latin typeface="Georgia"/>
                <a:ea typeface="Georgia"/>
                <a:cs typeface="Georgia"/>
              </a:defRPr>
            </a:pPr>
            <a:r>
              <a:rPr sz="4800" b="0">
                <a:solidFill>
                  <a:srgbClr val="35251E"/>
                </a:solidFill>
                <a:latin typeface="Georgia"/>
                <a:ea typeface="Georgia"/>
                <a:cs typeface="Georgia"/>
              </a:rPr>
              <a:t>A ritual-discovery campaign</a:t>
            </a:r>
          </a:p>
          <a:p xmlns:a="http://schemas.openxmlformats.org/drawingml/2006/main">
            <a:pPr>
              <a:defRPr sz="4800" b="0">
                <a:solidFill>
                  <a:srgbClr val="35251E"/>
                </a:solidFill>
                <a:latin typeface="Georgia"/>
                <a:ea typeface="Georgia"/>
                <a:cs typeface="Georgia"/>
              </a:defRPr>
            </a:pPr>
            <a:r>
              <a:rPr sz="4800" b="0">
                <a:solidFill>
                  <a:srgbClr val="35251E"/>
                </a:solidFill>
                <a:latin typeface="Georgia"/>
                <a:ea typeface="Georgia"/>
                <a:cs typeface="Georgia"/>
              </a:rPr>
              <a:t>for continued relevance</a:t>
            </a:r>
          </a:p>
        </p:txBody>
      </p:sp>
      <p:sp>
        <p:nvSpPr>
          <p:cNvPr id="5" name="">
            <a:extLst xmlns:a="http://schemas.openxmlformats.org/drawingml/2006/main">
              <a:ext uri="{FF2B5EF4-FFF2-40B4-BE49-F238E27FC236}">
                <a16:creationId xmlns:a16="http://schemas.microsoft.com/office/drawing/2014/main" id="{A4055AB8-C5D1-4AF3-8E1E-286CE108C787}"/>
              </a:ext>
            </a:extLst>
          </p:cNvPr>
          <p:cNvSpPr>
            <a:spLocks xmlns:a="http://schemas.openxmlformats.org/drawingml/2006/main" noGrp="1"/>
          </p:cNvSpPr>
          <p:nvPr/>
        </p:nvSpPr>
        <p:spPr>
          <a:xfrm xmlns:a="http://schemas.openxmlformats.org/drawingml/2006/main">
            <a:off x="666750" y="446722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5251E"/>
                </a:solidFill>
                <a:latin typeface="Arial"/>
                <a:ea typeface="Arial"/>
                <a:cs typeface="Arial"/>
              </a:defRPr>
            </a:defPPr>
          </a:lstStyle>
          <a:p xmlns:a="http://schemas.openxmlformats.org/drawingml/2006/main">
            <a:pPr>
              <a:defRPr sz="2025" b="0">
                <a:solidFill>
                  <a:srgbClr val="35251E"/>
                </a:solidFill>
                <a:latin typeface="Arial"/>
                <a:ea typeface="Arial"/>
                <a:cs typeface="Arial"/>
              </a:defRPr>
            </a:pPr>
            <a:r>
              <a:rPr sz="2025" b="0">
                <a:solidFill>
                  <a:srgbClr val="35251E"/>
                </a:solidFill>
                <a:latin typeface="Arial"/>
                <a:ea typeface="Arial"/>
                <a:cs typeface="Arial"/>
              </a:rPr>
              <a:t>Future of Commerce · Hult Business School</a:t>
            </a:r>
          </a:p>
          <a:p xmlns:a="http://schemas.openxmlformats.org/drawingml/2006/main">
            <a:pPr>
              <a:defRPr sz="2025" b="0">
                <a:solidFill>
                  <a:srgbClr val="35251E"/>
                </a:solidFill>
                <a:latin typeface="Arial"/>
                <a:ea typeface="Arial"/>
                <a:cs typeface="Arial"/>
              </a:defRPr>
            </a:pPr>
            <a:r>
              <a:rPr sz="2025" b="0">
                <a:solidFill>
                  <a:srgbClr val="35251E"/>
                </a:solidFill>
                <a:latin typeface="Arial"/>
                <a:ea typeface="Arial"/>
                <a:cs typeface="Arial"/>
              </a:rPr>
              <a:t>Professor Nikhil Soi · Seven-person student team</a:t>
            </a:r>
          </a:p>
        </p:txBody>
      </p:sp>
    </p:spTree>
    <p:extLst>
      <p:ext uri="{BB962C8B-B14F-4D97-AF65-F5344CB8AC3E}">
        <p14:creationId xmlns:p14="http://schemas.microsoft.com/office/powerpoint/2010/main" val="1466574457"/>
      </p:ext>
    </p:extLst>
  </p:cSld>
</p:sld>
</file>

<file path=ppt/slides/slide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9A39DF-B63F-4D47-867C-CF5B73F00A28}"/>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Diagnosis and the commerce continuum</a:t>
            </a:r>
          </a:p>
        </p:txBody>
      </p:sp>
      <p:sp>
        <p:nvSpPr>
          <p:cNvPr id="2" name="">
            <a:extLst xmlns:a="http://schemas.openxmlformats.org/drawingml/2006/main">
              <a:ext uri="{FF2B5EF4-FFF2-40B4-BE49-F238E27FC236}">
                <a16:creationId xmlns:a16="http://schemas.microsoft.com/office/drawing/2014/main" id="{C5568C78-48F6-4762-913E-83284F9A9599}"/>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Supplied classroom figures, September 2026 · Periods and definitions unresolved</a:t>
            </a:r>
          </a:p>
        </p:txBody>
      </p:sp>
      <p:sp>
        <p:nvSpPr>
          <p:cNvPr id="3" name="">
            <a:extLst xmlns:a="http://schemas.openxmlformats.org/drawingml/2006/main">
              <a:ext uri="{FF2B5EF4-FFF2-40B4-BE49-F238E27FC236}">
                <a16:creationId xmlns:a16="http://schemas.microsoft.com/office/drawing/2014/main" id="{DD8B06B7-76CD-4DD9-BC8B-1E0D4274BC5A}"/>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037BC97-2F58-42C0-8F06-C3A7435C3E84}"/>
              </a:ext>
            </a:extLst>
          </p:cNvPr>
          <p:cNvSpPr>
            <a:spLocks xmlns:a="http://schemas.openxmlformats.org/drawingml/2006/main" noGrp="1"/>
          </p:cNvSpPr>
          <p:nvPr/>
        </p:nvSpPr>
        <p:spPr>
          <a:xfrm xmlns:a="http://schemas.openxmlformats.org/drawingml/2006/main">
            <a:off x="666750" y="1809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0">
                <a:solidFill>
                  <a:srgbClr val="35251E"/>
                </a:solidFill>
                <a:latin typeface="Georgia"/>
                <a:ea typeface="Georgia"/>
                <a:cs typeface="Georgia"/>
              </a:defRPr>
            </a:defPPr>
          </a:lstStyle>
          <a:p xmlns:a="http://schemas.openxmlformats.org/drawingml/2006/main">
            <a:pPr>
              <a:defRPr sz="5250" b="0">
                <a:solidFill>
                  <a:srgbClr val="35251E"/>
                </a:solidFill>
                <a:latin typeface="Georgia"/>
                <a:ea typeface="Georgia"/>
                <a:cs typeface="Georgia"/>
              </a:defRPr>
            </a:pPr>
            <a:r>
              <a:rPr sz="5250" b="0">
                <a:solidFill>
                  <a:srgbClr val="35251E"/>
                </a:solidFill>
                <a:latin typeface="Georgia"/>
                <a:ea typeface="Georgia"/>
                <a:cs typeface="Georgia"/>
              </a:rPr>
              <a:t>£87</a:t>
            </a:r>
          </a:p>
        </p:txBody>
      </p:sp>
      <p:sp>
        <p:nvSpPr>
          <p:cNvPr id="5" name="">
            <a:extLst xmlns:a="http://schemas.openxmlformats.org/drawingml/2006/main">
              <a:ext uri="{FF2B5EF4-FFF2-40B4-BE49-F238E27FC236}">
                <a16:creationId xmlns:a16="http://schemas.microsoft.com/office/drawing/2014/main" id="{69463A0E-2AD5-4DA0-8540-28232716CD84}"/>
              </a:ext>
            </a:extLst>
          </p:cNvPr>
          <p:cNvSpPr>
            <a:spLocks xmlns:a="http://schemas.openxmlformats.org/drawingml/2006/main" noGrp="1"/>
          </p:cNvSpPr>
          <p:nvPr/>
        </p:nvSpPr>
        <p:spPr>
          <a:xfrm xmlns:a="http://schemas.openxmlformats.org/drawingml/2006/main">
            <a:off x="666750" y="28003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5251E"/>
                </a:solidFill>
                <a:latin typeface="Arial"/>
                <a:ea typeface="Arial"/>
                <a:cs typeface="Arial"/>
              </a:defRPr>
            </a:defPPr>
          </a:lstStyle>
          <a:p xmlns:a="http://schemas.openxmlformats.org/drawingml/2006/main">
            <a:pPr>
              <a:defRPr sz="2025" b="0">
                <a:solidFill>
                  <a:srgbClr val="35251E"/>
                </a:solidFill>
                <a:latin typeface="Arial"/>
                <a:ea typeface="Arial"/>
                <a:cs typeface="Arial"/>
              </a:defRPr>
            </a:pPr>
            <a:r>
              <a:rPr sz="2025" b="0">
                <a:solidFill>
                  <a:srgbClr val="35251E"/>
                </a:solidFill>
                <a:latin typeface="Arial"/>
                <a:ea typeface="Arial"/>
                <a:cs typeface="Arial"/>
              </a:rPr>
              <a:t>Reported AOV</a:t>
            </a:r>
          </a:p>
        </p:txBody>
      </p:sp>
      <p:sp>
        <p:nvSpPr>
          <p:cNvPr id="6" name="">
            <a:extLst xmlns:a="http://schemas.openxmlformats.org/drawingml/2006/main">
              <a:ext uri="{FF2B5EF4-FFF2-40B4-BE49-F238E27FC236}">
                <a16:creationId xmlns:a16="http://schemas.microsoft.com/office/drawing/2014/main" id="{CD735B39-E38C-4FEE-BF5C-9597868311EE}"/>
              </a:ext>
            </a:extLst>
          </p:cNvPr>
          <p:cNvSpPr>
            <a:spLocks xmlns:a="http://schemas.openxmlformats.org/drawingml/2006/main" noGrp="1"/>
          </p:cNvSpPr>
          <p:nvPr/>
        </p:nvSpPr>
        <p:spPr>
          <a:xfrm xmlns:a="http://schemas.openxmlformats.org/drawingml/2006/main">
            <a:off x="4524375" y="1809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0">
                <a:solidFill>
                  <a:srgbClr val="35251E"/>
                </a:solidFill>
                <a:latin typeface="Georgia"/>
                <a:ea typeface="Georgia"/>
                <a:cs typeface="Georgia"/>
              </a:defRPr>
            </a:defPPr>
          </a:lstStyle>
          <a:p xmlns:a="http://schemas.openxmlformats.org/drawingml/2006/main">
            <a:pPr>
              <a:defRPr sz="5250" b="0">
                <a:solidFill>
                  <a:srgbClr val="35251E"/>
                </a:solidFill>
                <a:latin typeface="Georgia"/>
                <a:ea typeface="Georgia"/>
                <a:cs typeface="Georgia"/>
              </a:defRPr>
            </a:pPr>
            <a:r>
              <a:rPr sz="5250" b="0">
                <a:solidFill>
                  <a:srgbClr val="35251E"/>
                </a:solidFill>
                <a:latin typeface="Georgia"/>
                <a:ea typeface="Georgia"/>
                <a:cs typeface="Georgia"/>
              </a:rPr>
              <a:t>61%</a:t>
            </a:r>
          </a:p>
        </p:txBody>
      </p:sp>
      <p:sp>
        <p:nvSpPr>
          <p:cNvPr id="7" name="">
            <a:extLst xmlns:a="http://schemas.openxmlformats.org/drawingml/2006/main">
              <a:ext uri="{FF2B5EF4-FFF2-40B4-BE49-F238E27FC236}">
                <a16:creationId xmlns:a16="http://schemas.microsoft.com/office/drawing/2014/main" id="{123C9DF1-5B5F-48B9-8EA2-3C82323B729F}"/>
              </a:ext>
            </a:extLst>
          </p:cNvPr>
          <p:cNvSpPr>
            <a:spLocks xmlns:a="http://schemas.openxmlformats.org/drawingml/2006/main" noGrp="1"/>
          </p:cNvSpPr>
          <p:nvPr/>
        </p:nvSpPr>
        <p:spPr>
          <a:xfrm xmlns:a="http://schemas.openxmlformats.org/drawingml/2006/main">
            <a:off x="4524375" y="28003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5251E"/>
                </a:solidFill>
                <a:latin typeface="Arial"/>
                <a:ea typeface="Arial"/>
                <a:cs typeface="Arial"/>
              </a:defRPr>
            </a:defPPr>
          </a:lstStyle>
          <a:p xmlns:a="http://schemas.openxmlformats.org/drawingml/2006/main">
            <a:pPr>
              <a:defRPr sz="2025" b="0">
                <a:solidFill>
                  <a:srgbClr val="35251E"/>
                </a:solidFill>
                <a:latin typeface="Arial"/>
                <a:ea typeface="Arial"/>
                <a:cs typeface="Arial"/>
              </a:defRPr>
            </a:pPr>
            <a:r>
              <a:rPr sz="2025" b="0">
                <a:solidFill>
                  <a:srgbClr val="35251E"/>
                </a:solidFill>
                <a:latin typeface="Arial"/>
                <a:ea typeface="Arial"/>
                <a:cs typeface="Arial"/>
              </a:rPr>
              <a:t>Reported D2C mix</a:t>
            </a:r>
          </a:p>
        </p:txBody>
      </p:sp>
      <p:sp>
        <p:nvSpPr>
          <p:cNvPr id="8" name="">
            <a:extLst xmlns:a="http://schemas.openxmlformats.org/drawingml/2006/main">
              <a:ext uri="{FF2B5EF4-FFF2-40B4-BE49-F238E27FC236}">
                <a16:creationId xmlns:a16="http://schemas.microsoft.com/office/drawing/2014/main" id="{55EFAEC4-C742-46A5-9BF0-4D593BE672CC}"/>
              </a:ext>
            </a:extLst>
          </p:cNvPr>
          <p:cNvSpPr>
            <a:spLocks xmlns:a="http://schemas.openxmlformats.org/drawingml/2006/main" noGrp="1"/>
          </p:cNvSpPr>
          <p:nvPr/>
        </p:nvSpPr>
        <p:spPr>
          <a:xfrm xmlns:a="http://schemas.openxmlformats.org/drawingml/2006/main">
            <a:off x="8334375" y="1809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0">
                <a:solidFill>
                  <a:srgbClr val="35251E"/>
                </a:solidFill>
                <a:latin typeface="Georgia"/>
                <a:ea typeface="Georgia"/>
                <a:cs typeface="Georgia"/>
              </a:defRPr>
            </a:defPPr>
          </a:lstStyle>
          <a:p xmlns:a="http://schemas.openxmlformats.org/drawingml/2006/main">
            <a:pPr>
              <a:defRPr sz="5250" b="0">
                <a:solidFill>
                  <a:srgbClr val="35251E"/>
                </a:solidFill>
                <a:latin typeface="Georgia"/>
                <a:ea typeface="Georgia"/>
                <a:cs typeface="Georgia"/>
              </a:defRPr>
            </a:pPr>
            <a:r>
              <a:rPr sz="5250" b="0">
                <a:solidFill>
                  <a:srgbClr val="35251E"/>
                </a:solidFill>
                <a:latin typeface="Georgia"/>
                <a:ea typeface="Georgia"/>
                <a:cs typeface="Georgia"/>
              </a:rPr>
              <a:t>72%</a:t>
            </a:r>
          </a:p>
        </p:txBody>
      </p:sp>
      <p:sp>
        <p:nvSpPr>
          <p:cNvPr id="9" name="">
            <a:extLst xmlns:a="http://schemas.openxmlformats.org/drawingml/2006/main">
              <a:ext uri="{FF2B5EF4-FFF2-40B4-BE49-F238E27FC236}">
                <a16:creationId xmlns:a16="http://schemas.microsoft.com/office/drawing/2014/main" id="{F415C100-48DF-43C5-8399-73F273D452A5}"/>
              </a:ext>
            </a:extLst>
          </p:cNvPr>
          <p:cNvSpPr>
            <a:spLocks xmlns:a="http://schemas.openxmlformats.org/drawingml/2006/main" noGrp="1"/>
          </p:cNvSpPr>
          <p:nvPr/>
        </p:nvSpPr>
        <p:spPr>
          <a:xfrm xmlns:a="http://schemas.openxmlformats.org/drawingml/2006/main">
            <a:off x="8334375" y="2800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35251E"/>
                </a:solidFill>
                <a:latin typeface="Arial"/>
                <a:ea typeface="Arial"/>
                <a:cs typeface="Arial"/>
              </a:defRPr>
            </a:defPPr>
          </a:lstStyle>
          <a:p xmlns:a="http://schemas.openxmlformats.org/drawingml/2006/main">
            <a:pPr>
              <a:defRPr sz="2025" b="0">
                <a:solidFill>
                  <a:srgbClr val="35251E"/>
                </a:solidFill>
                <a:latin typeface="Arial"/>
                <a:ea typeface="Arial"/>
                <a:cs typeface="Arial"/>
              </a:defRPr>
            </a:pPr>
            <a:r>
              <a:rPr sz="2025" b="0">
                <a:solidFill>
                  <a:srgbClr val="35251E"/>
                </a:solidFill>
                <a:latin typeface="Arial"/>
                <a:ea typeface="Arial"/>
                <a:cs typeface="Arial"/>
              </a:rPr>
              <a:t>Reported Meta allocation</a:t>
            </a:r>
          </a:p>
        </p:txBody>
      </p:sp>
      <p:sp>
        <p:nvSpPr>
          <p:cNvPr id="10" name="">
            <a:extLst xmlns:a="http://schemas.openxmlformats.org/drawingml/2006/main">
              <a:ext uri="{FF2B5EF4-FFF2-40B4-BE49-F238E27FC236}">
                <a16:creationId xmlns:a16="http://schemas.microsoft.com/office/drawing/2014/main" id="{6702A398-1242-4A3F-9210-7FDDF3556E7B}"/>
              </a:ext>
            </a:extLst>
          </p:cNvPr>
          <p:cNvSpPr>
            <a:spLocks xmlns:a="http://schemas.openxmlformats.org/drawingml/2006/main" noGrp="1"/>
          </p:cNvSpPr>
          <p:nvPr/>
        </p:nvSpPr>
        <p:spPr>
          <a:xfrm xmlns:a="http://schemas.openxmlformats.org/drawingml/2006/main">
            <a:off x="666750" y="39909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8C392C"/>
                </a:solidFill>
                <a:latin typeface="Arial"/>
                <a:ea typeface="Arial"/>
                <a:cs typeface="Arial"/>
              </a:defRPr>
            </a:defPPr>
          </a:lstStyle>
          <a:p xmlns:a="http://schemas.openxmlformats.org/drawingml/2006/main">
            <a:pPr>
              <a:defRPr sz="2025" b="1">
                <a:solidFill>
                  <a:srgbClr val="8C392C"/>
                </a:solidFill>
                <a:latin typeface="Arial"/>
                <a:ea typeface="Arial"/>
                <a:cs typeface="Arial"/>
              </a:defRPr>
            </a:pPr>
            <a:r>
              <a:rPr sz="2025" b="1">
                <a:solidFill>
                  <a:srgbClr val="8C392C"/>
                </a:solidFill>
                <a:latin typeface="Arial"/>
                <a:ea typeface="Arial"/>
                <a:cs typeface="Arial"/>
              </a:rPr>
              <a:t>Course application</a:t>
            </a:r>
          </a:p>
        </p:txBody>
      </p:sp>
      <p:sp>
        <p:nvSpPr>
          <p:cNvPr id="11" name="">
            <a:extLst xmlns:a="http://schemas.openxmlformats.org/drawingml/2006/main">
              <a:ext uri="{FF2B5EF4-FFF2-40B4-BE49-F238E27FC236}">
                <a16:creationId xmlns:a16="http://schemas.microsoft.com/office/drawing/2014/main" id="{D8D9ECC0-DE50-4FB0-892C-009710B2364B}"/>
              </a:ext>
            </a:extLst>
          </p:cNvPr>
          <p:cNvSpPr>
            <a:spLocks xmlns:a="http://schemas.openxmlformats.org/drawingml/2006/main" noGrp="1"/>
          </p:cNvSpPr>
          <p:nvPr/>
        </p:nvSpPr>
        <p:spPr>
          <a:xfrm xmlns:a="http://schemas.openxmlformats.org/drawingml/2006/main">
            <a:off x="666750" y="457200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35251E"/>
                </a:solidFill>
                <a:latin typeface="Arial"/>
                <a:ea typeface="Arial"/>
                <a:cs typeface="Arial"/>
              </a:defRPr>
            </a:defPPr>
          </a:lstStyle>
          <a:p xmlns:a="http://schemas.openxmlformats.org/drawingml/2006/main">
            <a:pPr>
              <a:defRPr sz="2550" b="0">
                <a:solidFill>
                  <a:srgbClr val="35251E"/>
                </a:solidFill>
                <a:latin typeface="Arial"/>
                <a:ea typeface="Arial"/>
                <a:cs typeface="Arial"/>
              </a:defRPr>
            </a:pPr>
            <a:r>
              <a:rPr sz="2550" b="0">
                <a:solidFill>
                  <a:srgbClr val="35251E"/>
                </a:solidFill>
                <a:latin typeface="Arial"/>
                <a:ea typeface="Arial"/>
                <a:cs typeface="Arial"/>
              </a:rPr>
              <a:t>An agent can flatten a ritual into a comparable SKU or misstate its claims. Human explanation and reviewed facts support discovery through the existing store.</a:t>
            </a:r>
          </a:p>
        </p:txBody>
      </p:sp>
    </p:spTree>
    <p:extLst>
      <p:ext uri="{BB962C8B-B14F-4D97-AF65-F5344CB8AC3E}">
        <p14:creationId xmlns:p14="http://schemas.microsoft.com/office/powerpoint/2010/main" val="1353624094"/>
      </p:ext>
    </p:extLst>
  </p:cSld>
</p:sld>
</file>

<file path=ppt/slides/slide3.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5BC68-8BDA-4544-901A-947CC0D7176D}"/>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One priority journey</a:t>
            </a:r>
          </a:p>
        </p:txBody>
      </p:sp>
      <p:sp>
        <p:nvSpPr>
          <p:cNvPr id="2" name="">
            <a:extLst xmlns:a="http://schemas.openxmlformats.org/drawingml/2006/main">
              <a:ext uri="{FF2B5EF4-FFF2-40B4-BE49-F238E27FC236}">
                <a16:creationId xmlns:a16="http://schemas.microsoft.com/office/drawing/2014/main" id="{67C55BF9-FA91-4D86-A1FD-521CBA677D64}"/>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Proposal · Three research umbrellas remain hypotheses · Detailed profiles in supporting notes</a:t>
            </a:r>
          </a:p>
        </p:txBody>
      </p:sp>
      <p:sp>
        <p:nvSpPr>
          <p:cNvPr id="3" name="">
            <a:extLst xmlns:a="http://schemas.openxmlformats.org/drawingml/2006/main">
              <a:ext uri="{FF2B5EF4-FFF2-40B4-BE49-F238E27FC236}">
                <a16:creationId xmlns:a16="http://schemas.microsoft.com/office/drawing/2014/main" id="{87902427-F8FA-455A-AE2F-3478EF49D870}"/>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B8FC23B7-5DDF-474B-85B4-BA2E4AEF7C58}"/>
              </a:ext>
            </a:extLst>
          </p:cNvPr>
          <p:cNvSpPr>
            <a:spLocks xmlns:a="http://schemas.openxmlformats.org/drawingml/2006/main" noGrp="1"/>
          </p:cNvSpPr>
          <p:nvPr/>
        </p:nvSpPr>
        <p:spPr>
          <a:xfrm xmlns:a="http://schemas.openxmlformats.org/drawingml/2006/main">
            <a:off x="666750" y="1847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Encounter</a:t>
            </a:r>
          </a:p>
        </p:txBody>
      </p:sp>
      <p:sp>
        <p:nvSpPr>
          <p:cNvPr id="5" name="">
            <a:extLst xmlns:a="http://schemas.openxmlformats.org/drawingml/2006/main">
              <a:ext uri="{FF2B5EF4-FFF2-40B4-BE49-F238E27FC236}">
                <a16:creationId xmlns:a16="http://schemas.microsoft.com/office/drawing/2014/main" id="{939989B2-FE31-4429-9DA4-83AB6DF282E9}"/>
              </a:ext>
            </a:extLst>
          </p:cNvPr>
          <p:cNvSpPr>
            <a:spLocks xmlns:a="http://schemas.openxmlformats.org/drawingml/2006/main" noGrp="1"/>
          </p:cNvSpPr>
          <p:nvPr/>
        </p:nvSpPr>
        <p:spPr>
          <a:xfrm xmlns:a="http://schemas.openxmlformats.org/drawingml/2006/main">
            <a:off x="3238500" y="1847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Practitioner demonstration or a partner-agreed QR invitation.</a:t>
            </a:r>
          </a:p>
        </p:txBody>
      </p:sp>
      <p:sp>
        <p:nvSpPr>
          <p:cNvPr id="6" name="">
            <a:extLst xmlns:a="http://schemas.openxmlformats.org/drawingml/2006/main">
              <a:ext uri="{FF2B5EF4-FFF2-40B4-BE49-F238E27FC236}">
                <a16:creationId xmlns:a16="http://schemas.microsoft.com/office/drawing/2014/main" id="{30815E12-17B2-4E1D-9F15-84013419365A}"/>
              </a:ext>
            </a:extLst>
          </p:cNvPr>
          <p:cNvSpPr>
            <a:spLocks xmlns:a="http://schemas.openxmlformats.org/drawingml/2006/main" noGrp="1"/>
          </p:cNvSpPr>
          <p:nvPr/>
        </p:nvSpPr>
        <p:spPr>
          <a:xfrm xmlns:a="http://schemas.openxmlformats.org/drawingml/2006/main">
            <a:off x="666750"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Choose</a:t>
            </a:r>
          </a:p>
        </p:txBody>
      </p:sp>
      <p:sp>
        <p:nvSpPr>
          <p:cNvPr id="7" name="">
            <a:extLst xmlns:a="http://schemas.openxmlformats.org/drawingml/2006/main">
              <a:ext uri="{FF2B5EF4-FFF2-40B4-BE49-F238E27FC236}">
                <a16:creationId xmlns:a16="http://schemas.microsoft.com/office/drawing/2014/main" id="{14F66C6E-DC84-45CC-9574-8B9362393065}"/>
              </a:ext>
            </a:extLst>
          </p:cNvPr>
          <p:cNvSpPr>
            <a:spLocks xmlns:a="http://schemas.openxmlformats.org/drawingml/2006/main" noGrp="1"/>
          </p:cNvSpPr>
          <p:nvPr/>
        </p:nvSpPr>
        <p:spPr>
          <a:xfrm xmlns:a="http://schemas.openxmlformats.org/drawingml/2006/main">
            <a:off x="3238500" y="2800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Optional discovery flow, explanation and one feasible ritual step.</a:t>
            </a:r>
          </a:p>
        </p:txBody>
      </p:sp>
      <p:sp>
        <p:nvSpPr>
          <p:cNvPr id="8" name="">
            <a:extLst xmlns:a="http://schemas.openxmlformats.org/drawingml/2006/main">
              <a:ext uri="{FF2B5EF4-FFF2-40B4-BE49-F238E27FC236}">
                <a16:creationId xmlns:a16="http://schemas.microsoft.com/office/drawing/2014/main" id="{014F1FE0-035E-4CC4-962A-ED1C7075FA39}"/>
              </a:ext>
            </a:extLst>
          </p:cNvPr>
          <p:cNvSpPr>
            <a:spLocks xmlns:a="http://schemas.openxmlformats.org/drawingml/2006/main" noGrp="1"/>
          </p:cNvSpPr>
          <p:nvPr/>
        </p:nvSpPr>
        <p:spPr>
          <a:xfrm xmlns:a="http://schemas.openxmlformats.org/drawingml/2006/main">
            <a:off x="666750" y="3752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Continue</a:t>
            </a:r>
          </a:p>
        </p:txBody>
      </p:sp>
      <p:sp>
        <p:nvSpPr>
          <p:cNvPr id="9" name="">
            <a:extLst xmlns:a="http://schemas.openxmlformats.org/drawingml/2006/main">
              <a:ext uri="{FF2B5EF4-FFF2-40B4-BE49-F238E27FC236}">
                <a16:creationId xmlns:a16="http://schemas.microsoft.com/office/drawing/2014/main" id="{BB119DD0-D4FE-4E7D-A52E-966620A839B3}"/>
              </a:ext>
            </a:extLst>
          </p:cNvPr>
          <p:cNvSpPr>
            <a:spLocks xmlns:a="http://schemas.openxmlformats.org/drawingml/2006/main" noGrp="1"/>
          </p:cNvSpPr>
          <p:nvPr/>
        </p:nvSpPr>
        <p:spPr>
          <a:xfrm xmlns:a="http://schemas.openxmlformats.org/drawingml/2006/main">
            <a:off x="3238500" y="3752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Existing Shopify checkout and optional guidance after purchase.</a:t>
            </a:r>
          </a:p>
        </p:txBody>
      </p:sp>
      <p:sp>
        <p:nvSpPr>
          <p:cNvPr id="10" name="">
            <a:extLst xmlns:a="http://schemas.openxmlformats.org/drawingml/2006/main">
              <a:ext uri="{FF2B5EF4-FFF2-40B4-BE49-F238E27FC236}">
                <a16:creationId xmlns:a16="http://schemas.microsoft.com/office/drawing/2014/main" id="{883C465D-0D35-461F-A67C-1E9D3094E1B0}"/>
              </a:ext>
            </a:extLst>
          </p:cNvPr>
          <p:cNvSpPr>
            <a:spLocks xmlns:a="http://schemas.openxmlformats.org/drawingml/2006/main" noGrp="1"/>
          </p:cNvSpPr>
          <p:nvPr/>
        </p:nvSpPr>
        <p:spPr>
          <a:xfrm xmlns:a="http://schemas.openxmlformats.org/drawingml/2006/main">
            <a:off x="666750" y="4705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Return</a:t>
            </a:r>
          </a:p>
        </p:txBody>
      </p:sp>
      <p:sp>
        <p:nvSpPr>
          <p:cNvPr id="11" name="">
            <a:extLst xmlns:a="http://schemas.openxmlformats.org/drawingml/2006/main">
              <a:ext uri="{FF2B5EF4-FFF2-40B4-BE49-F238E27FC236}">
                <a16:creationId xmlns:a16="http://schemas.microsoft.com/office/drawing/2014/main" id="{DDD89C65-EEF7-442F-B0D6-7AC2F737900C}"/>
              </a:ext>
            </a:extLst>
          </p:cNvPr>
          <p:cNvSpPr>
            <a:spLocks xmlns:a="http://schemas.openxmlformats.org/drawingml/2006/main" noGrp="1"/>
          </p:cNvSpPr>
          <p:nvPr/>
        </p:nvSpPr>
        <p:spPr>
          <a:xfrm xmlns:a="http://schemas.openxmlformats.org/drawingml/2006/main">
            <a:off x="3238500" y="4705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Voluntary practice check-in and a relevant next decision.</a:t>
            </a:r>
          </a:p>
        </p:txBody>
      </p:sp>
    </p:spTree>
    <p:extLst>
      <p:ext uri="{BB962C8B-B14F-4D97-AF65-F5344CB8AC3E}">
        <p14:creationId xmlns:p14="http://schemas.microsoft.com/office/powerpoint/2010/main" val="129237504"/>
      </p:ext>
    </p:extLst>
  </p:cSld>
</p:sld>
</file>

<file path=ppt/slides/slide4.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9516DD-6CC3-4CF4-AEC0-51FCC7EFAED3}"/>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Explainable personalisation</a:t>
            </a:r>
          </a:p>
        </p:txBody>
      </p:sp>
      <p:sp>
        <p:nvSpPr>
          <p:cNvPr id="2" name="">
            <a:extLst xmlns:a="http://schemas.openxmlformats.org/drawingml/2006/main">
              <a:ext uri="{FF2B5EF4-FFF2-40B4-BE49-F238E27FC236}">
                <a16:creationId xmlns:a16="http://schemas.microsoft.com/office/drawing/2014/main" id="{37522CBB-67CF-4487-B878-5D26F3900F41}"/>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Course application · Week 2: ELM, Fogg, choice overload and privacy · Prototype pending</a:t>
            </a:r>
          </a:p>
        </p:txBody>
      </p:sp>
      <p:sp>
        <p:nvSpPr>
          <p:cNvPr id="3" name="">
            <a:extLst xmlns:a="http://schemas.openxmlformats.org/drawingml/2006/main">
              <a:ext uri="{FF2B5EF4-FFF2-40B4-BE49-F238E27FC236}">
                <a16:creationId xmlns:a16="http://schemas.microsoft.com/office/drawing/2014/main" id="{6ECAA30F-4B6D-4D92-97E1-FFCB1691DA33}"/>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9CDA5AC-6D28-4873-9A03-73FF3B21AA60}"/>
              </a:ext>
            </a:extLst>
          </p:cNvPr>
          <p:cNvSpPr>
            <a:spLocks xmlns:a="http://schemas.openxmlformats.org/drawingml/2006/main" noGrp="1"/>
          </p:cNvSpPr>
          <p:nvPr/>
        </p:nvSpPr>
        <p:spPr>
          <a:xfrm xmlns:a="http://schemas.openxmlformats.org/drawingml/2006/main">
            <a:off x="6667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C392C"/>
                </a:solidFill>
                <a:latin typeface="Arial"/>
                <a:ea typeface="Arial"/>
                <a:cs typeface="Arial"/>
              </a:defRPr>
            </a:defPPr>
          </a:lstStyle>
          <a:p xmlns:a="http://schemas.openxmlformats.org/drawingml/2006/main">
            <a:pPr>
              <a:defRPr sz="2100" b="1">
                <a:solidFill>
                  <a:srgbClr val="8C392C"/>
                </a:solidFill>
                <a:latin typeface="Arial"/>
                <a:ea typeface="Arial"/>
                <a:cs typeface="Arial"/>
              </a:defRPr>
            </a:pPr>
            <a:r>
              <a:rPr sz="2100" b="1">
                <a:solidFill>
                  <a:srgbClr val="8C392C"/>
                </a:solidFill>
                <a:latin typeface="Arial"/>
                <a:ea typeface="Arial"/>
                <a:cs typeface="Arial"/>
              </a:rPr>
              <a:t>Customer interaction</a:t>
            </a:r>
          </a:p>
        </p:txBody>
      </p:sp>
      <p:sp>
        <p:nvSpPr>
          <p:cNvPr id="5" name="">
            <a:extLst xmlns:a="http://schemas.openxmlformats.org/drawingml/2006/main">
              <a:ext uri="{FF2B5EF4-FFF2-40B4-BE49-F238E27FC236}">
                <a16:creationId xmlns:a16="http://schemas.microsoft.com/office/drawing/2014/main" id="{AC736D28-7873-4A48-96CA-2F85CF16E9E4}"/>
              </a:ext>
            </a:extLst>
          </p:cNvPr>
          <p:cNvSpPr>
            <a:spLocks xmlns:a="http://schemas.openxmlformats.org/drawingml/2006/main" noGrp="1"/>
          </p:cNvSpPr>
          <p:nvPr/>
        </p:nvSpPr>
        <p:spPr>
          <a:xfrm xmlns:a="http://schemas.openxmlformats.org/drawingml/2006/main">
            <a:off x="666750" y="2514600"/>
            <a:ext cx="4762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5251E"/>
                </a:solidFill>
                <a:latin typeface="Arial"/>
                <a:ea typeface="Arial"/>
                <a:cs typeface="Arial"/>
              </a:defRPr>
            </a:defPPr>
          </a:lstStyle>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Declared need and available time</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One starting step with a reason</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Visible price and direct browsing</a:t>
            </a:r>
          </a:p>
        </p:txBody>
      </p:sp>
      <p:sp>
        <p:nvSpPr>
          <p:cNvPr id="6" name="">
            <a:extLst xmlns:a="http://schemas.openxmlformats.org/drawingml/2006/main">
              <a:ext uri="{FF2B5EF4-FFF2-40B4-BE49-F238E27FC236}">
                <a16:creationId xmlns:a16="http://schemas.microsoft.com/office/drawing/2014/main" id="{1C2A65CD-A00E-43BC-BE16-02762D550DF1}"/>
              </a:ext>
            </a:extLst>
          </p:cNvPr>
          <p:cNvSpPr>
            <a:spLocks xmlns:a="http://schemas.openxmlformats.org/drawingml/2006/main" noGrp="1"/>
          </p:cNvSpPr>
          <p:nvPr/>
        </p:nvSpPr>
        <p:spPr>
          <a:xfrm xmlns:a="http://schemas.openxmlformats.org/drawingml/2006/main">
            <a:off x="65722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C392C"/>
                </a:solidFill>
                <a:latin typeface="Arial"/>
                <a:ea typeface="Arial"/>
                <a:cs typeface="Arial"/>
              </a:defRPr>
            </a:defPPr>
          </a:lstStyle>
          <a:p xmlns:a="http://schemas.openxmlformats.org/drawingml/2006/main">
            <a:pPr>
              <a:defRPr sz="2100" b="1">
                <a:solidFill>
                  <a:srgbClr val="8C392C"/>
                </a:solidFill>
                <a:latin typeface="Arial"/>
                <a:ea typeface="Arial"/>
                <a:cs typeface="Arial"/>
              </a:defRPr>
            </a:pPr>
            <a:r>
              <a:rPr sz="2100" b="1">
                <a:solidFill>
                  <a:srgbClr val="8C392C"/>
                </a:solidFill>
                <a:latin typeface="Arial"/>
                <a:ea typeface="Arial"/>
                <a:cs typeface="Arial"/>
              </a:rPr>
              <a:t>Design and AI boundaries</a:t>
            </a:r>
          </a:p>
        </p:txBody>
      </p:sp>
      <p:sp>
        <p:nvSpPr>
          <p:cNvPr id="7" name="">
            <a:extLst xmlns:a="http://schemas.openxmlformats.org/drawingml/2006/main">
              <a:ext uri="{FF2B5EF4-FFF2-40B4-BE49-F238E27FC236}">
                <a16:creationId xmlns:a16="http://schemas.microsoft.com/office/drawing/2014/main" id="{20F2E2F2-784E-44AB-800F-5C2785F9FC38}"/>
              </a:ext>
            </a:extLst>
          </p:cNvPr>
          <p:cNvSpPr>
            <a:spLocks xmlns:a="http://schemas.openxmlformats.org/drawingml/2006/main" noGrp="1"/>
          </p:cNvSpPr>
          <p:nvPr/>
        </p:nvSpPr>
        <p:spPr>
          <a:xfrm xmlns:a="http://schemas.openxmlformats.org/drawingml/2006/main">
            <a:off x="6572250" y="2514600"/>
            <a:ext cx="4762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5251E"/>
                </a:solidFill>
                <a:latin typeface="Arial"/>
                <a:ea typeface="Arial"/>
                <a:cs typeface="Arial"/>
              </a:defRPr>
            </a:defPPr>
          </a:lstStyle>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Inspectable rules first</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Reviewed facts and optional dosha education</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No email gate or health diagnosis</a:t>
            </a:r>
          </a:p>
        </p:txBody>
      </p:sp>
    </p:spTree>
    <p:extLst>
      <p:ext uri="{BB962C8B-B14F-4D97-AF65-F5344CB8AC3E}">
        <p14:creationId xmlns:p14="http://schemas.microsoft.com/office/powerpoint/2010/main" val="1964140355"/>
      </p:ext>
    </p:extLst>
  </p:cSld>
</p:sld>
</file>

<file path=ppt/slides/slide5.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C2F686-ECFE-4908-BB9B-C38BE56BC10E}"/>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Practitioner social/live education</a:t>
            </a:r>
          </a:p>
        </p:txBody>
      </p:sp>
      <p:sp>
        <p:nvSpPr>
          <p:cNvPr id="2" name="">
            <a:extLst xmlns:a="http://schemas.openxmlformats.org/drawingml/2006/main">
              <a:ext uri="{FF2B5EF4-FFF2-40B4-BE49-F238E27FC236}">
                <a16:creationId xmlns:a16="http://schemas.microsoft.com/office/drawing/2014/main" id="{FDE7A4E7-FA86-44DA-A405-5E43E58E680B}"/>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Two chosen coursework areas: AI personalisation and social/live commerce · Proposed campaign</a:t>
            </a:r>
          </a:p>
        </p:txBody>
      </p:sp>
      <p:sp>
        <p:nvSpPr>
          <p:cNvPr id="3" name="">
            <a:extLst xmlns:a="http://schemas.openxmlformats.org/drawingml/2006/main">
              <a:ext uri="{FF2B5EF4-FFF2-40B4-BE49-F238E27FC236}">
                <a16:creationId xmlns:a16="http://schemas.microsoft.com/office/drawing/2014/main" id="{713D76FC-D4C1-4E1E-A071-E41166BDC421}"/>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DDA1243-0B78-4E91-AF0F-43B3B9932F63}"/>
              </a:ext>
            </a:extLst>
          </p:cNvPr>
          <p:cNvSpPr>
            <a:spLocks xmlns:a="http://schemas.openxmlformats.org/drawingml/2006/main" noGrp="1"/>
          </p:cNvSpPr>
          <p:nvPr/>
        </p:nvSpPr>
        <p:spPr>
          <a:xfrm xmlns:a="http://schemas.openxmlformats.org/drawingml/2006/main">
            <a:off x="666750" y="1847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Positioning</a:t>
            </a:r>
          </a:p>
        </p:txBody>
      </p:sp>
      <p:sp>
        <p:nvSpPr>
          <p:cNvPr id="5" name="">
            <a:extLst xmlns:a="http://schemas.openxmlformats.org/drawingml/2006/main">
              <a:ext uri="{FF2B5EF4-FFF2-40B4-BE49-F238E27FC236}">
                <a16:creationId xmlns:a16="http://schemas.microsoft.com/office/drawing/2014/main" id="{D1C50420-C21C-4E81-BBFB-D68B53F156E7}"/>
              </a:ext>
            </a:extLst>
          </p:cNvPr>
          <p:cNvSpPr>
            <a:spLocks xmlns:a="http://schemas.openxmlformats.org/drawingml/2006/main" noGrp="1"/>
          </p:cNvSpPr>
          <p:nvPr/>
        </p:nvSpPr>
        <p:spPr>
          <a:xfrm xmlns:a="http://schemas.openxmlformats.org/drawingml/2006/main">
            <a:off x="3238500" y="1847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Informed ritual practice, with cultural context explained accessibly.</a:t>
            </a:r>
          </a:p>
        </p:txBody>
      </p:sp>
      <p:sp>
        <p:nvSpPr>
          <p:cNvPr id="6" name="">
            <a:extLst xmlns:a="http://schemas.openxmlformats.org/drawingml/2006/main">
              <a:ext uri="{FF2B5EF4-FFF2-40B4-BE49-F238E27FC236}">
                <a16:creationId xmlns:a16="http://schemas.microsoft.com/office/drawing/2014/main" id="{063490A1-CEA5-428F-997A-E90A2149AC1E}"/>
              </a:ext>
            </a:extLst>
          </p:cNvPr>
          <p:cNvSpPr>
            <a:spLocks xmlns:a="http://schemas.openxmlformats.org/drawingml/2006/main" noGrp="1"/>
          </p:cNvSpPr>
          <p:nvPr/>
        </p:nvSpPr>
        <p:spPr>
          <a:xfrm xmlns:a="http://schemas.openxmlformats.org/drawingml/2006/main">
            <a:off x="666750"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Merchandising</a:t>
            </a:r>
          </a:p>
        </p:txBody>
      </p:sp>
      <p:sp>
        <p:nvSpPr>
          <p:cNvPr id="7" name="">
            <a:extLst xmlns:a="http://schemas.openxmlformats.org/drawingml/2006/main">
              <a:ext uri="{FF2B5EF4-FFF2-40B4-BE49-F238E27FC236}">
                <a16:creationId xmlns:a16="http://schemas.microsoft.com/office/drawing/2014/main" id="{C42DE053-06B6-4574-A269-4795D2A34B50}"/>
              </a:ext>
            </a:extLst>
          </p:cNvPr>
          <p:cNvSpPr>
            <a:spLocks xmlns:a="http://schemas.openxmlformats.org/drawingml/2006/main" noGrp="1"/>
          </p:cNvSpPr>
          <p:nvPr/>
        </p:nvSpPr>
        <p:spPr>
          <a:xfrm xmlns:a="http://schemas.openxmlformats.org/drawingml/2006/main">
            <a:off x="3238500" y="2800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A starter step, optional fuller routine and product-free practice.</a:t>
            </a:r>
          </a:p>
        </p:txBody>
      </p:sp>
      <p:sp>
        <p:nvSpPr>
          <p:cNvPr id="8" name="">
            <a:extLst xmlns:a="http://schemas.openxmlformats.org/drawingml/2006/main">
              <a:ext uri="{FF2B5EF4-FFF2-40B4-BE49-F238E27FC236}">
                <a16:creationId xmlns:a16="http://schemas.microsoft.com/office/drawing/2014/main" id="{C48C7624-B2B0-4EDE-AD64-C3F196BC614C}"/>
              </a:ext>
            </a:extLst>
          </p:cNvPr>
          <p:cNvSpPr>
            <a:spLocks xmlns:a="http://schemas.openxmlformats.org/drawingml/2006/main" noGrp="1"/>
          </p:cNvSpPr>
          <p:nvPr/>
        </p:nvSpPr>
        <p:spPr>
          <a:xfrm xmlns:a="http://schemas.openxmlformats.org/drawingml/2006/main">
            <a:off x="666750" y="3752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Pricing</a:t>
            </a:r>
          </a:p>
        </p:txBody>
      </p:sp>
      <p:sp>
        <p:nvSpPr>
          <p:cNvPr id="9" name="">
            <a:extLst xmlns:a="http://schemas.openxmlformats.org/drawingml/2006/main">
              <a:ext uri="{FF2B5EF4-FFF2-40B4-BE49-F238E27FC236}">
                <a16:creationId xmlns:a16="http://schemas.microsoft.com/office/drawing/2014/main" id="{F868E64A-1943-4C9C-A818-FD941555DC15}"/>
              </a:ext>
            </a:extLst>
          </p:cNvPr>
          <p:cNvSpPr>
            <a:spLocks xmlns:a="http://schemas.openxmlformats.org/drawingml/2006/main" noGrp="1"/>
          </p:cNvSpPr>
          <p:nvPr/>
        </p:nvSpPr>
        <p:spPr>
          <a:xfrm xmlns:a="http://schemas.openxmlformats.org/drawingml/2006/main">
            <a:off x="3238500" y="3752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Transparent total cost. Promotion decisions follow contribution.</a:t>
            </a:r>
          </a:p>
        </p:txBody>
      </p:sp>
      <p:sp>
        <p:nvSpPr>
          <p:cNvPr id="10" name="">
            <a:extLst xmlns:a="http://schemas.openxmlformats.org/drawingml/2006/main">
              <a:ext uri="{FF2B5EF4-FFF2-40B4-BE49-F238E27FC236}">
                <a16:creationId xmlns:a16="http://schemas.microsoft.com/office/drawing/2014/main" id="{5C889B4C-D6D1-4891-A3E4-DBF5887FAFA0}"/>
              </a:ext>
            </a:extLst>
          </p:cNvPr>
          <p:cNvSpPr>
            <a:spLocks xmlns:a="http://schemas.openxmlformats.org/drawingml/2006/main" noGrp="1"/>
          </p:cNvSpPr>
          <p:nvPr/>
        </p:nvSpPr>
        <p:spPr>
          <a:xfrm xmlns:a="http://schemas.openxmlformats.org/drawingml/2006/main">
            <a:off x="666750" y="4705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Experience</a:t>
            </a:r>
          </a:p>
        </p:txBody>
      </p:sp>
      <p:sp>
        <p:nvSpPr>
          <p:cNvPr id="11" name="">
            <a:extLst xmlns:a="http://schemas.openxmlformats.org/drawingml/2006/main">
              <a:ext uri="{FF2B5EF4-FFF2-40B4-BE49-F238E27FC236}">
                <a16:creationId xmlns:a16="http://schemas.microsoft.com/office/drawing/2014/main" id="{C1AEF126-8EA4-441C-9F3A-11CE623EC892}"/>
              </a:ext>
            </a:extLst>
          </p:cNvPr>
          <p:cNvSpPr>
            <a:spLocks xmlns:a="http://schemas.openxmlformats.org/drawingml/2006/main" noGrp="1"/>
          </p:cNvSpPr>
          <p:nvPr/>
        </p:nvSpPr>
        <p:spPr>
          <a:xfrm xmlns:a="http://schemas.openxmlformats.org/drawingml/2006/main">
            <a:off x="3238500" y="4705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Human demonstration, useful guidance and voluntary continuation.</a:t>
            </a:r>
          </a:p>
        </p:txBody>
      </p:sp>
    </p:spTree>
    <p:extLst>
      <p:ext uri="{BB962C8B-B14F-4D97-AF65-F5344CB8AC3E}">
        <p14:creationId xmlns:p14="http://schemas.microsoft.com/office/powerpoint/2010/main" val="1936145154"/>
      </p:ext>
    </p:extLst>
  </p:cSld>
</p:sld>
</file>

<file path=ppt/slides/slide6.xml><?xml version="1.0" encoding="utf-8"?>
<p:sld xmlns:p="http://schemas.openxmlformats.org/presentationml/2006/main">
  <p:cSld>
    <p:bg>
      <p:bgPr>
        <a:solidFill xmlns:a="http://schemas.openxmlformats.org/drawingml/2006/main">
          <a:srgbClr val="3525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6179A7-70E4-4657-BE10-2C55ED9B60A0}"/>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F5F0E7"/>
                </a:solidFill>
                <a:latin typeface="Georgia"/>
                <a:ea typeface="Georgia"/>
                <a:cs typeface="Georgia"/>
              </a:defRPr>
            </a:defPPr>
          </a:lstStyle>
          <a:p xmlns:a="http://schemas.openxmlformats.org/drawingml/2006/main">
            <a:pPr>
              <a:defRPr sz="3600" b="0">
                <a:solidFill>
                  <a:srgbClr val="F5F0E7"/>
                </a:solidFill>
                <a:latin typeface="Georgia"/>
                <a:ea typeface="Georgia"/>
                <a:cs typeface="Georgia"/>
              </a:defRPr>
            </a:pPr>
            <a:r>
              <a:rPr sz="3600" b="0">
                <a:solidFill>
                  <a:srgbClr val="F5F0E7"/>
                </a:solidFill>
                <a:latin typeface="Georgia"/>
                <a:ea typeface="Georgia"/>
                <a:cs typeface="Georgia"/>
              </a:rPr>
              <a:t>A new metric for ritual continuation</a:t>
            </a:r>
          </a:p>
        </p:txBody>
      </p:sp>
      <p:sp>
        <p:nvSpPr>
          <p:cNvPr id="2" name="">
            <a:extLst xmlns:a="http://schemas.openxmlformats.org/drawingml/2006/main">
              <a:ext uri="{FF2B5EF4-FFF2-40B4-BE49-F238E27FC236}">
                <a16:creationId xmlns:a16="http://schemas.microsoft.com/office/drawing/2014/main" id="{189CBFC9-4B7A-486B-BC17-16165189A208}"/>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EBEB0"/>
                </a:solidFill>
                <a:latin typeface="Arial"/>
                <a:ea typeface="Arial"/>
                <a:cs typeface="Arial"/>
              </a:defRPr>
            </a:defPPr>
          </a:lstStyle>
          <a:p xmlns:a="http://schemas.openxmlformats.org/drawingml/2006/main">
            <a:pPr>
              <a:defRPr sz="1200" b="0">
                <a:solidFill>
                  <a:srgbClr val="CEBEB0"/>
                </a:solidFill>
                <a:latin typeface="Arial"/>
                <a:ea typeface="Arial"/>
                <a:cs typeface="Arial"/>
              </a:defRPr>
            </a:pPr>
            <a:r>
              <a:rPr sz="1200" b="0">
                <a:solidFill>
                  <a:srgbClr val="CEBEB0"/>
                </a:solidFill>
                <a:latin typeface="Arial"/>
                <a:ea typeface="Arial"/>
                <a:cs typeface="Arial"/>
              </a:rPr>
              <a:t>Proposed day-21 protocol · No observed value or target · Response coverage is mandatory</a:t>
            </a:r>
          </a:p>
        </p:txBody>
      </p:sp>
      <p:sp>
        <p:nvSpPr>
          <p:cNvPr id="3" name="">
            <a:extLst xmlns:a="http://schemas.openxmlformats.org/drawingml/2006/main">
              <a:ext uri="{FF2B5EF4-FFF2-40B4-BE49-F238E27FC236}">
                <a16:creationId xmlns:a16="http://schemas.microsoft.com/office/drawing/2014/main" id="{65B28A93-CF94-41D0-82FD-68230FDE0CB9}"/>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CEBEB0"/>
                </a:solidFill>
                <a:latin typeface="Arial"/>
                <a:ea typeface="Arial"/>
                <a:cs typeface="Arial"/>
              </a:defRPr>
            </a:defPPr>
          </a:lstStyle>
          <a:p xmlns:a="http://schemas.openxmlformats.org/drawingml/2006/main">
            <a:pPr>
              <a:defRPr sz="1275" b="0">
                <a:solidFill>
                  <a:srgbClr val="CEBEB0"/>
                </a:solidFill>
                <a:latin typeface="Arial"/>
                <a:ea typeface="Arial"/>
                <a:cs typeface="Arial"/>
              </a:defRPr>
            </a:pPr>
            <a:r>
              <a:rPr sz="1275" b="0">
                <a:solidFill>
                  <a:srgbClr val="CEBEB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234469C-6632-445B-BA3C-1706E4781A4D}"/>
              </a:ext>
            </a:extLst>
          </p:cNvPr>
          <p:cNvSpPr>
            <a:spLocks xmlns:a="http://schemas.openxmlformats.org/drawingml/2006/main" noGrp="1"/>
          </p:cNvSpPr>
          <p:nvPr/>
        </p:nvSpPr>
        <p:spPr>
          <a:xfrm xmlns:a="http://schemas.openxmlformats.org/drawingml/2006/main">
            <a:off x="666750" y="1800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F5F0E7"/>
                </a:solidFill>
                <a:latin typeface="Georgia"/>
                <a:ea typeface="Georgia"/>
                <a:cs typeface="Georgia"/>
              </a:defRPr>
            </a:defPPr>
          </a:lstStyle>
          <a:p xmlns:a="http://schemas.openxmlformats.org/drawingml/2006/main">
            <a:pPr>
              <a:defRPr sz="3300" b="0">
                <a:solidFill>
                  <a:srgbClr val="F5F0E7"/>
                </a:solidFill>
                <a:latin typeface="Georgia"/>
                <a:ea typeface="Georgia"/>
                <a:cs typeface="Georgia"/>
              </a:defRPr>
            </a:pPr>
            <a:r>
              <a:rPr sz="3300" b="0">
                <a:solidFill>
                  <a:srgbClr val="F5F0E7"/>
                </a:solidFill>
                <a:latin typeface="Georgia"/>
                <a:ea typeface="Georgia"/>
                <a:cs typeface="Georgia"/>
              </a:rPr>
              <a:t>Ritual Continuation Rate</a:t>
            </a:r>
          </a:p>
        </p:txBody>
      </p:sp>
      <p:sp>
        <p:nvSpPr>
          <p:cNvPr id="5" name="">
            <a:extLst xmlns:a="http://schemas.openxmlformats.org/drawingml/2006/main">
              <a:ext uri="{FF2B5EF4-FFF2-40B4-BE49-F238E27FC236}">
                <a16:creationId xmlns:a16="http://schemas.microsoft.com/office/drawing/2014/main" id="{9F076C0F-C323-4672-A449-341A2E02973F}"/>
              </a:ext>
            </a:extLst>
          </p:cNvPr>
          <p:cNvSpPr>
            <a:spLocks xmlns:a="http://schemas.openxmlformats.org/drawingml/2006/main" noGrp="1"/>
          </p:cNvSpPr>
          <p:nvPr/>
        </p:nvSpPr>
        <p:spPr>
          <a:xfrm xmlns:a="http://schemas.openxmlformats.org/drawingml/2006/main">
            <a:off x="666750" y="27336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5F0E7"/>
                </a:solidFill>
                <a:latin typeface="Arial"/>
                <a:ea typeface="Arial"/>
                <a:cs typeface="Arial"/>
              </a:defRPr>
            </a:defPPr>
          </a:lstStyle>
          <a:p xmlns:a="http://schemas.openxmlformats.org/drawingml/2006/main">
            <a:pPr>
              <a:defRPr sz="2550" b="0">
                <a:solidFill>
                  <a:srgbClr val="F5F0E7"/>
                </a:solidFill>
                <a:latin typeface="Arial"/>
                <a:ea typeface="Arial"/>
                <a:cs typeface="Arial"/>
              </a:defRPr>
            </a:pPr>
            <a:r>
              <a:rPr sz="2550" b="0">
                <a:solidFill>
                  <a:srgbClr val="F5F0E7"/>
                </a:solidFill>
                <a:latin typeface="Arial"/>
                <a:ea typeface="Arial"/>
                <a:cs typeface="Arial"/>
              </a:rPr>
              <a:t>Eligible respondents meeting agreed practice threshold</a:t>
            </a:r>
          </a:p>
          <a:p xmlns:a="http://schemas.openxmlformats.org/drawingml/2006/main">
            <a:pPr>
              <a:defRPr sz="2550" b="0">
                <a:solidFill>
                  <a:srgbClr val="F5F0E7"/>
                </a:solidFill>
                <a:latin typeface="Arial"/>
                <a:ea typeface="Arial"/>
                <a:cs typeface="Arial"/>
              </a:defRPr>
            </a:pPr>
            <a:r>
              <a:rPr sz="2550" b="0">
                <a:solidFill>
                  <a:srgbClr val="F5F0E7"/>
                </a:solidFill>
                <a:latin typeface="Arial"/>
                <a:ea typeface="Arial"/>
                <a:cs typeface="Arial"/>
              </a:rPr>
              <a:t>÷ Eligible responding recipients at day 21</a:t>
            </a:r>
          </a:p>
        </p:txBody>
      </p:sp>
      <p:sp>
        <p:nvSpPr>
          <p:cNvPr id="6" name="">
            <a:extLst xmlns:a="http://schemas.openxmlformats.org/drawingml/2006/main">
              <a:ext uri="{FF2B5EF4-FFF2-40B4-BE49-F238E27FC236}">
                <a16:creationId xmlns:a16="http://schemas.microsoft.com/office/drawing/2014/main" id="{0C859732-0FC2-4BCC-80AE-B3DAF730BEA1}"/>
              </a:ext>
            </a:extLst>
          </p:cNvPr>
          <p:cNvSpPr>
            <a:spLocks xmlns:a="http://schemas.openxmlformats.org/drawingml/2006/main" noGrp="1"/>
          </p:cNvSpPr>
          <p:nvPr/>
        </p:nvSpPr>
        <p:spPr>
          <a:xfrm xmlns:a="http://schemas.openxmlformats.org/drawingml/2006/main">
            <a:off x="666750" y="41719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D8B9A7"/>
                </a:solidFill>
                <a:latin typeface="Arial"/>
                <a:ea typeface="Arial"/>
                <a:cs typeface="Arial"/>
              </a:defRPr>
            </a:defPPr>
          </a:lstStyle>
          <a:p xmlns:a="http://schemas.openxmlformats.org/drawingml/2006/main">
            <a:pPr>
              <a:defRPr sz="1950" b="1">
                <a:solidFill>
                  <a:srgbClr val="D8B9A7"/>
                </a:solidFill>
                <a:latin typeface="Arial"/>
                <a:ea typeface="Arial"/>
                <a:cs typeface="Arial"/>
              </a:defRPr>
            </a:pPr>
            <a:r>
              <a:rPr sz="1950" b="1">
                <a:solidFill>
                  <a:srgbClr val="D8B9A7"/>
                </a:solidFill>
                <a:latin typeface="Arial"/>
                <a:ea typeface="Arial"/>
                <a:cs typeface="Arial"/>
              </a:rPr>
              <a:t>Always alongside</a:t>
            </a:r>
          </a:p>
        </p:txBody>
      </p:sp>
      <p:sp>
        <p:nvSpPr>
          <p:cNvPr id="7" name="">
            <a:extLst xmlns:a="http://schemas.openxmlformats.org/drawingml/2006/main">
              <a:ext uri="{FF2B5EF4-FFF2-40B4-BE49-F238E27FC236}">
                <a16:creationId xmlns:a16="http://schemas.microsoft.com/office/drawing/2014/main" id="{A6556522-95E6-42E3-9F55-7E8D80EE0242}"/>
              </a:ext>
            </a:extLst>
          </p:cNvPr>
          <p:cNvSpPr>
            <a:spLocks xmlns:a="http://schemas.openxmlformats.org/drawingml/2006/main" noGrp="1"/>
          </p:cNvSpPr>
          <p:nvPr/>
        </p:nvSpPr>
        <p:spPr>
          <a:xfrm xmlns:a="http://schemas.openxmlformats.org/drawingml/2006/main">
            <a:off x="666750" y="4762500"/>
            <a:ext cx="10382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0E7"/>
                </a:solidFill>
                <a:latin typeface="Arial"/>
                <a:ea typeface="Arial"/>
                <a:cs typeface="Arial"/>
              </a:defRPr>
            </a:defPPr>
          </a:lstStyle>
          <a:p xmlns:a="http://schemas.openxmlformats.org/drawingml/2006/main">
            <a:pPr>
              <a:defRPr sz="2175" b="0">
                <a:solidFill>
                  <a:srgbClr val="F5F0E7"/>
                </a:solidFill>
                <a:latin typeface="Arial"/>
                <a:ea typeface="Arial"/>
                <a:cs typeface="Arial"/>
              </a:defRPr>
            </a:pPr>
            <a:r>
              <a:rPr sz="2175" b="0">
                <a:solidFill>
                  <a:srgbClr val="F5F0E7"/>
                </a:solidFill>
                <a:latin typeface="Arial"/>
                <a:ea typeface="Arial"/>
                <a:cs typeface="Arial"/>
              </a:rPr>
              <a:t>Response coverage and counts</a:t>
            </a:r>
          </a:p>
          <a:p xmlns:a="http://schemas.openxmlformats.org/drawingml/2006/main">
            <a:pPr>
              <a:defRPr sz="2175" b="0">
                <a:solidFill>
                  <a:srgbClr val="F5F0E7"/>
                </a:solidFill>
                <a:latin typeface="Arial"/>
                <a:ea typeface="Arial"/>
                <a:cs typeface="Arial"/>
              </a:defRPr>
            </a:pPr>
            <a:r>
              <a:rPr sz="2175" b="0">
                <a:solidFill>
                  <a:srgbClr val="F5F0E7"/>
                </a:solidFill>
                <a:latin typeface="Arial"/>
                <a:ea typeface="Arial"/>
                <a:cs typeface="Arial"/>
              </a:rPr>
              <a:t>Contribution after acquisition</a:t>
            </a:r>
          </a:p>
          <a:p xmlns:a="http://schemas.openxmlformats.org/drawingml/2006/main">
            <a:pPr>
              <a:defRPr sz="2175" b="0">
                <a:solidFill>
                  <a:srgbClr val="F5F0E7"/>
                </a:solidFill>
                <a:latin typeface="Arial"/>
                <a:ea typeface="Arial"/>
                <a:cs typeface="Arial"/>
              </a:defRPr>
            </a:pPr>
            <a:r>
              <a:rPr sz="2175" b="0">
                <a:solidFill>
                  <a:srgbClr val="F5F0E7"/>
                </a:solidFill>
                <a:latin typeface="Arial"/>
                <a:ea typeface="Arial"/>
                <a:cs typeface="Arial"/>
              </a:rPr>
              <a:t>Matured 90-day second purchase</a:t>
            </a:r>
          </a:p>
        </p:txBody>
      </p:sp>
    </p:spTree>
    <p:extLst>
      <p:ext uri="{BB962C8B-B14F-4D97-AF65-F5344CB8AC3E}">
        <p14:creationId xmlns:p14="http://schemas.microsoft.com/office/powerpoint/2010/main" val="1433568165"/>
      </p:ext>
    </p:extLst>
  </p:cSld>
</p:sld>
</file>

<file path=ppt/slides/slide7.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0FA884-D936-4219-8E8D-2983D3720E65}"/>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Pilot economics and decision gates</a:t>
            </a:r>
          </a:p>
        </p:txBody>
      </p:sp>
      <p:sp>
        <p:nvSpPr>
          <p:cNvPr id="2" name="">
            <a:extLst xmlns:a="http://schemas.openxmlformats.org/drawingml/2006/main">
              <a:ext uri="{FF2B5EF4-FFF2-40B4-BE49-F238E27FC236}">
                <a16:creationId xmlns:a16="http://schemas.microsoft.com/office/drawing/2014/main" id="{B7818A28-63D0-493C-8030-855C1C2230AF}"/>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Proposed experiment · Existing financial workbooks contain scenarios, not promised benefits</a:t>
            </a:r>
          </a:p>
        </p:txBody>
      </p:sp>
      <p:sp>
        <p:nvSpPr>
          <p:cNvPr id="3" name="">
            <a:extLst xmlns:a="http://schemas.openxmlformats.org/drawingml/2006/main">
              <a:ext uri="{FF2B5EF4-FFF2-40B4-BE49-F238E27FC236}">
                <a16:creationId xmlns:a16="http://schemas.microsoft.com/office/drawing/2014/main" id="{5F875D6B-81E8-454C-BC3E-9407F5A4704E}"/>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AE3E42B-08A9-49E1-A367-09A581570B6D}"/>
              </a:ext>
            </a:extLst>
          </p:cNvPr>
          <p:cNvSpPr>
            <a:spLocks xmlns:a="http://schemas.openxmlformats.org/drawingml/2006/main" noGrp="1"/>
          </p:cNvSpPr>
          <p:nvPr/>
        </p:nvSpPr>
        <p:spPr>
          <a:xfrm xmlns:a="http://schemas.openxmlformats.org/drawingml/2006/main">
            <a:off x="6667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C392C"/>
                </a:solidFill>
                <a:latin typeface="Arial"/>
                <a:ea typeface="Arial"/>
                <a:cs typeface="Arial"/>
              </a:defRPr>
            </a:defPPr>
          </a:lstStyle>
          <a:p xmlns:a="http://schemas.openxmlformats.org/drawingml/2006/main">
            <a:pPr>
              <a:defRPr sz="2100" b="1">
                <a:solidFill>
                  <a:srgbClr val="8C392C"/>
                </a:solidFill>
                <a:latin typeface="Arial"/>
                <a:ea typeface="Arial"/>
                <a:cs typeface="Arial"/>
              </a:defRPr>
            </a:pPr>
            <a:r>
              <a:rPr sz="2100" b="1">
                <a:solidFill>
                  <a:srgbClr val="8C392C"/>
                </a:solidFill>
                <a:latin typeface="Arial"/>
                <a:ea typeface="Arial"/>
                <a:cs typeface="Arial"/>
              </a:rPr>
              <a:t>Evidence before a live pilot</a:t>
            </a:r>
          </a:p>
        </p:txBody>
      </p:sp>
      <p:sp>
        <p:nvSpPr>
          <p:cNvPr id="5" name="">
            <a:extLst xmlns:a="http://schemas.openxmlformats.org/drawingml/2006/main">
              <a:ext uri="{FF2B5EF4-FFF2-40B4-BE49-F238E27FC236}">
                <a16:creationId xmlns:a16="http://schemas.microsoft.com/office/drawing/2014/main" id="{275F0792-4D05-408C-9C94-2C0A97F0A79E}"/>
              </a:ext>
            </a:extLst>
          </p:cNvPr>
          <p:cNvSpPr>
            <a:spLocks xmlns:a="http://schemas.openxmlformats.org/drawingml/2006/main" noGrp="1"/>
          </p:cNvSpPr>
          <p:nvPr/>
        </p:nvSpPr>
        <p:spPr>
          <a:xfrm xmlns:a="http://schemas.openxmlformats.org/drawingml/2006/main">
            <a:off x="666750" y="2514600"/>
            <a:ext cx="4762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5251E"/>
                </a:solidFill>
                <a:latin typeface="Arial"/>
                <a:ea typeface="Arial"/>
                <a:cs typeface="Arial"/>
              </a:defRPr>
            </a:defPPr>
          </a:lstStyle>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Test task comprehension</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Reconcile orders, costs and spending</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Agree control, duration and budget</a:t>
            </a:r>
          </a:p>
        </p:txBody>
      </p:sp>
      <p:sp>
        <p:nvSpPr>
          <p:cNvPr id="6" name="">
            <a:extLst xmlns:a="http://schemas.openxmlformats.org/drawingml/2006/main">
              <a:ext uri="{FF2B5EF4-FFF2-40B4-BE49-F238E27FC236}">
                <a16:creationId xmlns:a16="http://schemas.microsoft.com/office/drawing/2014/main" id="{4153F51C-FBB8-49C8-8AC3-04CFE942C191}"/>
              </a:ext>
            </a:extLst>
          </p:cNvPr>
          <p:cNvSpPr>
            <a:spLocks xmlns:a="http://schemas.openxmlformats.org/drawingml/2006/main" noGrp="1"/>
          </p:cNvSpPr>
          <p:nvPr/>
        </p:nvSpPr>
        <p:spPr>
          <a:xfrm xmlns:a="http://schemas.openxmlformats.org/drawingml/2006/main">
            <a:off x="65722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8C392C"/>
                </a:solidFill>
                <a:latin typeface="Arial"/>
                <a:ea typeface="Arial"/>
                <a:cs typeface="Arial"/>
              </a:defRPr>
            </a:defPPr>
          </a:lstStyle>
          <a:p xmlns:a="http://schemas.openxmlformats.org/drawingml/2006/main">
            <a:pPr>
              <a:defRPr sz="2100" b="1">
                <a:solidFill>
                  <a:srgbClr val="8C392C"/>
                </a:solidFill>
                <a:latin typeface="Arial"/>
                <a:ea typeface="Arial"/>
                <a:cs typeface="Arial"/>
              </a:defRPr>
            </a:pPr>
            <a:r>
              <a:rPr sz="2100" b="1">
                <a:solidFill>
                  <a:srgbClr val="8C392C"/>
                </a:solidFill>
                <a:latin typeface="Arial"/>
                <a:ea typeface="Arial"/>
                <a:cs typeface="Arial"/>
              </a:rPr>
              <a:t>Decision to continue</a:t>
            </a:r>
          </a:p>
        </p:txBody>
      </p:sp>
      <p:sp>
        <p:nvSpPr>
          <p:cNvPr id="7" name="">
            <a:extLst xmlns:a="http://schemas.openxmlformats.org/drawingml/2006/main">
              <a:ext uri="{FF2B5EF4-FFF2-40B4-BE49-F238E27FC236}">
                <a16:creationId xmlns:a16="http://schemas.microsoft.com/office/drawing/2014/main" id="{80624D12-25C3-49C1-A79B-A728ABDA0C1A}"/>
              </a:ext>
            </a:extLst>
          </p:cNvPr>
          <p:cNvSpPr>
            <a:spLocks xmlns:a="http://schemas.openxmlformats.org/drawingml/2006/main" noGrp="1"/>
          </p:cNvSpPr>
          <p:nvPr/>
        </p:nvSpPr>
        <p:spPr>
          <a:xfrm xmlns:a="http://schemas.openxmlformats.org/drawingml/2006/main">
            <a:off x="6572250" y="2514600"/>
            <a:ext cx="4762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35251E"/>
                </a:solidFill>
                <a:latin typeface="Arial"/>
                <a:ea typeface="Arial"/>
                <a:cs typeface="Arial"/>
              </a:defRPr>
            </a:defPPr>
          </a:lstStyle>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Incremental contribution covers costs</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Customer understanding holds</a:t>
            </a:r>
          </a:p>
          <a:p xmlns:a="http://schemas.openxmlformats.org/drawingml/2006/main">
            <a:r>
              <a:t/>
            </a:r>
          </a:p>
          <a:p xmlns:a="http://schemas.openxmlformats.org/drawingml/2006/main">
            <a:pPr>
              <a:defRPr sz="2175" b="0">
                <a:solidFill>
                  <a:srgbClr val="35251E"/>
                </a:solidFill>
                <a:latin typeface="Arial"/>
                <a:ea typeface="Arial"/>
                <a:cs typeface="Arial"/>
              </a:defRPr>
            </a:pPr>
            <a:r>
              <a:rPr sz="2175" b="0">
                <a:solidFill>
                  <a:srgbClr val="35251E"/>
                </a:solidFill>
                <a:latin typeface="Arial"/>
                <a:ea typeface="Arial"/>
                <a:cs typeface="Arial"/>
              </a:rPr>
              <a:t>Workload and complaints stay acceptable</a:t>
            </a:r>
          </a:p>
        </p:txBody>
      </p:sp>
    </p:spTree>
    <p:extLst>
      <p:ext uri="{BB962C8B-B14F-4D97-AF65-F5344CB8AC3E}">
        <p14:creationId xmlns:p14="http://schemas.microsoft.com/office/powerpoint/2010/main" val="1720659584"/>
      </p:ext>
    </p:extLst>
  </p:cSld>
</p:sld>
</file>

<file path=ppt/slides/slide8.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FCA140-03F8-47C5-9E66-406E16AD7C2C}"/>
              </a:ext>
            </a:extLst>
          </p:cNvPr>
          <p:cNvSpPr>
            <a:spLocks xmlns:a="http://schemas.openxmlformats.org/drawingml/2006/main" noGrp="1"/>
          </p:cNvSpPr>
          <p:nvPr/>
        </p:nvSpPr>
        <p:spPr>
          <a:xfrm xmlns:a="http://schemas.openxmlformats.org/drawingml/2006/main">
            <a:off x="666750" y="5143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35251E"/>
                </a:solidFill>
                <a:latin typeface="Georgia"/>
                <a:ea typeface="Georgia"/>
                <a:cs typeface="Georgia"/>
              </a:defRPr>
            </a:defPPr>
          </a:lstStyle>
          <a:p xmlns:a="http://schemas.openxmlformats.org/drawingml/2006/main">
            <a:pPr>
              <a:defRPr sz="3600" b="0">
                <a:solidFill>
                  <a:srgbClr val="35251E"/>
                </a:solidFill>
                <a:latin typeface="Georgia"/>
                <a:ea typeface="Georgia"/>
                <a:cs typeface="Georgia"/>
              </a:defRPr>
            </a:pPr>
            <a:r>
              <a:rPr sz="3600" b="0">
                <a:solidFill>
                  <a:srgbClr val="35251E"/>
                </a:solidFill>
                <a:latin typeface="Georgia"/>
                <a:ea typeface="Georgia"/>
                <a:cs typeface="Georgia"/>
              </a:rPr>
              <a:t>Recommendation and next decision</a:t>
            </a:r>
          </a:p>
        </p:txBody>
      </p:sp>
      <p:sp>
        <p:nvSpPr>
          <p:cNvPr id="2" name="">
            <a:extLst xmlns:a="http://schemas.openxmlformats.org/drawingml/2006/main">
              <a:ext uri="{FF2B5EF4-FFF2-40B4-BE49-F238E27FC236}">
                <a16:creationId xmlns:a16="http://schemas.microsoft.com/office/drawing/2014/main" id="{B17205DB-E147-4DEA-A305-B0BD183FCC51}"/>
              </a:ext>
            </a:extLst>
          </p:cNvPr>
          <p:cNvSpPr>
            <a:spLocks xmlns:a="http://schemas.openxmlformats.org/drawingml/2006/main" noGrp="1"/>
          </p:cNvSpPr>
          <p:nvPr/>
        </p:nvSpPr>
        <p:spPr>
          <a:xfrm xmlns:a="http://schemas.openxmlformats.org/drawingml/2006/main">
            <a:off x="666750" y="62198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86457"/>
                </a:solidFill>
                <a:latin typeface="Arial"/>
                <a:ea typeface="Arial"/>
                <a:cs typeface="Arial"/>
              </a:defRPr>
            </a:defPPr>
          </a:lstStyle>
          <a:p xmlns:a="http://schemas.openxmlformats.org/drawingml/2006/main">
            <a:pPr>
              <a:defRPr sz="1200" b="0">
                <a:solidFill>
                  <a:srgbClr val="786457"/>
                </a:solidFill>
                <a:latin typeface="Arial"/>
                <a:ea typeface="Arial"/>
                <a:cs typeface="Arial"/>
              </a:defRPr>
            </a:pPr>
            <a:r>
              <a:rPr sz="1200" b="0">
                <a:solidFill>
                  <a:srgbClr val="786457"/>
                </a:solidFill>
                <a:latin typeface="Arial"/>
                <a:ea typeface="Arial"/>
                <a:cs typeface="Arial"/>
              </a:rPr>
              <a:t>Initial recommendation for team/client review · Six-minute pitch ends here · Supporting notes are a separate document</a:t>
            </a:r>
          </a:p>
        </p:txBody>
      </p:sp>
      <p:sp>
        <p:nvSpPr>
          <p:cNvPr id="3" name="">
            <a:extLst xmlns:a="http://schemas.openxmlformats.org/drawingml/2006/main">
              <a:ext uri="{FF2B5EF4-FFF2-40B4-BE49-F238E27FC236}">
                <a16:creationId xmlns:a16="http://schemas.microsoft.com/office/drawing/2014/main" id="{9195E076-2646-4330-840C-499CD812FF4E}"/>
              </a:ext>
            </a:extLst>
          </p:cNvPr>
          <p:cNvSpPr>
            <a:spLocks xmlns:a="http://schemas.openxmlformats.org/drawingml/2006/main" noGrp="1"/>
          </p:cNvSpPr>
          <p:nvPr/>
        </p:nvSpPr>
        <p:spPr>
          <a:xfrm xmlns:a="http://schemas.openxmlformats.org/drawingml/2006/main">
            <a:off x="10858500" y="6219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86457"/>
                </a:solidFill>
                <a:latin typeface="Arial"/>
                <a:ea typeface="Arial"/>
                <a:cs typeface="Arial"/>
              </a:defRPr>
            </a:defPPr>
          </a:lstStyle>
          <a:p xmlns:a="http://schemas.openxmlformats.org/drawingml/2006/main">
            <a:pPr>
              <a:defRPr sz="1275" b="0">
                <a:solidFill>
                  <a:srgbClr val="786457"/>
                </a:solidFill>
                <a:latin typeface="Arial"/>
                <a:ea typeface="Arial"/>
                <a:cs typeface="Arial"/>
              </a:defRPr>
            </a:pPr>
            <a:r>
              <a:rPr sz="1275" b="0">
                <a:solidFill>
                  <a:srgbClr val="786457"/>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327B6FA-51A9-4A41-866D-8944DDB7C572}"/>
              </a:ext>
            </a:extLst>
          </p:cNvPr>
          <p:cNvSpPr>
            <a:spLocks xmlns:a="http://schemas.openxmlformats.org/drawingml/2006/main" noGrp="1"/>
          </p:cNvSpPr>
          <p:nvPr/>
        </p:nvSpPr>
        <p:spPr>
          <a:xfrm xmlns:a="http://schemas.openxmlformats.org/drawingml/2006/main">
            <a:off x="666750" y="1847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Immediate</a:t>
            </a:r>
          </a:p>
        </p:txBody>
      </p:sp>
      <p:sp>
        <p:nvSpPr>
          <p:cNvPr id="5" name="">
            <a:extLst xmlns:a="http://schemas.openxmlformats.org/drawingml/2006/main">
              <a:ext uri="{FF2B5EF4-FFF2-40B4-BE49-F238E27FC236}">
                <a16:creationId xmlns:a16="http://schemas.microsoft.com/office/drawing/2014/main" id="{E09E3F14-40EA-47D1-AD33-BF2BA4C667FD}"/>
              </a:ext>
            </a:extLst>
          </p:cNvPr>
          <p:cNvSpPr>
            <a:spLocks xmlns:a="http://schemas.openxmlformats.org/drawingml/2006/main" noGrp="1"/>
          </p:cNvSpPr>
          <p:nvPr/>
        </p:nvSpPr>
        <p:spPr>
          <a:xfrm xmlns:a="http://schemas.openxmlformats.org/drawingml/2006/main">
            <a:off x="3238500" y="1847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Journey audit, data reconciliation and a local discovery prototype.</a:t>
            </a:r>
          </a:p>
        </p:txBody>
      </p:sp>
      <p:sp>
        <p:nvSpPr>
          <p:cNvPr id="6" name="">
            <a:extLst xmlns:a="http://schemas.openxmlformats.org/drawingml/2006/main">
              <a:ext uri="{FF2B5EF4-FFF2-40B4-BE49-F238E27FC236}">
                <a16:creationId xmlns:a16="http://schemas.microsoft.com/office/drawing/2014/main" id="{B24F6BFA-EF42-40FD-A0EF-4369C40D93F2}"/>
              </a:ext>
            </a:extLst>
          </p:cNvPr>
          <p:cNvSpPr>
            <a:spLocks xmlns:a="http://schemas.openxmlformats.org/drawingml/2006/main" noGrp="1"/>
          </p:cNvSpPr>
          <p:nvPr/>
        </p:nvSpPr>
        <p:spPr>
          <a:xfrm xmlns:a="http://schemas.openxmlformats.org/drawingml/2006/main">
            <a:off x="666750"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Small pilot</a:t>
            </a:r>
          </a:p>
        </p:txBody>
      </p:sp>
      <p:sp>
        <p:nvSpPr>
          <p:cNvPr id="7" name="">
            <a:extLst xmlns:a="http://schemas.openxmlformats.org/drawingml/2006/main">
              <a:ext uri="{FF2B5EF4-FFF2-40B4-BE49-F238E27FC236}">
                <a16:creationId xmlns:a16="http://schemas.microsoft.com/office/drawing/2014/main" id="{0B58DE36-B8CE-4943-910A-BFCDEFBAD9E9}"/>
              </a:ext>
            </a:extLst>
          </p:cNvPr>
          <p:cNvSpPr>
            <a:spLocks xmlns:a="http://schemas.openxmlformats.org/drawingml/2006/main" noGrp="1"/>
          </p:cNvSpPr>
          <p:nvPr/>
        </p:nvSpPr>
        <p:spPr>
          <a:xfrm xmlns:a="http://schemas.openxmlformats.org/drawingml/2006/main">
            <a:off x="3238500" y="2800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One reviewed campaign with an owner, budget and evaluation plan.</a:t>
            </a:r>
          </a:p>
        </p:txBody>
      </p:sp>
      <p:sp>
        <p:nvSpPr>
          <p:cNvPr id="8" name="">
            <a:extLst xmlns:a="http://schemas.openxmlformats.org/drawingml/2006/main">
              <a:ext uri="{FF2B5EF4-FFF2-40B4-BE49-F238E27FC236}">
                <a16:creationId xmlns:a16="http://schemas.microsoft.com/office/drawing/2014/main" id="{8FBFF79E-AA88-447C-ACB8-EE0A71C3BACD}"/>
              </a:ext>
            </a:extLst>
          </p:cNvPr>
          <p:cNvSpPr>
            <a:spLocks xmlns:a="http://schemas.openxmlformats.org/drawingml/2006/main" noGrp="1"/>
          </p:cNvSpPr>
          <p:nvPr/>
        </p:nvSpPr>
        <p:spPr>
          <a:xfrm xmlns:a="http://schemas.openxmlformats.org/drawingml/2006/main">
            <a:off x="666750" y="37528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Longer term</a:t>
            </a:r>
          </a:p>
        </p:txBody>
      </p:sp>
      <p:sp>
        <p:nvSpPr>
          <p:cNvPr id="9" name="">
            <a:extLst xmlns:a="http://schemas.openxmlformats.org/drawingml/2006/main">
              <a:ext uri="{FF2B5EF4-FFF2-40B4-BE49-F238E27FC236}">
                <a16:creationId xmlns:a16="http://schemas.microsoft.com/office/drawing/2014/main" id="{F6A09A98-A0ED-4EC3-A2EF-AA0F86124979}"/>
              </a:ext>
            </a:extLst>
          </p:cNvPr>
          <p:cNvSpPr>
            <a:spLocks xmlns:a="http://schemas.openxmlformats.org/drawingml/2006/main" noGrp="1"/>
          </p:cNvSpPr>
          <p:nvPr/>
        </p:nvSpPr>
        <p:spPr>
          <a:xfrm xmlns:a="http://schemas.openxmlformats.org/drawingml/2006/main">
            <a:off x="3238500" y="37528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Knowledge assets and practitioner workflows after evidence.</a:t>
            </a:r>
          </a:p>
        </p:txBody>
      </p:sp>
      <p:sp>
        <p:nvSpPr>
          <p:cNvPr id="10" name="">
            <a:extLst xmlns:a="http://schemas.openxmlformats.org/drawingml/2006/main">
              <a:ext uri="{FF2B5EF4-FFF2-40B4-BE49-F238E27FC236}">
                <a16:creationId xmlns:a16="http://schemas.microsoft.com/office/drawing/2014/main" id="{28A67F13-18B0-437D-8A58-CB538290AAEF}"/>
              </a:ext>
            </a:extLst>
          </p:cNvPr>
          <p:cNvSpPr>
            <a:spLocks xmlns:a="http://schemas.openxmlformats.org/drawingml/2006/main" noGrp="1"/>
          </p:cNvSpPr>
          <p:nvPr/>
        </p:nvSpPr>
        <p:spPr>
          <a:xfrm xmlns:a="http://schemas.openxmlformats.org/drawingml/2006/main">
            <a:off x="666750" y="4705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8C392C"/>
                </a:solidFill>
                <a:latin typeface="Arial"/>
                <a:ea typeface="Arial"/>
                <a:cs typeface="Arial"/>
              </a:defRPr>
            </a:defPPr>
          </a:lstStyle>
          <a:p xmlns:a="http://schemas.openxmlformats.org/drawingml/2006/main">
            <a:pPr>
              <a:defRPr sz="1950" b="1">
                <a:solidFill>
                  <a:srgbClr val="8C392C"/>
                </a:solidFill>
                <a:latin typeface="Arial"/>
                <a:ea typeface="Arial"/>
                <a:cs typeface="Arial"/>
              </a:defRPr>
            </a:pPr>
            <a:r>
              <a:rPr sz="1950" b="1">
                <a:solidFill>
                  <a:srgbClr val="8C392C"/>
                </a:solidFill>
                <a:latin typeface="Arial"/>
                <a:ea typeface="Arial"/>
                <a:cs typeface="Arial"/>
              </a:rPr>
              <a:t>Excluded for now</a:t>
            </a:r>
          </a:p>
        </p:txBody>
      </p:sp>
      <p:sp>
        <p:nvSpPr>
          <p:cNvPr id="11" name="">
            <a:extLst xmlns:a="http://schemas.openxmlformats.org/drawingml/2006/main">
              <a:ext uri="{FF2B5EF4-FFF2-40B4-BE49-F238E27FC236}">
                <a16:creationId xmlns:a16="http://schemas.microsoft.com/office/drawing/2014/main" id="{B08FC58E-CA08-41A6-B252-D5A700870C67}"/>
              </a:ext>
            </a:extLst>
          </p:cNvPr>
          <p:cNvSpPr>
            <a:spLocks xmlns:a="http://schemas.openxmlformats.org/drawingml/2006/main" noGrp="1"/>
          </p:cNvSpPr>
          <p:nvPr/>
        </p:nvSpPr>
        <p:spPr>
          <a:xfrm xmlns:a="http://schemas.openxmlformats.org/drawingml/2006/main">
            <a:off x="3238500" y="47053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35251E"/>
                </a:solidFill>
                <a:latin typeface="Arial"/>
                <a:ea typeface="Arial"/>
                <a:cs typeface="Arial"/>
              </a:defRPr>
            </a:defPPr>
          </a:lstStyle>
          <a:p xmlns:a="http://schemas.openxmlformats.org/drawingml/2006/main">
            <a:pPr>
              <a:defRPr sz="2100" b="0">
                <a:solidFill>
                  <a:srgbClr val="35251E"/>
                </a:solidFill>
                <a:latin typeface="Arial"/>
                <a:ea typeface="Arial"/>
                <a:cs typeface="Arial"/>
              </a:defRPr>
            </a:pPr>
            <a:r>
              <a:rPr sz="2100" b="0">
                <a:solidFill>
                  <a:srgbClr val="35251E"/>
                </a:solidFill>
                <a:latin typeface="Arial"/>
                <a:ea typeface="Arial"/>
                <a:cs typeface="Arial"/>
              </a:rPr>
              <a:t>Store rebuild adds scope. AR/VR and voice need a separate value test.</a:t>
            </a:r>
          </a:p>
        </p:txBody>
      </p:sp>
    </p:spTree>
    <p:extLst>
      <p:ext uri="{BB962C8B-B14F-4D97-AF65-F5344CB8AC3E}">
        <p14:creationId xmlns:p14="http://schemas.microsoft.com/office/powerpoint/2010/main" val="13045332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2026-10-11T17:05:30.1060000Z</dcterms:created>
  <dcterms:modified xsi:type="dcterms:W3CDTF">2026-10-11T17:05:30.1060000Z</dcterms:modified>
</coreProperties>
</file>