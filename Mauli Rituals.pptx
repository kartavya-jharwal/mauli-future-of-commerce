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4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18288000" cy="10287000"/>
  <p:notesSz cx="6858000" cy="9144000"/>
  <p:embeddedFontLst>
    <p:embeddedFont>
      <p:font typeface="Bai Jamjuree" charset="1" panose="00000500000000000000"/>
      <p:regular r:id="rId35"/>
    </p:embeddedFont>
    <p:embeddedFont>
      <p:font typeface="TAN Aegean" charset="1" panose="00000000000000000000"/>
      <p:regular r:id="rId36"/>
    </p:embeddedFont>
    <p:embeddedFont>
      <p:font typeface="Slight" charset="1" panose="00000500000000000000"/>
      <p:regular r:id="rId37"/>
    </p:embeddedFont>
    <p:embeddedFont>
      <p:font typeface="Bai Jamjuree Italics" charset="1" panose="00000500000000000000"/>
      <p:regular r:id="rId38"/>
    </p:embeddedFont>
    <p:embeddedFont>
      <p:font typeface="Bai Jamjuree Extra-Light" charset="1" panose="00000300000000000000"/>
      <p:regular r:id="rId39"/>
    </p:embeddedFont>
    <p:embeddedFont>
      <p:font typeface="Bai Jamjuree Medium" charset="1" panose="00000600000000000000"/>
      <p:regular r:id="rId40"/>
    </p:embeddedFont>
    <p:embeddedFont>
      <p:font typeface="Bai Jamjuree Bold" charset="1" panose="00000800000000000000"/>
      <p:regular r:id="rId41"/>
    </p:embeddedFont>
    <p:embeddedFont>
      <p:font typeface="Anton" charset="1" panose="00000500000000000000"/>
      <p:regular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notesMasters/notesMaster1.xml" Type="http://schemas.openxmlformats.org/officeDocument/2006/relationships/notesMaster"/><Relationship Id="rId43" Target="theme/theme2.xml" Type="http://schemas.openxmlformats.org/officeDocument/2006/relationships/theme"/><Relationship Id="rId44" Target="notesSlides/notesSlide1.xml" Type="http://schemas.openxmlformats.org/officeDocument/2006/relationships/notesSlide"/><Relationship Id="rId45" Target="fonts/font45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Make the individual feel like they're the only one in the whole world the brand is talking to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6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6.pn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6.png" Type="http://schemas.openxmlformats.org/officeDocument/2006/relationships/image"/><Relationship Id="rId6" Target="../media/image2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2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Relationship Id="rId8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3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6.pn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png" Type="http://schemas.openxmlformats.org/officeDocument/2006/relationships/image"/><Relationship Id="rId4" Target="../media/image41.png" Type="http://schemas.openxmlformats.org/officeDocument/2006/relationships/image"/><Relationship Id="rId5" Target="../media/image4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24.png" Type="http://schemas.openxmlformats.org/officeDocument/2006/relationships/image"/><Relationship Id="rId4" Target="../media/image26.png" Type="http://schemas.openxmlformats.org/officeDocument/2006/relationships/image"/><Relationship Id="rId5" Target="../media/image2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6.png" Type="http://schemas.openxmlformats.org/officeDocument/2006/relationships/image"/><Relationship Id="rId4" Target="../media/image44.png" Type="http://schemas.openxmlformats.org/officeDocument/2006/relationships/image"/><Relationship Id="rId5" Target="../media/image45.jpeg" Type="http://schemas.openxmlformats.org/officeDocument/2006/relationships/image"/><Relationship Id="rId6" Target="../media/VAHYS6y3GtY.mp4" Type="http://schemas.openxmlformats.org/officeDocument/2006/relationships/video"/><Relationship Id="rId7" Target="../media/VAHYS6y3GtY.mp4" Type="http://schemas.microsoft.com/office/2007/relationships/media"/><Relationship Id="rId8" Target="../media/image4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Relationship Id="rId3" Target="../media/image47.png" Type="http://schemas.openxmlformats.org/officeDocument/2006/relationships/image"/><Relationship Id="rId4" Target="../media/image4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jpeg" Type="http://schemas.openxmlformats.org/officeDocument/2006/relationships/image"/><Relationship Id="rId3" Target="../media/VAHYQXO63Eo.mp4" Type="http://schemas.openxmlformats.org/officeDocument/2006/relationships/video"/><Relationship Id="rId4" Target="../media/VAHYQXO63Eo.mp4" Type="http://schemas.microsoft.com/office/2007/relationships/media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jpeg" Type="http://schemas.openxmlformats.org/officeDocument/2006/relationships/image"/><Relationship Id="rId3" Target="../media/VAHYQREzd5o.mp4" Type="http://schemas.openxmlformats.org/officeDocument/2006/relationships/video"/><Relationship Id="rId4" Target="../media/VAHYQREzd5o.mp4" Type="http://schemas.microsoft.com/office/2007/relationships/media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53.png" Type="http://schemas.openxmlformats.org/officeDocument/2006/relationships/image"/><Relationship Id="rId4" Target="../media/image54.png" Type="http://schemas.openxmlformats.org/officeDocument/2006/relationships/image"/><Relationship Id="rId5" Target="../media/image55.png" Type="http://schemas.openxmlformats.org/officeDocument/2006/relationships/image"/><Relationship Id="rId6" Target="../media/image56.png" Type="http://schemas.openxmlformats.org/officeDocument/2006/relationships/image"/><Relationship Id="rId7" Target="../media/image5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59.pn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0.png" Type="http://schemas.openxmlformats.org/officeDocument/2006/relationships/image"/><Relationship Id="rId3" Target="../media/image23.png" Type="http://schemas.openxmlformats.org/officeDocument/2006/relationships/image"/><Relationship Id="rId4" Target="../media/image33.png" Type="http://schemas.openxmlformats.org/officeDocument/2006/relationships/image"/><Relationship Id="rId5" Target="../media/image61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19.png" Type="http://schemas.openxmlformats.org/officeDocument/2006/relationships/image"/><Relationship Id="rId7" Target="../media/image33.png" Type="http://schemas.openxmlformats.org/officeDocument/2006/relationships/image"/><Relationship Id="rId8" Target="../media/image23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2.jpeg" Type="http://schemas.openxmlformats.org/officeDocument/2006/relationships/image"/><Relationship Id="rId3" Target="../media/image63.jpeg" Type="http://schemas.openxmlformats.org/officeDocument/2006/relationships/image"/><Relationship Id="rId4" Target="../media/image64.png" Type="http://schemas.openxmlformats.org/officeDocument/2006/relationships/image"/><Relationship Id="rId5" Target="../media/image6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4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66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7.png" Type="http://schemas.openxmlformats.org/officeDocument/2006/relationships/image"/><Relationship Id="rId3" Target="../media/image68.png" Type="http://schemas.openxmlformats.org/officeDocument/2006/relationships/image"/><Relationship Id="rId4" Target="../media/image69.png" Type="http://schemas.openxmlformats.org/officeDocument/2006/relationships/image"/><Relationship Id="rId5" Target="../media/image70.png" Type="http://schemas.openxmlformats.org/officeDocument/2006/relationships/image"/><Relationship Id="rId6" Target="../media/image71.png" Type="http://schemas.openxmlformats.org/officeDocument/2006/relationships/image"/><Relationship Id="rId7" Target="../media/image72.png" Type="http://schemas.openxmlformats.org/officeDocument/2006/relationships/image"/><Relationship Id="rId8" Target="../media/image6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3.jpeg" Type="http://schemas.openxmlformats.org/officeDocument/2006/relationships/image"/><Relationship Id="rId3" Target="../media/image74.png" Type="http://schemas.openxmlformats.org/officeDocument/2006/relationships/image"/><Relationship Id="rId4" Target="../media/image75.jpeg" Type="http://schemas.openxmlformats.org/officeDocument/2006/relationships/image"/><Relationship Id="rId5" Target="../media/image76.png" Type="http://schemas.openxmlformats.org/officeDocument/2006/relationships/image"/><Relationship Id="rId6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8575" y="-703436"/>
            <a:ext cx="19949889" cy="5174527"/>
            <a:chOff x="0" y="0"/>
            <a:chExt cx="7149590" cy="18544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149590" cy="1854434"/>
            </a:xfrm>
            <a:custGeom>
              <a:avLst/>
              <a:gdLst/>
              <a:ahLst/>
              <a:cxnLst/>
              <a:rect r="r" b="b" t="t" l="l"/>
              <a:pathLst>
                <a:path h="1854434" w="7149590">
                  <a:moveTo>
                    <a:pt x="0" y="0"/>
                  </a:moveTo>
                  <a:lnTo>
                    <a:pt x="7149590" y="0"/>
                  </a:lnTo>
                  <a:lnTo>
                    <a:pt x="7149590" y="1854434"/>
                  </a:lnTo>
                  <a:lnTo>
                    <a:pt x="0" y="1854434"/>
                  </a:lnTo>
                  <a:close/>
                </a:path>
              </a:pathLst>
            </a:custGeom>
            <a:gradFill rotWithShape="true">
              <a:gsLst>
                <a:gs pos="0">
                  <a:srgbClr val="141919">
                    <a:alpha val="83000"/>
                  </a:srgbClr>
                </a:gs>
                <a:gs pos="25000">
                  <a:srgbClr val="141919">
                    <a:alpha val="83000"/>
                  </a:srgbClr>
                </a:gs>
                <a:gs pos="50000">
                  <a:srgbClr val="141919">
                    <a:alpha val="75945"/>
                  </a:srgbClr>
                </a:gs>
                <a:gs pos="75000">
                  <a:srgbClr val="141919">
                    <a:alpha val="37350"/>
                  </a:srgbClr>
                </a:gs>
                <a:gs pos="100000">
                  <a:srgbClr val="141919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7149590" cy="1873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572244" y="1028700"/>
            <a:ext cx="7143511" cy="4121256"/>
          </a:xfrm>
          <a:custGeom>
            <a:avLst/>
            <a:gdLst/>
            <a:ahLst/>
            <a:cxnLst/>
            <a:rect r="r" b="b" t="t" l="l"/>
            <a:pathLst>
              <a:path h="4121256" w="7143511">
                <a:moveTo>
                  <a:pt x="0" y="0"/>
                </a:moveTo>
                <a:lnTo>
                  <a:pt x="7143512" y="0"/>
                </a:lnTo>
                <a:lnTo>
                  <a:pt x="7143512" y="4121256"/>
                </a:lnTo>
                <a:lnTo>
                  <a:pt x="0" y="41212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-10800000">
            <a:off x="-461804" y="5822625"/>
            <a:ext cx="19949889" cy="5254426"/>
            <a:chOff x="0" y="0"/>
            <a:chExt cx="7149590" cy="18830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149590" cy="1883068"/>
            </a:xfrm>
            <a:custGeom>
              <a:avLst/>
              <a:gdLst/>
              <a:ahLst/>
              <a:cxnLst/>
              <a:rect r="r" b="b" t="t" l="l"/>
              <a:pathLst>
                <a:path h="1883068" w="7149590">
                  <a:moveTo>
                    <a:pt x="0" y="0"/>
                  </a:moveTo>
                  <a:lnTo>
                    <a:pt x="7149590" y="0"/>
                  </a:lnTo>
                  <a:lnTo>
                    <a:pt x="7149590" y="1883068"/>
                  </a:lnTo>
                  <a:lnTo>
                    <a:pt x="0" y="1883068"/>
                  </a:lnTo>
                  <a:close/>
                </a:path>
              </a:pathLst>
            </a:custGeom>
            <a:gradFill rotWithShape="true">
              <a:gsLst>
                <a:gs pos="0">
                  <a:srgbClr val="141919">
                    <a:alpha val="83000"/>
                  </a:srgbClr>
                </a:gs>
                <a:gs pos="25000">
                  <a:srgbClr val="141919">
                    <a:alpha val="75945"/>
                  </a:srgbClr>
                </a:gs>
                <a:gs pos="50000">
                  <a:srgbClr val="141919">
                    <a:alpha val="83000"/>
                  </a:srgbClr>
                </a:gs>
                <a:gs pos="75000">
                  <a:srgbClr val="141919">
                    <a:alpha val="37350"/>
                  </a:srgbClr>
                </a:gs>
                <a:gs pos="100000">
                  <a:srgbClr val="141919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7149590" cy="1902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6407681" y="398780"/>
            <a:ext cx="1703237" cy="946243"/>
          </a:xfrm>
          <a:custGeom>
            <a:avLst/>
            <a:gdLst/>
            <a:ahLst/>
            <a:cxnLst/>
            <a:rect r="r" b="b" t="t" l="l"/>
            <a:pathLst>
              <a:path h="946243" w="1703237">
                <a:moveTo>
                  <a:pt x="0" y="0"/>
                </a:moveTo>
                <a:lnTo>
                  <a:pt x="1703238" y="0"/>
                </a:lnTo>
                <a:lnTo>
                  <a:pt x="1703238" y="946243"/>
                </a:lnTo>
                <a:lnTo>
                  <a:pt x="0" y="9462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8226264"/>
            <a:ext cx="2514912" cy="759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5"/>
              </a:lnSpc>
            </a:pPr>
            <a:r>
              <a:rPr lang="en-US" sz="3005">
                <a:solidFill>
                  <a:srgbClr val="F8F7F2"/>
                </a:solidFill>
                <a:latin typeface="Bai Jamjuree"/>
                <a:ea typeface="Bai Jamjuree"/>
                <a:cs typeface="Bai Jamjuree"/>
                <a:sym typeface="Bai Jamjuree"/>
              </a:rPr>
              <a:t>Presented To:</a:t>
            </a:r>
          </a:p>
          <a:p>
            <a:pPr algn="l">
              <a:lnSpc>
                <a:spcPts val="3035"/>
              </a:lnSpc>
            </a:pPr>
            <a:r>
              <a:rPr lang="en-US" sz="3005">
                <a:solidFill>
                  <a:srgbClr val="F8F7F2"/>
                </a:solidFill>
                <a:latin typeface="Bai Jamjuree"/>
                <a:ea typeface="Bai Jamjuree"/>
                <a:cs typeface="Bai Jamjuree"/>
                <a:sym typeface="Bai Jamjuree"/>
              </a:rPr>
              <a:t>Prof. Nikhil Soi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0160" y="446405"/>
            <a:ext cx="2853452" cy="582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2599">
                <a:solidFill>
                  <a:srgbClr val="F8F7F2"/>
                </a:solidFill>
                <a:latin typeface="Bai Jamjuree"/>
                <a:ea typeface="Bai Jamjuree"/>
                <a:cs typeface="Bai Jamjuree"/>
                <a:sym typeface="Bai Jamjuree"/>
              </a:rPr>
              <a:t>MKT-0305 </a:t>
            </a:r>
          </a:p>
          <a:p>
            <a:pPr algn="l" marL="0" indent="0" lvl="0">
              <a:lnSpc>
                <a:spcPts val="2000"/>
              </a:lnSpc>
            </a:pPr>
            <a:r>
              <a:rPr lang="en-US" sz="2000">
                <a:solidFill>
                  <a:srgbClr val="F8F7F2"/>
                </a:solidFill>
                <a:latin typeface="Bai Jamjuree"/>
                <a:ea typeface="Bai Jamjuree"/>
                <a:cs typeface="Bai Jamjuree"/>
                <a:sym typeface="Bai Jamjuree"/>
              </a:rPr>
              <a:t>The Future of Commerce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017037" y="8226264"/>
            <a:ext cx="2242263" cy="704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29"/>
              </a:lnSpc>
            </a:pPr>
            <a:r>
              <a:rPr lang="en-US" sz="2801">
                <a:solidFill>
                  <a:srgbClr val="F8F7F2"/>
                </a:solidFill>
                <a:latin typeface="Bai Jamjuree"/>
                <a:ea typeface="Bai Jamjuree"/>
                <a:cs typeface="Bai Jamjuree"/>
                <a:sym typeface="Bai Jamjuree"/>
              </a:rPr>
              <a:t>Prepared for:</a:t>
            </a:r>
          </a:p>
          <a:p>
            <a:pPr algn="r">
              <a:lnSpc>
                <a:spcPts val="2829"/>
              </a:lnSpc>
            </a:pPr>
            <a:r>
              <a:rPr lang="en-US" sz="2801">
                <a:solidFill>
                  <a:srgbClr val="F8F7F2"/>
                </a:solidFill>
                <a:latin typeface="Bai Jamjuree"/>
                <a:ea typeface="Bai Jamjuree"/>
                <a:cs typeface="Bai Jamjuree"/>
                <a:sym typeface="Bai Jamjuree"/>
              </a:rPr>
              <a:t>Anita Kaushal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80066" y="9699554"/>
            <a:ext cx="14727867" cy="291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04"/>
              </a:lnSpc>
            </a:pPr>
            <a:r>
              <a:rPr lang="en-US" sz="2204">
                <a:solidFill>
                  <a:srgbClr val="F8F7F2"/>
                </a:solidFill>
                <a:latin typeface="Bai Jamjuree"/>
                <a:ea typeface="Bai Jamjuree"/>
                <a:cs typeface="Bai Jamjuree"/>
                <a:sym typeface="Bai Jamjuree"/>
              </a:rPr>
              <a:t>Kartavya Jharwal, Marcella Ibanhez, </a:t>
            </a:r>
            <a:r>
              <a:rPr lang="en-US" sz="2204">
                <a:solidFill>
                  <a:srgbClr val="F8F7F2"/>
                </a:solidFill>
                <a:latin typeface="Bai Jamjuree"/>
                <a:ea typeface="Bai Jamjuree"/>
                <a:cs typeface="Bai Jamjuree"/>
                <a:sym typeface="Bai Jamjuree"/>
              </a:rPr>
              <a:t>Yasmim Souza, Olta Abdyli, Adar Aksak, Ali Sarp Acar, Zuzanna Zalicka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33941" y="7470614"/>
            <a:ext cx="12420119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3500" spc="-3">
                <a:solidFill>
                  <a:srgbClr val="F7F6F4"/>
                </a:solidFill>
                <a:latin typeface="TAN Aegean"/>
                <a:ea typeface="TAN Aegean"/>
                <a:cs typeface="TAN Aegean"/>
                <a:sym typeface="TAN Aegean"/>
              </a:rPr>
              <a:t>The Art of Rejuvenating the Brand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280305" y="42934"/>
            <a:ext cx="1727390" cy="1675878"/>
          </a:xfrm>
          <a:custGeom>
            <a:avLst/>
            <a:gdLst/>
            <a:ahLst/>
            <a:cxnLst/>
            <a:rect r="r" b="b" t="t" l="l"/>
            <a:pathLst>
              <a:path h="1675878" w="1727390">
                <a:moveTo>
                  <a:pt x="0" y="0"/>
                </a:moveTo>
                <a:lnTo>
                  <a:pt x="1727390" y="0"/>
                </a:lnTo>
                <a:lnTo>
                  <a:pt x="1727390" y="1675878"/>
                </a:lnTo>
                <a:lnTo>
                  <a:pt x="0" y="16758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8816092" y="8930447"/>
            <a:ext cx="1324956" cy="676363"/>
            <a:chOff x="0" y="0"/>
            <a:chExt cx="1766608" cy="901817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19050"/>
              <a:ext cx="1189741" cy="4592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70"/>
                </a:lnSpc>
                <a:spcBef>
                  <a:spcPct val="0"/>
                </a:spcBef>
              </a:pPr>
              <a:r>
                <a:rPr lang="en-US" sz="2363" spc="-134">
                  <a:solidFill>
                    <a:srgbClr val="FFFFFF"/>
                  </a:solidFill>
                  <a:latin typeface="TAN Aegean"/>
                  <a:ea typeface="TAN Aegean"/>
                  <a:cs typeface="TAN Aegean"/>
                  <a:sym typeface="TAN Aegean"/>
                </a:rPr>
                <a:t>Team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-2817138">
              <a:off x="1132977" y="96341"/>
              <a:ext cx="415757" cy="7768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41"/>
                </a:lnSpc>
                <a:spcBef>
                  <a:spcPct val="0"/>
                </a:spcBef>
              </a:pPr>
              <a:r>
                <a:rPr lang="en-US" sz="3930" spc="-224">
                  <a:solidFill>
                    <a:srgbClr val="FFFFFF"/>
                  </a:solidFill>
                  <a:latin typeface="Slight"/>
                  <a:ea typeface="Slight"/>
                  <a:cs typeface="Slight"/>
                  <a:sym typeface="Slight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B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56732" y="0"/>
            <a:ext cx="11159533" cy="10287000"/>
            <a:chOff x="0" y="0"/>
            <a:chExt cx="2161130" cy="19921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61130" cy="1992157"/>
            </a:xfrm>
            <a:custGeom>
              <a:avLst/>
              <a:gdLst/>
              <a:ahLst/>
              <a:cxnLst/>
              <a:rect r="r" b="b" t="t" l="l"/>
              <a:pathLst>
                <a:path h="1992157" w="2161130">
                  <a:moveTo>
                    <a:pt x="0" y="0"/>
                  </a:moveTo>
                  <a:lnTo>
                    <a:pt x="2161130" y="0"/>
                  </a:lnTo>
                  <a:lnTo>
                    <a:pt x="2161130" y="1992157"/>
                  </a:lnTo>
                  <a:lnTo>
                    <a:pt x="0" y="1992157"/>
                  </a:lnTo>
                  <a:close/>
                </a:path>
              </a:pathLst>
            </a:custGeom>
            <a:blipFill>
              <a:blip r:embed="rId2"/>
              <a:stretch>
                <a:fillRect l="-17478" t="-27186" r="-18459" b="-20281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306324" y="168141"/>
            <a:ext cx="1785097" cy="1028700"/>
          </a:xfrm>
          <a:custGeom>
            <a:avLst/>
            <a:gdLst/>
            <a:ahLst/>
            <a:cxnLst/>
            <a:rect r="r" b="b" t="t" l="l"/>
            <a:pathLst>
              <a:path h="1028700" w="1785097">
                <a:moveTo>
                  <a:pt x="0" y="0"/>
                </a:moveTo>
                <a:lnTo>
                  <a:pt x="1785097" y="0"/>
                </a:lnTo>
                <a:lnTo>
                  <a:pt x="178509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93204" y="2721759"/>
            <a:ext cx="6128289" cy="61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sz="3590">
                <a:solidFill>
                  <a:srgbClr val="503332"/>
                </a:solidFill>
                <a:latin typeface="TAN Aegean"/>
                <a:ea typeface="TAN Aegean"/>
                <a:cs typeface="TAN Aegean"/>
                <a:sym typeface="TAN Aegean"/>
              </a:rPr>
              <a:t>make the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-1737639">
            <a:off x="14933251" y="2830294"/>
            <a:ext cx="3640042" cy="7353620"/>
          </a:xfrm>
          <a:custGeom>
            <a:avLst/>
            <a:gdLst/>
            <a:ahLst/>
            <a:cxnLst/>
            <a:rect r="r" b="b" t="t" l="l"/>
            <a:pathLst>
              <a:path h="7353620" w="3640042">
                <a:moveTo>
                  <a:pt x="3640042" y="0"/>
                </a:moveTo>
                <a:lnTo>
                  <a:pt x="0" y="0"/>
                </a:lnTo>
                <a:lnTo>
                  <a:pt x="0" y="7353619"/>
                </a:lnTo>
                <a:lnTo>
                  <a:pt x="3640042" y="7353619"/>
                </a:lnTo>
                <a:lnTo>
                  <a:pt x="364004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0840467" y="3750682"/>
            <a:ext cx="7433630" cy="2463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19"/>
              </a:lnSpc>
              <a:spcBef>
                <a:spcPct val="0"/>
              </a:spcBef>
            </a:pPr>
            <a:r>
              <a:rPr lang="en-US" sz="16919" spc="-964">
                <a:solidFill>
                  <a:srgbClr val="503332"/>
                </a:solidFill>
                <a:latin typeface="TAN Aegean"/>
                <a:ea typeface="TAN Aegean"/>
                <a:cs typeface="TAN Aegean"/>
                <a:sym typeface="TAN Aegean"/>
              </a:rPr>
              <a:t>thread</a:t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-1737639">
            <a:off x="13868510" y="3665362"/>
            <a:ext cx="1177679" cy="1222823"/>
          </a:xfrm>
          <a:custGeom>
            <a:avLst/>
            <a:gdLst/>
            <a:ahLst/>
            <a:cxnLst/>
            <a:rect r="r" b="b" t="t" l="l"/>
            <a:pathLst>
              <a:path h="1222823" w="1177679">
                <a:moveTo>
                  <a:pt x="1177678" y="0"/>
                </a:moveTo>
                <a:lnTo>
                  <a:pt x="0" y="0"/>
                </a:lnTo>
                <a:lnTo>
                  <a:pt x="0" y="1222823"/>
                </a:lnTo>
                <a:lnTo>
                  <a:pt x="1177678" y="1222823"/>
                </a:lnTo>
                <a:lnTo>
                  <a:pt x="11776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83635" t="0" r="-25450" b="-501364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true" flipV="false" rot="-1737639">
            <a:off x="16632585" y="3451566"/>
            <a:ext cx="979625" cy="1935330"/>
          </a:xfrm>
          <a:custGeom>
            <a:avLst/>
            <a:gdLst/>
            <a:ahLst/>
            <a:cxnLst/>
            <a:rect r="r" b="b" t="t" l="l"/>
            <a:pathLst>
              <a:path h="1935330" w="979625">
                <a:moveTo>
                  <a:pt x="979625" y="0"/>
                </a:moveTo>
                <a:lnTo>
                  <a:pt x="0" y="0"/>
                </a:lnTo>
                <a:lnTo>
                  <a:pt x="0" y="1935330"/>
                </a:lnTo>
                <a:lnTo>
                  <a:pt x="979625" y="1935330"/>
                </a:lnTo>
                <a:lnTo>
                  <a:pt x="97962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4837" r="-271575" b="-225129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0" id="10"/>
          <p:cNvSpPr txBox="true"/>
          <p:nvPr/>
        </p:nvSpPr>
        <p:spPr>
          <a:xfrm rot="0">
            <a:off x="9372605" y="6147091"/>
            <a:ext cx="6128289" cy="61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sz="3590">
                <a:solidFill>
                  <a:srgbClr val="503332"/>
                </a:solidFill>
                <a:latin typeface="TAN Aegean"/>
                <a:ea typeface="TAN Aegean"/>
                <a:cs typeface="TAN Aegean"/>
                <a:sym typeface="TAN Aegean"/>
              </a:rPr>
              <a:t>the ritual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65113" y="8973990"/>
            <a:ext cx="5189533" cy="967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7"/>
              </a:lnSpc>
            </a:pPr>
            <a:r>
              <a:rPr lang="en-US" sz="3040">
                <a:solidFill>
                  <a:srgbClr val="503332"/>
                </a:solidFill>
                <a:latin typeface="TAN Aegean"/>
                <a:ea typeface="TAN Aegean"/>
                <a:cs typeface="TAN Aegean"/>
                <a:sym typeface="TAN Aegean"/>
              </a:rPr>
              <a:t>“The Ritual” Connects</a:t>
            </a:r>
          </a:p>
          <a:p>
            <a:pPr algn="ctr">
              <a:lnSpc>
                <a:spcPts val="3557"/>
              </a:lnSpc>
            </a:pPr>
            <a:r>
              <a:rPr lang="en-US" sz="2540">
                <a:solidFill>
                  <a:srgbClr val="503332"/>
                </a:solidFill>
                <a:latin typeface="TAN Aegean"/>
                <a:ea typeface="TAN Aegean"/>
                <a:cs typeface="TAN Aegean"/>
                <a:sym typeface="TAN Aegean"/>
              </a:rPr>
              <a:t>the brand altogether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51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5659" y="3008401"/>
            <a:ext cx="5712434" cy="3289664"/>
            <a:chOff x="0" y="0"/>
            <a:chExt cx="813428" cy="4684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3428" cy="468435"/>
            </a:xfrm>
            <a:custGeom>
              <a:avLst/>
              <a:gdLst/>
              <a:ahLst/>
              <a:cxnLst/>
              <a:rect r="r" b="b" t="t" l="l"/>
              <a:pathLst>
                <a:path h="468435" w="813428">
                  <a:moveTo>
                    <a:pt x="60987" y="0"/>
                  </a:moveTo>
                  <a:lnTo>
                    <a:pt x="752440" y="0"/>
                  </a:lnTo>
                  <a:cubicBezTo>
                    <a:pt x="768615" y="0"/>
                    <a:pt x="784127" y="6425"/>
                    <a:pt x="795565" y="17863"/>
                  </a:cubicBezTo>
                  <a:cubicBezTo>
                    <a:pt x="807002" y="29300"/>
                    <a:pt x="813428" y="44813"/>
                    <a:pt x="813428" y="60987"/>
                  </a:cubicBezTo>
                  <a:lnTo>
                    <a:pt x="813428" y="407448"/>
                  </a:lnTo>
                  <a:cubicBezTo>
                    <a:pt x="813428" y="423622"/>
                    <a:pt x="807002" y="439135"/>
                    <a:pt x="795565" y="450572"/>
                  </a:cubicBezTo>
                  <a:cubicBezTo>
                    <a:pt x="784127" y="462009"/>
                    <a:pt x="768615" y="468435"/>
                    <a:pt x="752440" y="468435"/>
                  </a:cubicBezTo>
                  <a:lnTo>
                    <a:pt x="60987" y="468435"/>
                  </a:lnTo>
                  <a:cubicBezTo>
                    <a:pt x="44813" y="468435"/>
                    <a:pt x="29300" y="462009"/>
                    <a:pt x="17863" y="450572"/>
                  </a:cubicBezTo>
                  <a:cubicBezTo>
                    <a:pt x="6425" y="439135"/>
                    <a:pt x="0" y="423622"/>
                    <a:pt x="0" y="407448"/>
                  </a:cubicBezTo>
                  <a:lnTo>
                    <a:pt x="0" y="60987"/>
                  </a:lnTo>
                  <a:cubicBezTo>
                    <a:pt x="0" y="44813"/>
                    <a:pt x="6425" y="29300"/>
                    <a:pt x="17863" y="17863"/>
                  </a:cubicBezTo>
                  <a:cubicBezTo>
                    <a:pt x="29300" y="6425"/>
                    <a:pt x="44813" y="0"/>
                    <a:pt x="60987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2855" r="0" b="-1285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26763" y="6993931"/>
            <a:ext cx="5712434" cy="2832838"/>
            <a:chOff x="0" y="0"/>
            <a:chExt cx="813428" cy="403385"/>
          </a:xfrm>
        </p:grpSpPr>
        <p:sp>
          <p:nvSpPr>
            <p:cNvPr name="Freeform 5" id="5"/>
            <p:cNvSpPr/>
            <p:nvPr/>
          </p:nvSpPr>
          <p:spPr>
            <a:xfrm flipH="false" flipV="false" rot="5400000">
              <a:off x="205021" y="-205021"/>
              <a:ext cx="403385" cy="813428"/>
            </a:xfrm>
            <a:custGeom>
              <a:avLst/>
              <a:gdLst/>
              <a:ahLst/>
              <a:cxnLst/>
              <a:rect r="r" b="b" t="t" l="l"/>
              <a:pathLst>
                <a:path h="813428" w="403385">
                  <a:moveTo>
                    <a:pt x="0" y="759216"/>
                  </a:moveTo>
                  <a:lnTo>
                    <a:pt x="0" y="54211"/>
                  </a:lnTo>
                  <a:cubicBezTo>
                    <a:pt x="0" y="39833"/>
                    <a:pt x="5712" y="26044"/>
                    <a:pt x="15878" y="15878"/>
                  </a:cubicBezTo>
                  <a:cubicBezTo>
                    <a:pt x="26045" y="5711"/>
                    <a:pt x="39834" y="0"/>
                    <a:pt x="54211" y="0"/>
                  </a:cubicBezTo>
                  <a:lnTo>
                    <a:pt x="349174" y="0"/>
                  </a:lnTo>
                  <a:cubicBezTo>
                    <a:pt x="363552" y="0"/>
                    <a:pt x="377341" y="5711"/>
                    <a:pt x="387507" y="15878"/>
                  </a:cubicBezTo>
                  <a:cubicBezTo>
                    <a:pt x="397674" y="26044"/>
                    <a:pt x="403385" y="39833"/>
                    <a:pt x="403385" y="54211"/>
                  </a:cubicBezTo>
                  <a:lnTo>
                    <a:pt x="403385" y="759216"/>
                  </a:lnTo>
                  <a:cubicBezTo>
                    <a:pt x="403385" y="773594"/>
                    <a:pt x="397674" y="787383"/>
                    <a:pt x="387507" y="797549"/>
                  </a:cubicBezTo>
                  <a:cubicBezTo>
                    <a:pt x="377341" y="807716"/>
                    <a:pt x="363552" y="813427"/>
                    <a:pt x="349174" y="813427"/>
                  </a:cubicBezTo>
                  <a:lnTo>
                    <a:pt x="54211" y="813427"/>
                  </a:lnTo>
                  <a:cubicBezTo>
                    <a:pt x="39834" y="813427"/>
                    <a:pt x="26045" y="807716"/>
                    <a:pt x="15878" y="797549"/>
                  </a:cubicBezTo>
                  <a:cubicBezTo>
                    <a:pt x="5712" y="787383"/>
                    <a:pt x="0" y="773594"/>
                    <a:pt x="0" y="759216"/>
                  </a:cubicBezTo>
                  <a:close/>
                </a:path>
              </a:pathLst>
            </a:custGeom>
            <a:blipFill>
              <a:blip r:embed="rId3"/>
              <a:stretch>
                <a:fillRect l="-13402" t="0" r="-2103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853858" y="3008401"/>
            <a:ext cx="4405442" cy="6818367"/>
            <a:chOff x="0" y="0"/>
            <a:chExt cx="885166" cy="13699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85166" cy="1369984"/>
            </a:xfrm>
            <a:custGeom>
              <a:avLst/>
              <a:gdLst/>
              <a:ahLst/>
              <a:cxnLst/>
              <a:rect r="r" b="b" t="t" l="l"/>
              <a:pathLst>
                <a:path h="1369984" w="885166">
                  <a:moveTo>
                    <a:pt x="66779" y="0"/>
                  </a:moveTo>
                  <a:lnTo>
                    <a:pt x="818386" y="0"/>
                  </a:lnTo>
                  <a:cubicBezTo>
                    <a:pt x="836097" y="0"/>
                    <a:pt x="853083" y="7036"/>
                    <a:pt x="865606" y="19559"/>
                  </a:cubicBezTo>
                  <a:cubicBezTo>
                    <a:pt x="878130" y="32083"/>
                    <a:pt x="885166" y="49068"/>
                    <a:pt x="885166" y="66779"/>
                  </a:cubicBezTo>
                  <a:lnTo>
                    <a:pt x="885166" y="1303205"/>
                  </a:lnTo>
                  <a:cubicBezTo>
                    <a:pt x="885166" y="1320916"/>
                    <a:pt x="878130" y="1337901"/>
                    <a:pt x="865606" y="1350425"/>
                  </a:cubicBezTo>
                  <a:cubicBezTo>
                    <a:pt x="853083" y="1362948"/>
                    <a:pt x="836097" y="1369984"/>
                    <a:pt x="818386" y="1369984"/>
                  </a:cubicBezTo>
                  <a:lnTo>
                    <a:pt x="66779" y="1369984"/>
                  </a:lnTo>
                  <a:cubicBezTo>
                    <a:pt x="29898" y="1369984"/>
                    <a:pt x="0" y="1340086"/>
                    <a:pt x="0" y="1303205"/>
                  </a:cubicBezTo>
                  <a:lnTo>
                    <a:pt x="0" y="66779"/>
                  </a:lnTo>
                  <a:cubicBezTo>
                    <a:pt x="0" y="49068"/>
                    <a:pt x="7036" y="32083"/>
                    <a:pt x="19559" y="19559"/>
                  </a:cubicBezTo>
                  <a:cubicBezTo>
                    <a:pt x="32083" y="7036"/>
                    <a:pt x="49068" y="0"/>
                    <a:pt x="66779" y="0"/>
                  </a:cubicBezTo>
                  <a:close/>
                </a:path>
              </a:pathLst>
            </a:custGeom>
            <a:blipFill>
              <a:blip r:embed="rId4"/>
              <a:stretch>
                <a:fillRect l="-11908" t="0" r="-11908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828851" y="3008401"/>
            <a:ext cx="5712434" cy="3699179"/>
            <a:chOff x="0" y="0"/>
            <a:chExt cx="1382827" cy="8954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82827" cy="895472"/>
            </a:xfrm>
            <a:custGeom>
              <a:avLst/>
              <a:gdLst/>
              <a:ahLst/>
              <a:cxnLst/>
              <a:rect r="r" b="b" t="t" l="l"/>
              <a:pathLst>
                <a:path h="895472" w="1382827">
                  <a:moveTo>
                    <a:pt x="46079" y="0"/>
                  </a:moveTo>
                  <a:lnTo>
                    <a:pt x="1336748" y="0"/>
                  </a:lnTo>
                  <a:cubicBezTo>
                    <a:pt x="1362197" y="0"/>
                    <a:pt x="1382827" y="20630"/>
                    <a:pt x="1382827" y="46079"/>
                  </a:cubicBezTo>
                  <a:lnTo>
                    <a:pt x="1382827" y="849393"/>
                  </a:lnTo>
                  <a:cubicBezTo>
                    <a:pt x="1382827" y="874842"/>
                    <a:pt x="1362197" y="895472"/>
                    <a:pt x="1336748" y="895472"/>
                  </a:cubicBezTo>
                  <a:lnTo>
                    <a:pt x="46079" y="895472"/>
                  </a:lnTo>
                  <a:cubicBezTo>
                    <a:pt x="20630" y="895472"/>
                    <a:pt x="0" y="874842"/>
                    <a:pt x="0" y="849393"/>
                  </a:cubicBezTo>
                  <a:lnTo>
                    <a:pt x="0" y="46079"/>
                  </a:lnTo>
                  <a:cubicBezTo>
                    <a:pt x="0" y="20630"/>
                    <a:pt x="20630" y="0"/>
                    <a:pt x="46079" y="0"/>
                  </a:cubicBez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382827" cy="9240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55659" y="6588233"/>
            <a:ext cx="5712434" cy="3238535"/>
            <a:chOff x="0" y="0"/>
            <a:chExt cx="1382827" cy="78396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82827" cy="783962"/>
            </a:xfrm>
            <a:custGeom>
              <a:avLst/>
              <a:gdLst/>
              <a:ahLst/>
              <a:cxnLst/>
              <a:rect r="r" b="b" t="t" l="l"/>
              <a:pathLst>
                <a:path h="783962" w="1382827">
                  <a:moveTo>
                    <a:pt x="52856" y="0"/>
                  </a:moveTo>
                  <a:lnTo>
                    <a:pt x="1329971" y="0"/>
                  </a:lnTo>
                  <a:cubicBezTo>
                    <a:pt x="1359163" y="0"/>
                    <a:pt x="1382827" y="23664"/>
                    <a:pt x="1382827" y="52856"/>
                  </a:cubicBezTo>
                  <a:lnTo>
                    <a:pt x="1382827" y="731107"/>
                  </a:lnTo>
                  <a:cubicBezTo>
                    <a:pt x="1382827" y="745125"/>
                    <a:pt x="1377258" y="758569"/>
                    <a:pt x="1367346" y="768481"/>
                  </a:cubicBezTo>
                  <a:cubicBezTo>
                    <a:pt x="1357434" y="778394"/>
                    <a:pt x="1343989" y="783962"/>
                    <a:pt x="1329971" y="783962"/>
                  </a:cubicBezTo>
                  <a:lnTo>
                    <a:pt x="52856" y="783962"/>
                  </a:lnTo>
                  <a:cubicBezTo>
                    <a:pt x="38838" y="783962"/>
                    <a:pt x="25393" y="778394"/>
                    <a:pt x="15481" y="768481"/>
                  </a:cubicBezTo>
                  <a:cubicBezTo>
                    <a:pt x="5569" y="758569"/>
                    <a:pt x="0" y="745125"/>
                    <a:pt x="0" y="731107"/>
                  </a:cubicBezTo>
                  <a:lnTo>
                    <a:pt x="0" y="52856"/>
                  </a:lnTo>
                  <a:cubicBezTo>
                    <a:pt x="0" y="38838"/>
                    <a:pt x="5569" y="25393"/>
                    <a:pt x="15481" y="15481"/>
                  </a:cubicBezTo>
                  <a:cubicBezTo>
                    <a:pt x="25393" y="5569"/>
                    <a:pt x="38838" y="0"/>
                    <a:pt x="52856" y="0"/>
                  </a:cubicBez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382827" cy="8125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44879" y="2031525"/>
            <a:ext cx="16214421" cy="766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4"/>
              </a:lnSpc>
            </a:pPr>
            <a:r>
              <a:rPr lang="en-US" sz="2800" i="true" spc="-159">
                <a:solidFill>
                  <a:srgbClr val="FFFFFF"/>
                </a:solidFill>
                <a:latin typeface="Bai Jamjuree Italics"/>
                <a:ea typeface="Bai Jamjuree Italics"/>
                <a:cs typeface="Bai Jamjuree Italics"/>
                <a:sym typeface="Bai Jamjuree Italics"/>
              </a:rPr>
              <a:t>How do we scale the brand  without stripping it of cultural ayurveda, founder led story or sensory engagement</a:t>
            </a:r>
          </a:p>
          <a:p>
            <a:pPr algn="l">
              <a:lnSpc>
                <a:spcPts val="2938"/>
              </a:lnSpc>
            </a:pPr>
            <a:r>
              <a:rPr lang="en-US" sz="2600" spc="-148">
                <a:solidFill>
                  <a:srgbClr val="FFFFFF"/>
                </a:solidFill>
                <a:latin typeface="Bai Jamjuree Extra-Light"/>
                <a:ea typeface="Bai Jamjuree Extra-Light"/>
                <a:cs typeface="Bai Jamjuree Extra-Light"/>
                <a:sym typeface="Bai Jamjuree Extra-Light"/>
              </a:rPr>
              <a:t>Quantity ≠ Quality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179046" y="3215299"/>
            <a:ext cx="4759309" cy="669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3"/>
              </a:lnSpc>
              <a:spcBef>
                <a:spcPct val="0"/>
              </a:spcBef>
            </a:pPr>
            <a:r>
              <a:rPr lang="en-US" sz="3795" spc="18" strike="noStrike" u="none">
                <a:solidFill>
                  <a:srgbClr val="FFFFFF"/>
                </a:solidFill>
                <a:latin typeface="TAN Aegean"/>
                <a:ea typeface="TAN Aegean"/>
                <a:cs typeface="TAN Aegean"/>
                <a:sym typeface="TAN Aegean"/>
              </a:rPr>
              <a:t>OPPORTUNITY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16329" y="6727050"/>
            <a:ext cx="3666401" cy="679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4"/>
              </a:lnSpc>
              <a:spcBef>
                <a:spcPct val="0"/>
              </a:spcBef>
            </a:pPr>
            <a:r>
              <a:rPr lang="en-US" sz="3802" spc="19" strike="noStrike" u="none">
                <a:solidFill>
                  <a:srgbClr val="FFFFFF"/>
                </a:solidFill>
                <a:latin typeface="TAN Aegean"/>
                <a:ea typeface="TAN Aegean"/>
                <a:cs typeface="TAN Aegean"/>
                <a:sym typeface="TAN Aegean"/>
              </a:rPr>
              <a:t>PROBLEMS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114351" y="4035025"/>
            <a:ext cx="5455508" cy="2524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2485"/>
              </a:lnSpc>
              <a:buFont typeface="Arial"/>
              <a:buChar char="•"/>
            </a:pPr>
            <a:r>
              <a:rPr lang="en-US" sz="2199" spc="-125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Mauli surfaces in Ayurveda and dosha prompts: own that territory</a:t>
            </a:r>
          </a:p>
          <a:p>
            <a:pPr algn="l">
              <a:lnSpc>
                <a:spcPts val="2485"/>
              </a:lnSpc>
            </a:pPr>
          </a:p>
          <a:p>
            <a:pPr algn="l" marL="474979" indent="-237490" lvl="1">
              <a:lnSpc>
                <a:spcPts val="2485"/>
              </a:lnSpc>
              <a:buFont typeface="Arial"/>
              <a:buChar char="•"/>
            </a:pPr>
            <a:r>
              <a:rPr lang="en-US" sz="2199" spc="-125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Repeat is the profit engine, and the 54% repeat rate is the base to build on</a:t>
            </a:r>
          </a:p>
          <a:p>
            <a:pPr algn="l">
              <a:lnSpc>
                <a:spcPts val="2485"/>
              </a:lnSpc>
            </a:pPr>
          </a:p>
          <a:p>
            <a:pPr algn="l" marL="474979" indent="-237490" lvl="1">
              <a:lnSpc>
                <a:spcPts val="2485"/>
              </a:lnSpc>
              <a:buFont typeface="Arial"/>
              <a:buChar char="•"/>
            </a:pPr>
            <a:r>
              <a:rPr lang="en-US" sz="2199" spc="-125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Real recorded expertise of Anita and Bittu are the human edge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7435301"/>
            <a:ext cx="5333993" cy="2153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2486"/>
              </a:lnSpc>
              <a:buFont typeface="Arial"/>
              <a:buChar char="•"/>
            </a:pPr>
            <a:r>
              <a:rPr lang="en-US" sz="2200" spc="-125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AI assistants describe Mauli without Mauli: named in only 2 of 8 category answers</a:t>
            </a:r>
          </a:p>
          <a:p>
            <a:pPr algn="l">
              <a:lnSpc>
                <a:spcPts val="1100"/>
              </a:lnSpc>
            </a:pPr>
          </a:p>
          <a:p>
            <a:pPr algn="l" marL="474981" indent="-237491" lvl="1">
              <a:lnSpc>
                <a:spcPts val="2486"/>
              </a:lnSpc>
              <a:buFont typeface="Arial"/>
              <a:buChar char="•"/>
            </a:pPr>
            <a:r>
              <a:rPr lang="en-US" sz="2200" spc="-125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The quiz picks by fixed rules, not stock: it recommended a sold-out £244 set</a:t>
            </a:r>
          </a:p>
          <a:p>
            <a:pPr algn="l">
              <a:lnSpc>
                <a:spcPts val="1100"/>
              </a:lnSpc>
            </a:pPr>
          </a:p>
          <a:p>
            <a:pPr algn="l" marL="474981" indent="-237491" lvl="1">
              <a:lnSpc>
                <a:spcPts val="2486"/>
              </a:lnSpc>
              <a:buFont typeface="Arial"/>
              <a:buChar char="•"/>
            </a:pPr>
            <a:r>
              <a:rPr lang="en-US" sz="2200" spc="-125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The first order is near breakeven, with 72% of marketing spend on Meta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08158" y="752888"/>
            <a:ext cx="11430197" cy="906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99"/>
              </a:lnSpc>
            </a:pPr>
            <a:r>
              <a:rPr lang="en-US" sz="5356">
                <a:solidFill>
                  <a:srgbClr val="FFFFFF"/>
                </a:solidFill>
                <a:latin typeface="TAN Aegean"/>
                <a:ea typeface="TAN Aegean"/>
                <a:cs typeface="TAN Aegean"/>
                <a:sym typeface="TAN Aegean"/>
              </a:rPr>
              <a:t>The Problem x Opportunity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5680581" y="368046"/>
            <a:ext cx="2238828" cy="1291631"/>
          </a:xfrm>
          <a:custGeom>
            <a:avLst/>
            <a:gdLst/>
            <a:ahLst/>
            <a:cxnLst/>
            <a:rect r="r" b="b" t="t" l="l"/>
            <a:pathLst>
              <a:path h="1291631" w="2238828">
                <a:moveTo>
                  <a:pt x="0" y="0"/>
                </a:moveTo>
                <a:lnTo>
                  <a:pt x="2238828" y="0"/>
                </a:lnTo>
                <a:lnTo>
                  <a:pt x="2238828" y="1291631"/>
                </a:lnTo>
                <a:lnTo>
                  <a:pt x="0" y="12916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B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47004" y="243713"/>
            <a:ext cx="2306398" cy="1329110"/>
          </a:xfrm>
          <a:custGeom>
            <a:avLst/>
            <a:gdLst/>
            <a:ahLst/>
            <a:cxnLst/>
            <a:rect r="r" b="b" t="t" l="l"/>
            <a:pathLst>
              <a:path h="1329110" w="2306398">
                <a:moveTo>
                  <a:pt x="0" y="0"/>
                </a:moveTo>
                <a:lnTo>
                  <a:pt x="2306398" y="0"/>
                </a:lnTo>
                <a:lnTo>
                  <a:pt x="2306398" y="1329111"/>
                </a:lnTo>
                <a:lnTo>
                  <a:pt x="0" y="13291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19453" y="2469510"/>
            <a:ext cx="16154122" cy="773605"/>
            <a:chOff x="0" y="0"/>
            <a:chExt cx="7421639" cy="3554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421639" cy="355415"/>
            </a:xfrm>
            <a:custGeom>
              <a:avLst/>
              <a:gdLst/>
              <a:ahLst/>
              <a:cxnLst/>
              <a:rect r="r" b="b" t="t" l="l"/>
              <a:pathLst>
                <a:path h="355415" w="7421639">
                  <a:moveTo>
                    <a:pt x="14857" y="0"/>
                  </a:moveTo>
                  <a:lnTo>
                    <a:pt x="7406782" y="0"/>
                  </a:lnTo>
                  <a:cubicBezTo>
                    <a:pt x="7414988" y="0"/>
                    <a:pt x="7421639" y="6652"/>
                    <a:pt x="7421639" y="14857"/>
                  </a:cubicBezTo>
                  <a:lnTo>
                    <a:pt x="7421639" y="340558"/>
                  </a:lnTo>
                  <a:cubicBezTo>
                    <a:pt x="7421639" y="348763"/>
                    <a:pt x="7414988" y="355415"/>
                    <a:pt x="7406782" y="355415"/>
                  </a:cubicBezTo>
                  <a:lnTo>
                    <a:pt x="14857" y="355415"/>
                  </a:lnTo>
                  <a:cubicBezTo>
                    <a:pt x="10917" y="355415"/>
                    <a:pt x="7138" y="353850"/>
                    <a:pt x="4351" y="351063"/>
                  </a:cubicBezTo>
                  <a:cubicBezTo>
                    <a:pt x="1565" y="348277"/>
                    <a:pt x="0" y="344498"/>
                    <a:pt x="0" y="340558"/>
                  </a:cubicBezTo>
                  <a:lnTo>
                    <a:pt x="0" y="14857"/>
                  </a:lnTo>
                  <a:cubicBezTo>
                    <a:pt x="0" y="6652"/>
                    <a:pt x="6652" y="0"/>
                    <a:pt x="14857" y="0"/>
                  </a:cubicBez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7421639" cy="383990"/>
            </a:xfrm>
            <a:prstGeom prst="rect">
              <a:avLst/>
            </a:prstGeom>
          </p:spPr>
          <p:txBody>
            <a:bodyPr anchor="ctr" rtlCol="false" tIns="46204" lIns="46204" bIns="46204" rIns="46204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3452664"/>
            <a:ext cx="2214214" cy="3929934"/>
            <a:chOff x="0" y="0"/>
            <a:chExt cx="668233" cy="11860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68233" cy="1186025"/>
            </a:xfrm>
            <a:custGeom>
              <a:avLst/>
              <a:gdLst/>
              <a:ahLst/>
              <a:cxnLst/>
              <a:rect r="r" b="b" t="t" l="l"/>
              <a:pathLst>
                <a:path h="1186025" w="668233">
                  <a:moveTo>
                    <a:pt x="108390" y="0"/>
                  </a:moveTo>
                  <a:lnTo>
                    <a:pt x="559843" y="0"/>
                  </a:lnTo>
                  <a:cubicBezTo>
                    <a:pt x="619705" y="0"/>
                    <a:pt x="668233" y="48528"/>
                    <a:pt x="668233" y="108390"/>
                  </a:cubicBezTo>
                  <a:lnTo>
                    <a:pt x="668233" y="1077635"/>
                  </a:lnTo>
                  <a:cubicBezTo>
                    <a:pt x="668233" y="1106381"/>
                    <a:pt x="656814" y="1133951"/>
                    <a:pt x="636486" y="1154278"/>
                  </a:cubicBezTo>
                  <a:cubicBezTo>
                    <a:pt x="616159" y="1174605"/>
                    <a:pt x="588590" y="1186025"/>
                    <a:pt x="559843" y="1186025"/>
                  </a:cubicBezTo>
                  <a:lnTo>
                    <a:pt x="108390" y="1186025"/>
                  </a:lnTo>
                  <a:cubicBezTo>
                    <a:pt x="79643" y="1186025"/>
                    <a:pt x="52074" y="1174605"/>
                    <a:pt x="31747" y="1154278"/>
                  </a:cubicBezTo>
                  <a:cubicBezTo>
                    <a:pt x="11420" y="1133951"/>
                    <a:pt x="0" y="1106381"/>
                    <a:pt x="0" y="1077635"/>
                  </a:cubicBezTo>
                  <a:lnTo>
                    <a:pt x="0" y="108390"/>
                  </a:lnTo>
                  <a:cubicBezTo>
                    <a:pt x="0" y="79643"/>
                    <a:pt x="11420" y="52074"/>
                    <a:pt x="31747" y="31747"/>
                  </a:cubicBezTo>
                  <a:cubicBezTo>
                    <a:pt x="52074" y="11420"/>
                    <a:pt x="79643" y="0"/>
                    <a:pt x="108390" y="0"/>
                  </a:cubicBezTo>
                  <a:close/>
                </a:path>
              </a:pathLst>
            </a:custGeom>
            <a:blipFill>
              <a:blip r:embed="rId3"/>
              <a:stretch>
                <a:fillRect l="-20994" t="0" r="-20994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2283" y="7592148"/>
            <a:ext cx="2200059" cy="1935046"/>
            <a:chOff x="0" y="0"/>
            <a:chExt cx="1010767" cy="8890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0767" cy="889012"/>
            </a:xfrm>
            <a:custGeom>
              <a:avLst/>
              <a:gdLst/>
              <a:ahLst/>
              <a:cxnLst/>
              <a:rect r="r" b="b" t="t" l="l"/>
              <a:pathLst>
                <a:path h="889012" w="1010767">
                  <a:moveTo>
                    <a:pt x="109088" y="0"/>
                  </a:moveTo>
                  <a:lnTo>
                    <a:pt x="901679" y="0"/>
                  </a:lnTo>
                  <a:cubicBezTo>
                    <a:pt x="961926" y="0"/>
                    <a:pt x="1010767" y="48840"/>
                    <a:pt x="1010767" y="109088"/>
                  </a:cubicBezTo>
                  <a:lnTo>
                    <a:pt x="1010767" y="779924"/>
                  </a:lnTo>
                  <a:cubicBezTo>
                    <a:pt x="1010767" y="840172"/>
                    <a:pt x="961926" y="889012"/>
                    <a:pt x="901679" y="889012"/>
                  </a:cubicBezTo>
                  <a:lnTo>
                    <a:pt x="109088" y="889012"/>
                  </a:lnTo>
                  <a:cubicBezTo>
                    <a:pt x="48840" y="889012"/>
                    <a:pt x="0" y="840172"/>
                    <a:pt x="0" y="779924"/>
                  </a:cubicBezTo>
                  <a:lnTo>
                    <a:pt x="0" y="109088"/>
                  </a:lnTo>
                  <a:cubicBezTo>
                    <a:pt x="0" y="48840"/>
                    <a:pt x="48840" y="0"/>
                    <a:pt x="109088" y="0"/>
                  </a:cubicBez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1010767" cy="879487"/>
            </a:xfrm>
            <a:prstGeom prst="rect">
              <a:avLst/>
            </a:prstGeom>
          </p:spPr>
          <p:txBody>
            <a:bodyPr anchor="ctr" rtlCol="false" tIns="46204" lIns="46204" bIns="46204" rIns="46204"/>
            <a:lstStyle/>
            <a:p>
              <a:pPr algn="ctr">
                <a:lnSpc>
                  <a:spcPts val="248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403867" y="3452664"/>
            <a:ext cx="2214214" cy="3929934"/>
            <a:chOff x="0" y="0"/>
            <a:chExt cx="668233" cy="11860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8233" cy="1186025"/>
            </a:xfrm>
            <a:custGeom>
              <a:avLst/>
              <a:gdLst/>
              <a:ahLst/>
              <a:cxnLst/>
              <a:rect r="r" b="b" t="t" l="l"/>
              <a:pathLst>
                <a:path h="1186025" w="668233">
                  <a:moveTo>
                    <a:pt x="108390" y="0"/>
                  </a:moveTo>
                  <a:lnTo>
                    <a:pt x="559843" y="0"/>
                  </a:lnTo>
                  <a:cubicBezTo>
                    <a:pt x="619705" y="0"/>
                    <a:pt x="668233" y="48528"/>
                    <a:pt x="668233" y="108390"/>
                  </a:cubicBezTo>
                  <a:lnTo>
                    <a:pt x="668233" y="1077635"/>
                  </a:lnTo>
                  <a:cubicBezTo>
                    <a:pt x="668233" y="1106381"/>
                    <a:pt x="656814" y="1133951"/>
                    <a:pt x="636486" y="1154278"/>
                  </a:cubicBezTo>
                  <a:cubicBezTo>
                    <a:pt x="616159" y="1174605"/>
                    <a:pt x="588590" y="1186025"/>
                    <a:pt x="559843" y="1186025"/>
                  </a:cubicBezTo>
                  <a:lnTo>
                    <a:pt x="108390" y="1186025"/>
                  </a:lnTo>
                  <a:cubicBezTo>
                    <a:pt x="79643" y="1186025"/>
                    <a:pt x="52074" y="1174605"/>
                    <a:pt x="31747" y="1154278"/>
                  </a:cubicBezTo>
                  <a:cubicBezTo>
                    <a:pt x="11420" y="1133951"/>
                    <a:pt x="0" y="1106381"/>
                    <a:pt x="0" y="1077635"/>
                  </a:cubicBezTo>
                  <a:lnTo>
                    <a:pt x="0" y="108390"/>
                  </a:lnTo>
                  <a:cubicBezTo>
                    <a:pt x="0" y="79643"/>
                    <a:pt x="11420" y="52074"/>
                    <a:pt x="31747" y="31747"/>
                  </a:cubicBezTo>
                  <a:cubicBezTo>
                    <a:pt x="52074" y="11420"/>
                    <a:pt x="79643" y="0"/>
                    <a:pt x="108390" y="0"/>
                  </a:cubicBezTo>
                  <a:close/>
                </a:path>
              </a:pathLst>
            </a:custGeom>
            <a:blipFill>
              <a:blip r:embed="rId4"/>
              <a:stretch>
                <a:fillRect l="-20994" t="0" r="-20994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3397450" y="7592148"/>
            <a:ext cx="2200059" cy="1935046"/>
            <a:chOff x="0" y="0"/>
            <a:chExt cx="1010767" cy="88901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10767" cy="889012"/>
            </a:xfrm>
            <a:custGeom>
              <a:avLst/>
              <a:gdLst/>
              <a:ahLst/>
              <a:cxnLst/>
              <a:rect r="r" b="b" t="t" l="l"/>
              <a:pathLst>
                <a:path h="889012" w="1010767">
                  <a:moveTo>
                    <a:pt x="109088" y="0"/>
                  </a:moveTo>
                  <a:lnTo>
                    <a:pt x="901679" y="0"/>
                  </a:lnTo>
                  <a:cubicBezTo>
                    <a:pt x="961926" y="0"/>
                    <a:pt x="1010767" y="48840"/>
                    <a:pt x="1010767" y="109088"/>
                  </a:cubicBezTo>
                  <a:lnTo>
                    <a:pt x="1010767" y="779924"/>
                  </a:lnTo>
                  <a:cubicBezTo>
                    <a:pt x="1010767" y="840172"/>
                    <a:pt x="961926" y="889012"/>
                    <a:pt x="901679" y="889012"/>
                  </a:cubicBezTo>
                  <a:lnTo>
                    <a:pt x="109088" y="889012"/>
                  </a:lnTo>
                  <a:cubicBezTo>
                    <a:pt x="48840" y="889012"/>
                    <a:pt x="0" y="840172"/>
                    <a:pt x="0" y="779924"/>
                  </a:cubicBezTo>
                  <a:lnTo>
                    <a:pt x="0" y="109088"/>
                  </a:lnTo>
                  <a:cubicBezTo>
                    <a:pt x="0" y="48840"/>
                    <a:pt x="48840" y="0"/>
                    <a:pt x="109088" y="0"/>
                  </a:cubicBez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9525"/>
              <a:ext cx="1010767" cy="879487"/>
            </a:xfrm>
            <a:prstGeom prst="rect">
              <a:avLst/>
            </a:prstGeom>
          </p:spPr>
          <p:txBody>
            <a:bodyPr anchor="ctr" rtlCol="false" tIns="46204" lIns="46204" bIns="46204" rIns="46204"/>
            <a:lstStyle/>
            <a:p>
              <a:pPr algn="ctr">
                <a:lnSpc>
                  <a:spcPts val="248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779034" y="3452664"/>
            <a:ext cx="2214214" cy="3929934"/>
            <a:chOff x="0" y="0"/>
            <a:chExt cx="668233" cy="11860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68233" cy="1186025"/>
            </a:xfrm>
            <a:custGeom>
              <a:avLst/>
              <a:gdLst/>
              <a:ahLst/>
              <a:cxnLst/>
              <a:rect r="r" b="b" t="t" l="l"/>
              <a:pathLst>
                <a:path h="1186025" w="668233">
                  <a:moveTo>
                    <a:pt x="108390" y="0"/>
                  </a:moveTo>
                  <a:lnTo>
                    <a:pt x="559843" y="0"/>
                  </a:lnTo>
                  <a:cubicBezTo>
                    <a:pt x="619705" y="0"/>
                    <a:pt x="668233" y="48528"/>
                    <a:pt x="668233" y="108390"/>
                  </a:cubicBezTo>
                  <a:lnTo>
                    <a:pt x="668233" y="1077635"/>
                  </a:lnTo>
                  <a:cubicBezTo>
                    <a:pt x="668233" y="1106381"/>
                    <a:pt x="656814" y="1133951"/>
                    <a:pt x="636486" y="1154278"/>
                  </a:cubicBezTo>
                  <a:cubicBezTo>
                    <a:pt x="616159" y="1174605"/>
                    <a:pt x="588590" y="1186025"/>
                    <a:pt x="559843" y="1186025"/>
                  </a:cubicBezTo>
                  <a:lnTo>
                    <a:pt x="108390" y="1186025"/>
                  </a:lnTo>
                  <a:cubicBezTo>
                    <a:pt x="79643" y="1186025"/>
                    <a:pt x="52074" y="1174605"/>
                    <a:pt x="31747" y="1154278"/>
                  </a:cubicBezTo>
                  <a:cubicBezTo>
                    <a:pt x="11420" y="1133951"/>
                    <a:pt x="0" y="1106381"/>
                    <a:pt x="0" y="1077635"/>
                  </a:cubicBezTo>
                  <a:lnTo>
                    <a:pt x="0" y="108390"/>
                  </a:lnTo>
                  <a:cubicBezTo>
                    <a:pt x="0" y="79643"/>
                    <a:pt x="11420" y="52074"/>
                    <a:pt x="31747" y="31747"/>
                  </a:cubicBezTo>
                  <a:cubicBezTo>
                    <a:pt x="52074" y="11420"/>
                    <a:pt x="79643" y="0"/>
                    <a:pt x="108390" y="0"/>
                  </a:cubicBezTo>
                  <a:close/>
                </a:path>
              </a:pathLst>
            </a:custGeom>
            <a:blipFill>
              <a:blip r:embed="rId5"/>
              <a:stretch>
                <a:fillRect l="-20994" t="0" r="-20994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772617" y="7592148"/>
            <a:ext cx="2200059" cy="1935046"/>
            <a:chOff x="0" y="0"/>
            <a:chExt cx="1010767" cy="88901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10767" cy="889012"/>
            </a:xfrm>
            <a:custGeom>
              <a:avLst/>
              <a:gdLst/>
              <a:ahLst/>
              <a:cxnLst/>
              <a:rect r="r" b="b" t="t" l="l"/>
              <a:pathLst>
                <a:path h="889012" w="1010767">
                  <a:moveTo>
                    <a:pt x="109088" y="0"/>
                  </a:moveTo>
                  <a:lnTo>
                    <a:pt x="901679" y="0"/>
                  </a:lnTo>
                  <a:cubicBezTo>
                    <a:pt x="961926" y="0"/>
                    <a:pt x="1010767" y="48840"/>
                    <a:pt x="1010767" y="109088"/>
                  </a:cubicBezTo>
                  <a:lnTo>
                    <a:pt x="1010767" y="779924"/>
                  </a:lnTo>
                  <a:cubicBezTo>
                    <a:pt x="1010767" y="840172"/>
                    <a:pt x="961926" y="889012"/>
                    <a:pt x="901679" y="889012"/>
                  </a:cubicBezTo>
                  <a:lnTo>
                    <a:pt x="109088" y="889012"/>
                  </a:lnTo>
                  <a:cubicBezTo>
                    <a:pt x="48840" y="889012"/>
                    <a:pt x="0" y="840172"/>
                    <a:pt x="0" y="779924"/>
                  </a:cubicBezTo>
                  <a:lnTo>
                    <a:pt x="0" y="109088"/>
                  </a:lnTo>
                  <a:cubicBezTo>
                    <a:pt x="0" y="48840"/>
                    <a:pt x="48840" y="0"/>
                    <a:pt x="109088" y="0"/>
                  </a:cubicBez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1010767" cy="879487"/>
            </a:xfrm>
            <a:prstGeom prst="rect">
              <a:avLst/>
            </a:prstGeom>
          </p:spPr>
          <p:txBody>
            <a:bodyPr anchor="ctr" rtlCol="false" tIns="46204" lIns="46204" bIns="46204" rIns="46204"/>
            <a:lstStyle/>
            <a:p>
              <a:pPr algn="ctr">
                <a:lnSpc>
                  <a:spcPts val="248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154200" y="3452664"/>
            <a:ext cx="2214214" cy="3929934"/>
            <a:chOff x="0" y="0"/>
            <a:chExt cx="668233" cy="118602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68233" cy="1186025"/>
            </a:xfrm>
            <a:custGeom>
              <a:avLst/>
              <a:gdLst/>
              <a:ahLst/>
              <a:cxnLst/>
              <a:rect r="r" b="b" t="t" l="l"/>
              <a:pathLst>
                <a:path h="1186025" w="668233">
                  <a:moveTo>
                    <a:pt x="108390" y="0"/>
                  </a:moveTo>
                  <a:lnTo>
                    <a:pt x="559843" y="0"/>
                  </a:lnTo>
                  <a:cubicBezTo>
                    <a:pt x="619705" y="0"/>
                    <a:pt x="668233" y="48528"/>
                    <a:pt x="668233" y="108390"/>
                  </a:cubicBezTo>
                  <a:lnTo>
                    <a:pt x="668233" y="1077635"/>
                  </a:lnTo>
                  <a:cubicBezTo>
                    <a:pt x="668233" y="1106381"/>
                    <a:pt x="656814" y="1133951"/>
                    <a:pt x="636486" y="1154278"/>
                  </a:cubicBezTo>
                  <a:cubicBezTo>
                    <a:pt x="616159" y="1174605"/>
                    <a:pt x="588590" y="1186025"/>
                    <a:pt x="559843" y="1186025"/>
                  </a:cubicBezTo>
                  <a:lnTo>
                    <a:pt x="108390" y="1186025"/>
                  </a:lnTo>
                  <a:cubicBezTo>
                    <a:pt x="79643" y="1186025"/>
                    <a:pt x="52074" y="1174605"/>
                    <a:pt x="31747" y="1154278"/>
                  </a:cubicBezTo>
                  <a:cubicBezTo>
                    <a:pt x="11420" y="1133951"/>
                    <a:pt x="0" y="1106381"/>
                    <a:pt x="0" y="1077635"/>
                  </a:cubicBezTo>
                  <a:lnTo>
                    <a:pt x="0" y="108390"/>
                  </a:lnTo>
                  <a:cubicBezTo>
                    <a:pt x="0" y="79643"/>
                    <a:pt x="11420" y="52074"/>
                    <a:pt x="31747" y="31747"/>
                  </a:cubicBezTo>
                  <a:cubicBezTo>
                    <a:pt x="52074" y="11420"/>
                    <a:pt x="79643" y="0"/>
                    <a:pt x="108390" y="0"/>
                  </a:cubicBezTo>
                  <a:close/>
                </a:path>
              </a:pathLst>
            </a:custGeom>
            <a:blipFill>
              <a:blip r:embed="rId6"/>
              <a:stretch>
                <a:fillRect l="-18026" t="0" r="-23963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147783" y="7592148"/>
            <a:ext cx="2200059" cy="1935046"/>
            <a:chOff x="0" y="0"/>
            <a:chExt cx="1010767" cy="88901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10767" cy="889012"/>
            </a:xfrm>
            <a:custGeom>
              <a:avLst/>
              <a:gdLst/>
              <a:ahLst/>
              <a:cxnLst/>
              <a:rect r="r" b="b" t="t" l="l"/>
              <a:pathLst>
                <a:path h="889012" w="1010767">
                  <a:moveTo>
                    <a:pt x="109088" y="0"/>
                  </a:moveTo>
                  <a:lnTo>
                    <a:pt x="901679" y="0"/>
                  </a:lnTo>
                  <a:cubicBezTo>
                    <a:pt x="961926" y="0"/>
                    <a:pt x="1010767" y="48840"/>
                    <a:pt x="1010767" y="109088"/>
                  </a:cubicBezTo>
                  <a:lnTo>
                    <a:pt x="1010767" y="779924"/>
                  </a:lnTo>
                  <a:cubicBezTo>
                    <a:pt x="1010767" y="840172"/>
                    <a:pt x="961926" y="889012"/>
                    <a:pt x="901679" y="889012"/>
                  </a:cubicBezTo>
                  <a:lnTo>
                    <a:pt x="109088" y="889012"/>
                  </a:lnTo>
                  <a:cubicBezTo>
                    <a:pt x="48840" y="889012"/>
                    <a:pt x="0" y="840172"/>
                    <a:pt x="0" y="779924"/>
                  </a:cubicBezTo>
                  <a:lnTo>
                    <a:pt x="0" y="109088"/>
                  </a:lnTo>
                  <a:cubicBezTo>
                    <a:pt x="0" y="48840"/>
                    <a:pt x="48840" y="0"/>
                    <a:pt x="109088" y="0"/>
                  </a:cubicBez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9525"/>
              <a:ext cx="1010767" cy="879487"/>
            </a:xfrm>
            <a:prstGeom prst="rect">
              <a:avLst/>
            </a:prstGeom>
          </p:spPr>
          <p:txBody>
            <a:bodyPr anchor="ctr" rtlCol="false" tIns="46204" lIns="46204" bIns="46204" rIns="46204"/>
            <a:lstStyle/>
            <a:p>
              <a:pPr algn="ctr">
                <a:lnSpc>
                  <a:spcPts val="248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529367" y="3452664"/>
            <a:ext cx="2214214" cy="3929934"/>
            <a:chOff x="0" y="0"/>
            <a:chExt cx="668233" cy="118602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68233" cy="1186025"/>
            </a:xfrm>
            <a:custGeom>
              <a:avLst/>
              <a:gdLst/>
              <a:ahLst/>
              <a:cxnLst/>
              <a:rect r="r" b="b" t="t" l="l"/>
              <a:pathLst>
                <a:path h="1186025" w="668233">
                  <a:moveTo>
                    <a:pt x="108390" y="0"/>
                  </a:moveTo>
                  <a:lnTo>
                    <a:pt x="559843" y="0"/>
                  </a:lnTo>
                  <a:cubicBezTo>
                    <a:pt x="619705" y="0"/>
                    <a:pt x="668233" y="48528"/>
                    <a:pt x="668233" y="108390"/>
                  </a:cubicBezTo>
                  <a:lnTo>
                    <a:pt x="668233" y="1077635"/>
                  </a:lnTo>
                  <a:cubicBezTo>
                    <a:pt x="668233" y="1106381"/>
                    <a:pt x="656814" y="1133951"/>
                    <a:pt x="636486" y="1154278"/>
                  </a:cubicBezTo>
                  <a:cubicBezTo>
                    <a:pt x="616159" y="1174605"/>
                    <a:pt x="588590" y="1186025"/>
                    <a:pt x="559843" y="1186025"/>
                  </a:cubicBezTo>
                  <a:lnTo>
                    <a:pt x="108390" y="1186025"/>
                  </a:lnTo>
                  <a:cubicBezTo>
                    <a:pt x="79643" y="1186025"/>
                    <a:pt x="52074" y="1174605"/>
                    <a:pt x="31747" y="1154278"/>
                  </a:cubicBezTo>
                  <a:cubicBezTo>
                    <a:pt x="11420" y="1133951"/>
                    <a:pt x="0" y="1106381"/>
                    <a:pt x="0" y="1077635"/>
                  </a:cubicBezTo>
                  <a:lnTo>
                    <a:pt x="0" y="108390"/>
                  </a:lnTo>
                  <a:cubicBezTo>
                    <a:pt x="0" y="79643"/>
                    <a:pt x="11420" y="52074"/>
                    <a:pt x="31747" y="31747"/>
                  </a:cubicBezTo>
                  <a:cubicBezTo>
                    <a:pt x="52074" y="11420"/>
                    <a:pt x="79643" y="0"/>
                    <a:pt x="108390" y="0"/>
                  </a:cubicBezTo>
                  <a:close/>
                </a:path>
              </a:pathLst>
            </a:custGeom>
            <a:blipFill>
              <a:blip r:embed="rId7"/>
              <a:stretch>
                <a:fillRect l="-38825" t="0" r="-38825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522950" y="7592148"/>
            <a:ext cx="2200059" cy="1935046"/>
            <a:chOff x="0" y="0"/>
            <a:chExt cx="1010767" cy="88901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10767" cy="889012"/>
            </a:xfrm>
            <a:custGeom>
              <a:avLst/>
              <a:gdLst/>
              <a:ahLst/>
              <a:cxnLst/>
              <a:rect r="r" b="b" t="t" l="l"/>
              <a:pathLst>
                <a:path h="889012" w="1010767">
                  <a:moveTo>
                    <a:pt x="109088" y="0"/>
                  </a:moveTo>
                  <a:lnTo>
                    <a:pt x="901679" y="0"/>
                  </a:lnTo>
                  <a:cubicBezTo>
                    <a:pt x="961926" y="0"/>
                    <a:pt x="1010767" y="48840"/>
                    <a:pt x="1010767" y="109088"/>
                  </a:cubicBezTo>
                  <a:lnTo>
                    <a:pt x="1010767" y="779924"/>
                  </a:lnTo>
                  <a:cubicBezTo>
                    <a:pt x="1010767" y="840172"/>
                    <a:pt x="961926" y="889012"/>
                    <a:pt x="901679" y="889012"/>
                  </a:cubicBezTo>
                  <a:lnTo>
                    <a:pt x="109088" y="889012"/>
                  </a:lnTo>
                  <a:cubicBezTo>
                    <a:pt x="48840" y="889012"/>
                    <a:pt x="0" y="840172"/>
                    <a:pt x="0" y="779924"/>
                  </a:cubicBezTo>
                  <a:lnTo>
                    <a:pt x="0" y="109088"/>
                  </a:lnTo>
                  <a:cubicBezTo>
                    <a:pt x="0" y="48840"/>
                    <a:pt x="48840" y="0"/>
                    <a:pt x="109088" y="0"/>
                  </a:cubicBez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9525"/>
              <a:ext cx="1010767" cy="879487"/>
            </a:xfrm>
            <a:prstGeom prst="rect">
              <a:avLst/>
            </a:prstGeom>
          </p:spPr>
          <p:txBody>
            <a:bodyPr anchor="ctr" rtlCol="false" tIns="46204" lIns="46204" bIns="46204" rIns="46204"/>
            <a:lstStyle/>
            <a:p>
              <a:pPr algn="ctr">
                <a:lnSpc>
                  <a:spcPts val="248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895981" y="3452664"/>
            <a:ext cx="4277316" cy="1361942"/>
            <a:chOff x="0" y="0"/>
            <a:chExt cx="1965114" cy="62571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965114" cy="625713"/>
            </a:xfrm>
            <a:custGeom>
              <a:avLst/>
              <a:gdLst/>
              <a:ahLst/>
              <a:cxnLst/>
              <a:rect r="r" b="b" t="t" l="l"/>
              <a:pathLst>
                <a:path h="625713" w="1965114">
                  <a:moveTo>
                    <a:pt x="56110" y="0"/>
                  </a:moveTo>
                  <a:lnTo>
                    <a:pt x="1909004" y="0"/>
                  </a:lnTo>
                  <a:cubicBezTo>
                    <a:pt x="1939993" y="0"/>
                    <a:pt x="1965114" y="25121"/>
                    <a:pt x="1965114" y="56110"/>
                  </a:cubicBezTo>
                  <a:lnTo>
                    <a:pt x="1965114" y="569603"/>
                  </a:lnTo>
                  <a:cubicBezTo>
                    <a:pt x="1965114" y="600592"/>
                    <a:pt x="1939993" y="625713"/>
                    <a:pt x="1909004" y="625713"/>
                  </a:cubicBezTo>
                  <a:lnTo>
                    <a:pt x="56110" y="625713"/>
                  </a:lnTo>
                  <a:cubicBezTo>
                    <a:pt x="25121" y="625713"/>
                    <a:pt x="0" y="600592"/>
                    <a:pt x="0" y="569603"/>
                  </a:cubicBezTo>
                  <a:lnTo>
                    <a:pt x="0" y="56110"/>
                  </a:lnTo>
                  <a:cubicBezTo>
                    <a:pt x="0" y="25121"/>
                    <a:pt x="25121" y="0"/>
                    <a:pt x="56110" y="0"/>
                  </a:cubicBezTo>
                  <a:close/>
                </a:path>
              </a:pathLst>
            </a:custGeom>
            <a:solidFill>
              <a:srgbClr val="835A51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9525"/>
              <a:ext cx="1965114" cy="616188"/>
            </a:xfrm>
            <a:prstGeom prst="rect">
              <a:avLst/>
            </a:prstGeom>
          </p:spPr>
          <p:txBody>
            <a:bodyPr anchor="ctr" rtlCol="false" tIns="46204" lIns="46204" bIns="46204" rIns="46204"/>
            <a:lstStyle/>
            <a:p>
              <a:pPr algn="ctr">
                <a:lnSpc>
                  <a:spcPts val="248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895981" y="4928906"/>
            <a:ext cx="4277316" cy="2453693"/>
            <a:chOff x="0" y="0"/>
            <a:chExt cx="1965114" cy="112729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965114" cy="1127293"/>
            </a:xfrm>
            <a:custGeom>
              <a:avLst/>
              <a:gdLst/>
              <a:ahLst/>
              <a:cxnLst/>
              <a:rect r="r" b="b" t="t" l="l"/>
              <a:pathLst>
                <a:path h="1127293" w="1965114">
                  <a:moveTo>
                    <a:pt x="56110" y="0"/>
                  </a:moveTo>
                  <a:lnTo>
                    <a:pt x="1909004" y="0"/>
                  </a:lnTo>
                  <a:cubicBezTo>
                    <a:pt x="1939993" y="0"/>
                    <a:pt x="1965114" y="25121"/>
                    <a:pt x="1965114" y="56110"/>
                  </a:cubicBezTo>
                  <a:lnTo>
                    <a:pt x="1965114" y="1071183"/>
                  </a:lnTo>
                  <a:cubicBezTo>
                    <a:pt x="1965114" y="1102171"/>
                    <a:pt x="1939993" y="1127293"/>
                    <a:pt x="1909004" y="1127293"/>
                  </a:cubicBezTo>
                  <a:lnTo>
                    <a:pt x="56110" y="1127293"/>
                  </a:lnTo>
                  <a:cubicBezTo>
                    <a:pt x="25121" y="1127293"/>
                    <a:pt x="0" y="1102171"/>
                    <a:pt x="0" y="1071183"/>
                  </a:cubicBezTo>
                  <a:lnTo>
                    <a:pt x="0" y="56110"/>
                  </a:lnTo>
                  <a:cubicBezTo>
                    <a:pt x="0" y="25121"/>
                    <a:pt x="25121" y="0"/>
                    <a:pt x="56110" y="0"/>
                  </a:cubicBezTo>
                  <a:close/>
                </a:path>
              </a:pathLst>
            </a:custGeom>
            <a:solidFill>
              <a:srgbClr val="8E523A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9525"/>
              <a:ext cx="1965114" cy="1117768"/>
            </a:xfrm>
            <a:prstGeom prst="rect">
              <a:avLst/>
            </a:prstGeom>
          </p:spPr>
          <p:txBody>
            <a:bodyPr anchor="ctr" rtlCol="false" tIns="46204" lIns="46204" bIns="46204" rIns="46204"/>
            <a:lstStyle/>
            <a:p>
              <a:pPr algn="ctr">
                <a:lnSpc>
                  <a:spcPts val="248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895981" y="7542361"/>
            <a:ext cx="4277316" cy="1912371"/>
            <a:chOff x="0" y="0"/>
            <a:chExt cx="1965114" cy="87859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965114" cy="878595"/>
            </a:xfrm>
            <a:custGeom>
              <a:avLst/>
              <a:gdLst/>
              <a:ahLst/>
              <a:cxnLst/>
              <a:rect r="r" b="b" t="t" l="l"/>
              <a:pathLst>
                <a:path h="878595" w="1965114">
                  <a:moveTo>
                    <a:pt x="56110" y="0"/>
                  </a:moveTo>
                  <a:lnTo>
                    <a:pt x="1909004" y="0"/>
                  </a:lnTo>
                  <a:cubicBezTo>
                    <a:pt x="1939993" y="0"/>
                    <a:pt x="1965114" y="25121"/>
                    <a:pt x="1965114" y="56110"/>
                  </a:cubicBezTo>
                  <a:lnTo>
                    <a:pt x="1965114" y="822485"/>
                  </a:lnTo>
                  <a:cubicBezTo>
                    <a:pt x="1965114" y="853473"/>
                    <a:pt x="1939993" y="878595"/>
                    <a:pt x="1909004" y="878595"/>
                  </a:cubicBezTo>
                  <a:lnTo>
                    <a:pt x="56110" y="878595"/>
                  </a:lnTo>
                  <a:cubicBezTo>
                    <a:pt x="25121" y="878595"/>
                    <a:pt x="0" y="853473"/>
                    <a:pt x="0" y="822485"/>
                  </a:cubicBezTo>
                  <a:lnTo>
                    <a:pt x="0" y="56110"/>
                  </a:lnTo>
                  <a:cubicBezTo>
                    <a:pt x="0" y="25121"/>
                    <a:pt x="25121" y="0"/>
                    <a:pt x="56110" y="0"/>
                  </a:cubicBezTo>
                  <a:close/>
                </a:path>
              </a:pathLst>
            </a:custGeom>
            <a:solidFill>
              <a:srgbClr val="B17D61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9525"/>
              <a:ext cx="1965114" cy="869070"/>
            </a:xfrm>
            <a:prstGeom prst="rect">
              <a:avLst/>
            </a:prstGeom>
          </p:spPr>
          <p:txBody>
            <a:bodyPr anchor="ctr" rtlCol="false" tIns="46204" lIns="46204" bIns="46204" rIns="46204"/>
            <a:lstStyle/>
            <a:p>
              <a:pPr algn="ctr">
                <a:lnSpc>
                  <a:spcPts val="2485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028700" y="1825547"/>
            <a:ext cx="3691176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0"/>
              </a:lnSpc>
            </a:pPr>
            <a:r>
              <a:rPr lang="en-US" sz="3000" spc="-171">
                <a:solidFill>
                  <a:srgbClr val="503332"/>
                </a:solidFill>
                <a:latin typeface="Bai Jamjuree"/>
                <a:ea typeface="Bai Jamjuree"/>
                <a:cs typeface="Bai Jamjuree"/>
                <a:sym typeface="Bai Jamjuree"/>
              </a:rPr>
              <a:t>Core Concepts Analysis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19453" y="455418"/>
            <a:ext cx="8427774" cy="1351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49"/>
              </a:lnSpc>
            </a:pPr>
            <a:r>
              <a:rPr lang="en-US" sz="7892">
                <a:solidFill>
                  <a:srgbClr val="503332"/>
                </a:solidFill>
                <a:latin typeface="TAN Aegean"/>
                <a:ea typeface="TAN Aegean"/>
                <a:cs typeface="TAN Aegean"/>
                <a:sym typeface="TAN Aegean"/>
              </a:rPr>
              <a:t>The Diagnosis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716824" y="2568023"/>
            <a:ext cx="14793394" cy="506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32"/>
              </a:lnSpc>
              <a:spcBef>
                <a:spcPct val="0"/>
              </a:spcBef>
            </a:pPr>
            <a:r>
              <a:rPr lang="en-US" b="true" sz="2951" strike="noStrike" u="none">
                <a:solidFill>
                  <a:srgbClr val="FFFFFF"/>
                </a:solidFill>
                <a:latin typeface="Bai Jamjuree Medium"/>
                <a:ea typeface="Bai Jamjuree Medium"/>
                <a:cs typeface="Bai Jamjuree Medium"/>
                <a:sym typeface="Bai Jamjuree Medium"/>
              </a:rPr>
              <a:t>WHERE MAULI IS EXPOSED TO ALGORITHMS AND AGENTS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91654" y="7784789"/>
            <a:ext cx="1843846" cy="153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50"/>
              </a:lnSpc>
              <a:spcBef>
                <a:spcPct val="0"/>
              </a:spcBef>
            </a:pPr>
            <a:r>
              <a:rPr lang="en-US" sz="2699" spc="-153" strike="noStrike" u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AI describes Mauli </a:t>
            </a:r>
          </a:p>
          <a:p>
            <a:pPr algn="ctr" marL="0" indent="0" lvl="0">
              <a:lnSpc>
                <a:spcPts val="3050"/>
              </a:lnSpc>
              <a:spcBef>
                <a:spcPct val="0"/>
              </a:spcBef>
            </a:pPr>
            <a:r>
              <a:rPr lang="en-US" sz="2699" spc="-153" strike="noStrike" u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without rituals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530633" y="7782648"/>
            <a:ext cx="1933692" cy="1572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86"/>
              </a:lnSpc>
              <a:spcBef>
                <a:spcPct val="0"/>
              </a:spcBef>
            </a:pPr>
            <a:r>
              <a:rPr lang="en-US" sz="2200" spc="-125" strike="noStrike" u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The quiz ignores stock levels &amp; getting</a:t>
            </a:r>
          </a:p>
          <a:p>
            <a:pPr algn="ctr" marL="0" indent="0" lvl="0">
              <a:lnSpc>
                <a:spcPts val="2486"/>
              </a:lnSpc>
              <a:spcBef>
                <a:spcPct val="0"/>
              </a:spcBef>
            </a:pPr>
            <a:r>
              <a:rPr lang="en-US" sz="2200" spc="-125" strike="noStrike" u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an in-depth analysis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903267" y="7924570"/>
            <a:ext cx="2006392" cy="1157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51"/>
              </a:lnSpc>
              <a:spcBef>
                <a:spcPct val="0"/>
              </a:spcBef>
            </a:pPr>
            <a:r>
              <a:rPr lang="en-US" sz="2700" spc="-153" strike="noStrike" u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The first order barely breaks even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147783" y="7924570"/>
            <a:ext cx="2214214" cy="1157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51"/>
              </a:lnSpc>
              <a:spcBef>
                <a:spcPct val="0"/>
              </a:spcBef>
            </a:pPr>
            <a:r>
              <a:rPr lang="en-US" sz="2700" spc="-153" strike="noStrike" u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Attention is misaligned with the brand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600891" y="7816303"/>
            <a:ext cx="2044177" cy="153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51"/>
              </a:lnSpc>
              <a:spcBef>
                <a:spcPct val="0"/>
              </a:spcBef>
            </a:pPr>
            <a:r>
              <a:rPr lang="en-US" sz="2700" spc="-153" strike="noStrike" u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Discovery happens before the click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986313" y="3747298"/>
            <a:ext cx="4096651" cy="638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85"/>
              </a:lnSpc>
              <a:spcBef>
                <a:spcPct val="0"/>
              </a:spcBef>
            </a:pPr>
            <a:r>
              <a:rPr lang="en-US" b="true" sz="2199" spc="-125" strike="noStrike" u="none">
                <a:solidFill>
                  <a:srgbClr val="FFFFFF"/>
                </a:solidFill>
                <a:latin typeface="Bai Jamjuree Medium"/>
                <a:ea typeface="Bai Jamjuree Medium"/>
                <a:cs typeface="Bai Jamjuree Medium"/>
                <a:sym typeface="Bai Jamjuree Medium"/>
              </a:rPr>
              <a:t>MEANING GETS LOST BETWEEN BRAND AND ALGORITHM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399191" y="5319431"/>
            <a:ext cx="3270896" cy="415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63"/>
              </a:lnSpc>
              <a:spcBef>
                <a:spcPct val="0"/>
              </a:spcBef>
            </a:pPr>
            <a:r>
              <a:rPr lang="en-US" b="true" sz="2799" spc="-159" strike="noStrike" u="none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WHERE VALUE SITS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591009" y="7802785"/>
            <a:ext cx="2801535" cy="324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85"/>
              </a:lnSpc>
              <a:spcBef>
                <a:spcPct val="0"/>
              </a:spcBef>
            </a:pPr>
            <a:r>
              <a:rPr lang="en-US" b="true" sz="2199" spc="-125" strike="noStrike" u="none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WHERE IT LEAKS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164510" y="6018811"/>
            <a:ext cx="3641481" cy="756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sz="2599" spc="-148" strike="noStrike" u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In repeat orders (54%), not first orders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249617" y="8234687"/>
            <a:ext cx="3570044" cy="638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85"/>
              </a:lnSpc>
              <a:spcBef>
                <a:spcPct val="0"/>
              </a:spcBef>
            </a:pPr>
            <a:r>
              <a:rPr lang="en-US" sz="2199" spc="-125" strike="noStrike" u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Wrong prices and sold-out picks in AI journeys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B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531405" y="-3157555"/>
            <a:ext cx="16504213" cy="15818792"/>
            <a:chOff x="0" y="0"/>
            <a:chExt cx="22005617" cy="21091723"/>
          </a:xfrm>
        </p:grpSpPr>
        <p:sp>
          <p:nvSpPr>
            <p:cNvPr name="Freeform 3" id="3"/>
            <p:cNvSpPr/>
            <p:nvPr/>
          </p:nvSpPr>
          <p:spPr>
            <a:xfrm flipH="false" flipV="false" rot="-2525933">
              <a:off x="182408" y="6109498"/>
              <a:ext cx="21640800" cy="8872728"/>
            </a:xfrm>
            <a:custGeom>
              <a:avLst/>
              <a:gdLst/>
              <a:ahLst/>
              <a:cxnLst/>
              <a:rect r="r" b="b" t="t" l="l"/>
              <a:pathLst>
                <a:path h="8872728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8872728"/>
                  </a:lnTo>
                  <a:lnTo>
                    <a:pt x="0" y="88727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8166008" y="8857368"/>
              <a:ext cx="7373248" cy="4248990"/>
            </a:xfrm>
            <a:custGeom>
              <a:avLst/>
              <a:gdLst/>
              <a:ahLst/>
              <a:cxnLst/>
              <a:rect r="r" b="b" t="t" l="l"/>
              <a:pathLst>
                <a:path h="4248990" w="7373248">
                  <a:moveTo>
                    <a:pt x="0" y="0"/>
                  </a:moveTo>
                  <a:lnTo>
                    <a:pt x="7373248" y="0"/>
                  </a:lnTo>
                  <a:lnTo>
                    <a:pt x="7373248" y="4248990"/>
                  </a:lnTo>
                  <a:lnTo>
                    <a:pt x="0" y="4248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grpSp>
          <p:nvGrpSpPr>
            <p:cNvPr name="Group 5" id="5"/>
            <p:cNvGrpSpPr/>
            <p:nvPr/>
          </p:nvGrpSpPr>
          <p:grpSpPr>
            <a:xfrm rot="0">
              <a:off x="11271567" y="10173993"/>
              <a:ext cx="171450" cy="166370"/>
              <a:chOff x="0" y="0"/>
              <a:chExt cx="171450" cy="16637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47438" y="48181"/>
                <a:ext cx="71942" cy="60990"/>
              </a:xfrm>
              <a:custGeom>
                <a:avLst/>
                <a:gdLst/>
                <a:ahLst/>
                <a:cxnLst/>
                <a:rect r="r" b="b" t="t" l="l"/>
                <a:pathLst>
                  <a:path h="60990" w="71942">
                    <a:moveTo>
                      <a:pt x="71942" y="21669"/>
                    </a:moveTo>
                    <a:cubicBezTo>
                      <a:pt x="40192" y="72469"/>
                      <a:pt x="9712" y="63579"/>
                      <a:pt x="3362" y="52149"/>
                    </a:cubicBezTo>
                    <a:cubicBezTo>
                      <a:pt x="-4258" y="41989"/>
                      <a:pt x="2092" y="10239"/>
                      <a:pt x="12252" y="2619"/>
                    </a:cubicBezTo>
                    <a:cubicBezTo>
                      <a:pt x="22412" y="-5001"/>
                      <a:pt x="61782" y="6429"/>
                      <a:pt x="61782" y="6429"/>
                    </a:cubicBezTo>
                  </a:path>
                </a:pathLst>
              </a:custGeom>
              <a:solidFill>
                <a:srgbClr val="D30015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10598467" y="10251463"/>
              <a:ext cx="365760" cy="284480"/>
              <a:chOff x="0" y="0"/>
              <a:chExt cx="365760" cy="28448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50800" y="58148"/>
                <a:ext cx="264160" cy="174418"/>
              </a:xfrm>
              <a:custGeom>
                <a:avLst/>
                <a:gdLst/>
                <a:ahLst/>
                <a:cxnLst/>
                <a:rect r="r" b="b" t="t" l="l"/>
                <a:pathLst>
                  <a:path h="174418" w="264160">
                    <a:moveTo>
                      <a:pt x="25400" y="47262"/>
                    </a:moveTo>
                    <a:cubicBezTo>
                      <a:pt x="209550" y="-8618"/>
                      <a:pt x="233680" y="-4808"/>
                      <a:pt x="243840" y="7892"/>
                    </a:cubicBezTo>
                    <a:cubicBezTo>
                      <a:pt x="254000" y="20592"/>
                      <a:pt x="251460" y="49802"/>
                      <a:pt x="246380" y="65042"/>
                    </a:cubicBezTo>
                    <a:cubicBezTo>
                      <a:pt x="242570" y="77742"/>
                      <a:pt x="233680" y="84092"/>
                      <a:pt x="219710" y="95522"/>
                    </a:cubicBezTo>
                    <a:cubicBezTo>
                      <a:pt x="193040" y="117112"/>
                      <a:pt x="121920" y="160292"/>
                      <a:pt x="87630" y="167912"/>
                    </a:cubicBezTo>
                    <a:cubicBezTo>
                      <a:pt x="67310" y="171722"/>
                      <a:pt x="49530" y="172992"/>
                      <a:pt x="38100" y="164102"/>
                    </a:cubicBezTo>
                    <a:cubicBezTo>
                      <a:pt x="27940" y="156482"/>
                      <a:pt x="22860" y="129812"/>
                      <a:pt x="24130" y="117112"/>
                    </a:cubicBezTo>
                    <a:cubicBezTo>
                      <a:pt x="25400" y="110762"/>
                      <a:pt x="27940" y="105682"/>
                      <a:pt x="35560" y="100602"/>
                    </a:cubicBezTo>
                    <a:cubicBezTo>
                      <a:pt x="49530" y="89172"/>
                      <a:pt x="93980" y="90442"/>
                      <a:pt x="120650" y="77742"/>
                    </a:cubicBezTo>
                    <a:cubicBezTo>
                      <a:pt x="148590" y="63772"/>
                      <a:pt x="177800" y="26942"/>
                      <a:pt x="198120" y="18052"/>
                    </a:cubicBezTo>
                    <a:cubicBezTo>
                      <a:pt x="209550" y="12972"/>
                      <a:pt x="215900" y="10432"/>
                      <a:pt x="226060" y="12972"/>
                    </a:cubicBezTo>
                    <a:cubicBezTo>
                      <a:pt x="236220" y="15512"/>
                      <a:pt x="252730" y="26942"/>
                      <a:pt x="259080" y="37102"/>
                    </a:cubicBezTo>
                    <a:cubicBezTo>
                      <a:pt x="264160" y="44722"/>
                      <a:pt x="264160" y="56152"/>
                      <a:pt x="262890" y="65042"/>
                    </a:cubicBezTo>
                    <a:cubicBezTo>
                      <a:pt x="261620" y="73932"/>
                      <a:pt x="256540" y="82822"/>
                      <a:pt x="248920" y="89172"/>
                    </a:cubicBezTo>
                    <a:cubicBezTo>
                      <a:pt x="240030" y="95522"/>
                      <a:pt x="220980" y="101872"/>
                      <a:pt x="209550" y="99332"/>
                    </a:cubicBezTo>
                    <a:cubicBezTo>
                      <a:pt x="198120" y="96792"/>
                      <a:pt x="182880" y="82822"/>
                      <a:pt x="179070" y="71392"/>
                    </a:cubicBezTo>
                    <a:cubicBezTo>
                      <a:pt x="173990" y="59962"/>
                      <a:pt x="176530" y="40912"/>
                      <a:pt x="184150" y="30752"/>
                    </a:cubicBezTo>
                    <a:cubicBezTo>
                      <a:pt x="193040" y="20592"/>
                      <a:pt x="222250" y="10432"/>
                      <a:pt x="234950" y="15512"/>
                    </a:cubicBezTo>
                    <a:cubicBezTo>
                      <a:pt x="247650" y="20592"/>
                      <a:pt x="264160" y="43452"/>
                      <a:pt x="264160" y="59962"/>
                    </a:cubicBezTo>
                    <a:cubicBezTo>
                      <a:pt x="261620" y="85362"/>
                      <a:pt x="222250" y="131082"/>
                      <a:pt x="190500" y="150132"/>
                    </a:cubicBezTo>
                    <a:cubicBezTo>
                      <a:pt x="157480" y="169182"/>
                      <a:pt x="93980" y="175532"/>
                      <a:pt x="67310" y="174262"/>
                    </a:cubicBezTo>
                    <a:cubicBezTo>
                      <a:pt x="54610" y="172992"/>
                      <a:pt x="45720" y="171722"/>
                      <a:pt x="38100" y="164102"/>
                    </a:cubicBezTo>
                    <a:cubicBezTo>
                      <a:pt x="29210" y="155212"/>
                      <a:pt x="20320" y="131082"/>
                      <a:pt x="24130" y="117112"/>
                    </a:cubicBezTo>
                    <a:cubicBezTo>
                      <a:pt x="29210" y="101872"/>
                      <a:pt x="54610" y="87902"/>
                      <a:pt x="74930" y="76472"/>
                    </a:cubicBezTo>
                    <a:cubicBezTo>
                      <a:pt x="101600" y="62502"/>
                      <a:pt x="149860" y="38372"/>
                      <a:pt x="171450" y="44722"/>
                    </a:cubicBezTo>
                    <a:cubicBezTo>
                      <a:pt x="186690" y="48532"/>
                      <a:pt x="204470" y="70122"/>
                      <a:pt x="200660" y="81552"/>
                    </a:cubicBezTo>
                    <a:cubicBezTo>
                      <a:pt x="194310" y="101872"/>
                      <a:pt x="64770" y="127272"/>
                      <a:pt x="34290" y="123462"/>
                    </a:cubicBezTo>
                    <a:cubicBezTo>
                      <a:pt x="22860" y="120922"/>
                      <a:pt x="16510" y="117112"/>
                      <a:pt x="10160" y="109492"/>
                    </a:cubicBezTo>
                    <a:cubicBezTo>
                      <a:pt x="5080" y="103142"/>
                      <a:pt x="0" y="92982"/>
                      <a:pt x="0" y="84092"/>
                    </a:cubicBezTo>
                    <a:cubicBezTo>
                      <a:pt x="2540" y="72662"/>
                      <a:pt x="25400" y="47262"/>
                      <a:pt x="25400" y="47262"/>
                    </a:cubicBezTo>
                  </a:path>
                </a:pathLst>
              </a:custGeom>
              <a:solidFill>
                <a:srgbClr val="D30015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8408987" y="10237493"/>
              <a:ext cx="331470" cy="307340"/>
              <a:chOff x="0" y="0"/>
              <a:chExt cx="331470" cy="30734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50661" y="47955"/>
                <a:ext cx="229415" cy="209220"/>
              </a:xfrm>
              <a:custGeom>
                <a:avLst/>
                <a:gdLst/>
                <a:ahLst/>
                <a:cxnLst/>
                <a:rect r="r" b="b" t="t" l="l"/>
                <a:pathLst>
                  <a:path h="209220" w="229415">
                    <a:moveTo>
                      <a:pt x="92849" y="13005"/>
                    </a:moveTo>
                    <a:cubicBezTo>
                      <a:pt x="181749" y="66345"/>
                      <a:pt x="184289" y="87935"/>
                      <a:pt x="179209" y="98095"/>
                    </a:cubicBezTo>
                    <a:cubicBezTo>
                      <a:pt x="172859" y="109525"/>
                      <a:pt x="151269" y="122225"/>
                      <a:pt x="138569" y="120955"/>
                    </a:cubicBezTo>
                    <a:cubicBezTo>
                      <a:pt x="124599" y="118415"/>
                      <a:pt x="113169" y="91745"/>
                      <a:pt x="99199" y="85395"/>
                    </a:cubicBezTo>
                    <a:cubicBezTo>
                      <a:pt x="87769" y="79045"/>
                      <a:pt x="72529" y="82855"/>
                      <a:pt x="64909" y="76505"/>
                    </a:cubicBezTo>
                    <a:cubicBezTo>
                      <a:pt x="56019" y="71425"/>
                      <a:pt x="50939" y="61265"/>
                      <a:pt x="48399" y="52375"/>
                    </a:cubicBezTo>
                    <a:cubicBezTo>
                      <a:pt x="47129" y="42215"/>
                      <a:pt x="47129" y="30785"/>
                      <a:pt x="53479" y="23165"/>
                    </a:cubicBezTo>
                    <a:cubicBezTo>
                      <a:pt x="61099" y="13005"/>
                      <a:pt x="77609" y="2845"/>
                      <a:pt x="95389" y="2845"/>
                    </a:cubicBezTo>
                    <a:cubicBezTo>
                      <a:pt x="125869" y="1575"/>
                      <a:pt x="194449" y="28245"/>
                      <a:pt x="214769" y="46025"/>
                    </a:cubicBezTo>
                    <a:cubicBezTo>
                      <a:pt x="223659" y="53645"/>
                      <a:pt x="227469" y="62535"/>
                      <a:pt x="228739" y="72695"/>
                    </a:cubicBezTo>
                    <a:cubicBezTo>
                      <a:pt x="230009" y="81585"/>
                      <a:pt x="228739" y="94285"/>
                      <a:pt x="221119" y="101905"/>
                    </a:cubicBezTo>
                    <a:cubicBezTo>
                      <a:pt x="209689" y="114605"/>
                      <a:pt x="176669" y="122225"/>
                      <a:pt x="147459" y="123495"/>
                    </a:cubicBezTo>
                    <a:cubicBezTo>
                      <a:pt x="110629" y="127305"/>
                      <a:pt x="34429" y="124765"/>
                      <a:pt x="14109" y="105715"/>
                    </a:cubicBezTo>
                    <a:cubicBezTo>
                      <a:pt x="1409" y="94285"/>
                      <a:pt x="-2401" y="70155"/>
                      <a:pt x="2679" y="57455"/>
                    </a:cubicBezTo>
                    <a:cubicBezTo>
                      <a:pt x="7759" y="44755"/>
                      <a:pt x="30619" y="30785"/>
                      <a:pt x="44589" y="29515"/>
                    </a:cubicBezTo>
                    <a:cubicBezTo>
                      <a:pt x="57289" y="29515"/>
                      <a:pt x="67449" y="47295"/>
                      <a:pt x="83959" y="52375"/>
                    </a:cubicBezTo>
                    <a:cubicBezTo>
                      <a:pt x="106819" y="58725"/>
                      <a:pt x="149999" y="48565"/>
                      <a:pt x="174129" y="57455"/>
                    </a:cubicBezTo>
                    <a:cubicBezTo>
                      <a:pt x="193179" y="63805"/>
                      <a:pt x="212229" y="76505"/>
                      <a:pt x="221119" y="90475"/>
                    </a:cubicBezTo>
                    <a:cubicBezTo>
                      <a:pt x="228739" y="101905"/>
                      <a:pt x="230009" y="115875"/>
                      <a:pt x="228739" y="129845"/>
                    </a:cubicBezTo>
                    <a:cubicBezTo>
                      <a:pt x="227469" y="146355"/>
                      <a:pt x="218579" y="170485"/>
                      <a:pt x="207149" y="184455"/>
                    </a:cubicBezTo>
                    <a:cubicBezTo>
                      <a:pt x="196989" y="195885"/>
                      <a:pt x="185559" y="203505"/>
                      <a:pt x="169049" y="207315"/>
                    </a:cubicBezTo>
                    <a:cubicBezTo>
                      <a:pt x="146189" y="212395"/>
                      <a:pt x="103009" y="207315"/>
                      <a:pt x="76339" y="192075"/>
                    </a:cubicBezTo>
                    <a:cubicBezTo>
                      <a:pt x="48399" y="175565"/>
                      <a:pt x="11569" y="129845"/>
                      <a:pt x="7759" y="104445"/>
                    </a:cubicBezTo>
                    <a:cubicBezTo>
                      <a:pt x="6489" y="86665"/>
                      <a:pt x="19189" y="62535"/>
                      <a:pt x="30619" y="54915"/>
                    </a:cubicBezTo>
                    <a:cubicBezTo>
                      <a:pt x="42049" y="47295"/>
                      <a:pt x="62369" y="47295"/>
                      <a:pt x="73799" y="54915"/>
                    </a:cubicBezTo>
                    <a:cubicBezTo>
                      <a:pt x="85229" y="62535"/>
                      <a:pt x="99199" y="89205"/>
                      <a:pt x="96659" y="104445"/>
                    </a:cubicBezTo>
                    <a:cubicBezTo>
                      <a:pt x="95389" y="117145"/>
                      <a:pt x="81419" y="131115"/>
                      <a:pt x="69989" y="136195"/>
                    </a:cubicBezTo>
                    <a:cubicBezTo>
                      <a:pt x="58559" y="141275"/>
                      <a:pt x="36969" y="140005"/>
                      <a:pt x="26809" y="132385"/>
                    </a:cubicBezTo>
                    <a:cubicBezTo>
                      <a:pt x="16649" y="123495"/>
                      <a:pt x="5219" y="94285"/>
                      <a:pt x="9029" y="80315"/>
                    </a:cubicBezTo>
                    <a:cubicBezTo>
                      <a:pt x="14109" y="66345"/>
                      <a:pt x="36969" y="48565"/>
                      <a:pt x="54749" y="49835"/>
                    </a:cubicBezTo>
                    <a:cubicBezTo>
                      <a:pt x="83959" y="51105"/>
                      <a:pt x="174129" y="133655"/>
                      <a:pt x="169049" y="145085"/>
                    </a:cubicBezTo>
                    <a:cubicBezTo>
                      <a:pt x="165239" y="153975"/>
                      <a:pt x="108089" y="143815"/>
                      <a:pt x="82689" y="137465"/>
                    </a:cubicBezTo>
                    <a:cubicBezTo>
                      <a:pt x="59829" y="132385"/>
                      <a:pt x="36969" y="123495"/>
                      <a:pt x="22999" y="112065"/>
                    </a:cubicBezTo>
                    <a:cubicBezTo>
                      <a:pt x="11569" y="103175"/>
                      <a:pt x="1409" y="90475"/>
                      <a:pt x="139" y="77775"/>
                    </a:cubicBezTo>
                    <a:cubicBezTo>
                      <a:pt x="-1131" y="66345"/>
                      <a:pt x="6489" y="48565"/>
                      <a:pt x="15379" y="39675"/>
                    </a:cubicBezTo>
                    <a:cubicBezTo>
                      <a:pt x="22999" y="33325"/>
                      <a:pt x="30619" y="32055"/>
                      <a:pt x="44589" y="29515"/>
                    </a:cubicBezTo>
                    <a:cubicBezTo>
                      <a:pt x="75069" y="24435"/>
                      <a:pt x="167779" y="26975"/>
                      <a:pt x="195719" y="35865"/>
                    </a:cubicBezTo>
                    <a:cubicBezTo>
                      <a:pt x="209689" y="40945"/>
                      <a:pt x="216039" y="46025"/>
                      <a:pt x="221119" y="53645"/>
                    </a:cubicBezTo>
                    <a:cubicBezTo>
                      <a:pt x="226199" y="61265"/>
                      <a:pt x="231279" y="72695"/>
                      <a:pt x="228739" y="82855"/>
                    </a:cubicBezTo>
                    <a:cubicBezTo>
                      <a:pt x="226199" y="95555"/>
                      <a:pt x="210959" y="113335"/>
                      <a:pt x="195719" y="119685"/>
                    </a:cubicBezTo>
                    <a:cubicBezTo>
                      <a:pt x="176669" y="127305"/>
                      <a:pt x="141109" y="120955"/>
                      <a:pt x="118249" y="112065"/>
                    </a:cubicBezTo>
                    <a:cubicBezTo>
                      <a:pt x="92849" y="101905"/>
                      <a:pt x="59829" y="79045"/>
                      <a:pt x="52209" y="61265"/>
                    </a:cubicBezTo>
                    <a:cubicBezTo>
                      <a:pt x="45859" y="48565"/>
                      <a:pt x="48399" y="32055"/>
                      <a:pt x="53479" y="23165"/>
                    </a:cubicBezTo>
                    <a:cubicBezTo>
                      <a:pt x="57289" y="14275"/>
                      <a:pt x="67449" y="7925"/>
                      <a:pt x="76339" y="4115"/>
                    </a:cubicBezTo>
                    <a:cubicBezTo>
                      <a:pt x="86499" y="305"/>
                      <a:pt x="100469" y="-2235"/>
                      <a:pt x="113169" y="2845"/>
                    </a:cubicBezTo>
                    <a:cubicBezTo>
                      <a:pt x="134759" y="10465"/>
                      <a:pt x="177939" y="48565"/>
                      <a:pt x="181749" y="70155"/>
                    </a:cubicBezTo>
                    <a:cubicBezTo>
                      <a:pt x="185559" y="85395"/>
                      <a:pt x="177939" y="105715"/>
                      <a:pt x="166509" y="113335"/>
                    </a:cubicBezTo>
                    <a:cubicBezTo>
                      <a:pt x="153809" y="122225"/>
                      <a:pt x="127139" y="120955"/>
                      <a:pt x="108089" y="115875"/>
                    </a:cubicBezTo>
                    <a:cubicBezTo>
                      <a:pt x="87769" y="109525"/>
                      <a:pt x="57289" y="87935"/>
                      <a:pt x="45859" y="73965"/>
                    </a:cubicBezTo>
                    <a:cubicBezTo>
                      <a:pt x="38239" y="65075"/>
                      <a:pt x="33159" y="57455"/>
                      <a:pt x="34429" y="48565"/>
                    </a:cubicBezTo>
                    <a:cubicBezTo>
                      <a:pt x="34429" y="37135"/>
                      <a:pt x="47129" y="15545"/>
                      <a:pt x="57289" y="10465"/>
                    </a:cubicBezTo>
                    <a:cubicBezTo>
                      <a:pt x="66179" y="5385"/>
                      <a:pt x="92849" y="13005"/>
                      <a:pt x="92849" y="13005"/>
                    </a:cubicBezTo>
                  </a:path>
                </a:pathLst>
              </a:custGeom>
              <a:solidFill>
                <a:srgbClr val="D30015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8736647" y="11046483"/>
              <a:ext cx="245110" cy="369570"/>
              <a:chOff x="0" y="0"/>
              <a:chExt cx="245110" cy="36957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44142" y="49804"/>
                <a:ext cx="149894" cy="268966"/>
              </a:xfrm>
              <a:custGeom>
                <a:avLst/>
                <a:gdLst/>
                <a:ahLst/>
                <a:cxnLst/>
                <a:rect r="r" b="b" t="t" l="l"/>
                <a:pathLst>
                  <a:path h="268966" w="149894">
                    <a:moveTo>
                      <a:pt x="86668" y="58146"/>
                    </a:moveTo>
                    <a:cubicBezTo>
                      <a:pt x="73968" y="262616"/>
                      <a:pt x="53648" y="268966"/>
                      <a:pt x="42218" y="268966"/>
                    </a:cubicBezTo>
                    <a:cubicBezTo>
                      <a:pt x="32058" y="268966"/>
                      <a:pt x="21898" y="262616"/>
                      <a:pt x="16818" y="254996"/>
                    </a:cubicBezTo>
                    <a:cubicBezTo>
                      <a:pt x="10468" y="248646"/>
                      <a:pt x="6658" y="242296"/>
                      <a:pt x="6658" y="228326"/>
                    </a:cubicBezTo>
                    <a:cubicBezTo>
                      <a:pt x="5388" y="191496"/>
                      <a:pt x="46028" y="51796"/>
                      <a:pt x="73968" y="20046"/>
                    </a:cubicBezTo>
                    <a:cubicBezTo>
                      <a:pt x="86668" y="6076"/>
                      <a:pt x="104448" y="-274"/>
                      <a:pt x="117148" y="2266"/>
                    </a:cubicBezTo>
                    <a:cubicBezTo>
                      <a:pt x="129848" y="4806"/>
                      <a:pt x="146358" y="22586"/>
                      <a:pt x="148898" y="35286"/>
                    </a:cubicBezTo>
                    <a:cubicBezTo>
                      <a:pt x="151438" y="47986"/>
                      <a:pt x="141278" y="68306"/>
                      <a:pt x="131118" y="75926"/>
                    </a:cubicBezTo>
                    <a:cubicBezTo>
                      <a:pt x="122228" y="83546"/>
                      <a:pt x="103178" y="84816"/>
                      <a:pt x="93018" y="79736"/>
                    </a:cubicBezTo>
                    <a:cubicBezTo>
                      <a:pt x="81588" y="74656"/>
                      <a:pt x="66348" y="50526"/>
                      <a:pt x="67618" y="37826"/>
                    </a:cubicBezTo>
                    <a:cubicBezTo>
                      <a:pt x="68888" y="23856"/>
                      <a:pt x="90478" y="4806"/>
                      <a:pt x="101908" y="996"/>
                    </a:cubicBezTo>
                    <a:cubicBezTo>
                      <a:pt x="110798" y="-1544"/>
                      <a:pt x="120958" y="996"/>
                      <a:pt x="127308" y="6076"/>
                    </a:cubicBezTo>
                    <a:cubicBezTo>
                      <a:pt x="137468" y="11156"/>
                      <a:pt x="147628" y="27666"/>
                      <a:pt x="148898" y="37826"/>
                    </a:cubicBezTo>
                    <a:cubicBezTo>
                      <a:pt x="151438" y="46716"/>
                      <a:pt x="148898" y="56876"/>
                      <a:pt x="143818" y="63226"/>
                    </a:cubicBezTo>
                    <a:cubicBezTo>
                      <a:pt x="137468" y="72116"/>
                      <a:pt x="122228" y="82276"/>
                      <a:pt x="110798" y="83546"/>
                    </a:cubicBezTo>
                    <a:cubicBezTo>
                      <a:pt x="99368" y="83546"/>
                      <a:pt x="82858" y="75926"/>
                      <a:pt x="75238" y="67036"/>
                    </a:cubicBezTo>
                    <a:cubicBezTo>
                      <a:pt x="68888" y="58146"/>
                      <a:pt x="65078" y="40366"/>
                      <a:pt x="68888" y="28936"/>
                    </a:cubicBezTo>
                    <a:cubicBezTo>
                      <a:pt x="73968" y="17506"/>
                      <a:pt x="94288" y="3536"/>
                      <a:pt x="106988" y="996"/>
                    </a:cubicBezTo>
                    <a:cubicBezTo>
                      <a:pt x="115878" y="-274"/>
                      <a:pt x="127308" y="4806"/>
                      <a:pt x="134928" y="9886"/>
                    </a:cubicBezTo>
                    <a:cubicBezTo>
                      <a:pt x="141278" y="16236"/>
                      <a:pt x="147628" y="22586"/>
                      <a:pt x="148898" y="35286"/>
                    </a:cubicBezTo>
                    <a:cubicBezTo>
                      <a:pt x="152708" y="70846"/>
                      <a:pt x="106988" y="214356"/>
                      <a:pt x="82858" y="247376"/>
                    </a:cubicBezTo>
                    <a:cubicBezTo>
                      <a:pt x="72698" y="261346"/>
                      <a:pt x="62538" y="267696"/>
                      <a:pt x="51108" y="268966"/>
                    </a:cubicBezTo>
                    <a:cubicBezTo>
                      <a:pt x="39678" y="268966"/>
                      <a:pt x="20628" y="262616"/>
                      <a:pt x="10468" y="247376"/>
                    </a:cubicBezTo>
                    <a:cubicBezTo>
                      <a:pt x="-7312" y="216896"/>
                      <a:pt x="1578" y="91166"/>
                      <a:pt x="7928" y="58146"/>
                    </a:cubicBezTo>
                    <a:cubicBezTo>
                      <a:pt x="10468" y="44176"/>
                      <a:pt x="11738" y="37826"/>
                      <a:pt x="18088" y="31476"/>
                    </a:cubicBezTo>
                    <a:cubicBezTo>
                      <a:pt x="23168" y="25126"/>
                      <a:pt x="33328" y="20046"/>
                      <a:pt x="42218" y="18776"/>
                    </a:cubicBezTo>
                    <a:cubicBezTo>
                      <a:pt x="51108" y="17506"/>
                      <a:pt x="62538" y="20046"/>
                      <a:pt x="68888" y="25126"/>
                    </a:cubicBezTo>
                    <a:cubicBezTo>
                      <a:pt x="77778" y="31476"/>
                      <a:pt x="86668" y="58146"/>
                      <a:pt x="86668" y="58146"/>
                    </a:cubicBezTo>
                  </a:path>
                </a:pathLst>
              </a:custGeom>
              <a:solidFill>
                <a:srgbClr val="D30015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11738927" y="9665993"/>
              <a:ext cx="642620" cy="462280"/>
              <a:chOff x="0" y="0"/>
              <a:chExt cx="642620" cy="46228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50800" y="50564"/>
                <a:ext cx="541161" cy="360961"/>
              </a:xfrm>
              <a:custGeom>
                <a:avLst/>
                <a:gdLst/>
                <a:ahLst/>
                <a:cxnLst/>
                <a:rect r="r" b="b" t="t" l="l"/>
                <a:pathLst>
                  <a:path h="360961" w="541161">
                    <a:moveTo>
                      <a:pt x="58420" y="205976"/>
                    </a:moveTo>
                    <a:cubicBezTo>
                      <a:pt x="377190" y="39606"/>
                      <a:pt x="444500" y="2776"/>
                      <a:pt x="483870" y="236"/>
                    </a:cubicBezTo>
                    <a:cubicBezTo>
                      <a:pt x="504190" y="-1034"/>
                      <a:pt x="521970" y="2776"/>
                      <a:pt x="532130" y="12936"/>
                    </a:cubicBezTo>
                    <a:cubicBezTo>
                      <a:pt x="542290" y="24366"/>
                      <a:pt x="542290" y="52306"/>
                      <a:pt x="539750" y="68816"/>
                    </a:cubicBezTo>
                    <a:cubicBezTo>
                      <a:pt x="538480" y="82786"/>
                      <a:pt x="533400" y="92946"/>
                      <a:pt x="523240" y="105646"/>
                    </a:cubicBezTo>
                    <a:cubicBezTo>
                      <a:pt x="509270" y="124696"/>
                      <a:pt x="485140" y="143746"/>
                      <a:pt x="452120" y="162796"/>
                    </a:cubicBezTo>
                    <a:cubicBezTo>
                      <a:pt x="400050" y="195816"/>
                      <a:pt x="295910" y="235186"/>
                      <a:pt x="224790" y="261856"/>
                    </a:cubicBezTo>
                    <a:cubicBezTo>
                      <a:pt x="163830" y="285986"/>
                      <a:pt x="85090" y="319006"/>
                      <a:pt x="50800" y="320276"/>
                    </a:cubicBezTo>
                    <a:cubicBezTo>
                      <a:pt x="35560" y="320276"/>
                      <a:pt x="27940" y="319006"/>
                      <a:pt x="19050" y="311386"/>
                    </a:cubicBezTo>
                    <a:cubicBezTo>
                      <a:pt x="10160" y="303766"/>
                      <a:pt x="0" y="285986"/>
                      <a:pt x="0" y="274556"/>
                    </a:cubicBezTo>
                    <a:cubicBezTo>
                      <a:pt x="0" y="263126"/>
                      <a:pt x="5080" y="251696"/>
                      <a:pt x="11430" y="244076"/>
                    </a:cubicBezTo>
                    <a:cubicBezTo>
                      <a:pt x="19050" y="236456"/>
                      <a:pt x="40640" y="228836"/>
                      <a:pt x="40640" y="228836"/>
                    </a:cubicBezTo>
                    <a:cubicBezTo>
                      <a:pt x="41910" y="230106"/>
                      <a:pt x="3810" y="261856"/>
                      <a:pt x="2540" y="260586"/>
                    </a:cubicBezTo>
                    <a:cubicBezTo>
                      <a:pt x="1270" y="259316"/>
                      <a:pt x="16510" y="236456"/>
                      <a:pt x="26670" y="227566"/>
                    </a:cubicBezTo>
                    <a:cubicBezTo>
                      <a:pt x="36830" y="218676"/>
                      <a:pt x="46990" y="213596"/>
                      <a:pt x="66040" y="204706"/>
                    </a:cubicBezTo>
                    <a:cubicBezTo>
                      <a:pt x="107950" y="185656"/>
                      <a:pt x="229870" y="134856"/>
                      <a:pt x="274320" y="136126"/>
                    </a:cubicBezTo>
                    <a:cubicBezTo>
                      <a:pt x="294640" y="137396"/>
                      <a:pt x="311150" y="143746"/>
                      <a:pt x="320040" y="155176"/>
                    </a:cubicBezTo>
                    <a:cubicBezTo>
                      <a:pt x="328930" y="167876"/>
                      <a:pt x="334010" y="193276"/>
                      <a:pt x="322580" y="213596"/>
                    </a:cubicBezTo>
                    <a:cubicBezTo>
                      <a:pt x="297180" y="258046"/>
                      <a:pt x="121920" y="363456"/>
                      <a:pt x="66040" y="360916"/>
                    </a:cubicBezTo>
                    <a:cubicBezTo>
                      <a:pt x="38100" y="359646"/>
                      <a:pt x="11430" y="334246"/>
                      <a:pt x="5080" y="316466"/>
                    </a:cubicBezTo>
                    <a:cubicBezTo>
                      <a:pt x="0" y="302496"/>
                      <a:pt x="7620" y="283446"/>
                      <a:pt x="15240" y="270746"/>
                    </a:cubicBezTo>
                    <a:cubicBezTo>
                      <a:pt x="22860" y="256776"/>
                      <a:pt x="31750" y="249156"/>
                      <a:pt x="49530" y="237726"/>
                    </a:cubicBezTo>
                    <a:cubicBezTo>
                      <a:pt x="87630" y="209786"/>
                      <a:pt x="199390" y="167876"/>
                      <a:pt x="259080" y="133586"/>
                    </a:cubicBezTo>
                    <a:cubicBezTo>
                      <a:pt x="303530" y="108186"/>
                      <a:pt x="337820" y="73896"/>
                      <a:pt x="373380" y="58656"/>
                    </a:cubicBezTo>
                    <a:cubicBezTo>
                      <a:pt x="401320" y="47226"/>
                      <a:pt x="450850" y="40876"/>
                      <a:pt x="450850" y="39606"/>
                    </a:cubicBezTo>
                    <a:cubicBezTo>
                      <a:pt x="450850" y="39606"/>
                      <a:pt x="381000" y="53576"/>
                      <a:pt x="381000" y="54846"/>
                    </a:cubicBezTo>
                    <a:cubicBezTo>
                      <a:pt x="381000" y="56116"/>
                      <a:pt x="411480" y="49766"/>
                      <a:pt x="422910" y="54846"/>
                    </a:cubicBezTo>
                    <a:cubicBezTo>
                      <a:pt x="431800" y="58656"/>
                      <a:pt x="440690" y="68816"/>
                      <a:pt x="444500" y="77706"/>
                    </a:cubicBezTo>
                    <a:cubicBezTo>
                      <a:pt x="448310" y="87866"/>
                      <a:pt x="448310" y="100566"/>
                      <a:pt x="444500" y="110726"/>
                    </a:cubicBezTo>
                    <a:cubicBezTo>
                      <a:pt x="441960" y="119616"/>
                      <a:pt x="434340" y="131046"/>
                      <a:pt x="424180" y="134856"/>
                    </a:cubicBezTo>
                    <a:cubicBezTo>
                      <a:pt x="411480" y="138666"/>
                      <a:pt x="381000" y="136126"/>
                      <a:pt x="370840" y="125966"/>
                    </a:cubicBezTo>
                    <a:cubicBezTo>
                      <a:pt x="360680" y="118346"/>
                      <a:pt x="355600" y="98026"/>
                      <a:pt x="358140" y="85326"/>
                    </a:cubicBezTo>
                    <a:cubicBezTo>
                      <a:pt x="360680" y="73896"/>
                      <a:pt x="373380" y="57386"/>
                      <a:pt x="384810" y="53576"/>
                    </a:cubicBezTo>
                    <a:cubicBezTo>
                      <a:pt x="396240" y="48496"/>
                      <a:pt x="416560" y="49766"/>
                      <a:pt x="426720" y="57386"/>
                    </a:cubicBezTo>
                    <a:cubicBezTo>
                      <a:pt x="438150" y="63736"/>
                      <a:pt x="447040" y="81516"/>
                      <a:pt x="447040" y="94216"/>
                    </a:cubicBezTo>
                    <a:cubicBezTo>
                      <a:pt x="448310" y="106916"/>
                      <a:pt x="436880" y="124696"/>
                      <a:pt x="427990" y="132316"/>
                    </a:cubicBezTo>
                    <a:cubicBezTo>
                      <a:pt x="421640" y="137396"/>
                      <a:pt x="410210" y="141206"/>
                      <a:pt x="401320" y="139936"/>
                    </a:cubicBezTo>
                    <a:cubicBezTo>
                      <a:pt x="388620" y="138666"/>
                      <a:pt x="370840" y="129776"/>
                      <a:pt x="364490" y="118346"/>
                    </a:cubicBezTo>
                    <a:cubicBezTo>
                      <a:pt x="358140" y="108186"/>
                      <a:pt x="356870" y="87866"/>
                      <a:pt x="360680" y="76436"/>
                    </a:cubicBezTo>
                    <a:cubicBezTo>
                      <a:pt x="364490" y="67546"/>
                      <a:pt x="372110" y="59926"/>
                      <a:pt x="381000" y="54846"/>
                    </a:cubicBezTo>
                    <a:cubicBezTo>
                      <a:pt x="389890" y="51036"/>
                      <a:pt x="402590" y="48496"/>
                      <a:pt x="412750" y="51036"/>
                    </a:cubicBezTo>
                    <a:cubicBezTo>
                      <a:pt x="422910" y="53576"/>
                      <a:pt x="433070" y="59926"/>
                      <a:pt x="439420" y="68816"/>
                    </a:cubicBezTo>
                    <a:cubicBezTo>
                      <a:pt x="444500" y="76436"/>
                      <a:pt x="448310" y="89136"/>
                      <a:pt x="447040" y="99296"/>
                    </a:cubicBezTo>
                    <a:cubicBezTo>
                      <a:pt x="445770" y="109456"/>
                      <a:pt x="438150" y="122156"/>
                      <a:pt x="433070" y="128506"/>
                    </a:cubicBezTo>
                    <a:cubicBezTo>
                      <a:pt x="430530" y="131046"/>
                      <a:pt x="427990" y="134856"/>
                      <a:pt x="424180" y="134856"/>
                    </a:cubicBezTo>
                    <a:cubicBezTo>
                      <a:pt x="417830" y="133586"/>
                      <a:pt x="398780" y="104376"/>
                      <a:pt x="401320" y="100566"/>
                    </a:cubicBezTo>
                    <a:cubicBezTo>
                      <a:pt x="403860" y="98026"/>
                      <a:pt x="440690" y="108186"/>
                      <a:pt x="440690" y="115806"/>
                    </a:cubicBezTo>
                    <a:cubicBezTo>
                      <a:pt x="443230" y="128506"/>
                      <a:pt x="400050" y="152636"/>
                      <a:pt x="365760" y="174226"/>
                    </a:cubicBezTo>
                    <a:cubicBezTo>
                      <a:pt x="308610" y="211056"/>
                      <a:pt x="165100" y="278366"/>
                      <a:pt x="119380" y="299956"/>
                    </a:cubicBezTo>
                    <a:cubicBezTo>
                      <a:pt x="101600" y="307576"/>
                      <a:pt x="95250" y="315196"/>
                      <a:pt x="82550" y="313926"/>
                    </a:cubicBezTo>
                    <a:cubicBezTo>
                      <a:pt x="66040" y="312656"/>
                      <a:pt x="29210" y="294876"/>
                      <a:pt x="29210" y="280906"/>
                    </a:cubicBezTo>
                    <a:cubicBezTo>
                      <a:pt x="30480" y="251696"/>
                      <a:pt x="246380" y="143746"/>
                      <a:pt x="257810" y="153906"/>
                    </a:cubicBezTo>
                    <a:cubicBezTo>
                      <a:pt x="262890" y="157716"/>
                      <a:pt x="243840" y="176766"/>
                      <a:pt x="243840" y="189466"/>
                    </a:cubicBezTo>
                    <a:cubicBezTo>
                      <a:pt x="243840" y="202166"/>
                      <a:pt x="267970" y="218676"/>
                      <a:pt x="261620" y="230106"/>
                    </a:cubicBezTo>
                    <a:cubicBezTo>
                      <a:pt x="251460" y="254236"/>
                      <a:pt x="127000" y="263126"/>
                      <a:pt x="90170" y="283446"/>
                    </a:cubicBezTo>
                    <a:cubicBezTo>
                      <a:pt x="71120" y="294876"/>
                      <a:pt x="63500" y="316466"/>
                      <a:pt x="50800" y="320276"/>
                    </a:cubicBezTo>
                    <a:cubicBezTo>
                      <a:pt x="40640" y="322816"/>
                      <a:pt x="27940" y="317736"/>
                      <a:pt x="19050" y="311386"/>
                    </a:cubicBezTo>
                    <a:cubicBezTo>
                      <a:pt x="11430" y="306306"/>
                      <a:pt x="2540" y="296146"/>
                      <a:pt x="1270" y="284716"/>
                    </a:cubicBezTo>
                    <a:cubicBezTo>
                      <a:pt x="0" y="272016"/>
                      <a:pt x="3810" y="252966"/>
                      <a:pt x="20320" y="236456"/>
                    </a:cubicBezTo>
                    <a:cubicBezTo>
                      <a:pt x="64770" y="193276"/>
                      <a:pt x="298450" y="134856"/>
                      <a:pt x="370840" y="103106"/>
                    </a:cubicBezTo>
                    <a:cubicBezTo>
                      <a:pt x="405130" y="87866"/>
                      <a:pt x="426720" y="80246"/>
                      <a:pt x="444500" y="66276"/>
                    </a:cubicBezTo>
                    <a:cubicBezTo>
                      <a:pt x="455930" y="57386"/>
                      <a:pt x="463550" y="35796"/>
                      <a:pt x="469900" y="38336"/>
                    </a:cubicBezTo>
                    <a:cubicBezTo>
                      <a:pt x="477520" y="39606"/>
                      <a:pt x="494030" y="70086"/>
                      <a:pt x="485140" y="87866"/>
                    </a:cubicBezTo>
                    <a:cubicBezTo>
                      <a:pt x="463550" y="139936"/>
                      <a:pt x="143510" y="268206"/>
                      <a:pt x="87630" y="278366"/>
                    </a:cubicBezTo>
                    <a:cubicBezTo>
                      <a:pt x="73660" y="280906"/>
                      <a:pt x="67310" y="279636"/>
                      <a:pt x="59690" y="275826"/>
                    </a:cubicBezTo>
                    <a:cubicBezTo>
                      <a:pt x="52070" y="272016"/>
                      <a:pt x="44450" y="263126"/>
                      <a:pt x="40640" y="255506"/>
                    </a:cubicBezTo>
                    <a:cubicBezTo>
                      <a:pt x="36830" y="246616"/>
                      <a:pt x="36830" y="235186"/>
                      <a:pt x="39370" y="227566"/>
                    </a:cubicBezTo>
                    <a:cubicBezTo>
                      <a:pt x="43180" y="219946"/>
                      <a:pt x="58420" y="205976"/>
                      <a:pt x="58420" y="205976"/>
                    </a:cubicBezTo>
                  </a:path>
                </a:pathLst>
              </a:custGeom>
              <a:solidFill>
                <a:srgbClr val="D30015"/>
              </a:solidFill>
              <a:ln cap="sq">
                <a:noFill/>
                <a:prstDash val="solid"/>
                <a:miter/>
              </a:ln>
            </p:spPr>
          </p:sp>
        </p:grpSp>
      </p:grpSp>
      <p:grpSp>
        <p:nvGrpSpPr>
          <p:cNvPr name="Group 15" id="15"/>
          <p:cNvGrpSpPr/>
          <p:nvPr/>
        </p:nvGrpSpPr>
        <p:grpSpPr>
          <a:xfrm rot="0">
            <a:off x="7367167" y="0"/>
            <a:ext cx="10920833" cy="10287000"/>
            <a:chOff x="0" y="0"/>
            <a:chExt cx="1362267" cy="128320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62267" cy="1283202"/>
            </a:xfrm>
            <a:custGeom>
              <a:avLst/>
              <a:gdLst/>
              <a:ahLst/>
              <a:cxnLst/>
              <a:rect r="r" b="b" t="t" l="l"/>
              <a:pathLst>
                <a:path h="1283202" w="1362267">
                  <a:moveTo>
                    <a:pt x="0" y="0"/>
                  </a:moveTo>
                  <a:lnTo>
                    <a:pt x="1362267" y="0"/>
                  </a:lnTo>
                  <a:lnTo>
                    <a:pt x="1362267" y="1283202"/>
                  </a:lnTo>
                  <a:lnTo>
                    <a:pt x="0" y="1283202"/>
                  </a:lnTo>
                  <a:close/>
                </a:path>
              </a:pathLst>
            </a:custGeom>
            <a:blipFill>
              <a:blip r:embed="rId4"/>
              <a:stretch>
                <a:fillRect l="0" t="-9236" r="0" b="-23465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637647" y="-250271"/>
            <a:ext cx="335161" cy="10854185"/>
            <a:chOff x="0" y="0"/>
            <a:chExt cx="88273" cy="285871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8273" cy="2858715"/>
            </a:xfrm>
            <a:custGeom>
              <a:avLst/>
              <a:gdLst/>
              <a:ahLst/>
              <a:cxnLst/>
              <a:rect r="r" b="b" t="t" l="l"/>
              <a:pathLst>
                <a:path h="2858715" w="88273">
                  <a:moveTo>
                    <a:pt x="0" y="0"/>
                  </a:moveTo>
                  <a:lnTo>
                    <a:pt x="88273" y="0"/>
                  </a:lnTo>
                  <a:lnTo>
                    <a:pt x="88273" y="2858715"/>
                  </a:lnTo>
                  <a:lnTo>
                    <a:pt x="0" y="2858715"/>
                  </a:lnTo>
                  <a:close/>
                </a:path>
              </a:pathLst>
            </a:custGeom>
            <a:solidFill>
              <a:srgbClr val="F3EBE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88273" cy="28872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838543" y="-250271"/>
            <a:ext cx="335161" cy="10854185"/>
            <a:chOff x="0" y="0"/>
            <a:chExt cx="88273" cy="285871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8273" cy="2858715"/>
            </a:xfrm>
            <a:custGeom>
              <a:avLst/>
              <a:gdLst/>
              <a:ahLst/>
              <a:cxnLst/>
              <a:rect r="r" b="b" t="t" l="l"/>
              <a:pathLst>
                <a:path h="2858715" w="88273">
                  <a:moveTo>
                    <a:pt x="0" y="0"/>
                  </a:moveTo>
                  <a:lnTo>
                    <a:pt x="88273" y="0"/>
                  </a:lnTo>
                  <a:lnTo>
                    <a:pt x="88273" y="2858715"/>
                  </a:lnTo>
                  <a:lnTo>
                    <a:pt x="0" y="2858715"/>
                  </a:lnTo>
                  <a:close/>
                </a:path>
              </a:pathLst>
            </a:custGeom>
            <a:solidFill>
              <a:srgbClr val="F3EBE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88273" cy="28872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-1062012" y="7674808"/>
            <a:ext cx="8433843" cy="1583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1"/>
              </a:lnSpc>
            </a:pPr>
            <a:r>
              <a:rPr lang="en-US" sz="3373" spc="-192">
                <a:solidFill>
                  <a:srgbClr val="503332"/>
                </a:solidFill>
                <a:latin typeface="Bai Jamjuree Extra-Light"/>
                <a:ea typeface="Bai Jamjuree Extra-Light"/>
                <a:cs typeface="Bai Jamjuree Extra-Light"/>
                <a:sym typeface="Bai Jamjuree Extra-Light"/>
              </a:rPr>
              <a:t>Based on </a:t>
            </a:r>
          </a:p>
          <a:p>
            <a:pPr algn="ctr">
              <a:lnSpc>
                <a:spcPts val="4289"/>
              </a:lnSpc>
            </a:pPr>
            <a:r>
              <a:rPr lang="en-US" sz="3795" spc="-216">
                <a:solidFill>
                  <a:srgbClr val="503332"/>
                </a:solidFill>
                <a:latin typeface="Bai Jamjuree"/>
                <a:ea typeface="Bai Jamjuree"/>
                <a:cs typeface="Bai Jamjuree"/>
                <a:sym typeface="Bai Jamjuree"/>
              </a:rPr>
              <a:t>The 7 Questions</a:t>
            </a:r>
          </a:p>
          <a:p>
            <a:pPr algn="ctr">
              <a:lnSpc>
                <a:spcPts val="4289"/>
              </a:lnSpc>
            </a:pPr>
            <a:r>
              <a:rPr lang="en-US" sz="3795" spc="-216">
                <a:solidFill>
                  <a:srgbClr val="503332"/>
                </a:solidFill>
                <a:latin typeface="Bai Jamjuree Extra-Light"/>
                <a:ea typeface="Bai Jamjuree Extra-Light"/>
                <a:cs typeface="Bai Jamjuree Extra-Light"/>
                <a:sym typeface="Bai Jamjuree Extra-Light"/>
              </a:rPr>
              <a:t>Explicitly Asked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-440687" y="6336861"/>
            <a:ext cx="7191192" cy="1251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sz="3590">
                <a:solidFill>
                  <a:srgbClr val="503332"/>
                </a:solidFill>
                <a:latin typeface="TAN Aegean"/>
                <a:ea typeface="TAN Aegean"/>
                <a:cs typeface="TAN Aegean"/>
                <a:sym typeface="TAN Aegean"/>
              </a:rPr>
              <a:t>Brand Strategy</a:t>
            </a:r>
          </a:p>
          <a:p>
            <a:pPr algn="ctr">
              <a:lnSpc>
                <a:spcPts val="5027"/>
              </a:lnSpc>
            </a:pPr>
            <a:r>
              <a:rPr lang="en-US" sz="3590">
                <a:solidFill>
                  <a:srgbClr val="503332"/>
                </a:solidFill>
                <a:latin typeface="TAN Aegean"/>
                <a:ea typeface="TAN Aegean"/>
                <a:cs typeface="TAN Aegean"/>
                <a:sym typeface="TAN Aegean"/>
              </a:rPr>
              <a:t>Recommendations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B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864331"/>
            <a:ext cx="5246370" cy="6393969"/>
            <a:chOff x="0" y="0"/>
            <a:chExt cx="812800" cy="990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990593"/>
            </a:xfrm>
            <a:custGeom>
              <a:avLst/>
              <a:gdLst/>
              <a:ahLst/>
              <a:cxnLst/>
              <a:rect r="r" b="b" t="t" l="l"/>
              <a:pathLst>
                <a:path h="99059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990593"/>
                  </a:lnTo>
                  <a:lnTo>
                    <a:pt x="0" y="990593"/>
                  </a:lnTo>
                  <a:close/>
                </a:path>
              </a:pathLst>
            </a:custGeom>
            <a:blipFill>
              <a:blip r:embed="rId2"/>
              <a:stretch>
                <a:fillRect l="0" t="-1282" r="0" b="-128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2786935"/>
            <a:ext cx="5344437" cy="1184878"/>
            <a:chOff x="0" y="0"/>
            <a:chExt cx="1407588" cy="3120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7588" cy="312067"/>
            </a:xfrm>
            <a:custGeom>
              <a:avLst/>
              <a:gdLst/>
              <a:ahLst/>
              <a:cxnLst/>
              <a:rect r="r" b="b" t="t" l="l"/>
              <a:pathLst>
                <a:path h="312067" w="1407588">
                  <a:moveTo>
                    <a:pt x="0" y="0"/>
                  </a:moveTo>
                  <a:lnTo>
                    <a:pt x="1407588" y="0"/>
                  </a:lnTo>
                  <a:lnTo>
                    <a:pt x="1407588" y="312067"/>
                  </a:lnTo>
                  <a:lnTo>
                    <a:pt x="0" y="312067"/>
                  </a:lnTo>
                  <a:close/>
                </a:path>
              </a:pathLst>
            </a:custGeom>
            <a:solidFill>
              <a:srgbClr val="F3EBE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1407588" cy="293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5760765"/>
            <a:ext cx="5344437" cy="1107481"/>
            <a:chOff x="0" y="0"/>
            <a:chExt cx="1407588" cy="29168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07588" cy="291682"/>
            </a:xfrm>
            <a:custGeom>
              <a:avLst/>
              <a:gdLst/>
              <a:ahLst/>
              <a:cxnLst/>
              <a:rect r="r" b="b" t="t" l="l"/>
              <a:pathLst>
                <a:path h="291682" w="1407588">
                  <a:moveTo>
                    <a:pt x="0" y="0"/>
                  </a:moveTo>
                  <a:lnTo>
                    <a:pt x="1407588" y="0"/>
                  </a:lnTo>
                  <a:lnTo>
                    <a:pt x="1407588" y="291682"/>
                  </a:lnTo>
                  <a:lnTo>
                    <a:pt x="0" y="291682"/>
                  </a:lnTo>
                  <a:close/>
                </a:path>
              </a:pathLst>
            </a:custGeom>
            <a:solidFill>
              <a:srgbClr val="F3EBE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1407588" cy="27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6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487437" y="2864331"/>
            <a:ext cx="5246370" cy="6393969"/>
            <a:chOff x="0" y="0"/>
            <a:chExt cx="812800" cy="99059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990593"/>
            </a:xfrm>
            <a:custGeom>
              <a:avLst/>
              <a:gdLst/>
              <a:ahLst/>
              <a:cxnLst/>
              <a:rect r="r" b="b" t="t" l="l"/>
              <a:pathLst>
                <a:path h="99059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990593"/>
                  </a:lnTo>
                  <a:lnTo>
                    <a:pt x="0" y="990593"/>
                  </a:lnTo>
                  <a:close/>
                </a:path>
              </a:pathLst>
            </a:custGeom>
            <a:blipFill>
              <a:blip r:embed="rId3"/>
              <a:stretch>
                <a:fillRect l="0" t="-11538" r="0" b="-11538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373137" y="2786935"/>
            <a:ext cx="5474286" cy="1184878"/>
            <a:chOff x="0" y="0"/>
            <a:chExt cx="1441787" cy="3120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41787" cy="312067"/>
            </a:xfrm>
            <a:custGeom>
              <a:avLst/>
              <a:gdLst/>
              <a:ahLst/>
              <a:cxnLst/>
              <a:rect r="r" b="b" t="t" l="l"/>
              <a:pathLst>
                <a:path h="312067" w="1441787">
                  <a:moveTo>
                    <a:pt x="0" y="0"/>
                  </a:moveTo>
                  <a:lnTo>
                    <a:pt x="1441787" y="0"/>
                  </a:lnTo>
                  <a:lnTo>
                    <a:pt x="1441787" y="312067"/>
                  </a:lnTo>
                  <a:lnTo>
                    <a:pt x="0" y="312067"/>
                  </a:lnTo>
                  <a:close/>
                </a:path>
              </a:pathLst>
            </a:custGeom>
            <a:solidFill>
              <a:srgbClr val="F3EBE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1441787" cy="293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6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373137" y="5760765"/>
            <a:ext cx="5474286" cy="1107481"/>
            <a:chOff x="0" y="0"/>
            <a:chExt cx="1441787" cy="29168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41787" cy="291682"/>
            </a:xfrm>
            <a:custGeom>
              <a:avLst/>
              <a:gdLst/>
              <a:ahLst/>
              <a:cxnLst/>
              <a:rect r="r" b="b" t="t" l="l"/>
              <a:pathLst>
                <a:path h="291682" w="1441787">
                  <a:moveTo>
                    <a:pt x="0" y="0"/>
                  </a:moveTo>
                  <a:lnTo>
                    <a:pt x="1441787" y="0"/>
                  </a:lnTo>
                  <a:lnTo>
                    <a:pt x="1441787" y="291682"/>
                  </a:lnTo>
                  <a:lnTo>
                    <a:pt x="0" y="291682"/>
                  </a:lnTo>
                  <a:close/>
                </a:path>
              </a:pathLst>
            </a:custGeom>
            <a:solidFill>
              <a:srgbClr val="F3EBE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19050"/>
              <a:ext cx="1441787" cy="27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6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943357" y="2864331"/>
            <a:ext cx="5246370" cy="6393969"/>
            <a:chOff x="0" y="0"/>
            <a:chExt cx="812800" cy="99059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990593"/>
            </a:xfrm>
            <a:custGeom>
              <a:avLst/>
              <a:gdLst/>
              <a:ahLst/>
              <a:cxnLst/>
              <a:rect r="r" b="b" t="t" l="l"/>
              <a:pathLst>
                <a:path h="99059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990593"/>
                  </a:lnTo>
                  <a:lnTo>
                    <a:pt x="0" y="990593"/>
                  </a:lnTo>
                  <a:close/>
                </a:path>
              </a:pathLst>
            </a:custGeom>
            <a:blipFill>
              <a:blip r:embed="rId4"/>
              <a:stretch>
                <a:fillRect l="-11235" t="0" r="-16671" b="-31187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847423" y="2786935"/>
            <a:ext cx="5411877" cy="1184878"/>
            <a:chOff x="0" y="0"/>
            <a:chExt cx="1425350" cy="31206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25350" cy="312067"/>
            </a:xfrm>
            <a:custGeom>
              <a:avLst/>
              <a:gdLst/>
              <a:ahLst/>
              <a:cxnLst/>
              <a:rect r="r" b="b" t="t" l="l"/>
              <a:pathLst>
                <a:path h="312067" w="1425350">
                  <a:moveTo>
                    <a:pt x="0" y="0"/>
                  </a:moveTo>
                  <a:lnTo>
                    <a:pt x="1425350" y="0"/>
                  </a:lnTo>
                  <a:lnTo>
                    <a:pt x="1425350" y="312067"/>
                  </a:lnTo>
                  <a:lnTo>
                    <a:pt x="0" y="312067"/>
                  </a:lnTo>
                  <a:close/>
                </a:path>
              </a:pathLst>
            </a:custGeom>
            <a:solidFill>
              <a:srgbClr val="F3EBE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19050"/>
              <a:ext cx="1425350" cy="293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6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847423" y="5759069"/>
            <a:ext cx="5345120" cy="1107481"/>
            <a:chOff x="0" y="0"/>
            <a:chExt cx="1407768" cy="29168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07768" cy="291682"/>
            </a:xfrm>
            <a:custGeom>
              <a:avLst/>
              <a:gdLst/>
              <a:ahLst/>
              <a:cxnLst/>
              <a:rect r="r" b="b" t="t" l="l"/>
              <a:pathLst>
                <a:path h="291682" w="1407768">
                  <a:moveTo>
                    <a:pt x="0" y="0"/>
                  </a:moveTo>
                  <a:lnTo>
                    <a:pt x="1407768" y="0"/>
                  </a:lnTo>
                  <a:lnTo>
                    <a:pt x="1407768" y="291682"/>
                  </a:lnTo>
                  <a:lnTo>
                    <a:pt x="0" y="291682"/>
                  </a:lnTo>
                  <a:close/>
                </a:path>
              </a:pathLst>
            </a:custGeom>
            <a:solidFill>
              <a:srgbClr val="F3EBE4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19050"/>
              <a:ext cx="1407768" cy="27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6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5747004" y="243713"/>
            <a:ext cx="2306398" cy="1329110"/>
          </a:xfrm>
          <a:custGeom>
            <a:avLst/>
            <a:gdLst/>
            <a:ahLst/>
            <a:cxnLst/>
            <a:rect r="r" b="b" t="t" l="l"/>
            <a:pathLst>
              <a:path h="1329110" w="2306398">
                <a:moveTo>
                  <a:pt x="0" y="0"/>
                </a:moveTo>
                <a:lnTo>
                  <a:pt x="2306398" y="0"/>
                </a:lnTo>
                <a:lnTo>
                  <a:pt x="2306398" y="1329111"/>
                </a:lnTo>
                <a:lnTo>
                  <a:pt x="0" y="13291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6094405" y="3971813"/>
            <a:ext cx="6019492" cy="1788953"/>
          </a:xfrm>
          <a:custGeom>
            <a:avLst/>
            <a:gdLst/>
            <a:ahLst/>
            <a:cxnLst/>
            <a:rect r="r" b="b" t="t" l="l"/>
            <a:pathLst>
              <a:path h="1788953" w="6019492">
                <a:moveTo>
                  <a:pt x="0" y="0"/>
                </a:moveTo>
                <a:lnTo>
                  <a:pt x="6019491" y="0"/>
                </a:lnTo>
                <a:lnTo>
                  <a:pt x="6019491" y="1788952"/>
                </a:lnTo>
                <a:lnTo>
                  <a:pt x="0" y="17889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6000"/>
            </a:blip>
            <a:stretch>
              <a:fillRect l="0" t="-80584" r="0" b="-86918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028700" y="2220527"/>
            <a:ext cx="11401431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0"/>
              </a:lnSpc>
            </a:pPr>
            <a:r>
              <a:rPr lang="en-US" sz="3000" spc="-171">
                <a:solidFill>
                  <a:srgbClr val="503332"/>
                </a:solidFill>
                <a:latin typeface="Bai Jamjuree"/>
                <a:ea typeface="Bai Jamjuree"/>
                <a:cs typeface="Bai Jamjuree"/>
                <a:sym typeface="Bai Jamjuree"/>
              </a:rPr>
              <a:t>From misplacing AI into mastering it as an analytical tool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700" y="895350"/>
            <a:ext cx="14110476" cy="1177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8"/>
              </a:lnSpc>
            </a:pPr>
            <a:r>
              <a:rPr lang="en-US" sz="6877">
                <a:solidFill>
                  <a:srgbClr val="503332"/>
                </a:solidFill>
                <a:latin typeface="TAN Aegean"/>
                <a:ea typeface="TAN Aegean"/>
                <a:cs typeface="TAN Aegean"/>
                <a:sym typeface="TAN Aegean"/>
              </a:rPr>
              <a:t>Strategic Recommend</a:t>
            </a:r>
            <a:r>
              <a:rPr lang="en-US" sz="6877">
                <a:solidFill>
                  <a:srgbClr val="503332"/>
                </a:solidFill>
                <a:latin typeface="TAN Aegean"/>
                <a:ea typeface="TAN Aegean"/>
                <a:cs typeface="TAN Aegean"/>
                <a:sym typeface="TAN Aegean"/>
              </a:rPr>
              <a:t>ation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15474" y="3078379"/>
            <a:ext cx="4272822" cy="405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4"/>
              </a:lnSpc>
            </a:pPr>
            <a:r>
              <a:rPr lang="en-US" b="true" sz="2765" spc="-157">
                <a:solidFill>
                  <a:srgbClr val="503332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Q1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15474" y="6115947"/>
            <a:ext cx="4272822" cy="405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4"/>
              </a:lnSpc>
            </a:pPr>
            <a:r>
              <a:rPr lang="en-US" b="true" sz="2765" spc="-157">
                <a:solidFill>
                  <a:srgbClr val="503332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Q4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691173" y="3971813"/>
            <a:ext cx="6019492" cy="1788953"/>
          </a:xfrm>
          <a:custGeom>
            <a:avLst/>
            <a:gdLst/>
            <a:ahLst/>
            <a:cxnLst/>
            <a:rect r="r" b="b" t="t" l="l"/>
            <a:pathLst>
              <a:path h="1788953" w="6019492">
                <a:moveTo>
                  <a:pt x="0" y="0"/>
                </a:moveTo>
                <a:lnTo>
                  <a:pt x="6019491" y="0"/>
                </a:lnTo>
                <a:lnTo>
                  <a:pt x="6019491" y="1788952"/>
                </a:lnTo>
                <a:lnTo>
                  <a:pt x="0" y="17889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6000"/>
            </a:blip>
            <a:stretch>
              <a:fillRect l="0" t="-80584" r="0" b="-86918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873061" y="4702785"/>
            <a:ext cx="3557647" cy="638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8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99" spc="-125" strike="noStrike" u="none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AI performs the ritual; humans keep the voice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642139" y="6864430"/>
            <a:ext cx="6019492" cy="2393870"/>
          </a:xfrm>
          <a:custGeom>
            <a:avLst/>
            <a:gdLst/>
            <a:ahLst/>
            <a:cxnLst/>
            <a:rect r="r" b="b" t="t" l="l"/>
            <a:pathLst>
              <a:path h="2393870" w="6019492">
                <a:moveTo>
                  <a:pt x="0" y="0"/>
                </a:moveTo>
                <a:lnTo>
                  <a:pt x="6019492" y="0"/>
                </a:lnTo>
                <a:lnTo>
                  <a:pt x="6019492" y="2393870"/>
                </a:lnTo>
                <a:lnTo>
                  <a:pt x="0" y="23938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6000"/>
            </a:blip>
            <a:stretch>
              <a:fillRect l="0" t="-42952" r="0" b="-56953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873061" y="7735022"/>
            <a:ext cx="3557647" cy="638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8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99" spc="-125" strike="noStrike" u="none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Ritual pages as the source of truth for agents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974211" y="3078379"/>
            <a:ext cx="4272822" cy="405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4"/>
              </a:lnSpc>
              <a:spcBef>
                <a:spcPct val="0"/>
              </a:spcBef>
            </a:pPr>
            <a:r>
              <a:rPr lang="en-US" b="true" sz="2765" spc="-157" strike="noStrike" u="none">
                <a:solidFill>
                  <a:srgbClr val="503332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Q2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974211" y="6115947"/>
            <a:ext cx="4272822" cy="405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4"/>
              </a:lnSpc>
            </a:pPr>
            <a:r>
              <a:rPr lang="en-US" b="true" sz="2765" spc="-157">
                <a:solidFill>
                  <a:srgbClr val="503332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Q5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331798" y="4237385"/>
            <a:ext cx="3557647" cy="1267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  <a:spcBef>
                <a:spcPct val="0"/>
              </a:spcBef>
            </a:pPr>
            <a:r>
              <a:rPr lang="en-US" b="true" sz="2199" spc="-125" strike="noStrike" u="none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A Ritual Profile, Vay Sound agent and a microtool  chord map that explains its ingriedients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6134254" y="6778705"/>
            <a:ext cx="6019492" cy="2479595"/>
          </a:xfrm>
          <a:custGeom>
            <a:avLst/>
            <a:gdLst/>
            <a:ahLst/>
            <a:cxnLst/>
            <a:rect r="r" b="b" t="t" l="l"/>
            <a:pathLst>
              <a:path h="2479595" w="6019492">
                <a:moveTo>
                  <a:pt x="0" y="0"/>
                </a:moveTo>
                <a:lnTo>
                  <a:pt x="6019492" y="0"/>
                </a:lnTo>
                <a:lnTo>
                  <a:pt x="6019492" y="2479595"/>
                </a:lnTo>
                <a:lnTo>
                  <a:pt x="0" y="24795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6000"/>
            </a:blip>
            <a:stretch>
              <a:fillRect l="0" t="-49149" r="0" b="-43845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7331798" y="7735022"/>
            <a:ext cx="3557647" cy="638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8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99" spc="-125" strike="noStrike" u="none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One north star: re-ritualized clients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430131" y="3078379"/>
            <a:ext cx="4272822" cy="405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4"/>
              </a:lnSpc>
            </a:pPr>
            <a:r>
              <a:rPr lang="en-US" b="true" sz="2765" spc="-157">
                <a:solidFill>
                  <a:srgbClr val="503332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Q3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430131" y="6115947"/>
            <a:ext cx="4272822" cy="405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4"/>
              </a:lnSpc>
              <a:spcBef>
                <a:spcPct val="0"/>
              </a:spcBef>
            </a:pPr>
            <a:r>
              <a:rPr lang="en-US" b="true" sz="2765" spc="-157" strike="noStrike" u="none">
                <a:solidFill>
                  <a:srgbClr val="503332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Q6 &amp; Q7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11510237" y="3924920"/>
            <a:ext cx="6019492" cy="1788953"/>
          </a:xfrm>
          <a:custGeom>
            <a:avLst/>
            <a:gdLst/>
            <a:ahLst/>
            <a:cxnLst/>
            <a:rect r="r" b="b" t="t" l="l"/>
            <a:pathLst>
              <a:path h="1788953" w="6019492">
                <a:moveTo>
                  <a:pt x="0" y="0"/>
                </a:moveTo>
                <a:lnTo>
                  <a:pt x="6019492" y="0"/>
                </a:lnTo>
                <a:lnTo>
                  <a:pt x="6019492" y="1788952"/>
                </a:lnTo>
                <a:lnTo>
                  <a:pt x="0" y="17889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6000"/>
            </a:blip>
            <a:stretch>
              <a:fillRect l="0" t="-80584" r="0" b="-86918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12787718" y="4504817"/>
            <a:ext cx="3557647" cy="638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8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99" spc="-125" strike="noStrike" u="none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Fix owned journeys before adding new channels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11510237" y="6915872"/>
            <a:ext cx="6019492" cy="2342428"/>
          </a:xfrm>
          <a:custGeom>
            <a:avLst/>
            <a:gdLst/>
            <a:ahLst/>
            <a:cxnLst/>
            <a:rect r="r" b="b" t="t" l="l"/>
            <a:pathLst>
              <a:path h="2342428" w="6019492">
                <a:moveTo>
                  <a:pt x="0" y="0"/>
                </a:moveTo>
                <a:lnTo>
                  <a:pt x="6019492" y="0"/>
                </a:lnTo>
                <a:lnTo>
                  <a:pt x="6019492" y="2342428"/>
                </a:lnTo>
                <a:lnTo>
                  <a:pt x="0" y="23424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6000"/>
            </a:blip>
            <a:stretch>
              <a:fillRect l="0" t="-57883" r="0" b="-46412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12787312" y="7734300"/>
            <a:ext cx="3557588" cy="638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8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99" spc="-125" strike="noStrike" u="none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Verified practitioners and community formats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B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171574"/>
            <a:ext cx="3832301" cy="3659063"/>
            <a:chOff x="0" y="0"/>
            <a:chExt cx="705344" cy="673459"/>
          </a:xfrm>
        </p:grpSpPr>
        <p:sp>
          <p:nvSpPr>
            <p:cNvPr name="Freeform 3" id="3"/>
            <p:cNvSpPr/>
            <p:nvPr/>
          </p:nvSpPr>
          <p:spPr>
            <a:xfrm flipH="false" flipV="false" rot="151716">
              <a:off x="-14513" y="-15231"/>
              <a:ext cx="734369" cy="703922"/>
            </a:xfrm>
            <a:custGeom>
              <a:avLst/>
              <a:gdLst/>
              <a:ahLst/>
              <a:cxnLst/>
              <a:rect r="r" b="b" t="t" l="l"/>
              <a:pathLst>
                <a:path h="703922" w="734369">
                  <a:moveTo>
                    <a:pt x="0" y="31118"/>
                  </a:moveTo>
                  <a:lnTo>
                    <a:pt x="704658" y="0"/>
                  </a:lnTo>
                  <a:lnTo>
                    <a:pt x="734370" y="672803"/>
                  </a:lnTo>
                  <a:lnTo>
                    <a:pt x="29712" y="703922"/>
                  </a:lnTo>
                  <a:close/>
                </a:path>
              </a:pathLst>
            </a:custGeom>
            <a:blipFill>
              <a:blip r:embed="rId2"/>
              <a:stretch>
                <a:fillRect l="-481" t="-26087" r="0" b="-1368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77024" y="8017069"/>
            <a:ext cx="3808647" cy="1527510"/>
            <a:chOff x="0" y="0"/>
            <a:chExt cx="1016441" cy="4076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16441" cy="407657"/>
            </a:xfrm>
            <a:custGeom>
              <a:avLst/>
              <a:gdLst/>
              <a:ahLst/>
              <a:cxnLst/>
              <a:rect r="r" b="b" t="t" l="l"/>
              <a:pathLst>
                <a:path h="407657" w="1016441">
                  <a:moveTo>
                    <a:pt x="0" y="0"/>
                  </a:moveTo>
                  <a:lnTo>
                    <a:pt x="1016441" y="0"/>
                  </a:lnTo>
                  <a:lnTo>
                    <a:pt x="1016441" y="407657"/>
                  </a:lnTo>
                  <a:lnTo>
                    <a:pt x="0" y="407657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38100"/>
              <a:ext cx="1016441" cy="369557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538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78485" y="8052258"/>
            <a:ext cx="3808647" cy="1527510"/>
            <a:chOff x="0" y="0"/>
            <a:chExt cx="1016441" cy="40765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6441" cy="407657"/>
            </a:xfrm>
            <a:custGeom>
              <a:avLst/>
              <a:gdLst/>
              <a:ahLst/>
              <a:cxnLst/>
              <a:rect r="r" b="b" t="t" l="l"/>
              <a:pathLst>
                <a:path h="407657" w="1016441">
                  <a:moveTo>
                    <a:pt x="0" y="0"/>
                  </a:moveTo>
                  <a:lnTo>
                    <a:pt x="1016441" y="0"/>
                  </a:lnTo>
                  <a:lnTo>
                    <a:pt x="1016441" y="407657"/>
                  </a:lnTo>
                  <a:lnTo>
                    <a:pt x="0" y="407657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38100"/>
              <a:ext cx="1016441" cy="369557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538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092040" y="4178650"/>
            <a:ext cx="3832301" cy="3659063"/>
            <a:chOff x="0" y="0"/>
            <a:chExt cx="705344" cy="67345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5344" cy="673459"/>
            </a:xfrm>
            <a:custGeom>
              <a:avLst/>
              <a:gdLst/>
              <a:ahLst/>
              <a:cxnLst/>
              <a:rect r="r" b="b" t="t" l="l"/>
              <a:pathLst>
                <a:path h="673459" w="705344">
                  <a:moveTo>
                    <a:pt x="0" y="0"/>
                  </a:moveTo>
                  <a:lnTo>
                    <a:pt x="705344" y="0"/>
                  </a:lnTo>
                  <a:lnTo>
                    <a:pt x="705344" y="673459"/>
                  </a:lnTo>
                  <a:lnTo>
                    <a:pt x="0" y="673459"/>
                  </a:lnTo>
                  <a:close/>
                </a:path>
              </a:pathLst>
            </a:custGeom>
            <a:blipFill>
              <a:blip r:embed="rId3"/>
              <a:stretch>
                <a:fillRect l="0" t="-2367" r="0" b="-2367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140363" y="8025063"/>
            <a:ext cx="3808647" cy="1519516"/>
            <a:chOff x="0" y="0"/>
            <a:chExt cx="1016441" cy="40552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16441" cy="405524"/>
            </a:xfrm>
            <a:custGeom>
              <a:avLst/>
              <a:gdLst/>
              <a:ahLst/>
              <a:cxnLst/>
              <a:rect r="r" b="b" t="t" l="l"/>
              <a:pathLst>
                <a:path h="405524" w="1016441">
                  <a:moveTo>
                    <a:pt x="0" y="0"/>
                  </a:moveTo>
                  <a:lnTo>
                    <a:pt x="1016441" y="0"/>
                  </a:lnTo>
                  <a:lnTo>
                    <a:pt x="1016441" y="405524"/>
                  </a:lnTo>
                  <a:lnTo>
                    <a:pt x="0" y="405524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38100"/>
              <a:ext cx="1016441" cy="367424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538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52354" y="3102177"/>
            <a:ext cx="3808647" cy="873403"/>
            <a:chOff x="0" y="0"/>
            <a:chExt cx="1016441" cy="2330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16441" cy="233091"/>
            </a:xfrm>
            <a:custGeom>
              <a:avLst/>
              <a:gdLst/>
              <a:ahLst/>
              <a:cxnLst/>
              <a:rect r="r" b="b" t="t" l="l"/>
              <a:pathLst>
                <a:path h="233091" w="1016441">
                  <a:moveTo>
                    <a:pt x="0" y="0"/>
                  </a:moveTo>
                  <a:lnTo>
                    <a:pt x="1016441" y="0"/>
                  </a:lnTo>
                  <a:lnTo>
                    <a:pt x="1016441" y="233091"/>
                  </a:lnTo>
                  <a:lnTo>
                    <a:pt x="0" y="233091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016441" cy="2807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78485" y="3137366"/>
            <a:ext cx="3808647" cy="873403"/>
            <a:chOff x="0" y="0"/>
            <a:chExt cx="1016441" cy="23309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16441" cy="233091"/>
            </a:xfrm>
            <a:custGeom>
              <a:avLst/>
              <a:gdLst/>
              <a:ahLst/>
              <a:cxnLst/>
              <a:rect r="r" b="b" t="t" l="l"/>
              <a:pathLst>
                <a:path h="233091" w="1016441">
                  <a:moveTo>
                    <a:pt x="0" y="0"/>
                  </a:moveTo>
                  <a:lnTo>
                    <a:pt x="1016441" y="0"/>
                  </a:lnTo>
                  <a:lnTo>
                    <a:pt x="1016441" y="233091"/>
                  </a:lnTo>
                  <a:lnTo>
                    <a:pt x="0" y="233091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016441" cy="2807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115694" y="3102177"/>
            <a:ext cx="3808647" cy="873403"/>
            <a:chOff x="0" y="0"/>
            <a:chExt cx="1016441" cy="23309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16441" cy="233091"/>
            </a:xfrm>
            <a:custGeom>
              <a:avLst/>
              <a:gdLst/>
              <a:ahLst/>
              <a:cxnLst/>
              <a:rect r="r" b="b" t="t" l="l"/>
              <a:pathLst>
                <a:path h="233091" w="1016441">
                  <a:moveTo>
                    <a:pt x="0" y="0"/>
                  </a:moveTo>
                  <a:lnTo>
                    <a:pt x="1016441" y="0"/>
                  </a:lnTo>
                  <a:lnTo>
                    <a:pt x="1016441" y="233091"/>
                  </a:lnTo>
                  <a:lnTo>
                    <a:pt x="0" y="233091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016441" cy="2807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212966" y="4196081"/>
            <a:ext cx="3832301" cy="3659063"/>
            <a:chOff x="0" y="0"/>
            <a:chExt cx="705344" cy="67345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5344" cy="673459"/>
            </a:xfrm>
            <a:custGeom>
              <a:avLst/>
              <a:gdLst/>
              <a:ahLst/>
              <a:cxnLst/>
              <a:rect r="r" b="b" t="t" l="l"/>
              <a:pathLst>
                <a:path h="673459" w="705344">
                  <a:moveTo>
                    <a:pt x="0" y="0"/>
                  </a:moveTo>
                  <a:lnTo>
                    <a:pt x="705344" y="0"/>
                  </a:lnTo>
                  <a:lnTo>
                    <a:pt x="705344" y="673459"/>
                  </a:lnTo>
                  <a:lnTo>
                    <a:pt x="0" y="673459"/>
                  </a:lnTo>
                  <a:close/>
                </a:path>
              </a:pathLst>
            </a:custGeom>
            <a:blipFill>
              <a:blip r:embed="rId4"/>
              <a:stretch>
                <a:fillRect l="0" t="-2367" r="0" b="-2367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237636" y="8052748"/>
            <a:ext cx="3808647" cy="1527510"/>
            <a:chOff x="0" y="0"/>
            <a:chExt cx="1016441" cy="40765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16441" cy="407657"/>
            </a:xfrm>
            <a:custGeom>
              <a:avLst/>
              <a:gdLst/>
              <a:ahLst/>
              <a:cxnLst/>
              <a:rect r="r" b="b" t="t" l="l"/>
              <a:pathLst>
                <a:path h="407657" w="1016441">
                  <a:moveTo>
                    <a:pt x="0" y="0"/>
                  </a:moveTo>
                  <a:lnTo>
                    <a:pt x="1016441" y="0"/>
                  </a:lnTo>
                  <a:lnTo>
                    <a:pt x="1016441" y="407657"/>
                  </a:lnTo>
                  <a:lnTo>
                    <a:pt x="0" y="407657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38100"/>
              <a:ext cx="1016441" cy="369557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538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237636" y="3137856"/>
            <a:ext cx="3808647" cy="873403"/>
            <a:chOff x="0" y="0"/>
            <a:chExt cx="1016441" cy="23309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16441" cy="233091"/>
            </a:xfrm>
            <a:custGeom>
              <a:avLst/>
              <a:gdLst/>
              <a:ahLst/>
              <a:cxnLst/>
              <a:rect r="r" b="b" t="t" l="l"/>
              <a:pathLst>
                <a:path h="233091" w="1016441">
                  <a:moveTo>
                    <a:pt x="0" y="0"/>
                  </a:moveTo>
                  <a:lnTo>
                    <a:pt x="1016441" y="0"/>
                  </a:lnTo>
                  <a:lnTo>
                    <a:pt x="1016441" y="233091"/>
                  </a:lnTo>
                  <a:lnTo>
                    <a:pt x="0" y="233091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016441" cy="2807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5747004" y="243713"/>
            <a:ext cx="2306398" cy="1329110"/>
          </a:xfrm>
          <a:custGeom>
            <a:avLst/>
            <a:gdLst/>
            <a:ahLst/>
            <a:cxnLst/>
            <a:rect r="r" b="b" t="t" l="l"/>
            <a:pathLst>
              <a:path h="1329110" w="2306398">
                <a:moveTo>
                  <a:pt x="0" y="0"/>
                </a:moveTo>
                <a:lnTo>
                  <a:pt x="2306398" y="0"/>
                </a:lnTo>
                <a:lnTo>
                  <a:pt x="2306398" y="1329111"/>
                </a:lnTo>
                <a:lnTo>
                  <a:pt x="0" y="13291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736957" y="3272222"/>
            <a:ext cx="2407187" cy="423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54"/>
              </a:lnSpc>
              <a:spcBef>
                <a:spcPct val="0"/>
              </a:spcBef>
            </a:pPr>
            <a:r>
              <a:rPr lang="en-US" b="true" sz="2467" strike="noStrike" u="none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AI PRESENCE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874183" y="3272222"/>
            <a:ext cx="2417252" cy="417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54"/>
              </a:lnSpc>
              <a:spcBef>
                <a:spcPct val="0"/>
              </a:spcBef>
            </a:pPr>
            <a:r>
              <a:rPr lang="en-US" b="true" sz="2467" strike="noStrike" u="none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REPEAT RATE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454302" y="3299276"/>
            <a:ext cx="3107776" cy="417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54"/>
              </a:lnSpc>
              <a:spcBef>
                <a:spcPct val="0"/>
              </a:spcBef>
            </a:pPr>
            <a:r>
              <a:rPr lang="en-US" b="true" sz="2467" strike="noStrike" u="none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QUIZ TO RITUAL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02524" y="8192587"/>
            <a:ext cx="3557647" cy="899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37"/>
              </a:lnSpc>
              <a:spcBef>
                <a:spcPct val="0"/>
              </a:spcBef>
              <a:buFont typeface="Arial"/>
              <a:buChar char="•"/>
            </a:pPr>
            <a:r>
              <a:rPr lang="en-US" sz="1950" strike="noStrike" u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Cited more in category answers, with zero wrong prices or claims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273805" y="8186144"/>
            <a:ext cx="3518110" cy="59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37"/>
              </a:lnSpc>
              <a:spcBef>
                <a:spcPct val="0"/>
              </a:spcBef>
              <a:buFont typeface="Arial"/>
              <a:buChar char="•"/>
            </a:pPr>
            <a:r>
              <a:rPr lang="en-US" sz="1950" strike="noStrike" u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Quiz-to-ritual purchase within 30 days, no sold-out picks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469833" y="8192587"/>
            <a:ext cx="3246980" cy="59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37"/>
              </a:lnSpc>
              <a:spcBef>
                <a:spcPct val="0"/>
              </a:spcBef>
              <a:buFont typeface="Arial"/>
              <a:buChar char="•"/>
            </a:pPr>
            <a:r>
              <a:rPr lang="en-US" sz="1950" strike="noStrike" u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At or above 54%, even as new channels launch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52354" y="1635047"/>
            <a:ext cx="997262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503332"/>
                </a:solidFill>
                <a:latin typeface="Bai Jamjuree"/>
                <a:ea typeface="Bai Jamjuree"/>
                <a:cs typeface="Bai Jamjuree"/>
                <a:sym typeface="Bai Jamjuree"/>
              </a:rPr>
              <a:t>How to know the strategy worked?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28700" y="440598"/>
            <a:ext cx="11688113" cy="126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07"/>
              </a:lnSpc>
            </a:pPr>
            <a:r>
              <a:rPr lang="en-US" sz="7362">
                <a:solidFill>
                  <a:srgbClr val="503332"/>
                </a:solidFill>
                <a:latin typeface="TAN Aegean"/>
                <a:ea typeface="TAN Aegean"/>
                <a:cs typeface="TAN Aegean"/>
                <a:sym typeface="TAN Aegean"/>
              </a:rPr>
              <a:t>Metric </a:t>
            </a:r>
            <a:r>
              <a:rPr lang="en-US" sz="7362">
                <a:solidFill>
                  <a:srgbClr val="503332"/>
                </a:solidFill>
                <a:latin typeface="TAN Aegean"/>
                <a:ea typeface="TAN Aegean"/>
                <a:cs typeface="TAN Aegean"/>
                <a:sym typeface="TAN Aegean"/>
              </a:rPr>
              <a:t>Pillars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606257" y="3266471"/>
            <a:ext cx="3107776" cy="423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54"/>
              </a:lnSpc>
              <a:spcBef>
                <a:spcPct val="0"/>
              </a:spcBef>
            </a:pPr>
            <a:r>
              <a:rPr lang="en-US" b="true" sz="2467" strike="noStrike" u="none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PARTICIPATION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212966" y="8285516"/>
            <a:ext cx="3830550" cy="606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37"/>
              </a:lnSpc>
              <a:spcBef>
                <a:spcPct val="0"/>
              </a:spcBef>
              <a:buFont typeface="Arial"/>
              <a:buChar char="•"/>
            </a:pPr>
            <a:r>
              <a:rPr lang="en-US" sz="1950" strike="noStrike" u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Members with 2+ meaningful Mauli interactions in 30 days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9191871" y="4195647"/>
            <a:ext cx="3807088" cy="3634990"/>
            <a:chOff x="0" y="0"/>
            <a:chExt cx="705344" cy="67345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05344" cy="673459"/>
            </a:xfrm>
            <a:custGeom>
              <a:avLst/>
              <a:gdLst/>
              <a:ahLst/>
              <a:cxnLst/>
              <a:rect r="r" b="b" t="t" l="l"/>
              <a:pathLst>
                <a:path h="673459" w="705344">
                  <a:moveTo>
                    <a:pt x="0" y="0"/>
                  </a:moveTo>
                  <a:lnTo>
                    <a:pt x="705344" y="0"/>
                  </a:lnTo>
                  <a:lnTo>
                    <a:pt x="705344" y="673459"/>
                  </a:lnTo>
                  <a:lnTo>
                    <a:pt x="0" y="673459"/>
                  </a:lnTo>
                  <a:close/>
                </a:path>
              </a:pathLst>
            </a:custGeom>
            <a:blipFill>
              <a:blip r:embed="rId6"/>
              <a:stretch>
                <a:fillRect l="-15904" t="0" r="-15904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B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840618" y="130924"/>
            <a:ext cx="2306398" cy="1329110"/>
          </a:xfrm>
          <a:custGeom>
            <a:avLst/>
            <a:gdLst/>
            <a:ahLst/>
            <a:cxnLst/>
            <a:rect r="r" b="b" t="t" l="l"/>
            <a:pathLst>
              <a:path h="1329110" w="2306398">
                <a:moveTo>
                  <a:pt x="0" y="0"/>
                </a:moveTo>
                <a:lnTo>
                  <a:pt x="2306397" y="0"/>
                </a:lnTo>
                <a:lnTo>
                  <a:pt x="2306397" y="1329110"/>
                </a:lnTo>
                <a:lnTo>
                  <a:pt x="0" y="13291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1851406"/>
            <a:ext cx="18288000" cy="7795260"/>
          </a:xfrm>
          <a:custGeom>
            <a:avLst/>
            <a:gdLst/>
            <a:ahLst/>
            <a:cxnLst/>
            <a:rect r="r" b="b" t="t" l="l"/>
            <a:pathLst>
              <a:path h="7795260" w="18288000">
                <a:moveTo>
                  <a:pt x="0" y="0"/>
                </a:moveTo>
                <a:lnTo>
                  <a:pt x="18288000" y="0"/>
                </a:lnTo>
                <a:lnTo>
                  <a:pt x="18288000" y="7795260"/>
                </a:lnTo>
                <a:lnTo>
                  <a:pt x="0" y="7795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98909"/>
            <a:ext cx="11688113" cy="126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07"/>
              </a:lnSpc>
            </a:pPr>
            <a:r>
              <a:rPr lang="en-US" sz="7362">
                <a:solidFill>
                  <a:srgbClr val="503332"/>
                </a:solidFill>
                <a:latin typeface="TAN Aegean"/>
                <a:ea typeface="TAN Aegean"/>
                <a:cs typeface="TAN Aegean"/>
                <a:sym typeface="TAN Aegean"/>
              </a:rPr>
              <a:t>Metric Examples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B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20776" y="8717745"/>
            <a:ext cx="15209082" cy="1194932"/>
            <a:chOff x="0" y="0"/>
            <a:chExt cx="6376613" cy="5009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76613" cy="500991"/>
            </a:xfrm>
            <a:custGeom>
              <a:avLst/>
              <a:gdLst/>
              <a:ahLst/>
              <a:cxnLst/>
              <a:rect r="r" b="b" t="t" l="l"/>
              <a:pathLst>
                <a:path h="500991" w="6376613">
                  <a:moveTo>
                    <a:pt x="0" y="0"/>
                  </a:moveTo>
                  <a:lnTo>
                    <a:pt x="6376613" y="0"/>
                  </a:lnTo>
                  <a:lnTo>
                    <a:pt x="6376613" y="500991"/>
                  </a:lnTo>
                  <a:lnTo>
                    <a:pt x="0" y="500991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6376613" cy="529566"/>
            </a:xfrm>
            <a:prstGeom prst="rect">
              <a:avLst/>
            </a:prstGeom>
          </p:spPr>
          <p:txBody>
            <a:bodyPr anchor="ctr" rtlCol="false" tIns="46204" lIns="46204" bIns="46204" rIns="46204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17788" y="2986928"/>
            <a:ext cx="2389043" cy="4852590"/>
            <a:chOff x="0" y="0"/>
            <a:chExt cx="657965" cy="13364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7965" cy="1336450"/>
            </a:xfrm>
            <a:custGeom>
              <a:avLst/>
              <a:gdLst/>
              <a:ahLst/>
              <a:cxnLst/>
              <a:rect r="r" b="b" t="t" l="l"/>
              <a:pathLst>
                <a:path h="1336450" w="657965">
                  <a:moveTo>
                    <a:pt x="0" y="0"/>
                  </a:moveTo>
                  <a:lnTo>
                    <a:pt x="657965" y="0"/>
                  </a:lnTo>
                  <a:lnTo>
                    <a:pt x="657965" y="1336450"/>
                  </a:lnTo>
                  <a:lnTo>
                    <a:pt x="0" y="1336450"/>
                  </a:lnTo>
                  <a:close/>
                </a:path>
              </a:pathLst>
            </a:custGeom>
            <a:blipFill>
              <a:blip r:embed="rId2"/>
              <a:stretch>
                <a:fillRect l="-31247" t="0" r="-31247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17788" y="7985642"/>
            <a:ext cx="2373771" cy="603685"/>
            <a:chOff x="0" y="0"/>
            <a:chExt cx="995236" cy="25310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95236" cy="253103"/>
            </a:xfrm>
            <a:custGeom>
              <a:avLst/>
              <a:gdLst/>
              <a:ahLst/>
              <a:cxnLst/>
              <a:rect r="r" b="b" t="t" l="l"/>
              <a:pathLst>
                <a:path h="253103" w="995236">
                  <a:moveTo>
                    <a:pt x="0" y="0"/>
                  </a:moveTo>
                  <a:lnTo>
                    <a:pt x="995236" y="0"/>
                  </a:lnTo>
                  <a:lnTo>
                    <a:pt x="995236" y="253103"/>
                  </a:lnTo>
                  <a:lnTo>
                    <a:pt x="0" y="253103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995236" cy="281678"/>
            </a:xfrm>
            <a:prstGeom prst="rect">
              <a:avLst/>
            </a:prstGeom>
          </p:spPr>
          <p:txBody>
            <a:bodyPr anchor="ctr" rtlCol="false" tIns="46204" lIns="46204" bIns="46204" rIns="46204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680492" y="7985642"/>
            <a:ext cx="2373771" cy="603685"/>
            <a:chOff x="0" y="0"/>
            <a:chExt cx="995236" cy="2531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95236" cy="253103"/>
            </a:xfrm>
            <a:custGeom>
              <a:avLst/>
              <a:gdLst/>
              <a:ahLst/>
              <a:cxnLst/>
              <a:rect r="r" b="b" t="t" l="l"/>
              <a:pathLst>
                <a:path h="253103" w="995236">
                  <a:moveTo>
                    <a:pt x="0" y="0"/>
                  </a:moveTo>
                  <a:lnTo>
                    <a:pt x="995236" y="0"/>
                  </a:lnTo>
                  <a:lnTo>
                    <a:pt x="995236" y="253103"/>
                  </a:lnTo>
                  <a:lnTo>
                    <a:pt x="0" y="253103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995236" cy="281678"/>
            </a:xfrm>
            <a:prstGeom prst="rect">
              <a:avLst/>
            </a:prstGeom>
          </p:spPr>
          <p:txBody>
            <a:bodyPr anchor="ctr" rtlCol="false" tIns="46204" lIns="46204" bIns="46204" rIns="46204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243197" y="2986928"/>
            <a:ext cx="2389043" cy="4852590"/>
            <a:chOff x="0" y="0"/>
            <a:chExt cx="657965" cy="13364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57965" cy="1336450"/>
            </a:xfrm>
            <a:custGeom>
              <a:avLst/>
              <a:gdLst/>
              <a:ahLst/>
              <a:cxnLst/>
              <a:rect r="r" b="b" t="t" l="l"/>
              <a:pathLst>
                <a:path h="1336450" w="657965">
                  <a:moveTo>
                    <a:pt x="0" y="0"/>
                  </a:moveTo>
                  <a:lnTo>
                    <a:pt x="657965" y="0"/>
                  </a:lnTo>
                  <a:lnTo>
                    <a:pt x="657965" y="1336450"/>
                  </a:lnTo>
                  <a:lnTo>
                    <a:pt x="0" y="1336450"/>
                  </a:lnTo>
                  <a:close/>
                </a:path>
              </a:pathLst>
            </a:custGeom>
            <a:blipFill>
              <a:blip r:embed="rId3"/>
              <a:stretch>
                <a:fillRect l="-22542" t="0" r="-22542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243197" y="7985642"/>
            <a:ext cx="2373771" cy="603685"/>
            <a:chOff x="0" y="0"/>
            <a:chExt cx="995236" cy="25310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95236" cy="253103"/>
            </a:xfrm>
            <a:custGeom>
              <a:avLst/>
              <a:gdLst/>
              <a:ahLst/>
              <a:cxnLst/>
              <a:rect r="r" b="b" t="t" l="l"/>
              <a:pathLst>
                <a:path h="253103" w="995236">
                  <a:moveTo>
                    <a:pt x="0" y="0"/>
                  </a:moveTo>
                  <a:lnTo>
                    <a:pt x="995236" y="0"/>
                  </a:lnTo>
                  <a:lnTo>
                    <a:pt x="995236" y="253103"/>
                  </a:lnTo>
                  <a:lnTo>
                    <a:pt x="0" y="253103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995236" cy="281678"/>
            </a:xfrm>
            <a:prstGeom prst="rect">
              <a:avLst/>
            </a:prstGeom>
          </p:spPr>
          <p:txBody>
            <a:bodyPr anchor="ctr" rtlCol="false" tIns="46204" lIns="46204" bIns="46204" rIns="46204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682704" y="2980652"/>
            <a:ext cx="2389043" cy="4852590"/>
            <a:chOff x="0" y="0"/>
            <a:chExt cx="657965" cy="13364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57965" cy="1336450"/>
            </a:xfrm>
            <a:custGeom>
              <a:avLst/>
              <a:gdLst/>
              <a:ahLst/>
              <a:cxnLst/>
              <a:rect r="r" b="b" t="t" l="l"/>
              <a:pathLst>
                <a:path h="1336450" w="657965">
                  <a:moveTo>
                    <a:pt x="0" y="0"/>
                  </a:moveTo>
                  <a:lnTo>
                    <a:pt x="657965" y="0"/>
                  </a:lnTo>
                  <a:lnTo>
                    <a:pt x="657965" y="1336450"/>
                  </a:lnTo>
                  <a:lnTo>
                    <a:pt x="0" y="1336450"/>
                  </a:lnTo>
                  <a:close/>
                </a:path>
              </a:pathLst>
            </a:custGeom>
            <a:blipFill>
              <a:blip r:embed="rId4"/>
              <a:stretch>
                <a:fillRect l="-51559" t="0" r="-51559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818963" y="7985642"/>
            <a:ext cx="2373771" cy="603685"/>
            <a:chOff x="0" y="0"/>
            <a:chExt cx="995236" cy="2531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95236" cy="253103"/>
            </a:xfrm>
            <a:custGeom>
              <a:avLst/>
              <a:gdLst/>
              <a:ahLst/>
              <a:cxnLst/>
              <a:rect r="r" b="b" t="t" l="l"/>
              <a:pathLst>
                <a:path h="253103" w="995236">
                  <a:moveTo>
                    <a:pt x="0" y="0"/>
                  </a:moveTo>
                  <a:lnTo>
                    <a:pt x="995236" y="0"/>
                  </a:lnTo>
                  <a:lnTo>
                    <a:pt x="995236" y="253103"/>
                  </a:lnTo>
                  <a:lnTo>
                    <a:pt x="0" y="253103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995236" cy="281678"/>
            </a:xfrm>
            <a:prstGeom prst="rect">
              <a:avLst/>
            </a:prstGeom>
          </p:spPr>
          <p:txBody>
            <a:bodyPr anchor="ctr" rtlCol="false" tIns="46204" lIns="46204" bIns="46204" rIns="46204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380322" y="2986928"/>
            <a:ext cx="2389043" cy="4852590"/>
            <a:chOff x="0" y="0"/>
            <a:chExt cx="657965" cy="13364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57965" cy="1336450"/>
            </a:xfrm>
            <a:custGeom>
              <a:avLst/>
              <a:gdLst/>
              <a:ahLst/>
              <a:cxnLst/>
              <a:rect r="r" b="b" t="t" l="l"/>
              <a:pathLst>
                <a:path h="1336450" w="657965">
                  <a:moveTo>
                    <a:pt x="0" y="0"/>
                  </a:moveTo>
                  <a:lnTo>
                    <a:pt x="657965" y="0"/>
                  </a:lnTo>
                  <a:lnTo>
                    <a:pt x="657965" y="1336450"/>
                  </a:lnTo>
                  <a:lnTo>
                    <a:pt x="0" y="1336450"/>
                  </a:lnTo>
                  <a:close/>
                </a:path>
              </a:pathLst>
            </a:custGeom>
            <a:blipFill>
              <a:blip r:embed="rId5"/>
              <a:stretch>
                <a:fillRect l="-31247" t="0" r="-31247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380322" y="7985642"/>
            <a:ext cx="2373771" cy="603685"/>
            <a:chOff x="0" y="0"/>
            <a:chExt cx="995236" cy="25310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95236" cy="253103"/>
            </a:xfrm>
            <a:custGeom>
              <a:avLst/>
              <a:gdLst/>
              <a:ahLst/>
              <a:cxnLst/>
              <a:rect r="r" b="b" t="t" l="l"/>
              <a:pathLst>
                <a:path h="253103" w="995236">
                  <a:moveTo>
                    <a:pt x="0" y="0"/>
                  </a:moveTo>
                  <a:lnTo>
                    <a:pt x="995236" y="0"/>
                  </a:lnTo>
                  <a:lnTo>
                    <a:pt x="995236" y="253103"/>
                  </a:lnTo>
                  <a:lnTo>
                    <a:pt x="0" y="253103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995236" cy="281678"/>
            </a:xfrm>
            <a:prstGeom prst="rect">
              <a:avLst/>
            </a:prstGeom>
          </p:spPr>
          <p:txBody>
            <a:bodyPr anchor="ctr" rtlCol="false" tIns="46204" lIns="46204" bIns="46204" rIns="46204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940815" y="2986928"/>
            <a:ext cx="2389043" cy="4852590"/>
            <a:chOff x="0" y="0"/>
            <a:chExt cx="657965" cy="13364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57965" cy="1336450"/>
            </a:xfrm>
            <a:custGeom>
              <a:avLst/>
              <a:gdLst/>
              <a:ahLst/>
              <a:cxnLst/>
              <a:rect r="r" b="b" t="t" l="l"/>
              <a:pathLst>
                <a:path h="1336450" w="657965">
                  <a:moveTo>
                    <a:pt x="0" y="0"/>
                  </a:moveTo>
                  <a:lnTo>
                    <a:pt x="657965" y="0"/>
                  </a:lnTo>
                  <a:lnTo>
                    <a:pt x="657965" y="1336450"/>
                  </a:lnTo>
                  <a:lnTo>
                    <a:pt x="0" y="1336450"/>
                  </a:lnTo>
                  <a:close/>
                </a:path>
              </a:pathLst>
            </a:custGeom>
            <a:blipFill>
              <a:blip r:embed="rId6"/>
              <a:stretch>
                <a:fillRect l="-51559" t="0" r="-51559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3940815" y="7985642"/>
            <a:ext cx="2389043" cy="603685"/>
            <a:chOff x="0" y="0"/>
            <a:chExt cx="1001639" cy="25310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01639" cy="253103"/>
            </a:xfrm>
            <a:custGeom>
              <a:avLst/>
              <a:gdLst/>
              <a:ahLst/>
              <a:cxnLst/>
              <a:rect r="r" b="b" t="t" l="l"/>
              <a:pathLst>
                <a:path h="253103" w="1001639">
                  <a:moveTo>
                    <a:pt x="0" y="0"/>
                  </a:moveTo>
                  <a:lnTo>
                    <a:pt x="1001639" y="0"/>
                  </a:lnTo>
                  <a:lnTo>
                    <a:pt x="1001639" y="253103"/>
                  </a:lnTo>
                  <a:lnTo>
                    <a:pt x="0" y="253103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1001639" cy="281678"/>
            </a:xfrm>
            <a:prstGeom prst="rect">
              <a:avLst/>
            </a:prstGeom>
          </p:spPr>
          <p:txBody>
            <a:bodyPr anchor="ctr" rtlCol="false" tIns="46204" lIns="46204" bIns="46204" rIns="46204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779478" y="8967734"/>
            <a:ext cx="13967526" cy="656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30"/>
              </a:lnSpc>
              <a:spcBef>
                <a:spcPct val="0"/>
              </a:spcBef>
            </a:pPr>
            <a:r>
              <a:rPr lang="en-US" b="true" sz="1950" strike="noStrike" u="none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WE AVOID: AI-MADE INFLUENCERS OR CONTENT (Q1) · PROFIT-LED QUIZ PICKS (Q2) · RETAIL B2C AND TIKTOK SOCIAL MARKETPLACE (Q3) · FOLLOWER &amp; INFLUENCER BRAND (Q5, Q7) · AN OPEN THERAPIST MARKETPLACE (Q6)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17788" y="8050456"/>
            <a:ext cx="2389043" cy="422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1"/>
              </a:lnSpc>
            </a:pPr>
            <a:r>
              <a:rPr lang="en-US" sz="2515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Q1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680492" y="8050456"/>
            <a:ext cx="2389043" cy="422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1"/>
              </a:lnSpc>
            </a:pPr>
            <a:r>
              <a:rPr lang="en-US" sz="2515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Q2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243197" y="8050456"/>
            <a:ext cx="2389043" cy="422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1"/>
              </a:lnSpc>
            </a:pPr>
            <a:r>
              <a:rPr lang="en-US" sz="2515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Q3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818963" y="8050456"/>
            <a:ext cx="2389043" cy="422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1"/>
              </a:lnSpc>
            </a:pPr>
            <a:r>
              <a:rPr lang="en-US" sz="2515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Q5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20776" y="2190077"/>
            <a:ext cx="997262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503332"/>
                </a:solidFill>
                <a:latin typeface="Bai Jamjuree"/>
                <a:ea typeface="Bai Jamjuree"/>
                <a:cs typeface="Bai Jamjuree"/>
                <a:sym typeface="Bai Jamjuree"/>
              </a:rPr>
              <a:t>What we are not recommending for now, and why?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88452" y="1078883"/>
            <a:ext cx="15349579" cy="1177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8"/>
              </a:lnSpc>
            </a:pPr>
            <a:r>
              <a:rPr lang="en-US" sz="6877">
                <a:solidFill>
                  <a:srgbClr val="503332"/>
                </a:solidFill>
                <a:latin typeface="TAN Aegean"/>
                <a:ea typeface="TAN Aegean"/>
                <a:cs typeface="TAN Aegean"/>
                <a:sym typeface="TAN Aegean"/>
              </a:rPr>
              <a:t>Strategically Avoid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380322" y="8050456"/>
            <a:ext cx="2389043" cy="422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1"/>
              </a:lnSpc>
            </a:pPr>
            <a:r>
              <a:rPr lang="en-US" sz="2515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Q6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940815" y="8050456"/>
            <a:ext cx="2389043" cy="422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1"/>
              </a:lnSpc>
            </a:pPr>
            <a:r>
              <a:rPr lang="en-US" sz="2515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Q7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8803690" y="2980652"/>
            <a:ext cx="2389043" cy="4852590"/>
            <a:chOff x="0" y="0"/>
            <a:chExt cx="657965" cy="13364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57965" cy="1336450"/>
            </a:xfrm>
            <a:custGeom>
              <a:avLst/>
              <a:gdLst/>
              <a:ahLst/>
              <a:cxnLst/>
              <a:rect r="r" b="b" t="t" l="l"/>
              <a:pathLst>
                <a:path h="1336450" w="657965">
                  <a:moveTo>
                    <a:pt x="0" y="0"/>
                  </a:moveTo>
                  <a:lnTo>
                    <a:pt x="657965" y="0"/>
                  </a:lnTo>
                  <a:lnTo>
                    <a:pt x="657965" y="1336450"/>
                  </a:lnTo>
                  <a:lnTo>
                    <a:pt x="0" y="1336450"/>
                  </a:lnTo>
                  <a:close/>
                </a:path>
              </a:pathLst>
            </a:custGeom>
            <a:blipFill>
              <a:blip r:embed="rId7"/>
              <a:stretch>
                <a:fillRect l="-31247" t="0" r="-31247" b="0"/>
              </a:stretch>
            </a:blipFill>
          </p:spPr>
        </p:sp>
      </p:grpSp>
      <p:sp>
        <p:nvSpPr>
          <p:cNvPr name="Freeform 44" id="44"/>
          <p:cNvSpPr/>
          <p:nvPr/>
        </p:nvSpPr>
        <p:spPr>
          <a:xfrm flipH="false" flipV="false" rot="0">
            <a:off x="15747004" y="243713"/>
            <a:ext cx="2306398" cy="1329110"/>
          </a:xfrm>
          <a:custGeom>
            <a:avLst/>
            <a:gdLst/>
            <a:ahLst/>
            <a:cxnLst/>
            <a:rect r="r" b="b" t="t" l="l"/>
            <a:pathLst>
              <a:path h="1329110" w="2306398">
                <a:moveTo>
                  <a:pt x="0" y="0"/>
                </a:moveTo>
                <a:lnTo>
                  <a:pt x="2306398" y="0"/>
                </a:lnTo>
                <a:lnTo>
                  <a:pt x="2306398" y="1329111"/>
                </a:lnTo>
                <a:lnTo>
                  <a:pt x="0" y="13291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B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06194" y="130924"/>
            <a:ext cx="2306398" cy="1329110"/>
          </a:xfrm>
          <a:custGeom>
            <a:avLst/>
            <a:gdLst/>
            <a:ahLst/>
            <a:cxnLst/>
            <a:rect r="r" b="b" t="t" l="l"/>
            <a:pathLst>
              <a:path h="1329110" w="2306398">
                <a:moveTo>
                  <a:pt x="0" y="0"/>
                </a:moveTo>
                <a:lnTo>
                  <a:pt x="2306397" y="0"/>
                </a:lnTo>
                <a:lnTo>
                  <a:pt x="2306397" y="1329110"/>
                </a:lnTo>
                <a:lnTo>
                  <a:pt x="0" y="13291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98909"/>
            <a:ext cx="11688113" cy="126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07"/>
              </a:lnSpc>
            </a:pPr>
            <a:r>
              <a:rPr lang="en-US" sz="7362">
                <a:solidFill>
                  <a:srgbClr val="503332"/>
                </a:solidFill>
                <a:latin typeface="TAN Aegean"/>
                <a:ea typeface="TAN Aegean"/>
                <a:cs typeface="TAN Aegean"/>
                <a:sym typeface="TAN Aegean"/>
              </a:rPr>
              <a:t>Conclusion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277771" y="3263117"/>
            <a:ext cx="7857031" cy="2088310"/>
            <a:chOff x="0" y="0"/>
            <a:chExt cx="2734191" cy="7267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34191" cy="726717"/>
            </a:xfrm>
            <a:custGeom>
              <a:avLst/>
              <a:gdLst/>
              <a:ahLst/>
              <a:cxnLst/>
              <a:rect r="r" b="b" t="t" l="l"/>
              <a:pathLst>
                <a:path h="726717" w="2734191">
                  <a:moveTo>
                    <a:pt x="0" y="0"/>
                  </a:moveTo>
                  <a:lnTo>
                    <a:pt x="2734191" y="0"/>
                  </a:lnTo>
                  <a:lnTo>
                    <a:pt x="2734191" y="726717"/>
                  </a:lnTo>
                  <a:lnTo>
                    <a:pt x="0" y="726717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734191" cy="755292"/>
            </a:xfrm>
            <a:prstGeom prst="rect">
              <a:avLst/>
            </a:prstGeom>
          </p:spPr>
          <p:txBody>
            <a:bodyPr anchor="ctr" rtlCol="false" tIns="46204" lIns="46204" bIns="46204" rIns="46204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277771" y="2324555"/>
            <a:ext cx="7857031" cy="727322"/>
            <a:chOff x="0" y="0"/>
            <a:chExt cx="2734191" cy="25310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34191" cy="253103"/>
            </a:xfrm>
            <a:custGeom>
              <a:avLst/>
              <a:gdLst/>
              <a:ahLst/>
              <a:cxnLst/>
              <a:rect r="r" b="b" t="t" l="l"/>
              <a:pathLst>
                <a:path h="253103" w="2734191">
                  <a:moveTo>
                    <a:pt x="0" y="0"/>
                  </a:moveTo>
                  <a:lnTo>
                    <a:pt x="2734191" y="0"/>
                  </a:lnTo>
                  <a:lnTo>
                    <a:pt x="2734191" y="253103"/>
                  </a:lnTo>
                  <a:lnTo>
                    <a:pt x="0" y="253103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2734191" cy="281678"/>
            </a:xfrm>
            <a:prstGeom prst="rect">
              <a:avLst/>
            </a:prstGeom>
          </p:spPr>
          <p:txBody>
            <a:bodyPr anchor="ctr" rtlCol="false" tIns="46204" lIns="46204" bIns="46204" rIns="46204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04883" y="3263117"/>
            <a:ext cx="7857031" cy="2088310"/>
            <a:chOff x="0" y="0"/>
            <a:chExt cx="2734191" cy="72671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34191" cy="726717"/>
            </a:xfrm>
            <a:custGeom>
              <a:avLst/>
              <a:gdLst/>
              <a:ahLst/>
              <a:cxnLst/>
              <a:rect r="r" b="b" t="t" l="l"/>
              <a:pathLst>
                <a:path h="726717" w="2734191">
                  <a:moveTo>
                    <a:pt x="0" y="0"/>
                  </a:moveTo>
                  <a:lnTo>
                    <a:pt x="2734191" y="0"/>
                  </a:lnTo>
                  <a:lnTo>
                    <a:pt x="2734191" y="726717"/>
                  </a:lnTo>
                  <a:lnTo>
                    <a:pt x="0" y="726717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2734191" cy="755292"/>
            </a:xfrm>
            <a:prstGeom prst="rect">
              <a:avLst/>
            </a:prstGeom>
          </p:spPr>
          <p:txBody>
            <a:bodyPr anchor="ctr" rtlCol="false" tIns="46204" lIns="46204" bIns="46204" rIns="46204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04883" y="2324555"/>
            <a:ext cx="7857031" cy="727322"/>
            <a:chOff x="0" y="0"/>
            <a:chExt cx="2734191" cy="25310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34191" cy="253103"/>
            </a:xfrm>
            <a:custGeom>
              <a:avLst/>
              <a:gdLst/>
              <a:ahLst/>
              <a:cxnLst/>
              <a:rect r="r" b="b" t="t" l="l"/>
              <a:pathLst>
                <a:path h="253103" w="2734191">
                  <a:moveTo>
                    <a:pt x="0" y="0"/>
                  </a:moveTo>
                  <a:lnTo>
                    <a:pt x="2734191" y="0"/>
                  </a:lnTo>
                  <a:lnTo>
                    <a:pt x="2734191" y="253103"/>
                  </a:lnTo>
                  <a:lnTo>
                    <a:pt x="0" y="253103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2734191" cy="281678"/>
            </a:xfrm>
            <a:prstGeom prst="rect">
              <a:avLst/>
            </a:prstGeom>
          </p:spPr>
          <p:txBody>
            <a:bodyPr anchor="ctr" rtlCol="false" tIns="46204" lIns="46204" bIns="46204" rIns="46204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04883" y="6613840"/>
            <a:ext cx="7857031" cy="2088310"/>
            <a:chOff x="0" y="0"/>
            <a:chExt cx="2734191" cy="72671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34191" cy="726717"/>
            </a:xfrm>
            <a:custGeom>
              <a:avLst/>
              <a:gdLst/>
              <a:ahLst/>
              <a:cxnLst/>
              <a:rect r="r" b="b" t="t" l="l"/>
              <a:pathLst>
                <a:path h="726717" w="2734191">
                  <a:moveTo>
                    <a:pt x="0" y="0"/>
                  </a:moveTo>
                  <a:lnTo>
                    <a:pt x="2734191" y="0"/>
                  </a:lnTo>
                  <a:lnTo>
                    <a:pt x="2734191" y="726717"/>
                  </a:lnTo>
                  <a:lnTo>
                    <a:pt x="0" y="726717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2734191" cy="755292"/>
            </a:xfrm>
            <a:prstGeom prst="rect">
              <a:avLst/>
            </a:prstGeom>
          </p:spPr>
          <p:txBody>
            <a:bodyPr anchor="ctr" rtlCol="false" tIns="46204" lIns="46204" bIns="46204" rIns="46204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04883" y="5675277"/>
            <a:ext cx="7857031" cy="727322"/>
            <a:chOff x="0" y="0"/>
            <a:chExt cx="2734191" cy="25310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734191" cy="253103"/>
            </a:xfrm>
            <a:custGeom>
              <a:avLst/>
              <a:gdLst/>
              <a:ahLst/>
              <a:cxnLst/>
              <a:rect r="r" b="b" t="t" l="l"/>
              <a:pathLst>
                <a:path h="253103" w="2734191">
                  <a:moveTo>
                    <a:pt x="0" y="0"/>
                  </a:moveTo>
                  <a:lnTo>
                    <a:pt x="2734191" y="0"/>
                  </a:lnTo>
                  <a:lnTo>
                    <a:pt x="2734191" y="253103"/>
                  </a:lnTo>
                  <a:lnTo>
                    <a:pt x="0" y="253103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2734191" cy="281678"/>
            </a:xfrm>
            <a:prstGeom prst="rect">
              <a:avLst/>
            </a:prstGeom>
          </p:spPr>
          <p:txBody>
            <a:bodyPr anchor="ctr" rtlCol="false" tIns="46204" lIns="46204" bIns="46204" rIns="46204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277771" y="5675277"/>
            <a:ext cx="7857031" cy="3826236"/>
            <a:chOff x="0" y="0"/>
            <a:chExt cx="782501" cy="38106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82501" cy="381064"/>
            </a:xfrm>
            <a:custGeom>
              <a:avLst/>
              <a:gdLst/>
              <a:ahLst/>
              <a:cxnLst/>
              <a:rect r="r" b="b" t="t" l="l"/>
              <a:pathLst>
                <a:path h="381064" w="782501">
                  <a:moveTo>
                    <a:pt x="0" y="0"/>
                  </a:moveTo>
                  <a:lnTo>
                    <a:pt x="782501" y="0"/>
                  </a:lnTo>
                  <a:lnTo>
                    <a:pt x="782501" y="381064"/>
                  </a:lnTo>
                  <a:lnTo>
                    <a:pt x="0" y="381064"/>
                  </a:lnTo>
                  <a:close/>
                </a:path>
              </a:pathLst>
            </a:custGeom>
            <a:blipFill>
              <a:blip r:embed="rId3"/>
              <a:stretch>
                <a:fillRect l="0" t="-76037" r="0" b="-29309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399390" y="2578984"/>
            <a:ext cx="7689184" cy="331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8"/>
              </a:lnSpc>
              <a:spcBef>
                <a:spcPct val="0"/>
              </a:spcBef>
            </a:pPr>
            <a:r>
              <a:rPr lang="en-US" b="true" sz="2800" strike="noStrike" u="none">
                <a:solidFill>
                  <a:srgbClr val="F2EDE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WHAT IT PROTECTS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29025" y="3493261"/>
            <a:ext cx="7530368" cy="174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7197" indent="-218599" lvl="1">
              <a:lnSpc>
                <a:spcPts val="2835"/>
              </a:lnSpc>
              <a:spcBef>
                <a:spcPct val="0"/>
              </a:spcBef>
              <a:buFont typeface="Arial"/>
              <a:buChar char="•"/>
            </a:pPr>
            <a:r>
              <a:rPr lang="en-US" sz="2025" strike="noStrike" u="none">
                <a:solidFill>
                  <a:srgbClr val="F2EDEF"/>
                </a:solidFill>
                <a:latin typeface="Bai Jamjuree"/>
                <a:ea typeface="Bai Jamjuree"/>
                <a:cs typeface="Bai Jamjuree"/>
                <a:sym typeface="Bai Jamjuree"/>
              </a:rPr>
              <a:t>ONE APPROVED RECORD PER RITUAL, PERMITTED CLAIMS ONLY</a:t>
            </a:r>
          </a:p>
          <a:p>
            <a:pPr algn="l" marL="437197" indent="-218599" lvl="1">
              <a:lnSpc>
                <a:spcPts val="2835"/>
              </a:lnSpc>
              <a:spcBef>
                <a:spcPct val="0"/>
              </a:spcBef>
              <a:buFont typeface="Arial"/>
              <a:buChar char="•"/>
            </a:pPr>
            <a:r>
              <a:rPr lang="en-US" sz="2025" strike="noStrike" u="none">
                <a:solidFill>
                  <a:srgbClr val="F2EDEF"/>
                </a:solidFill>
                <a:latin typeface="Bai Jamjuree"/>
                <a:ea typeface="Bai Jamjuree"/>
                <a:cs typeface="Bai Jamjuree"/>
                <a:sym typeface="Bai Jamjuree"/>
              </a:rPr>
              <a:t>NO SYNTHETIC ANITA VOICE, INFLUENCERS OR TESTIMONIALS</a:t>
            </a:r>
          </a:p>
          <a:p>
            <a:pPr algn="l" marL="437197" indent="-218599" lvl="1">
              <a:lnSpc>
                <a:spcPts val="2835"/>
              </a:lnSpc>
              <a:spcBef>
                <a:spcPct val="0"/>
              </a:spcBef>
              <a:buFont typeface="Arial"/>
              <a:buChar char="•"/>
            </a:pPr>
            <a:r>
              <a:rPr lang="en-US" sz="2025" strike="noStrike" u="none">
                <a:solidFill>
                  <a:srgbClr val="F2EDEF"/>
                </a:solidFill>
                <a:latin typeface="Bai Jamjuree"/>
                <a:ea typeface="Bai Jamjuree"/>
                <a:cs typeface="Bai Jamjuree"/>
                <a:sym typeface="Bai Jamjuree"/>
              </a:rPr>
              <a:t>HEALTH QUESTIONS ALWAYS GO TO A PERSON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46901" y="2429706"/>
            <a:ext cx="7772995" cy="469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20"/>
              </a:lnSpc>
              <a:spcBef>
                <a:spcPct val="0"/>
              </a:spcBef>
            </a:pPr>
            <a:r>
              <a:rPr lang="en-US" b="true" sz="2800" strike="noStrike" u="none">
                <a:solidFill>
                  <a:srgbClr val="F2EDE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WHAT WE RECOMMEND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08441" y="3604142"/>
            <a:ext cx="7649914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7197" indent="-218599" lvl="1">
              <a:lnSpc>
                <a:spcPts val="2835"/>
              </a:lnSpc>
              <a:spcBef>
                <a:spcPct val="0"/>
              </a:spcBef>
              <a:buFont typeface="Arial"/>
              <a:buChar char="•"/>
            </a:pPr>
            <a:r>
              <a:rPr lang="en-US" sz="2025" strike="noStrike" u="none">
                <a:solidFill>
                  <a:srgbClr val="F2EDEF"/>
                </a:solidFill>
                <a:latin typeface="Bai Jamjuree"/>
                <a:ea typeface="Bai Jamjuree"/>
                <a:cs typeface="Bai Jamjuree"/>
                <a:sym typeface="Bai Jamjuree"/>
              </a:rPr>
              <a:t>Extend the ritual before widening the range</a:t>
            </a:r>
          </a:p>
          <a:p>
            <a:pPr algn="l" marL="437197" indent="-218599" lvl="1">
              <a:lnSpc>
                <a:spcPts val="2835"/>
              </a:lnSpc>
              <a:spcBef>
                <a:spcPct val="0"/>
              </a:spcBef>
              <a:buFont typeface="Arial"/>
              <a:buChar char="•"/>
            </a:pPr>
            <a:r>
              <a:rPr lang="en-US" sz="2025" strike="noStrike" u="none">
                <a:solidFill>
                  <a:srgbClr val="F2EDEF"/>
                </a:solidFill>
                <a:latin typeface="Bai Jamjuree"/>
                <a:ea typeface="Bai Jamjuree"/>
                <a:cs typeface="Bai Jamjuree"/>
                <a:sym typeface="Bai Jamjuree"/>
              </a:rPr>
              <a:t>AI performs the ritual, the human voice makes it felt</a:t>
            </a:r>
          </a:p>
          <a:p>
            <a:pPr algn="l" marL="437197" indent="-218599" lvl="1">
              <a:lnSpc>
                <a:spcPts val="2835"/>
              </a:lnSpc>
              <a:spcBef>
                <a:spcPct val="0"/>
              </a:spcBef>
              <a:buFont typeface="Arial"/>
              <a:buChar char="•"/>
            </a:pPr>
            <a:r>
              <a:rPr lang="en-US" sz="2025" strike="noStrike" u="none">
                <a:solidFill>
                  <a:srgbClr val="F2EDEF"/>
                </a:solidFill>
                <a:latin typeface="Bai Jamjuree"/>
                <a:ea typeface="Bai Jamjuree"/>
                <a:cs typeface="Bai Jamjuree"/>
                <a:sym typeface="Bai Jamjuree"/>
              </a:rPr>
              <a:t>Measure repeat and participation, not attention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46901" y="5780428"/>
            <a:ext cx="7772995" cy="469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20"/>
              </a:lnSpc>
              <a:spcBef>
                <a:spcPct val="0"/>
              </a:spcBef>
            </a:pPr>
            <a:r>
              <a:rPr lang="en-US" b="true" sz="2800" strike="noStrike" u="none">
                <a:solidFill>
                  <a:srgbClr val="F2EDE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NEXT 12 MONTHS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08441" y="7003172"/>
            <a:ext cx="7339418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7197" indent="-218599" lvl="1">
              <a:lnSpc>
                <a:spcPts val="2835"/>
              </a:lnSpc>
              <a:spcBef>
                <a:spcPct val="0"/>
              </a:spcBef>
              <a:buFont typeface="Arial"/>
              <a:buChar char="•"/>
            </a:pPr>
            <a:r>
              <a:rPr lang="en-US" sz="2025" strike="noStrike" u="none">
                <a:solidFill>
                  <a:srgbClr val="F2EDEF"/>
                </a:solidFill>
                <a:latin typeface="Bai Jamjuree"/>
                <a:ea typeface="Bai Jamjuree"/>
                <a:cs typeface="Bai Jamjuree"/>
                <a:sym typeface="Bai Jamjuree"/>
              </a:rPr>
              <a:t>Months 0-3: baselines, claims audit, quiz linked to stock</a:t>
            </a:r>
          </a:p>
          <a:p>
            <a:pPr algn="l" marL="437197" indent="-218599" lvl="1">
              <a:lnSpc>
                <a:spcPts val="2835"/>
              </a:lnSpc>
              <a:spcBef>
                <a:spcPct val="0"/>
              </a:spcBef>
              <a:buFont typeface="Arial"/>
              <a:buChar char="•"/>
            </a:pPr>
            <a:r>
              <a:rPr lang="en-US" sz="2025" strike="noStrike" u="none">
                <a:solidFill>
                  <a:srgbClr val="F2EDEF"/>
                </a:solidFill>
                <a:latin typeface="Bai Jamjuree"/>
                <a:ea typeface="Bai Jamjuree"/>
                <a:cs typeface="Bai Jamjuree"/>
                <a:sym typeface="Bai Jamjuree"/>
              </a:rPr>
              <a:t>Months 3-6: ritual pages, Ritual Profile pilot, community</a:t>
            </a:r>
          </a:p>
          <a:p>
            <a:pPr algn="l" marL="437197" indent="-218599" lvl="1">
              <a:lnSpc>
                <a:spcPts val="2835"/>
              </a:lnSpc>
              <a:spcBef>
                <a:spcPct val="0"/>
              </a:spcBef>
              <a:buFont typeface="Arial"/>
              <a:buChar char="•"/>
            </a:pPr>
            <a:r>
              <a:rPr lang="en-US" sz="2025" strike="noStrike" u="none">
                <a:solidFill>
                  <a:srgbClr val="F2EDEF"/>
                </a:solidFill>
                <a:latin typeface="Bai Jamjuree"/>
                <a:ea typeface="Bai Jamjuree"/>
                <a:cs typeface="Bai Jamjuree"/>
                <a:sym typeface="Bai Jamjuree"/>
              </a:rPr>
              <a:t>Months 6-12: practitioners lead live rituals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B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52350">
            <a:off x="-668317" y="2599318"/>
            <a:ext cx="4797721" cy="7359879"/>
          </a:xfrm>
          <a:custGeom>
            <a:avLst/>
            <a:gdLst/>
            <a:ahLst/>
            <a:cxnLst/>
            <a:rect r="r" b="b" t="t" l="l"/>
            <a:pathLst>
              <a:path h="7359879" w="4797721">
                <a:moveTo>
                  <a:pt x="0" y="0"/>
                </a:moveTo>
                <a:lnTo>
                  <a:pt x="4797721" y="0"/>
                </a:lnTo>
                <a:lnTo>
                  <a:pt x="4797721" y="7359879"/>
                </a:lnTo>
                <a:lnTo>
                  <a:pt x="0" y="73598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885156"/>
            <a:ext cx="16612117" cy="3198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54"/>
              </a:lnSpc>
            </a:pPr>
            <a:r>
              <a:rPr lang="en-US" sz="18682" i="true">
                <a:solidFill>
                  <a:srgbClr val="503332"/>
                </a:solidFill>
                <a:latin typeface="TAN Aegean"/>
                <a:ea typeface="TAN Aegean"/>
                <a:cs typeface="TAN Aegean"/>
                <a:sym typeface="TAN Aegean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7285627">
            <a:off x="13166341" y="1612632"/>
            <a:ext cx="4797721" cy="7359879"/>
          </a:xfrm>
          <a:custGeom>
            <a:avLst/>
            <a:gdLst/>
            <a:ahLst/>
            <a:cxnLst/>
            <a:rect r="r" b="b" t="t" l="l"/>
            <a:pathLst>
              <a:path h="7359879" w="4797721">
                <a:moveTo>
                  <a:pt x="0" y="0"/>
                </a:moveTo>
                <a:lnTo>
                  <a:pt x="4797721" y="0"/>
                </a:lnTo>
                <a:lnTo>
                  <a:pt x="4797721" y="7359880"/>
                </a:lnTo>
                <a:lnTo>
                  <a:pt x="0" y="73598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986022" y="1028700"/>
            <a:ext cx="4697472" cy="2707018"/>
          </a:xfrm>
          <a:custGeom>
            <a:avLst/>
            <a:gdLst/>
            <a:ahLst/>
            <a:cxnLst/>
            <a:rect r="r" b="b" t="t" l="l"/>
            <a:pathLst>
              <a:path h="2707018" w="4697472">
                <a:moveTo>
                  <a:pt x="0" y="0"/>
                </a:moveTo>
                <a:lnTo>
                  <a:pt x="4697473" y="0"/>
                </a:lnTo>
                <a:lnTo>
                  <a:pt x="4697473" y="2707018"/>
                </a:lnTo>
                <a:lnTo>
                  <a:pt x="0" y="27070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B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67167" y="0"/>
            <a:ext cx="10920833" cy="10287000"/>
            <a:chOff x="0" y="0"/>
            <a:chExt cx="1362267" cy="12832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62267" cy="1283202"/>
            </a:xfrm>
            <a:custGeom>
              <a:avLst/>
              <a:gdLst/>
              <a:ahLst/>
              <a:cxnLst/>
              <a:rect r="r" b="b" t="t" l="l"/>
              <a:pathLst>
                <a:path h="1283202" w="1362267">
                  <a:moveTo>
                    <a:pt x="0" y="0"/>
                  </a:moveTo>
                  <a:lnTo>
                    <a:pt x="1362267" y="0"/>
                  </a:lnTo>
                  <a:lnTo>
                    <a:pt x="1362267" y="1283202"/>
                  </a:lnTo>
                  <a:lnTo>
                    <a:pt x="0" y="1283202"/>
                  </a:lnTo>
                  <a:close/>
                </a:path>
              </a:pathLst>
            </a:custGeom>
            <a:blipFill>
              <a:blip r:embed="rId2"/>
              <a:stretch>
                <a:fillRect l="0" t="-15864" r="0" b="-15864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255851" y="799891"/>
            <a:ext cx="2655994" cy="1530573"/>
          </a:xfrm>
          <a:custGeom>
            <a:avLst/>
            <a:gdLst/>
            <a:ahLst/>
            <a:cxnLst/>
            <a:rect r="r" b="b" t="t" l="l"/>
            <a:pathLst>
              <a:path h="1530573" w="2655994">
                <a:moveTo>
                  <a:pt x="0" y="0"/>
                </a:moveTo>
                <a:lnTo>
                  <a:pt x="2655994" y="0"/>
                </a:lnTo>
                <a:lnTo>
                  <a:pt x="2655994" y="1530573"/>
                </a:lnTo>
                <a:lnTo>
                  <a:pt x="0" y="15305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637647" y="-250271"/>
            <a:ext cx="335161" cy="10854185"/>
            <a:chOff x="0" y="0"/>
            <a:chExt cx="88273" cy="28587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8273" cy="2858715"/>
            </a:xfrm>
            <a:custGeom>
              <a:avLst/>
              <a:gdLst/>
              <a:ahLst/>
              <a:cxnLst/>
              <a:rect r="r" b="b" t="t" l="l"/>
              <a:pathLst>
                <a:path h="2858715" w="88273">
                  <a:moveTo>
                    <a:pt x="0" y="0"/>
                  </a:moveTo>
                  <a:lnTo>
                    <a:pt x="88273" y="0"/>
                  </a:lnTo>
                  <a:lnTo>
                    <a:pt x="88273" y="2858715"/>
                  </a:lnTo>
                  <a:lnTo>
                    <a:pt x="0" y="2858715"/>
                  </a:lnTo>
                  <a:close/>
                </a:path>
              </a:pathLst>
            </a:custGeom>
            <a:solidFill>
              <a:srgbClr val="F3EBE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88273" cy="28872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838543" y="-250271"/>
            <a:ext cx="335161" cy="10854185"/>
            <a:chOff x="0" y="0"/>
            <a:chExt cx="88273" cy="28587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8273" cy="2858715"/>
            </a:xfrm>
            <a:custGeom>
              <a:avLst/>
              <a:gdLst/>
              <a:ahLst/>
              <a:cxnLst/>
              <a:rect r="r" b="b" t="t" l="l"/>
              <a:pathLst>
                <a:path h="2858715" w="88273">
                  <a:moveTo>
                    <a:pt x="0" y="0"/>
                  </a:moveTo>
                  <a:lnTo>
                    <a:pt x="88273" y="0"/>
                  </a:lnTo>
                  <a:lnTo>
                    <a:pt x="88273" y="2858715"/>
                  </a:lnTo>
                  <a:lnTo>
                    <a:pt x="0" y="2858715"/>
                  </a:lnTo>
                  <a:close/>
                </a:path>
              </a:pathLst>
            </a:custGeom>
            <a:solidFill>
              <a:srgbClr val="F3EBE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88273" cy="28872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939495" y="4095219"/>
            <a:ext cx="3288705" cy="3288705"/>
          </a:xfrm>
          <a:custGeom>
            <a:avLst/>
            <a:gdLst/>
            <a:ahLst/>
            <a:cxnLst/>
            <a:rect r="r" b="b" t="t" l="l"/>
            <a:pathLst>
              <a:path h="3288705" w="3288705">
                <a:moveTo>
                  <a:pt x="0" y="0"/>
                </a:moveTo>
                <a:lnTo>
                  <a:pt x="3288705" y="0"/>
                </a:lnTo>
                <a:lnTo>
                  <a:pt x="3288705" y="3288705"/>
                </a:lnTo>
                <a:lnTo>
                  <a:pt x="0" y="32887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805330" y="2821706"/>
            <a:ext cx="3557035" cy="706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89"/>
              </a:lnSpc>
            </a:pPr>
            <a:r>
              <a:rPr lang="en-US" sz="4135">
                <a:solidFill>
                  <a:srgbClr val="503332"/>
                </a:solidFill>
                <a:latin typeface="TAN Aegean"/>
                <a:ea typeface="TAN Aegean"/>
                <a:cs typeface="TAN Aegean"/>
                <a:sym typeface="TAN Aegean"/>
              </a:rPr>
              <a:t>The Project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94751" y="8775947"/>
            <a:ext cx="6539609" cy="925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43"/>
              </a:lnSpc>
            </a:pPr>
            <a:r>
              <a:rPr lang="en-US" sz="5388">
                <a:solidFill>
                  <a:srgbClr val="503332"/>
                </a:solidFill>
                <a:latin typeface="TAN Aegean"/>
                <a:ea typeface="TAN Aegean"/>
                <a:cs typeface="TAN Aegean"/>
                <a:sym typeface="TAN Aegean"/>
              </a:rPr>
              <a:t>The Appendix →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B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39878" y="3099120"/>
            <a:ext cx="3291314" cy="4139864"/>
            <a:chOff x="0" y="0"/>
            <a:chExt cx="925816" cy="11645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25816" cy="1164505"/>
            </a:xfrm>
            <a:custGeom>
              <a:avLst/>
              <a:gdLst/>
              <a:ahLst/>
              <a:cxnLst/>
              <a:rect r="r" b="b" t="t" l="l"/>
              <a:pathLst>
                <a:path h="1164505" w="925816">
                  <a:moveTo>
                    <a:pt x="0" y="0"/>
                  </a:moveTo>
                  <a:lnTo>
                    <a:pt x="925816" y="0"/>
                  </a:lnTo>
                  <a:lnTo>
                    <a:pt x="925816" y="1164505"/>
                  </a:lnTo>
                  <a:lnTo>
                    <a:pt x="0" y="1164505"/>
                  </a:lnTo>
                  <a:close/>
                </a:path>
              </a:pathLst>
            </a:custGeom>
            <a:blipFill>
              <a:blip r:embed="rId2"/>
              <a:stretch>
                <a:fillRect l="-921" t="0" r="-92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51396" y="7400909"/>
            <a:ext cx="3270274" cy="914481"/>
            <a:chOff x="0" y="0"/>
            <a:chExt cx="1400385" cy="3915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0385" cy="391596"/>
            </a:xfrm>
            <a:custGeom>
              <a:avLst/>
              <a:gdLst/>
              <a:ahLst/>
              <a:cxnLst/>
              <a:rect r="r" b="b" t="t" l="l"/>
              <a:pathLst>
                <a:path h="391596" w="1400385">
                  <a:moveTo>
                    <a:pt x="0" y="0"/>
                  </a:moveTo>
                  <a:lnTo>
                    <a:pt x="1400385" y="0"/>
                  </a:lnTo>
                  <a:lnTo>
                    <a:pt x="1400385" y="391596"/>
                  </a:lnTo>
                  <a:lnTo>
                    <a:pt x="0" y="391596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400385" cy="420171"/>
            </a:xfrm>
            <a:prstGeom prst="rect">
              <a:avLst/>
            </a:prstGeom>
          </p:spPr>
          <p:txBody>
            <a:bodyPr anchor="ctr" rtlCol="false" tIns="46204" lIns="46204" bIns="46204" rIns="46204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456712" y="3032143"/>
            <a:ext cx="3291314" cy="4216366"/>
            <a:chOff x="0" y="0"/>
            <a:chExt cx="925816" cy="11860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25816" cy="1186025"/>
            </a:xfrm>
            <a:custGeom>
              <a:avLst/>
              <a:gdLst/>
              <a:ahLst/>
              <a:cxnLst/>
              <a:rect r="r" b="b" t="t" l="l"/>
              <a:pathLst>
                <a:path h="1186025" w="925816">
                  <a:moveTo>
                    <a:pt x="0" y="0"/>
                  </a:moveTo>
                  <a:lnTo>
                    <a:pt x="925816" y="0"/>
                  </a:lnTo>
                  <a:lnTo>
                    <a:pt x="925816" y="1186025"/>
                  </a:lnTo>
                  <a:lnTo>
                    <a:pt x="0" y="1186025"/>
                  </a:lnTo>
                  <a:close/>
                </a:path>
              </a:pathLst>
            </a:custGeom>
            <a:blipFill>
              <a:blip r:embed="rId3"/>
              <a:stretch>
                <a:fillRect l="0" t="-1709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981958" y="7400909"/>
            <a:ext cx="3270274" cy="883206"/>
            <a:chOff x="0" y="0"/>
            <a:chExt cx="1400385" cy="3782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00385" cy="378204"/>
            </a:xfrm>
            <a:custGeom>
              <a:avLst/>
              <a:gdLst/>
              <a:ahLst/>
              <a:cxnLst/>
              <a:rect r="r" b="b" t="t" l="l"/>
              <a:pathLst>
                <a:path h="378204" w="1400385">
                  <a:moveTo>
                    <a:pt x="0" y="0"/>
                  </a:moveTo>
                  <a:lnTo>
                    <a:pt x="1400385" y="0"/>
                  </a:lnTo>
                  <a:lnTo>
                    <a:pt x="1400385" y="378204"/>
                  </a:lnTo>
                  <a:lnTo>
                    <a:pt x="0" y="378204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400385" cy="406779"/>
            </a:xfrm>
            <a:prstGeom prst="rect">
              <a:avLst/>
            </a:prstGeom>
          </p:spPr>
          <p:txBody>
            <a:bodyPr anchor="ctr" rtlCol="false" tIns="46204" lIns="46204" bIns="46204" rIns="46204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508314" y="3099120"/>
            <a:ext cx="3291314" cy="4216366"/>
            <a:chOff x="0" y="0"/>
            <a:chExt cx="925816" cy="11860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25816" cy="1186025"/>
            </a:xfrm>
            <a:custGeom>
              <a:avLst/>
              <a:gdLst/>
              <a:ahLst/>
              <a:cxnLst/>
              <a:rect r="r" b="b" t="t" l="l"/>
              <a:pathLst>
                <a:path h="1186025" w="925816">
                  <a:moveTo>
                    <a:pt x="0" y="0"/>
                  </a:moveTo>
                  <a:lnTo>
                    <a:pt x="925816" y="0"/>
                  </a:lnTo>
                  <a:lnTo>
                    <a:pt x="925816" y="1186025"/>
                  </a:lnTo>
                  <a:lnTo>
                    <a:pt x="0" y="1186025"/>
                  </a:lnTo>
                  <a:close/>
                </a:path>
              </a:pathLst>
            </a:custGeom>
            <a:blipFill>
              <a:blip r:embed="rId4"/>
              <a:stretch>
                <a:fillRect l="0" t="-8214" r="0" b="-8214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512520" y="7400909"/>
            <a:ext cx="3270274" cy="883206"/>
            <a:chOff x="0" y="0"/>
            <a:chExt cx="1400385" cy="37820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00385" cy="378204"/>
            </a:xfrm>
            <a:custGeom>
              <a:avLst/>
              <a:gdLst/>
              <a:ahLst/>
              <a:cxnLst/>
              <a:rect r="r" b="b" t="t" l="l"/>
              <a:pathLst>
                <a:path h="378204" w="1400385">
                  <a:moveTo>
                    <a:pt x="0" y="0"/>
                  </a:moveTo>
                  <a:lnTo>
                    <a:pt x="1400385" y="0"/>
                  </a:lnTo>
                  <a:lnTo>
                    <a:pt x="1400385" y="378204"/>
                  </a:lnTo>
                  <a:lnTo>
                    <a:pt x="0" y="378204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400385" cy="406779"/>
            </a:xfrm>
            <a:prstGeom prst="rect">
              <a:avLst/>
            </a:prstGeom>
          </p:spPr>
          <p:txBody>
            <a:bodyPr anchor="ctr" rtlCol="false" tIns="46204" lIns="46204" bIns="46204" rIns="46204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456050" y="8397534"/>
            <a:ext cx="3270274" cy="1056152"/>
            <a:chOff x="0" y="0"/>
            <a:chExt cx="1400385" cy="45226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00385" cy="452262"/>
            </a:xfrm>
            <a:custGeom>
              <a:avLst/>
              <a:gdLst/>
              <a:ahLst/>
              <a:cxnLst/>
              <a:rect r="r" b="b" t="t" l="l"/>
              <a:pathLst>
                <a:path h="452262" w="1400385">
                  <a:moveTo>
                    <a:pt x="0" y="0"/>
                  </a:moveTo>
                  <a:lnTo>
                    <a:pt x="1400385" y="0"/>
                  </a:lnTo>
                  <a:lnTo>
                    <a:pt x="1400385" y="452262"/>
                  </a:lnTo>
                  <a:lnTo>
                    <a:pt x="0" y="452262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400385" cy="480837"/>
            </a:xfrm>
            <a:prstGeom prst="rect">
              <a:avLst/>
            </a:prstGeom>
          </p:spPr>
          <p:txBody>
            <a:bodyPr anchor="ctr" rtlCol="false" tIns="46204" lIns="46204" bIns="46204" rIns="46204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960918" y="8397534"/>
            <a:ext cx="3270274" cy="1056152"/>
            <a:chOff x="0" y="0"/>
            <a:chExt cx="1400385" cy="45226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00385" cy="452262"/>
            </a:xfrm>
            <a:custGeom>
              <a:avLst/>
              <a:gdLst/>
              <a:ahLst/>
              <a:cxnLst/>
              <a:rect r="r" b="b" t="t" l="l"/>
              <a:pathLst>
                <a:path h="452262" w="1400385">
                  <a:moveTo>
                    <a:pt x="0" y="0"/>
                  </a:moveTo>
                  <a:lnTo>
                    <a:pt x="1400385" y="0"/>
                  </a:lnTo>
                  <a:lnTo>
                    <a:pt x="1400385" y="452262"/>
                  </a:lnTo>
                  <a:lnTo>
                    <a:pt x="0" y="452262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1400385" cy="480837"/>
            </a:xfrm>
            <a:prstGeom prst="rect">
              <a:avLst/>
            </a:prstGeom>
          </p:spPr>
          <p:txBody>
            <a:bodyPr anchor="ctr" rtlCol="false" tIns="46204" lIns="46204" bIns="46204" rIns="46204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537167" y="8397534"/>
            <a:ext cx="3270274" cy="1056152"/>
            <a:chOff x="0" y="0"/>
            <a:chExt cx="1400385" cy="45226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00385" cy="452262"/>
            </a:xfrm>
            <a:custGeom>
              <a:avLst/>
              <a:gdLst/>
              <a:ahLst/>
              <a:cxnLst/>
              <a:rect r="r" b="b" t="t" l="l"/>
              <a:pathLst>
                <a:path h="452262" w="1400385">
                  <a:moveTo>
                    <a:pt x="0" y="0"/>
                  </a:moveTo>
                  <a:lnTo>
                    <a:pt x="1400385" y="0"/>
                  </a:lnTo>
                  <a:lnTo>
                    <a:pt x="1400385" y="452262"/>
                  </a:lnTo>
                  <a:lnTo>
                    <a:pt x="0" y="452262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1400385" cy="480837"/>
            </a:xfrm>
            <a:prstGeom prst="rect">
              <a:avLst/>
            </a:prstGeom>
          </p:spPr>
          <p:txBody>
            <a:bodyPr anchor="ctr" rtlCol="false" tIns="46204" lIns="46204" bIns="46204" rIns="46204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-76200" y="-51435"/>
            <a:ext cx="5952165" cy="10389870"/>
            <a:chOff x="0" y="0"/>
            <a:chExt cx="922146" cy="160966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22146" cy="1609663"/>
            </a:xfrm>
            <a:custGeom>
              <a:avLst/>
              <a:gdLst/>
              <a:ahLst/>
              <a:cxnLst/>
              <a:rect r="r" b="b" t="t" l="l"/>
              <a:pathLst>
                <a:path h="1609663" w="922146">
                  <a:moveTo>
                    <a:pt x="0" y="0"/>
                  </a:moveTo>
                  <a:lnTo>
                    <a:pt x="922146" y="0"/>
                  </a:lnTo>
                  <a:lnTo>
                    <a:pt x="922146" y="1609663"/>
                  </a:lnTo>
                  <a:lnTo>
                    <a:pt x="0" y="1609663"/>
                  </a:lnTo>
                  <a:close/>
                </a:path>
              </a:pathLst>
            </a:custGeom>
            <a:blipFill>
              <a:blip r:embed="rId5"/>
              <a:stretch>
                <a:fillRect l="-12460" t="0" r="-1246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6440876" y="7411208"/>
            <a:ext cx="3291314" cy="836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3"/>
              </a:lnSpc>
            </a:pPr>
            <a:r>
              <a:rPr lang="en-US" b="true" sz="2366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TREND-LED COLLECTORS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971438" y="7395570"/>
            <a:ext cx="3291314" cy="836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3"/>
              </a:lnSpc>
            </a:pPr>
            <a:r>
              <a:rPr lang="en-US" b="true" sz="2366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ROUTINE SELF-CARERS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502000" y="7411208"/>
            <a:ext cx="3291314" cy="836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3"/>
              </a:lnSpc>
            </a:pPr>
            <a:r>
              <a:rPr lang="en-US" b="true" sz="2366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PRAGMATIC LOYALISTS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739415" y="8528339"/>
            <a:ext cx="2703544" cy="701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6"/>
              </a:lnSpc>
            </a:pPr>
            <a:r>
              <a:rPr lang="en-US" sz="2054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Driven by aesthetics &amp; virality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456712" y="1872075"/>
            <a:ext cx="358223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503332"/>
                </a:solidFill>
                <a:latin typeface="Bai Jamjuree"/>
                <a:ea typeface="Bai Jamjuree"/>
                <a:cs typeface="Bai Jamjuree"/>
                <a:sym typeface="Bai Jamjuree"/>
              </a:rPr>
              <a:t>The Art Of Returning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117653" y="750609"/>
            <a:ext cx="12412035" cy="105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69"/>
              </a:lnSpc>
            </a:pPr>
            <a:r>
              <a:rPr lang="en-US" sz="6192">
                <a:solidFill>
                  <a:srgbClr val="503332"/>
                </a:solidFill>
                <a:latin typeface="TAN Aegean"/>
                <a:ea typeface="TAN Aegean"/>
                <a:cs typeface="TAN Aegean"/>
                <a:sym typeface="TAN Aegean"/>
              </a:rPr>
              <a:t>Customer Segmentations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44283" y="8537467"/>
            <a:ext cx="2703544" cy="701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6"/>
              </a:lnSpc>
            </a:pPr>
            <a:r>
              <a:rPr lang="en-US" sz="2054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Daily wellness-focused users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802199" y="8537467"/>
            <a:ext cx="2703544" cy="701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6"/>
              </a:lnSpc>
            </a:pPr>
            <a:r>
              <a:rPr lang="en-US" sz="2054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Trust-led, habit-driven buyers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B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294340"/>
            <a:ext cx="3149484" cy="788430"/>
            <a:chOff x="0" y="0"/>
            <a:chExt cx="829494" cy="2076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29494" cy="207652"/>
            </a:xfrm>
            <a:custGeom>
              <a:avLst/>
              <a:gdLst/>
              <a:ahLst/>
              <a:cxnLst/>
              <a:rect r="r" b="b" t="t" l="l"/>
              <a:pathLst>
                <a:path h="207652" w="829494">
                  <a:moveTo>
                    <a:pt x="0" y="0"/>
                  </a:moveTo>
                  <a:lnTo>
                    <a:pt x="829494" y="0"/>
                  </a:lnTo>
                  <a:lnTo>
                    <a:pt x="829494" y="207652"/>
                  </a:lnTo>
                  <a:lnTo>
                    <a:pt x="0" y="207652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829494" cy="236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31432" y="4314879"/>
            <a:ext cx="3149484" cy="4943421"/>
            <a:chOff x="0" y="0"/>
            <a:chExt cx="487937" cy="7658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7937" cy="765865"/>
            </a:xfrm>
            <a:custGeom>
              <a:avLst/>
              <a:gdLst/>
              <a:ahLst/>
              <a:cxnLst/>
              <a:rect r="r" b="b" t="t" l="l"/>
              <a:pathLst>
                <a:path h="765865" w="487937">
                  <a:moveTo>
                    <a:pt x="0" y="0"/>
                  </a:moveTo>
                  <a:lnTo>
                    <a:pt x="487937" y="0"/>
                  </a:lnTo>
                  <a:lnTo>
                    <a:pt x="487937" y="765865"/>
                  </a:lnTo>
                  <a:lnTo>
                    <a:pt x="0" y="765865"/>
                  </a:lnTo>
                  <a:close/>
                </a:path>
              </a:pathLst>
            </a:custGeom>
            <a:blipFill>
              <a:blip r:embed="rId2"/>
              <a:stretch>
                <a:fillRect l="-107768" t="0" r="-71439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291068" y="3294340"/>
            <a:ext cx="3149484" cy="788430"/>
            <a:chOff x="0" y="0"/>
            <a:chExt cx="829494" cy="2076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29494" cy="207652"/>
            </a:xfrm>
            <a:custGeom>
              <a:avLst/>
              <a:gdLst/>
              <a:ahLst/>
              <a:cxnLst/>
              <a:rect r="r" b="b" t="t" l="l"/>
              <a:pathLst>
                <a:path h="207652" w="829494">
                  <a:moveTo>
                    <a:pt x="0" y="0"/>
                  </a:moveTo>
                  <a:lnTo>
                    <a:pt x="829494" y="0"/>
                  </a:lnTo>
                  <a:lnTo>
                    <a:pt x="829494" y="207652"/>
                  </a:lnTo>
                  <a:lnTo>
                    <a:pt x="0" y="207652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829494" cy="236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291068" y="4314879"/>
            <a:ext cx="3149484" cy="4943421"/>
            <a:chOff x="0" y="0"/>
            <a:chExt cx="487937" cy="765865"/>
          </a:xfrm>
        </p:grpSpPr>
        <p:sp>
          <p:nvSpPr>
            <p:cNvPr name="Freeform 11" id="11" descr="Woman with long dark hair in warm light"/>
            <p:cNvSpPr/>
            <p:nvPr/>
          </p:nvSpPr>
          <p:spPr>
            <a:xfrm flipH="false" flipV="false" rot="0">
              <a:off x="0" y="0"/>
              <a:ext cx="487937" cy="765865"/>
            </a:xfrm>
            <a:custGeom>
              <a:avLst/>
              <a:gdLst/>
              <a:ahLst/>
              <a:cxnLst/>
              <a:rect r="r" b="b" t="t" l="l"/>
              <a:pathLst>
                <a:path h="765865" w="487937">
                  <a:moveTo>
                    <a:pt x="0" y="0"/>
                  </a:moveTo>
                  <a:lnTo>
                    <a:pt x="487937" y="0"/>
                  </a:lnTo>
                  <a:lnTo>
                    <a:pt x="487937" y="765865"/>
                  </a:lnTo>
                  <a:lnTo>
                    <a:pt x="0" y="765865"/>
                  </a:lnTo>
                  <a:close/>
                </a:path>
              </a:pathLst>
            </a:custGeom>
            <a:blipFill>
              <a:blip r:embed="rId3"/>
              <a:stretch>
                <a:fillRect l="-28479" t="0" r="-28479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553680" y="3294340"/>
            <a:ext cx="3149484" cy="788430"/>
            <a:chOff x="0" y="0"/>
            <a:chExt cx="829494" cy="20765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29494" cy="207652"/>
            </a:xfrm>
            <a:custGeom>
              <a:avLst/>
              <a:gdLst/>
              <a:ahLst/>
              <a:cxnLst/>
              <a:rect r="r" b="b" t="t" l="l"/>
              <a:pathLst>
                <a:path h="207652" w="829494">
                  <a:moveTo>
                    <a:pt x="0" y="0"/>
                  </a:moveTo>
                  <a:lnTo>
                    <a:pt x="829494" y="0"/>
                  </a:lnTo>
                  <a:lnTo>
                    <a:pt x="829494" y="207652"/>
                  </a:lnTo>
                  <a:lnTo>
                    <a:pt x="0" y="207652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829494" cy="236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553680" y="4314879"/>
            <a:ext cx="3149484" cy="4943421"/>
            <a:chOff x="0" y="0"/>
            <a:chExt cx="487937" cy="765865"/>
          </a:xfrm>
        </p:grpSpPr>
        <p:sp>
          <p:nvSpPr>
            <p:cNvPr name="Freeform 16" id="16" descr="Close-up portrait with golden light"/>
            <p:cNvSpPr/>
            <p:nvPr/>
          </p:nvSpPr>
          <p:spPr>
            <a:xfrm flipH="false" flipV="false" rot="0">
              <a:off x="0" y="0"/>
              <a:ext cx="487937" cy="765865"/>
            </a:xfrm>
            <a:custGeom>
              <a:avLst/>
              <a:gdLst/>
              <a:ahLst/>
              <a:cxnLst/>
              <a:rect r="r" b="b" t="t" l="l"/>
              <a:pathLst>
                <a:path h="765865" w="487937">
                  <a:moveTo>
                    <a:pt x="0" y="0"/>
                  </a:moveTo>
                  <a:lnTo>
                    <a:pt x="487937" y="0"/>
                  </a:lnTo>
                  <a:lnTo>
                    <a:pt x="487937" y="765865"/>
                  </a:lnTo>
                  <a:lnTo>
                    <a:pt x="0" y="765865"/>
                  </a:lnTo>
                  <a:close/>
                </a:path>
              </a:pathLst>
            </a:custGeom>
            <a:blipFill>
              <a:blip r:embed="rId4"/>
              <a:stretch>
                <a:fillRect l="-58435" t="0" r="-58435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816048" y="3294340"/>
            <a:ext cx="3149484" cy="788430"/>
            <a:chOff x="0" y="0"/>
            <a:chExt cx="829494" cy="2076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29494" cy="207652"/>
            </a:xfrm>
            <a:custGeom>
              <a:avLst/>
              <a:gdLst/>
              <a:ahLst/>
              <a:cxnLst/>
              <a:rect r="r" b="b" t="t" l="l"/>
              <a:pathLst>
                <a:path h="207652" w="829494">
                  <a:moveTo>
                    <a:pt x="0" y="0"/>
                  </a:moveTo>
                  <a:lnTo>
                    <a:pt x="829494" y="0"/>
                  </a:lnTo>
                  <a:lnTo>
                    <a:pt x="829494" y="207652"/>
                  </a:lnTo>
                  <a:lnTo>
                    <a:pt x="0" y="207652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829494" cy="236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816048" y="4314879"/>
            <a:ext cx="3149484" cy="4943421"/>
            <a:chOff x="0" y="0"/>
            <a:chExt cx="487937" cy="765865"/>
          </a:xfrm>
        </p:grpSpPr>
        <p:sp>
          <p:nvSpPr>
            <p:cNvPr name="Freeform 21" id="21" descr="Hands holding a Mauli bottle"/>
            <p:cNvSpPr/>
            <p:nvPr/>
          </p:nvSpPr>
          <p:spPr>
            <a:xfrm flipH="false" flipV="false" rot="0">
              <a:off x="0" y="0"/>
              <a:ext cx="487937" cy="765865"/>
            </a:xfrm>
            <a:custGeom>
              <a:avLst/>
              <a:gdLst/>
              <a:ahLst/>
              <a:cxnLst/>
              <a:rect r="r" b="b" t="t" l="l"/>
              <a:pathLst>
                <a:path h="765865" w="487937">
                  <a:moveTo>
                    <a:pt x="0" y="0"/>
                  </a:moveTo>
                  <a:lnTo>
                    <a:pt x="487937" y="0"/>
                  </a:lnTo>
                  <a:lnTo>
                    <a:pt x="487937" y="765865"/>
                  </a:lnTo>
                  <a:lnTo>
                    <a:pt x="0" y="765865"/>
                  </a:lnTo>
                  <a:close/>
                </a:path>
              </a:pathLst>
            </a:custGeom>
            <a:blipFill>
              <a:blip r:embed="rId5"/>
              <a:stretch>
                <a:fillRect l="-28479" t="0" r="-28479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109816" y="3294340"/>
            <a:ext cx="3149484" cy="5963960"/>
            <a:chOff x="0" y="0"/>
            <a:chExt cx="829494" cy="157075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29494" cy="1570755"/>
            </a:xfrm>
            <a:custGeom>
              <a:avLst/>
              <a:gdLst/>
              <a:ahLst/>
              <a:cxnLst/>
              <a:rect r="r" b="b" t="t" l="l"/>
              <a:pathLst>
                <a:path h="1570755" w="829494">
                  <a:moveTo>
                    <a:pt x="0" y="0"/>
                  </a:moveTo>
                  <a:lnTo>
                    <a:pt x="829494" y="0"/>
                  </a:lnTo>
                  <a:lnTo>
                    <a:pt x="829494" y="1570755"/>
                  </a:lnTo>
                  <a:lnTo>
                    <a:pt x="0" y="1570755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829494" cy="1599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364387" y="3275449"/>
            <a:ext cx="2483574" cy="38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2"/>
              </a:lnSpc>
              <a:spcBef>
                <a:spcPct val="0"/>
              </a:spcBef>
            </a:pPr>
            <a:r>
              <a:rPr lang="en-US" b="true" sz="2230" strike="noStrike" u="none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AI PERFORMS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301967" y="3320358"/>
            <a:ext cx="3071242" cy="355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82"/>
              </a:lnSpc>
              <a:spcBef>
                <a:spcPct val="0"/>
              </a:spcBef>
            </a:pPr>
            <a:r>
              <a:rPr lang="en-US" b="true" sz="2130" strike="noStrike" u="none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HUMAN VOICE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981259" y="3278774"/>
            <a:ext cx="2221389" cy="38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2"/>
              </a:lnSpc>
              <a:spcBef>
                <a:spcPct val="0"/>
              </a:spcBef>
            </a:pPr>
            <a:r>
              <a:rPr lang="en-US" b="true" sz="2230" strike="noStrike" u="none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REAL PEOPLE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246089" y="3246715"/>
            <a:ext cx="2195045" cy="38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2"/>
              </a:lnSpc>
              <a:spcBef>
                <a:spcPct val="0"/>
              </a:spcBef>
            </a:pPr>
            <a:r>
              <a:rPr lang="en-US" b="true" sz="2230" strike="noStrike" u="none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DISCLOSED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245125" y="3413653"/>
            <a:ext cx="2878866" cy="38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2"/>
              </a:lnSpc>
            </a:pPr>
            <a:r>
              <a:rPr lang="en-US" b="true" sz="2230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EVIDENCES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8700" y="2006522"/>
            <a:ext cx="997262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AI without losing the personal touch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8700" y="895350"/>
            <a:ext cx="10917473" cy="1177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8"/>
              </a:lnSpc>
            </a:pPr>
            <a:r>
              <a:rPr lang="en-US" sz="6877">
                <a:solidFill>
                  <a:srgbClr val="000000"/>
                </a:solidFill>
                <a:latin typeface="TAN Aegean"/>
                <a:ea typeface="TAN Aegean"/>
                <a:cs typeface="TAN Aegean"/>
                <a:sym typeface="TAN Aegean"/>
              </a:rPr>
              <a:t>Q1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5747004" y="243713"/>
            <a:ext cx="2306398" cy="1329110"/>
          </a:xfrm>
          <a:custGeom>
            <a:avLst/>
            <a:gdLst/>
            <a:ahLst/>
            <a:cxnLst/>
            <a:rect r="r" b="b" t="t" l="l"/>
            <a:pathLst>
              <a:path h="1329110" w="2306398">
                <a:moveTo>
                  <a:pt x="0" y="0"/>
                </a:moveTo>
                <a:lnTo>
                  <a:pt x="2306398" y="0"/>
                </a:lnTo>
                <a:lnTo>
                  <a:pt x="2306398" y="1329111"/>
                </a:lnTo>
                <a:lnTo>
                  <a:pt x="0" y="13291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4245125" y="4128891"/>
            <a:ext cx="2878866" cy="470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1003" indent="-210502" lvl="1">
              <a:lnSpc>
                <a:spcPts val="2534"/>
              </a:lnSpc>
              <a:spcBef>
                <a:spcPct val="0"/>
              </a:spcBef>
              <a:buFont typeface="Arial"/>
              <a:buChar char="•"/>
            </a:pPr>
            <a:r>
              <a:rPr lang="en-US" sz="1949" strike="noStrike" u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GEMINI: WRONG PRICES OR CLAIMS IN 7 OF 10 ANSWERS, CHATGPT IN 1 OF 10</a:t>
            </a:r>
          </a:p>
          <a:p>
            <a:pPr algn="l" marL="421003" indent="-210502" lvl="1">
              <a:lnSpc>
                <a:spcPts val="2534"/>
              </a:lnSpc>
              <a:spcBef>
                <a:spcPct val="0"/>
              </a:spcBef>
              <a:buFont typeface="Arial"/>
              <a:buChar char="•"/>
            </a:pPr>
            <a:r>
              <a:rPr lang="en-US" sz="1949" strike="noStrike" u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RECORDED CLIPS OF ANITA AND PRACTITIONERS ON RITUAL PAGES</a:t>
            </a:r>
          </a:p>
          <a:p>
            <a:pPr algn="l" marL="421003" indent="-210502" lvl="1">
              <a:lnSpc>
                <a:spcPts val="2534"/>
              </a:lnSpc>
              <a:spcBef>
                <a:spcPct val="0"/>
              </a:spcBef>
              <a:buFont typeface="Arial"/>
              <a:buChar char="•"/>
            </a:pPr>
            <a:r>
              <a:rPr lang="en-US" sz="1949" strike="noStrike" u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NO INFLUENCERS OR TESTIMONIALS</a:t>
            </a:r>
          </a:p>
          <a:p>
            <a:pPr algn="l" marL="421003" indent="-210502" lvl="1">
              <a:lnSpc>
                <a:spcPts val="2534"/>
              </a:lnSpc>
              <a:spcBef>
                <a:spcPct val="0"/>
              </a:spcBef>
              <a:buFont typeface="Arial"/>
              <a:buChar char="•"/>
            </a:pPr>
            <a:r>
              <a:rPr lang="en-US" sz="1949" strike="noStrike" u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SYNTHETIC VOICE ONLY FOR REORDER REMINDERS, NEVER ANITA'S WITHOUT CONSENT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B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90906" y="1949103"/>
            <a:ext cx="3149484" cy="788430"/>
            <a:chOff x="0" y="0"/>
            <a:chExt cx="829494" cy="2076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29494" cy="207652"/>
            </a:xfrm>
            <a:custGeom>
              <a:avLst/>
              <a:gdLst/>
              <a:ahLst/>
              <a:cxnLst/>
              <a:rect r="r" b="b" t="t" l="l"/>
              <a:pathLst>
                <a:path h="207652" w="829494">
                  <a:moveTo>
                    <a:pt x="0" y="0"/>
                  </a:moveTo>
                  <a:lnTo>
                    <a:pt x="829494" y="0"/>
                  </a:lnTo>
                  <a:lnTo>
                    <a:pt x="829494" y="207652"/>
                  </a:lnTo>
                  <a:lnTo>
                    <a:pt x="0" y="207652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829494" cy="236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013428" y="5891034"/>
            <a:ext cx="3149484" cy="788430"/>
            <a:chOff x="0" y="0"/>
            <a:chExt cx="829494" cy="2076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29494" cy="207652"/>
            </a:xfrm>
            <a:custGeom>
              <a:avLst/>
              <a:gdLst/>
              <a:ahLst/>
              <a:cxnLst/>
              <a:rect r="r" b="b" t="t" l="l"/>
              <a:pathLst>
                <a:path h="207652" w="829494">
                  <a:moveTo>
                    <a:pt x="0" y="0"/>
                  </a:moveTo>
                  <a:lnTo>
                    <a:pt x="829494" y="0"/>
                  </a:lnTo>
                  <a:lnTo>
                    <a:pt x="829494" y="207652"/>
                  </a:lnTo>
                  <a:lnTo>
                    <a:pt x="0" y="207652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829494" cy="236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747004" y="243713"/>
            <a:ext cx="2306398" cy="1329110"/>
          </a:xfrm>
          <a:custGeom>
            <a:avLst/>
            <a:gdLst/>
            <a:ahLst/>
            <a:cxnLst/>
            <a:rect r="r" b="b" t="t" l="l"/>
            <a:pathLst>
              <a:path h="1329110" w="2306398">
                <a:moveTo>
                  <a:pt x="0" y="0"/>
                </a:moveTo>
                <a:lnTo>
                  <a:pt x="2306398" y="0"/>
                </a:lnTo>
                <a:lnTo>
                  <a:pt x="2306398" y="1329111"/>
                </a:lnTo>
                <a:lnTo>
                  <a:pt x="0" y="13291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35275" y="1949103"/>
            <a:ext cx="6099184" cy="7883862"/>
          </a:xfrm>
          <a:custGeom>
            <a:avLst/>
            <a:gdLst/>
            <a:ahLst/>
            <a:cxnLst/>
            <a:rect r="r" b="b" t="t" l="l"/>
            <a:pathLst>
              <a:path h="7883862" w="6099184">
                <a:moveTo>
                  <a:pt x="0" y="0"/>
                </a:moveTo>
                <a:lnTo>
                  <a:pt x="6099184" y="0"/>
                </a:lnTo>
                <a:lnTo>
                  <a:pt x="6099184" y="7883862"/>
                </a:lnTo>
                <a:lnTo>
                  <a:pt x="0" y="78838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pic>
        <p:nvPicPr>
          <p:cNvPr name="Picture 10" id="10">
            <a:hlinkClick action="ppaction://media"/>
          </p:cNvPr>
          <p:cNvPicPr>
            <a:picLocks noChangeAspect="true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"/>
          <a:srcRect l="6773" t="41649" r="0" b="31796"/>
          <a:stretch>
            <a:fillRect/>
          </a:stretch>
        </p:blipFill>
        <p:spPr>
          <a:xfrm flipH="false" flipV="false" rot="0">
            <a:off x="8133180" y="7133787"/>
            <a:ext cx="9476532" cy="2699178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rcRect l="0" t="0" r="0" b="0"/>
          <a:stretch>
            <a:fillRect/>
          </a:stretch>
        </p:blipFill>
        <p:spPr>
          <a:xfrm flipH="false" flipV="false" rot="0">
            <a:off x="7080370" y="2988720"/>
            <a:ext cx="3787148" cy="3808913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 rot="0">
            <a:off x="7399202" y="2343318"/>
            <a:ext cx="3149484" cy="788430"/>
            <a:chOff x="0" y="0"/>
            <a:chExt cx="829494" cy="20765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29494" cy="207652"/>
            </a:xfrm>
            <a:custGeom>
              <a:avLst/>
              <a:gdLst/>
              <a:ahLst/>
              <a:cxnLst/>
              <a:rect r="r" b="b" t="t" l="l"/>
              <a:pathLst>
                <a:path h="207652" w="829494">
                  <a:moveTo>
                    <a:pt x="0" y="0"/>
                  </a:moveTo>
                  <a:lnTo>
                    <a:pt x="829494" y="0"/>
                  </a:lnTo>
                  <a:lnTo>
                    <a:pt x="829494" y="207652"/>
                  </a:lnTo>
                  <a:lnTo>
                    <a:pt x="0" y="207652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829494" cy="236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3918484" y="1933537"/>
            <a:ext cx="2221389" cy="77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2"/>
              </a:lnSpc>
              <a:spcBef>
                <a:spcPct val="0"/>
              </a:spcBef>
            </a:pPr>
            <a:r>
              <a:rPr lang="en-US" b="true" sz="2230" strike="noStrike" u="none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QUIZ THAT EXPLAINS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443469" y="5843409"/>
            <a:ext cx="2195045" cy="77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2"/>
              </a:lnSpc>
              <a:spcBef>
                <a:spcPct val="0"/>
              </a:spcBef>
            </a:pPr>
            <a:r>
              <a:rPr lang="en-US" b="true" sz="2230" strike="noStrike" u="none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RITUAL PROFILE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86973" y="529836"/>
            <a:ext cx="10917473" cy="1177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8"/>
              </a:lnSpc>
            </a:pPr>
            <a:r>
              <a:rPr lang="en-US" sz="6877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Personalisation at scale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20946" y="2960145"/>
            <a:ext cx="5988766" cy="267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3721" indent="-296860" lvl="1">
              <a:lnSpc>
                <a:spcPts val="3574"/>
              </a:lnSpc>
              <a:buFont typeface="Arial"/>
              <a:buChar char="•"/>
            </a:pPr>
            <a:r>
              <a:rPr lang="en-US" b="true" sz="2749">
                <a:solidFill>
                  <a:srgbClr val="503332"/>
                </a:solidFill>
                <a:latin typeface="Bai Jamjuree Medium"/>
                <a:ea typeface="Bai Jamjuree Medium"/>
                <a:cs typeface="Bai Jamjuree Medium"/>
                <a:sym typeface="Bai Jamjuree Medium"/>
              </a:rPr>
              <a:t>Decision model chooses from live stock; language model only explains</a:t>
            </a:r>
          </a:p>
          <a:p>
            <a:pPr algn="l" marL="593721" indent="-296860" lvl="1">
              <a:lnSpc>
                <a:spcPts val="3574"/>
              </a:lnSpc>
              <a:buFont typeface="Arial"/>
              <a:buChar char="•"/>
            </a:pPr>
            <a:r>
              <a:rPr lang="en-US" b="true" sz="2749">
                <a:solidFill>
                  <a:srgbClr val="503332"/>
                </a:solidFill>
                <a:latin typeface="Bai Jamjuree Medium"/>
                <a:ea typeface="Bai Jamjuree Medium"/>
                <a:cs typeface="Bai Jamjuree Medium"/>
                <a:sym typeface="Bai Jamjuree Medium"/>
              </a:rPr>
              <a:t>Fit and stock rank products, margin never does</a:t>
            </a:r>
          </a:p>
          <a:p>
            <a:pPr algn="l" marL="593721" indent="-296860" lvl="1">
              <a:lnSpc>
                <a:spcPts val="3574"/>
              </a:lnSpc>
              <a:buFont typeface="Arial"/>
              <a:buChar char="•"/>
            </a:pPr>
            <a:r>
              <a:rPr lang="en-US" b="true" sz="2749">
                <a:solidFill>
                  <a:srgbClr val="503332"/>
                </a:solidFill>
                <a:latin typeface="Bai Jamjuree Medium"/>
                <a:ea typeface="Bai Jamjuree Medium"/>
                <a:cs typeface="Bai Jamjuree Medium"/>
                <a:sym typeface="Bai Jamjuree Medium"/>
              </a:rPr>
              <a:t>Health questions go to a person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863249" y="2476932"/>
            <a:ext cx="2221389" cy="46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22"/>
              </a:lnSpc>
              <a:spcBef>
                <a:spcPct val="0"/>
              </a:spcBef>
            </a:pPr>
            <a:r>
              <a:rPr lang="en-US" b="true" sz="2730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VAY 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95989" y="1989317"/>
            <a:ext cx="8252097" cy="5781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49"/>
              </a:lnSpc>
            </a:pPr>
            <a:r>
              <a:rPr lang="en-US" sz="36999" spc="-1812">
                <a:solidFill>
                  <a:srgbClr val="C28562"/>
                </a:solidFill>
                <a:latin typeface="Anton"/>
                <a:ea typeface="Anton"/>
                <a:cs typeface="Anton"/>
                <a:sym typeface="Anton"/>
              </a:rPr>
              <a:t>VAY</a:t>
            </a:r>
          </a:p>
          <a:p>
            <a:pPr algn="ctr">
              <a:lnSpc>
                <a:spcPts val="14450"/>
              </a:lnSpc>
            </a:pPr>
            <a:r>
              <a:rPr lang="en-US" sz="17000" spc="-833">
                <a:solidFill>
                  <a:srgbClr val="C28562"/>
                </a:solidFill>
                <a:latin typeface="Anton"/>
                <a:ea typeface="Anton"/>
                <a:cs typeface="Anton"/>
                <a:sym typeface="Anton"/>
              </a:rPr>
              <a:t>AI AGENT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8990888" y="1944036"/>
            <a:ext cx="6076240" cy="5826958"/>
          </a:xfrm>
          <a:custGeom>
            <a:avLst/>
            <a:gdLst/>
            <a:ahLst/>
            <a:cxnLst/>
            <a:rect r="r" b="b" t="t" l="l"/>
            <a:pathLst>
              <a:path h="5826958" w="6076240">
                <a:moveTo>
                  <a:pt x="0" y="0"/>
                </a:moveTo>
                <a:lnTo>
                  <a:pt x="6076239" y="0"/>
                </a:lnTo>
                <a:lnTo>
                  <a:pt x="6076239" y="5826958"/>
                </a:lnTo>
                <a:lnTo>
                  <a:pt x="0" y="582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526336" y="2949996"/>
            <a:ext cx="3366759" cy="3266358"/>
          </a:xfrm>
          <a:custGeom>
            <a:avLst/>
            <a:gdLst/>
            <a:ahLst/>
            <a:cxnLst/>
            <a:rect r="r" b="b" t="t" l="l"/>
            <a:pathLst>
              <a:path h="3266358" w="3366759">
                <a:moveTo>
                  <a:pt x="0" y="0"/>
                </a:moveTo>
                <a:lnTo>
                  <a:pt x="3366759" y="0"/>
                </a:lnTo>
                <a:lnTo>
                  <a:pt x="3366759" y="3266358"/>
                </a:lnTo>
                <a:lnTo>
                  <a:pt x="0" y="32663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1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572200" y="431865"/>
            <a:ext cx="3306497" cy="1907595"/>
          </a:xfrm>
          <a:custGeom>
            <a:avLst/>
            <a:gdLst/>
            <a:ahLst/>
            <a:cxnLst/>
            <a:rect r="r" b="b" t="t" l="l"/>
            <a:pathLst>
              <a:path h="1907595" w="3306497">
                <a:moveTo>
                  <a:pt x="0" y="0"/>
                </a:moveTo>
                <a:lnTo>
                  <a:pt x="3306497" y="0"/>
                </a:lnTo>
                <a:lnTo>
                  <a:pt x="3306497" y="1907595"/>
                </a:lnTo>
                <a:lnTo>
                  <a:pt x="0" y="19075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02076" y="7972073"/>
            <a:ext cx="13404911" cy="1960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7"/>
              </a:lnSpc>
            </a:pPr>
            <a:r>
              <a:rPr lang="en-US" sz="5348">
                <a:solidFill>
                  <a:srgbClr val="C28562"/>
                </a:solidFill>
                <a:latin typeface="TAN Aegean"/>
                <a:ea typeface="TAN Aegean"/>
                <a:cs typeface="TAN Aegean"/>
                <a:sym typeface="TAN Aegean"/>
              </a:rPr>
              <a:t>Hyper Personalised on Ayurveda</a:t>
            </a:r>
          </a:p>
          <a:p>
            <a:pPr algn="ctr">
              <a:lnSpc>
                <a:spcPts val="8467"/>
              </a:lnSpc>
              <a:spcBef>
                <a:spcPct val="0"/>
              </a:spcBef>
            </a:pPr>
            <a:r>
              <a:rPr lang="en-US" sz="6048">
                <a:solidFill>
                  <a:srgbClr val="C28562"/>
                </a:solidFill>
                <a:latin typeface="TAN Aegean"/>
                <a:ea typeface="TAN Aegean"/>
                <a:cs typeface="TAN Aegean"/>
                <a:sym typeface="TAN Aegean"/>
              </a:rPr>
              <a:t>AI Voice Agent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4616" y="227760"/>
            <a:ext cx="17551502" cy="9831480"/>
          </a:xfrm>
          <a:custGeom>
            <a:avLst/>
            <a:gdLst/>
            <a:ahLst/>
            <a:cxnLst/>
            <a:rect r="r" b="b" t="t" l="l"/>
            <a:pathLst>
              <a:path h="9831480" w="17551502">
                <a:moveTo>
                  <a:pt x="0" y="0"/>
                </a:moveTo>
                <a:lnTo>
                  <a:pt x="17551502" y="0"/>
                </a:lnTo>
                <a:lnTo>
                  <a:pt x="17551502" y="9831480"/>
                </a:lnTo>
                <a:lnTo>
                  <a:pt x="0" y="98314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658151" y="7664127"/>
            <a:ext cx="4994693" cy="2395113"/>
            <a:chOff x="0" y="0"/>
            <a:chExt cx="1315475" cy="6308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15475" cy="630812"/>
            </a:xfrm>
            <a:custGeom>
              <a:avLst/>
              <a:gdLst/>
              <a:ahLst/>
              <a:cxnLst/>
              <a:rect r="r" b="b" t="t" l="l"/>
              <a:pathLst>
                <a:path h="630812" w="1315475">
                  <a:moveTo>
                    <a:pt x="0" y="0"/>
                  </a:moveTo>
                  <a:lnTo>
                    <a:pt x="1315475" y="0"/>
                  </a:lnTo>
                  <a:lnTo>
                    <a:pt x="1315475" y="630812"/>
                  </a:lnTo>
                  <a:lnTo>
                    <a:pt x="0" y="630812"/>
                  </a:lnTo>
                  <a:close/>
                </a:path>
              </a:pathLst>
            </a:custGeom>
            <a:solidFill>
              <a:srgbClr val="0F0F1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315475" cy="659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895211" y="7664127"/>
            <a:ext cx="2497577" cy="2395113"/>
          </a:xfrm>
          <a:custGeom>
            <a:avLst/>
            <a:gdLst/>
            <a:ahLst/>
            <a:cxnLst/>
            <a:rect r="r" b="b" t="t" l="l"/>
            <a:pathLst>
              <a:path h="2395113" w="2497577">
                <a:moveTo>
                  <a:pt x="0" y="0"/>
                </a:moveTo>
                <a:lnTo>
                  <a:pt x="2497578" y="0"/>
                </a:lnTo>
                <a:lnTo>
                  <a:pt x="2497578" y="2395113"/>
                </a:lnTo>
                <a:lnTo>
                  <a:pt x="0" y="23951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32051" y="7965645"/>
            <a:ext cx="6823125" cy="1792077"/>
          </a:xfrm>
          <a:custGeom>
            <a:avLst/>
            <a:gdLst/>
            <a:ahLst/>
            <a:cxnLst/>
            <a:rect r="r" b="b" t="t" l="l"/>
            <a:pathLst>
              <a:path h="1792077" w="6823125">
                <a:moveTo>
                  <a:pt x="0" y="0"/>
                </a:moveTo>
                <a:lnTo>
                  <a:pt x="6823125" y="0"/>
                </a:lnTo>
                <a:lnTo>
                  <a:pt x="6823125" y="1792077"/>
                </a:lnTo>
                <a:lnTo>
                  <a:pt x="0" y="17920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077" t="-105218" r="-10784" b="-97519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>
                  <p14:trim st="6290.0000" end="0.0000"/>
                </p14:media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-256423" y="-618630"/>
            <a:ext cx="20487572" cy="11524259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985189" y="1085850"/>
            <a:ext cx="6804898" cy="718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54"/>
              </a:lnSpc>
              <a:spcBef>
                <a:spcPct val="0"/>
              </a:spcBef>
            </a:pPr>
            <a:r>
              <a:rPr lang="en-US" sz="5095">
                <a:solidFill>
                  <a:srgbClr val="FFFFFF"/>
                </a:solidFill>
                <a:latin typeface="TAN Aegean"/>
                <a:ea typeface="TAN Aegean"/>
                <a:cs typeface="TAN Aegean"/>
                <a:sym typeface="TAN Aegean"/>
              </a:rPr>
              <a:t>Demo Video- VAY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0" y="0"/>
            <a:ext cx="18491054" cy="10401218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153781" y="1085850"/>
            <a:ext cx="6467713" cy="1423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54"/>
              </a:lnSpc>
            </a:pPr>
            <a:r>
              <a:rPr lang="en-US" sz="5095">
                <a:solidFill>
                  <a:srgbClr val="FFFFFF"/>
                </a:solidFill>
                <a:latin typeface="TAN Aegean"/>
                <a:ea typeface="TAN Aegean"/>
                <a:cs typeface="TAN Aegean"/>
                <a:sym typeface="TAN Aegean"/>
              </a:rPr>
              <a:t>Demo Video 2 </a:t>
            </a:r>
          </a:p>
          <a:p>
            <a:pPr algn="ctr">
              <a:lnSpc>
                <a:spcPts val="5554"/>
              </a:lnSpc>
              <a:spcBef>
                <a:spcPct val="0"/>
              </a:spcBef>
            </a:pPr>
            <a:r>
              <a:rPr lang="en-US" sz="5095">
                <a:solidFill>
                  <a:srgbClr val="FFFFFF"/>
                </a:solidFill>
                <a:latin typeface="TAN Aegean"/>
                <a:ea typeface="TAN Aegean"/>
                <a:cs typeface="TAN Aegean"/>
                <a:sym typeface="TAN Aegean"/>
              </a:rPr>
              <a:t>Jailbreaking- VAY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B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4423" y="514476"/>
            <a:ext cx="6510458" cy="4223411"/>
          </a:xfrm>
          <a:custGeom>
            <a:avLst/>
            <a:gdLst/>
            <a:ahLst/>
            <a:cxnLst/>
            <a:rect r="r" b="b" t="t" l="l"/>
            <a:pathLst>
              <a:path h="4223411" w="6510458">
                <a:moveTo>
                  <a:pt x="0" y="0"/>
                </a:moveTo>
                <a:lnTo>
                  <a:pt x="6510458" y="0"/>
                </a:lnTo>
                <a:lnTo>
                  <a:pt x="6510458" y="4223411"/>
                </a:lnTo>
                <a:lnTo>
                  <a:pt x="0" y="42234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759" t="-12765" r="-23526" b="-6180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098553" y="514476"/>
            <a:ext cx="5146697" cy="4223411"/>
          </a:xfrm>
          <a:custGeom>
            <a:avLst/>
            <a:gdLst/>
            <a:ahLst/>
            <a:cxnLst/>
            <a:rect r="r" b="b" t="t" l="l"/>
            <a:pathLst>
              <a:path h="4223411" w="5146697">
                <a:moveTo>
                  <a:pt x="0" y="0"/>
                </a:moveTo>
                <a:lnTo>
                  <a:pt x="5146697" y="0"/>
                </a:lnTo>
                <a:lnTo>
                  <a:pt x="5146697" y="4223411"/>
                </a:lnTo>
                <a:lnTo>
                  <a:pt x="0" y="42234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683928" y="514476"/>
            <a:ext cx="4382896" cy="4223411"/>
          </a:xfrm>
          <a:custGeom>
            <a:avLst/>
            <a:gdLst/>
            <a:ahLst/>
            <a:cxnLst/>
            <a:rect r="r" b="b" t="t" l="l"/>
            <a:pathLst>
              <a:path h="4223411" w="4382896">
                <a:moveTo>
                  <a:pt x="0" y="0"/>
                </a:moveTo>
                <a:lnTo>
                  <a:pt x="4382897" y="0"/>
                </a:lnTo>
                <a:lnTo>
                  <a:pt x="4382897" y="4223411"/>
                </a:lnTo>
                <a:lnTo>
                  <a:pt x="0" y="42234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7222" y="5109331"/>
            <a:ext cx="5189799" cy="4959521"/>
          </a:xfrm>
          <a:custGeom>
            <a:avLst/>
            <a:gdLst/>
            <a:ahLst/>
            <a:cxnLst/>
            <a:rect r="r" b="b" t="t" l="l"/>
            <a:pathLst>
              <a:path h="4959521" w="5189799">
                <a:moveTo>
                  <a:pt x="0" y="0"/>
                </a:moveTo>
                <a:lnTo>
                  <a:pt x="5189799" y="0"/>
                </a:lnTo>
                <a:lnTo>
                  <a:pt x="5189799" y="4959521"/>
                </a:lnTo>
                <a:lnTo>
                  <a:pt x="0" y="49595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9725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866374" y="5118856"/>
            <a:ext cx="5019735" cy="4949996"/>
          </a:xfrm>
          <a:custGeom>
            <a:avLst/>
            <a:gdLst/>
            <a:ahLst/>
            <a:cxnLst/>
            <a:rect r="r" b="b" t="t" l="l"/>
            <a:pathLst>
              <a:path h="4949996" w="5019735">
                <a:moveTo>
                  <a:pt x="0" y="0"/>
                </a:moveTo>
                <a:lnTo>
                  <a:pt x="5019735" y="0"/>
                </a:lnTo>
                <a:lnTo>
                  <a:pt x="5019735" y="4949996"/>
                </a:lnTo>
                <a:lnTo>
                  <a:pt x="0" y="49499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51" t="0" r="-1351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298822" y="5118856"/>
            <a:ext cx="5768003" cy="4949996"/>
          </a:xfrm>
          <a:custGeom>
            <a:avLst/>
            <a:gdLst/>
            <a:ahLst/>
            <a:cxnLst/>
            <a:rect r="r" b="b" t="t" l="l"/>
            <a:pathLst>
              <a:path h="4949996" w="5768003">
                <a:moveTo>
                  <a:pt x="0" y="0"/>
                </a:moveTo>
                <a:lnTo>
                  <a:pt x="5768003" y="0"/>
                </a:lnTo>
                <a:lnTo>
                  <a:pt x="5768003" y="4949996"/>
                </a:lnTo>
                <a:lnTo>
                  <a:pt x="0" y="49499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-5400000">
            <a:off x="-1823702" y="6944173"/>
            <a:ext cx="5131460" cy="718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54"/>
              </a:lnSpc>
              <a:spcBef>
                <a:spcPct val="0"/>
              </a:spcBef>
            </a:pPr>
            <a:r>
              <a:rPr lang="en-US" sz="5095">
                <a:solidFill>
                  <a:srgbClr val="000000"/>
                </a:solidFill>
                <a:latin typeface="TAN Aegean"/>
                <a:ea typeface="TAN Aegean"/>
                <a:cs typeface="TAN Aegean"/>
                <a:sym typeface="TAN Aegean"/>
              </a:rPr>
              <a:t>A</a:t>
            </a:r>
            <a:r>
              <a:rPr lang="en-US" sz="5095">
                <a:solidFill>
                  <a:srgbClr val="000000"/>
                </a:solidFill>
                <a:latin typeface="TAN Aegean"/>
                <a:ea typeface="TAN Aegean"/>
                <a:cs typeface="TAN Aegean"/>
                <a:sym typeface="TAN Aegean"/>
              </a:rPr>
              <a:t>ushada Peti</a:t>
            </a:r>
          </a:p>
        </p:txBody>
      </p:sp>
      <p:sp>
        <p:nvSpPr>
          <p:cNvPr name="TextBox 9" id="9"/>
          <p:cNvSpPr txBox="true"/>
          <p:nvPr/>
        </p:nvSpPr>
        <p:spPr>
          <a:xfrm rot="-5400000">
            <a:off x="-4889031" y="2285751"/>
            <a:ext cx="11243068" cy="285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5"/>
              </a:lnSpc>
              <a:spcBef>
                <a:spcPct val="0"/>
              </a:spcBef>
            </a:pPr>
            <a:r>
              <a:rPr lang="en-US" sz="1995">
                <a:solidFill>
                  <a:srgbClr val="000000"/>
                </a:solidFill>
                <a:latin typeface="TAN Aegean"/>
                <a:ea typeface="TAN Aegean"/>
                <a:cs typeface="TAN Aegean"/>
                <a:sym typeface="TAN Aegean"/>
              </a:rPr>
              <a:t>WHEEL OF BOTANICALS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B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5371"/>
            <a:ext cx="5606517" cy="10271629"/>
            <a:chOff x="0" y="0"/>
            <a:chExt cx="1476614" cy="27052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76614" cy="2705285"/>
            </a:xfrm>
            <a:custGeom>
              <a:avLst/>
              <a:gdLst/>
              <a:ahLst/>
              <a:cxnLst/>
              <a:rect r="r" b="b" t="t" l="l"/>
              <a:pathLst>
                <a:path h="2705285" w="1476614">
                  <a:moveTo>
                    <a:pt x="0" y="0"/>
                  </a:moveTo>
                  <a:lnTo>
                    <a:pt x="1476614" y="0"/>
                  </a:lnTo>
                  <a:lnTo>
                    <a:pt x="1476614" y="2705285"/>
                  </a:lnTo>
                  <a:lnTo>
                    <a:pt x="0" y="270528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1476614" cy="26862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15371"/>
            <a:ext cx="5606517" cy="10271629"/>
          </a:xfrm>
          <a:custGeom>
            <a:avLst/>
            <a:gdLst/>
            <a:ahLst/>
            <a:cxnLst/>
            <a:rect r="r" b="b" t="t" l="l"/>
            <a:pathLst>
              <a:path h="10271629" w="5606517">
                <a:moveTo>
                  <a:pt x="0" y="0"/>
                </a:moveTo>
                <a:lnTo>
                  <a:pt x="5606517" y="0"/>
                </a:lnTo>
                <a:lnTo>
                  <a:pt x="5606517" y="10271629"/>
                </a:lnTo>
                <a:lnTo>
                  <a:pt x="0" y="102716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646" t="0" r="-44562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825305" y="3608136"/>
            <a:ext cx="4100646" cy="4751487"/>
            <a:chOff x="0" y="0"/>
            <a:chExt cx="1080006" cy="12514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80006" cy="1251420"/>
            </a:xfrm>
            <a:custGeom>
              <a:avLst/>
              <a:gdLst/>
              <a:ahLst/>
              <a:cxnLst/>
              <a:rect r="r" b="b" t="t" l="l"/>
              <a:pathLst>
                <a:path h="1251420" w="1080006">
                  <a:moveTo>
                    <a:pt x="49087" y="0"/>
                  </a:moveTo>
                  <a:lnTo>
                    <a:pt x="1030918" y="0"/>
                  </a:lnTo>
                  <a:cubicBezTo>
                    <a:pt x="1058028" y="0"/>
                    <a:pt x="1080006" y="21977"/>
                    <a:pt x="1080006" y="49087"/>
                  </a:cubicBezTo>
                  <a:lnTo>
                    <a:pt x="1080006" y="1202333"/>
                  </a:lnTo>
                  <a:cubicBezTo>
                    <a:pt x="1080006" y="1215352"/>
                    <a:pt x="1074834" y="1227837"/>
                    <a:pt x="1065628" y="1237043"/>
                  </a:cubicBezTo>
                  <a:cubicBezTo>
                    <a:pt x="1056423" y="1246249"/>
                    <a:pt x="1043937" y="1251420"/>
                    <a:pt x="1030918" y="1251420"/>
                  </a:cubicBezTo>
                  <a:lnTo>
                    <a:pt x="49087" y="1251420"/>
                  </a:lnTo>
                  <a:cubicBezTo>
                    <a:pt x="36069" y="1251420"/>
                    <a:pt x="23583" y="1246249"/>
                    <a:pt x="14377" y="1237043"/>
                  </a:cubicBezTo>
                  <a:cubicBezTo>
                    <a:pt x="5172" y="1227837"/>
                    <a:pt x="0" y="1215352"/>
                    <a:pt x="0" y="1202333"/>
                  </a:cubicBezTo>
                  <a:lnTo>
                    <a:pt x="0" y="49087"/>
                  </a:lnTo>
                  <a:cubicBezTo>
                    <a:pt x="0" y="36069"/>
                    <a:pt x="5172" y="23583"/>
                    <a:pt x="14377" y="14377"/>
                  </a:cubicBezTo>
                  <a:cubicBezTo>
                    <a:pt x="23583" y="5172"/>
                    <a:pt x="36069" y="0"/>
                    <a:pt x="49087" y="0"/>
                  </a:cubicBezTo>
                  <a:close/>
                </a:path>
              </a:pathLst>
            </a:custGeom>
            <a:solidFill>
              <a:srgbClr val="ECDCD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1080006" cy="1232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3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824792" y="8537338"/>
            <a:ext cx="12739062" cy="1441925"/>
            <a:chOff x="0" y="0"/>
            <a:chExt cx="3355144" cy="37976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355144" cy="379766"/>
            </a:xfrm>
            <a:custGeom>
              <a:avLst/>
              <a:gdLst/>
              <a:ahLst/>
              <a:cxnLst/>
              <a:rect r="r" b="b" t="t" l="l"/>
              <a:pathLst>
                <a:path h="379766" w="3355144">
                  <a:moveTo>
                    <a:pt x="15193" y="0"/>
                  </a:moveTo>
                  <a:lnTo>
                    <a:pt x="3339951" y="0"/>
                  </a:lnTo>
                  <a:cubicBezTo>
                    <a:pt x="3348342" y="0"/>
                    <a:pt x="3355144" y="6802"/>
                    <a:pt x="3355144" y="15193"/>
                  </a:cubicBezTo>
                  <a:lnTo>
                    <a:pt x="3355144" y="364573"/>
                  </a:lnTo>
                  <a:cubicBezTo>
                    <a:pt x="3355144" y="372964"/>
                    <a:pt x="3348342" y="379766"/>
                    <a:pt x="3339951" y="379766"/>
                  </a:cubicBezTo>
                  <a:lnTo>
                    <a:pt x="15193" y="379766"/>
                  </a:lnTo>
                  <a:cubicBezTo>
                    <a:pt x="6802" y="379766"/>
                    <a:pt x="0" y="372964"/>
                    <a:pt x="0" y="364573"/>
                  </a:cubicBezTo>
                  <a:lnTo>
                    <a:pt x="0" y="15193"/>
                  </a:lnTo>
                  <a:cubicBezTo>
                    <a:pt x="0" y="6802"/>
                    <a:pt x="6802" y="0"/>
                    <a:pt x="15193" y="0"/>
                  </a:cubicBezTo>
                  <a:close/>
                </a:path>
              </a:pathLst>
            </a:custGeom>
            <a:solidFill>
              <a:srgbClr val="EBDCD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3355144" cy="3607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3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0" y="3608136"/>
            <a:ext cx="4100646" cy="4751487"/>
            <a:chOff x="0" y="0"/>
            <a:chExt cx="1080006" cy="12514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80006" cy="1251420"/>
            </a:xfrm>
            <a:custGeom>
              <a:avLst/>
              <a:gdLst/>
              <a:ahLst/>
              <a:cxnLst/>
              <a:rect r="r" b="b" t="t" l="l"/>
              <a:pathLst>
                <a:path h="1251420" w="1080006">
                  <a:moveTo>
                    <a:pt x="47199" y="0"/>
                  </a:moveTo>
                  <a:lnTo>
                    <a:pt x="1032806" y="0"/>
                  </a:lnTo>
                  <a:cubicBezTo>
                    <a:pt x="1058874" y="0"/>
                    <a:pt x="1080006" y="21132"/>
                    <a:pt x="1080006" y="47199"/>
                  </a:cubicBezTo>
                  <a:lnTo>
                    <a:pt x="1080006" y="1204221"/>
                  </a:lnTo>
                  <a:cubicBezTo>
                    <a:pt x="1080006" y="1230289"/>
                    <a:pt x="1058874" y="1251420"/>
                    <a:pt x="1032806" y="1251420"/>
                  </a:cubicBezTo>
                  <a:lnTo>
                    <a:pt x="47199" y="1251420"/>
                  </a:lnTo>
                  <a:cubicBezTo>
                    <a:pt x="21132" y="1251420"/>
                    <a:pt x="0" y="1230289"/>
                    <a:pt x="0" y="1204221"/>
                  </a:cubicBezTo>
                  <a:lnTo>
                    <a:pt x="0" y="47199"/>
                  </a:lnTo>
                  <a:cubicBezTo>
                    <a:pt x="0" y="21132"/>
                    <a:pt x="21132" y="0"/>
                    <a:pt x="47199" y="0"/>
                  </a:cubicBezTo>
                  <a:close/>
                </a:path>
              </a:pathLst>
            </a:custGeom>
            <a:solidFill>
              <a:srgbClr val="EBDCD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1080006" cy="1232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3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463721" y="3608136"/>
            <a:ext cx="4100646" cy="4751487"/>
            <a:chOff x="0" y="0"/>
            <a:chExt cx="1080006" cy="12514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0006" cy="1251420"/>
            </a:xfrm>
            <a:custGeom>
              <a:avLst/>
              <a:gdLst/>
              <a:ahLst/>
              <a:cxnLst/>
              <a:rect r="r" b="b" t="t" l="l"/>
              <a:pathLst>
                <a:path h="1251420" w="1080006">
                  <a:moveTo>
                    <a:pt x="47199" y="0"/>
                  </a:moveTo>
                  <a:lnTo>
                    <a:pt x="1032806" y="0"/>
                  </a:lnTo>
                  <a:cubicBezTo>
                    <a:pt x="1058874" y="0"/>
                    <a:pt x="1080006" y="21132"/>
                    <a:pt x="1080006" y="47199"/>
                  </a:cubicBezTo>
                  <a:lnTo>
                    <a:pt x="1080006" y="1204221"/>
                  </a:lnTo>
                  <a:cubicBezTo>
                    <a:pt x="1080006" y="1230289"/>
                    <a:pt x="1058874" y="1251420"/>
                    <a:pt x="1032806" y="1251420"/>
                  </a:cubicBezTo>
                  <a:lnTo>
                    <a:pt x="47199" y="1251420"/>
                  </a:lnTo>
                  <a:cubicBezTo>
                    <a:pt x="21132" y="1251420"/>
                    <a:pt x="0" y="1230289"/>
                    <a:pt x="0" y="1204221"/>
                  </a:cubicBezTo>
                  <a:lnTo>
                    <a:pt x="0" y="47199"/>
                  </a:lnTo>
                  <a:cubicBezTo>
                    <a:pt x="0" y="21132"/>
                    <a:pt x="21132" y="0"/>
                    <a:pt x="47199" y="0"/>
                  </a:cubicBezTo>
                  <a:close/>
                </a:path>
              </a:pathLst>
            </a:custGeom>
            <a:solidFill>
              <a:srgbClr val="EBDCD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19050"/>
              <a:ext cx="1080006" cy="1232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3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133657" y="526809"/>
            <a:ext cx="11430197" cy="1854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99"/>
              </a:lnSpc>
            </a:pPr>
            <a:r>
              <a:rPr lang="en-US" sz="5356">
                <a:solidFill>
                  <a:srgbClr val="502A22"/>
                </a:solidFill>
                <a:latin typeface="TAN Aegean"/>
                <a:ea typeface="TAN Aegean"/>
                <a:cs typeface="TAN Aegean"/>
                <a:sym typeface="TAN Aegean"/>
              </a:rPr>
              <a:t>From Customer Acquisition to Customer Retention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133657" y="2466930"/>
            <a:ext cx="11430197" cy="882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0"/>
              </a:lnSpc>
            </a:pPr>
            <a:r>
              <a:rPr lang="en-US" sz="3071" spc="-175">
                <a:solidFill>
                  <a:srgbClr val="502A22"/>
                </a:solidFill>
                <a:latin typeface="Bai Jamjuree"/>
                <a:ea typeface="Bai Jamjuree"/>
                <a:cs typeface="Bai Jamjuree"/>
                <a:sym typeface="Bai Jamjuree"/>
              </a:rPr>
              <a:t>Reducing paid dependency by strengthening repeat purchases and owned-channel relationships.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078939" y="4208790"/>
            <a:ext cx="359337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502A22"/>
                </a:solidFill>
                <a:latin typeface="TAN Aegean"/>
                <a:ea typeface="TAN Aegean"/>
                <a:cs typeface="TAN Aegean"/>
                <a:sym typeface="TAN Aegean"/>
              </a:rPr>
              <a:t>The Challenge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97634" y="3869701"/>
            <a:ext cx="3593378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502A22"/>
                </a:solidFill>
                <a:latin typeface="TAN Aegean"/>
                <a:ea typeface="TAN Aegean"/>
                <a:cs typeface="TAN Aegean"/>
                <a:sym typeface="TAN Aegean"/>
              </a:rPr>
              <a:t>Our Recommendations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062513" y="3869701"/>
            <a:ext cx="3128829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502A22"/>
                </a:solidFill>
                <a:latin typeface="TAN Aegean"/>
                <a:ea typeface="TAN Aegean"/>
                <a:cs typeface="TAN Aegean"/>
                <a:sym typeface="TAN Aegean"/>
              </a:rPr>
              <a:t>Strategic 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502A22"/>
                </a:solidFill>
                <a:latin typeface="TAN Aegean"/>
                <a:ea typeface="TAN Aegean"/>
                <a:cs typeface="TAN Aegean"/>
                <a:sym typeface="TAN Aegean"/>
              </a:rPr>
              <a:t>Priorities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045797" y="4912908"/>
            <a:ext cx="3659663" cy="2524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2485"/>
              </a:lnSpc>
              <a:buFont typeface="Arial"/>
              <a:buChar char="•"/>
            </a:pPr>
            <a:r>
              <a:rPr lang="en-US" sz="2199" spc="-125">
                <a:solidFill>
                  <a:srgbClr val="502A22"/>
                </a:solidFill>
                <a:latin typeface="Bai Jamjuree"/>
                <a:ea typeface="Bai Jamjuree"/>
                <a:cs typeface="Bai Jamjuree"/>
                <a:sym typeface="Bai Jamjuree"/>
              </a:rPr>
              <a:t>72% of marketing budget spent on Meta</a:t>
            </a:r>
          </a:p>
          <a:p>
            <a:pPr algn="l" marL="474979" indent="-237490" lvl="1">
              <a:lnSpc>
                <a:spcPts val="2485"/>
              </a:lnSpc>
              <a:buFont typeface="Arial"/>
              <a:buChar char="•"/>
            </a:pPr>
            <a:r>
              <a:rPr lang="en-US" sz="2199" spc="-125">
                <a:solidFill>
                  <a:srgbClr val="502A22"/>
                </a:solidFill>
                <a:latin typeface="Bai Jamjuree"/>
                <a:ea typeface="Bai Jamjuree"/>
                <a:cs typeface="Bai Jamjuree"/>
                <a:sym typeface="Bai Jamjuree"/>
              </a:rPr>
              <a:t>Customer acquisition costs up 31%</a:t>
            </a:r>
          </a:p>
          <a:p>
            <a:pPr algn="l" marL="474979" indent="-237490" lvl="1">
              <a:lnSpc>
                <a:spcPts val="2485"/>
              </a:lnSpc>
              <a:buFont typeface="Arial"/>
              <a:buChar char="•"/>
            </a:pPr>
            <a:r>
              <a:rPr lang="en-US" sz="2199" spc="-125">
                <a:solidFill>
                  <a:srgbClr val="502A22"/>
                </a:solidFill>
                <a:latin typeface="Bai Jamjuree"/>
                <a:ea typeface="Bai Jamjuree"/>
                <a:cs typeface="Bai Jamjuree"/>
                <a:sym typeface="Bai Jamjuree"/>
              </a:rPr>
              <a:t>20% discounts reduce profit margins</a:t>
            </a:r>
          </a:p>
          <a:p>
            <a:pPr algn="l" marL="474979" indent="-237490" lvl="1">
              <a:lnSpc>
                <a:spcPts val="2485"/>
              </a:lnSpc>
              <a:buFont typeface="Arial"/>
              <a:buChar char="•"/>
            </a:pPr>
            <a:r>
              <a:rPr lang="en-US" sz="2199" spc="-125">
                <a:solidFill>
                  <a:srgbClr val="502A22"/>
                </a:solidFill>
                <a:latin typeface="Bai Jamjuree"/>
                <a:ea typeface="Bai Jamjuree"/>
                <a:cs typeface="Bai Jamjuree"/>
                <a:sym typeface="Bai Jamjuree"/>
              </a:rPr>
              <a:t>High acquisition costs make repeat purchases essential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364491" y="4912908"/>
            <a:ext cx="3659663" cy="3153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2485"/>
              </a:lnSpc>
              <a:buFont typeface="Arial"/>
              <a:buChar char="•"/>
            </a:pPr>
            <a:r>
              <a:rPr lang="en-US" b="true" sz="2199" spc="-125">
                <a:solidFill>
                  <a:srgbClr val="502A22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Personalise</a:t>
            </a:r>
            <a:r>
              <a:rPr lang="en-US" sz="2199" spc="-125">
                <a:solidFill>
                  <a:srgbClr val="502A22"/>
                </a:solidFill>
                <a:latin typeface="Bai Jamjuree"/>
                <a:ea typeface="Bai Jamjuree"/>
                <a:cs typeface="Bai Jamjuree"/>
                <a:sym typeface="Bai Jamjuree"/>
              </a:rPr>
              <a:t>: Dosha-based emails, rituals and repurchase reminders</a:t>
            </a:r>
          </a:p>
          <a:p>
            <a:pPr algn="l" marL="474979" indent="-237490" lvl="1">
              <a:lnSpc>
                <a:spcPts val="2485"/>
              </a:lnSpc>
              <a:buFont typeface="Arial"/>
              <a:buChar char="•"/>
            </a:pPr>
            <a:r>
              <a:rPr lang="en-US" b="true" sz="2199" spc="-125">
                <a:solidFill>
                  <a:srgbClr val="502A22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Connect</a:t>
            </a:r>
            <a:r>
              <a:rPr lang="en-US" sz="2199" spc="-125">
                <a:solidFill>
                  <a:srgbClr val="502A22"/>
                </a:solidFill>
                <a:latin typeface="Bai Jamjuree"/>
                <a:ea typeface="Bai Jamjuree"/>
                <a:cs typeface="Bai Jamjuree"/>
                <a:sym typeface="Bai Jamjuree"/>
              </a:rPr>
              <a:t>: Convert Instagram followers into email subscribers through the dosha quiz</a:t>
            </a:r>
          </a:p>
          <a:p>
            <a:pPr algn="l" marL="474979" indent="-237490" lvl="1">
              <a:lnSpc>
                <a:spcPts val="2485"/>
              </a:lnSpc>
              <a:buFont typeface="Arial"/>
              <a:buChar char="•"/>
            </a:pPr>
            <a:r>
              <a:rPr lang="en-US" b="true" sz="2199" spc="-125">
                <a:solidFill>
                  <a:srgbClr val="502A22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Retain</a:t>
            </a:r>
            <a:r>
              <a:rPr lang="en-US" sz="2199" spc="-125">
                <a:solidFill>
                  <a:srgbClr val="502A22"/>
                </a:solidFill>
                <a:latin typeface="Bai Jamjuree"/>
                <a:ea typeface="Bai Jamjuree"/>
                <a:cs typeface="Bai Jamjuree"/>
                <a:sym typeface="Bai Jamjuree"/>
              </a:rPr>
              <a:t>: Replace discounts with exclusive gifts or ritual sets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684212" y="4912908"/>
            <a:ext cx="3659663" cy="3153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2485"/>
              </a:lnSpc>
              <a:buFont typeface="Arial"/>
              <a:buChar char="•"/>
            </a:pPr>
            <a:r>
              <a:rPr lang="en-US" sz="2199" spc="-125">
                <a:solidFill>
                  <a:srgbClr val="502A22"/>
                </a:solidFill>
                <a:latin typeface="Bai Jamjuree"/>
                <a:ea typeface="Bai Jamjuree"/>
                <a:cs typeface="Bai Jamjuree"/>
                <a:sym typeface="Bai Jamjuree"/>
              </a:rPr>
              <a:t>Maximise existing channels: website, email and dosha quiz</a:t>
            </a:r>
          </a:p>
          <a:p>
            <a:pPr algn="l" marL="474979" indent="-237490" lvl="1">
              <a:lnSpc>
                <a:spcPts val="2485"/>
              </a:lnSpc>
              <a:buFont typeface="Arial"/>
              <a:buChar char="•"/>
            </a:pPr>
            <a:r>
              <a:rPr lang="en-US" sz="2199" spc="-125">
                <a:solidFill>
                  <a:srgbClr val="502A22"/>
                </a:solidFill>
                <a:latin typeface="Bai Jamjuree"/>
                <a:ea typeface="Bai Jamjuree"/>
                <a:cs typeface="Bai Jamjuree"/>
                <a:sym typeface="Bai Jamjuree"/>
              </a:rPr>
              <a:t>Measure email clicks and conversions, not just open rates</a:t>
            </a:r>
          </a:p>
          <a:p>
            <a:pPr algn="l" marL="474979" indent="-237490" lvl="1">
              <a:lnSpc>
                <a:spcPts val="2485"/>
              </a:lnSpc>
              <a:buFont typeface="Arial"/>
              <a:buChar char="•"/>
            </a:pPr>
            <a:r>
              <a:rPr lang="en-US" sz="2199" spc="-125">
                <a:solidFill>
                  <a:srgbClr val="502A22"/>
                </a:solidFill>
                <a:latin typeface="Bai Jamjuree"/>
                <a:ea typeface="Bai Jamjuree"/>
                <a:cs typeface="Bai Jamjuree"/>
                <a:sym typeface="Bai Jamjuree"/>
              </a:rPr>
              <a:t>Develop the therapist community as a next step</a:t>
            </a:r>
          </a:p>
          <a:p>
            <a:pPr algn="l" marL="474979" indent="-237490" lvl="1">
              <a:lnSpc>
                <a:spcPts val="2485"/>
              </a:lnSpc>
              <a:buFont typeface="Arial"/>
              <a:buChar char="•"/>
            </a:pPr>
            <a:r>
              <a:rPr lang="en-US" sz="2199" spc="-125">
                <a:solidFill>
                  <a:srgbClr val="502A22"/>
                </a:solidFill>
                <a:latin typeface="Bai Jamjuree"/>
                <a:ea typeface="Bai Jamjuree"/>
                <a:cs typeface="Bai Jamjuree"/>
                <a:sym typeface="Bai Jamjuree"/>
              </a:rPr>
              <a:t>Deprioritise expensive new channels for now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948901" y="8792666"/>
            <a:ext cx="12490845" cy="883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4"/>
              </a:lnSpc>
            </a:pPr>
            <a:r>
              <a:rPr lang="en-US" sz="2581">
                <a:solidFill>
                  <a:srgbClr val="502A22"/>
                </a:solidFill>
                <a:latin typeface="TAN Aegean"/>
                <a:ea typeface="TAN Aegean"/>
                <a:cs typeface="TAN Aegean"/>
                <a:sym typeface="TAN Aegean"/>
              </a:rPr>
              <a:t>Ma</a:t>
            </a:r>
            <a:r>
              <a:rPr lang="en-US" sz="2581">
                <a:solidFill>
                  <a:srgbClr val="502A22"/>
                </a:solidFill>
                <a:latin typeface="TAN Aegean"/>
                <a:ea typeface="TAN Aegean"/>
                <a:cs typeface="TAN Aegean"/>
                <a:sym typeface="TAN Aegean"/>
              </a:rPr>
              <a:t>uli should focus on building long-term customer relationships while reducing its dependence on paid advertising.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B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60437" y="2114348"/>
            <a:ext cx="997262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Where to execute with limited resources?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730246" y="278449"/>
            <a:ext cx="2306398" cy="1329110"/>
          </a:xfrm>
          <a:custGeom>
            <a:avLst/>
            <a:gdLst/>
            <a:ahLst/>
            <a:cxnLst/>
            <a:rect r="r" b="b" t="t" l="l"/>
            <a:pathLst>
              <a:path h="1329110" w="2306398">
                <a:moveTo>
                  <a:pt x="0" y="0"/>
                </a:moveTo>
                <a:lnTo>
                  <a:pt x="2306398" y="0"/>
                </a:lnTo>
                <a:lnTo>
                  <a:pt x="2306398" y="1329110"/>
                </a:lnTo>
                <a:lnTo>
                  <a:pt x="0" y="13291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-151679"/>
            <a:ext cx="5150506" cy="10438679"/>
            <a:chOff x="0" y="0"/>
            <a:chExt cx="457916" cy="9280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7916" cy="928072"/>
            </a:xfrm>
            <a:custGeom>
              <a:avLst/>
              <a:gdLst/>
              <a:ahLst/>
              <a:cxnLst/>
              <a:rect r="r" b="b" t="t" l="l"/>
              <a:pathLst>
                <a:path h="928072" w="457916">
                  <a:moveTo>
                    <a:pt x="0" y="0"/>
                  </a:moveTo>
                  <a:lnTo>
                    <a:pt x="457916" y="0"/>
                  </a:lnTo>
                  <a:lnTo>
                    <a:pt x="457916" y="928072"/>
                  </a:lnTo>
                  <a:lnTo>
                    <a:pt x="0" y="928072"/>
                  </a:lnTo>
                  <a:close/>
                </a:path>
              </a:pathLst>
            </a:custGeom>
            <a:blipFill>
              <a:blip r:embed="rId3"/>
              <a:stretch>
                <a:fillRect l="-75883" t="0" r="-75883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050912" y="1285875"/>
            <a:ext cx="8707666" cy="900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74"/>
              </a:lnSpc>
              <a:spcBef>
                <a:spcPct val="0"/>
              </a:spcBef>
            </a:pPr>
            <a:r>
              <a:rPr lang="en-US" sz="7616" strike="noStrike" u="none">
                <a:solidFill>
                  <a:srgbClr val="1D1D1B"/>
                </a:solidFill>
                <a:latin typeface="TAN Aegean"/>
                <a:ea typeface="TAN Aegean"/>
                <a:cs typeface="TAN Aegean"/>
                <a:sym typeface="TAN Aegean"/>
              </a:rPr>
              <a:t>Margin Leaks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57900" y="5681792"/>
            <a:ext cx="6401328" cy="981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61"/>
              </a:lnSpc>
              <a:spcBef>
                <a:spcPct val="0"/>
              </a:spcBef>
            </a:pPr>
            <a:r>
              <a:rPr lang="en-US" sz="7461" spc="-223" strike="noStrike" u="none">
                <a:solidFill>
                  <a:srgbClr val="1D1D1B"/>
                </a:solidFill>
                <a:latin typeface="Bai Jamjuree"/>
                <a:ea typeface="Bai Jamjuree"/>
                <a:cs typeface="Bai Jamjuree"/>
                <a:sym typeface="Bai Jamjuree"/>
              </a:rPr>
              <a:t>£17-£22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57900" y="6703107"/>
            <a:ext cx="6186388" cy="72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0"/>
              </a:lnSpc>
              <a:spcBef>
                <a:spcPct val="0"/>
              </a:spcBef>
            </a:pPr>
            <a:r>
              <a:rPr lang="en-US" sz="2567" strike="noStrike" u="none">
                <a:solidFill>
                  <a:srgbClr val="1D1D1B"/>
                </a:solidFill>
                <a:latin typeface="Bai Jamjuree"/>
                <a:ea typeface="Bai Jamjuree"/>
                <a:cs typeface="Bai Jamjuree"/>
                <a:sym typeface="Bai Jamjuree"/>
              </a:rPr>
              <a:t>Left from an £87 sale at Space NK terms, before product and logistics costs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61406" y="3389297"/>
            <a:ext cx="6401328" cy="981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61"/>
              </a:lnSpc>
              <a:spcBef>
                <a:spcPct val="0"/>
              </a:spcBef>
            </a:pPr>
            <a:r>
              <a:rPr lang="en-US" sz="7461" spc="-223" strike="noStrike" u="none">
                <a:solidFill>
                  <a:srgbClr val="1D1D1B"/>
                </a:solidFill>
                <a:latin typeface="Bai Jamjuree"/>
                <a:ea typeface="Bai Jamjuree"/>
                <a:cs typeface="Bai Jamjuree"/>
                <a:sym typeface="Bai Jamjuree"/>
              </a:rPr>
              <a:t>72%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61406" y="4399744"/>
            <a:ext cx="6186388" cy="72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0"/>
              </a:lnSpc>
              <a:spcBef>
                <a:spcPct val="0"/>
              </a:spcBef>
            </a:pPr>
            <a:r>
              <a:rPr lang="en-US" sz="2567" strike="noStrike" u="none">
                <a:solidFill>
                  <a:srgbClr val="1D1D1B"/>
                </a:solidFill>
                <a:latin typeface="Bai Jamjuree"/>
                <a:ea typeface="Bai Jamjuree"/>
                <a:cs typeface="Bai Jamjuree"/>
                <a:sym typeface="Bai Jamjuree"/>
              </a:rPr>
              <a:t>Of marketing spend goes to Meta; the first order is near breakeven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57900" y="8051047"/>
            <a:ext cx="6401328" cy="981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61"/>
              </a:lnSpc>
              <a:spcBef>
                <a:spcPct val="0"/>
              </a:spcBef>
            </a:pPr>
            <a:r>
              <a:rPr lang="en-US" sz="7461" spc="-223" strike="noStrike" u="none">
                <a:solidFill>
                  <a:srgbClr val="1D1D1B"/>
                </a:solidFill>
                <a:latin typeface="Bai Jamjuree"/>
                <a:ea typeface="Bai Jamjuree"/>
                <a:cs typeface="Bai Jamjuree"/>
                <a:sym typeface="Bai Jamjuree"/>
              </a:rPr>
              <a:t>54%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057900" y="9072362"/>
            <a:ext cx="6186388" cy="72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0"/>
              </a:lnSpc>
              <a:spcBef>
                <a:spcPct val="0"/>
              </a:spcBef>
            </a:pPr>
            <a:r>
              <a:rPr lang="en-US" sz="2567" strike="noStrike" u="none">
                <a:solidFill>
                  <a:srgbClr val="1D1D1B"/>
                </a:solidFill>
                <a:latin typeface="Bai Jamjuree"/>
                <a:ea typeface="Bai Jamjuree"/>
                <a:cs typeface="Bai Jamjuree"/>
                <a:sym typeface="Bai Jamjuree"/>
              </a:rPr>
              <a:t>Repeat rate: profit sits in repeat orders, not the first</a:t>
            </a:r>
          </a:p>
        </p:txBody>
      </p:sp>
      <p:sp>
        <p:nvSpPr>
          <p:cNvPr name="Freeform 13" id="13" descr="Hands holding a Mauli bottle"/>
          <p:cNvSpPr/>
          <p:nvPr/>
        </p:nvSpPr>
        <p:spPr>
          <a:xfrm flipH="false" flipV="false" rot="0">
            <a:off x="12702644" y="4370484"/>
            <a:ext cx="5334000" cy="5334000"/>
          </a:xfrm>
          <a:custGeom>
            <a:avLst/>
            <a:gdLst/>
            <a:ahLst/>
            <a:cxnLst/>
            <a:rect r="r" b="b" t="t" l="l"/>
            <a:pathLst>
              <a:path h="5334000" w="5334000">
                <a:moveTo>
                  <a:pt x="0" y="0"/>
                </a:moveTo>
                <a:lnTo>
                  <a:pt x="5334000" y="0"/>
                </a:lnTo>
                <a:lnTo>
                  <a:pt x="5334000" y="5334000"/>
                </a:lnTo>
                <a:lnTo>
                  <a:pt x="0" y="5334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B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294340"/>
            <a:ext cx="3149484" cy="788430"/>
            <a:chOff x="0" y="0"/>
            <a:chExt cx="829494" cy="2076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29494" cy="207652"/>
            </a:xfrm>
            <a:custGeom>
              <a:avLst/>
              <a:gdLst/>
              <a:ahLst/>
              <a:cxnLst/>
              <a:rect r="r" b="b" t="t" l="l"/>
              <a:pathLst>
                <a:path h="207652" w="829494">
                  <a:moveTo>
                    <a:pt x="0" y="0"/>
                  </a:moveTo>
                  <a:lnTo>
                    <a:pt x="829494" y="0"/>
                  </a:lnTo>
                  <a:lnTo>
                    <a:pt x="829494" y="207652"/>
                  </a:lnTo>
                  <a:lnTo>
                    <a:pt x="0" y="207652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829494" cy="236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31432" y="4314879"/>
            <a:ext cx="6409120" cy="4943421"/>
            <a:chOff x="0" y="0"/>
            <a:chExt cx="992940" cy="7658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92940" cy="765865"/>
            </a:xfrm>
            <a:custGeom>
              <a:avLst/>
              <a:gdLst/>
              <a:ahLst/>
              <a:cxnLst/>
              <a:rect r="r" b="b" t="t" l="l"/>
              <a:pathLst>
                <a:path h="765865" w="992940">
                  <a:moveTo>
                    <a:pt x="0" y="0"/>
                  </a:moveTo>
                  <a:lnTo>
                    <a:pt x="992940" y="0"/>
                  </a:lnTo>
                  <a:lnTo>
                    <a:pt x="992940" y="765865"/>
                  </a:lnTo>
                  <a:lnTo>
                    <a:pt x="0" y="765865"/>
                  </a:lnTo>
                  <a:close/>
                </a:path>
              </a:pathLst>
            </a:custGeom>
            <a:blipFill>
              <a:blip r:embed="rId2"/>
              <a:stretch>
                <a:fillRect l="-7817" t="0" r="-7817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291068" y="3294340"/>
            <a:ext cx="3149484" cy="788430"/>
            <a:chOff x="0" y="0"/>
            <a:chExt cx="829494" cy="2076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29494" cy="207652"/>
            </a:xfrm>
            <a:custGeom>
              <a:avLst/>
              <a:gdLst/>
              <a:ahLst/>
              <a:cxnLst/>
              <a:rect r="r" b="b" t="t" l="l"/>
              <a:pathLst>
                <a:path h="207652" w="829494">
                  <a:moveTo>
                    <a:pt x="0" y="0"/>
                  </a:moveTo>
                  <a:lnTo>
                    <a:pt x="829494" y="0"/>
                  </a:lnTo>
                  <a:lnTo>
                    <a:pt x="829494" y="207652"/>
                  </a:lnTo>
                  <a:lnTo>
                    <a:pt x="0" y="207652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829494" cy="236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553680" y="3294340"/>
            <a:ext cx="3149484" cy="788430"/>
            <a:chOff x="0" y="0"/>
            <a:chExt cx="829494" cy="2076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29494" cy="207652"/>
            </a:xfrm>
            <a:custGeom>
              <a:avLst/>
              <a:gdLst/>
              <a:ahLst/>
              <a:cxnLst/>
              <a:rect r="r" b="b" t="t" l="l"/>
              <a:pathLst>
                <a:path h="207652" w="829494">
                  <a:moveTo>
                    <a:pt x="0" y="0"/>
                  </a:moveTo>
                  <a:lnTo>
                    <a:pt x="829494" y="0"/>
                  </a:lnTo>
                  <a:lnTo>
                    <a:pt x="829494" y="207652"/>
                  </a:lnTo>
                  <a:lnTo>
                    <a:pt x="0" y="207652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829494" cy="236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553680" y="4314879"/>
            <a:ext cx="3149484" cy="4943421"/>
            <a:chOff x="0" y="0"/>
            <a:chExt cx="487937" cy="765865"/>
          </a:xfrm>
        </p:grpSpPr>
        <p:sp>
          <p:nvSpPr>
            <p:cNvPr name="Freeform 14" id="14" descr="Amber oil droplets"/>
            <p:cNvSpPr/>
            <p:nvPr/>
          </p:nvSpPr>
          <p:spPr>
            <a:xfrm flipH="false" flipV="false" rot="0">
              <a:off x="0" y="0"/>
              <a:ext cx="487937" cy="765865"/>
            </a:xfrm>
            <a:custGeom>
              <a:avLst/>
              <a:gdLst/>
              <a:ahLst/>
              <a:cxnLst/>
              <a:rect r="r" b="b" t="t" l="l"/>
              <a:pathLst>
                <a:path h="765865" w="487937">
                  <a:moveTo>
                    <a:pt x="0" y="0"/>
                  </a:moveTo>
                  <a:lnTo>
                    <a:pt x="487937" y="0"/>
                  </a:lnTo>
                  <a:lnTo>
                    <a:pt x="487937" y="765865"/>
                  </a:lnTo>
                  <a:lnTo>
                    <a:pt x="0" y="765865"/>
                  </a:lnTo>
                  <a:close/>
                </a:path>
              </a:pathLst>
            </a:custGeom>
            <a:blipFill>
              <a:blip r:embed="rId3"/>
              <a:stretch>
                <a:fillRect l="-8859" t="0" r="-8859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816048" y="3294340"/>
            <a:ext cx="3149484" cy="788430"/>
            <a:chOff x="0" y="0"/>
            <a:chExt cx="829494" cy="2076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29494" cy="207652"/>
            </a:xfrm>
            <a:custGeom>
              <a:avLst/>
              <a:gdLst/>
              <a:ahLst/>
              <a:cxnLst/>
              <a:rect r="r" b="b" t="t" l="l"/>
              <a:pathLst>
                <a:path h="207652" w="829494">
                  <a:moveTo>
                    <a:pt x="0" y="0"/>
                  </a:moveTo>
                  <a:lnTo>
                    <a:pt x="829494" y="0"/>
                  </a:lnTo>
                  <a:lnTo>
                    <a:pt x="829494" y="207652"/>
                  </a:lnTo>
                  <a:lnTo>
                    <a:pt x="0" y="207652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829494" cy="236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816048" y="4314879"/>
            <a:ext cx="3149484" cy="4943421"/>
            <a:chOff x="0" y="0"/>
            <a:chExt cx="487937" cy="765865"/>
          </a:xfrm>
        </p:grpSpPr>
        <p:sp>
          <p:nvSpPr>
            <p:cNvPr name="Freeform 19" id="19" descr="Saffron threads in a bowl"/>
            <p:cNvSpPr/>
            <p:nvPr/>
          </p:nvSpPr>
          <p:spPr>
            <a:xfrm flipH="false" flipV="false" rot="0">
              <a:off x="0" y="0"/>
              <a:ext cx="487937" cy="765865"/>
            </a:xfrm>
            <a:custGeom>
              <a:avLst/>
              <a:gdLst/>
              <a:ahLst/>
              <a:cxnLst/>
              <a:rect r="r" b="b" t="t" l="l"/>
              <a:pathLst>
                <a:path h="765865" w="487937">
                  <a:moveTo>
                    <a:pt x="0" y="0"/>
                  </a:moveTo>
                  <a:lnTo>
                    <a:pt x="487937" y="0"/>
                  </a:lnTo>
                  <a:lnTo>
                    <a:pt x="487937" y="765865"/>
                  </a:lnTo>
                  <a:lnTo>
                    <a:pt x="0" y="765865"/>
                  </a:lnTo>
                  <a:close/>
                </a:path>
              </a:pathLst>
            </a:custGeom>
            <a:blipFill>
              <a:blip r:embed="rId4"/>
              <a:stretch>
                <a:fillRect l="-28479" t="0" r="-28479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109816" y="3294340"/>
            <a:ext cx="3149484" cy="5963960"/>
            <a:chOff x="0" y="0"/>
            <a:chExt cx="829494" cy="157075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29494" cy="1570755"/>
            </a:xfrm>
            <a:custGeom>
              <a:avLst/>
              <a:gdLst/>
              <a:ahLst/>
              <a:cxnLst/>
              <a:rect r="r" b="b" t="t" l="l"/>
              <a:pathLst>
                <a:path h="1570755" w="829494">
                  <a:moveTo>
                    <a:pt x="0" y="0"/>
                  </a:moveTo>
                  <a:lnTo>
                    <a:pt x="829494" y="0"/>
                  </a:lnTo>
                  <a:lnTo>
                    <a:pt x="829494" y="1570755"/>
                  </a:lnTo>
                  <a:lnTo>
                    <a:pt x="0" y="1570755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829494" cy="1599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364387" y="3275449"/>
            <a:ext cx="2483574" cy="38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2"/>
              </a:lnSpc>
              <a:spcBef>
                <a:spcPct val="0"/>
              </a:spcBef>
            </a:pPr>
            <a:r>
              <a:rPr lang="en-US" b="true" sz="2230" strike="noStrike" u="none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RITUAL PAGES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301967" y="3320358"/>
            <a:ext cx="3071242" cy="355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82"/>
              </a:lnSpc>
              <a:spcBef>
                <a:spcPct val="0"/>
              </a:spcBef>
            </a:pPr>
            <a:r>
              <a:rPr lang="en-US" b="true" sz="2130" strike="noStrike" u="none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SHOPIFY UCP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981259" y="3278774"/>
            <a:ext cx="2221389" cy="38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2"/>
              </a:lnSpc>
              <a:spcBef>
                <a:spcPct val="0"/>
              </a:spcBef>
            </a:pPr>
            <a:r>
              <a:rPr lang="en-US" b="true" sz="2230" strike="noStrike" u="none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LIVE QUIZ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246089" y="3246715"/>
            <a:ext cx="2195045" cy="38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2"/>
              </a:lnSpc>
              <a:spcBef>
                <a:spcPct val="0"/>
              </a:spcBef>
            </a:pPr>
            <a:r>
              <a:rPr lang="en-US" b="true" sz="2230" strike="noStrike" u="none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PROFILE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245125" y="3413653"/>
            <a:ext cx="2878866" cy="38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2"/>
              </a:lnSpc>
            </a:pPr>
            <a:r>
              <a:rPr lang="en-US" b="true" sz="2230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EVIDENCES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8700" y="2006522"/>
            <a:ext cx="997262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Emerging technology for communication &amp; retail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700" y="895350"/>
            <a:ext cx="10917473" cy="1177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8"/>
              </a:lnSpc>
            </a:pPr>
            <a:r>
              <a:rPr lang="en-US" sz="6877">
                <a:solidFill>
                  <a:srgbClr val="000000"/>
                </a:solidFill>
                <a:latin typeface="TAN Aegean"/>
                <a:ea typeface="TAN Aegean"/>
                <a:cs typeface="TAN Aegean"/>
                <a:sym typeface="TAN Aegean"/>
              </a:rPr>
              <a:t>Q4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5747004" y="243713"/>
            <a:ext cx="2306398" cy="1329110"/>
          </a:xfrm>
          <a:custGeom>
            <a:avLst/>
            <a:gdLst/>
            <a:ahLst/>
            <a:cxnLst/>
            <a:rect r="r" b="b" t="t" l="l"/>
            <a:pathLst>
              <a:path h="1329110" w="2306398">
                <a:moveTo>
                  <a:pt x="0" y="0"/>
                </a:moveTo>
                <a:lnTo>
                  <a:pt x="2306398" y="0"/>
                </a:lnTo>
                <a:lnTo>
                  <a:pt x="2306398" y="1329111"/>
                </a:lnTo>
                <a:lnTo>
                  <a:pt x="0" y="13291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4245125" y="4138416"/>
            <a:ext cx="2878866" cy="3989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6235" indent="-178118" lvl="1">
              <a:lnSpc>
                <a:spcPts val="2145"/>
              </a:lnSpc>
              <a:spcBef>
                <a:spcPct val="0"/>
              </a:spcBef>
              <a:buFont typeface="Arial"/>
              <a:buChar char="•"/>
            </a:pPr>
            <a:r>
              <a:rPr lang="en-US" sz="1650" strike="noStrike" u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ONE APPROVED RECORD PER RITUAL: PURPOSE, DOSHA, STEPS, PRICES, PERMITTED CLAIMS</a:t>
            </a:r>
          </a:p>
          <a:p>
            <a:pPr algn="l" marL="356235" indent="-178118" lvl="1">
              <a:lnSpc>
                <a:spcPts val="2145"/>
              </a:lnSpc>
              <a:spcBef>
                <a:spcPct val="0"/>
              </a:spcBef>
              <a:buFont typeface="Arial"/>
              <a:buChar char="•"/>
            </a:pPr>
            <a:r>
              <a:rPr lang="en-US" sz="1650" strike="noStrike" u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STRUCTURED DATA THROUGH SHOPIFY'S UNIVERSAL COMMERCE PROTOCOL</a:t>
            </a:r>
          </a:p>
          <a:p>
            <a:pPr algn="l" marL="356235" indent="-178118" lvl="1">
              <a:lnSpc>
                <a:spcPts val="2145"/>
              </a:lnSpc>
              <a:spcBef>
                <a:spcPct val="0"/>
              </a:spcBef>
              <a:buFont typeface="Arial"/>
              <a:buChar char="•"/>
            </a:pPr>
            <a:r>
              <a:rPr lang="en-US" sz="1650" strike="noStrike" u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QUIZ PICKS FROM LIVE STOCK; AI CANNOT ADD OR REORDER PRODUCTS</a:t>
            </a:r>
          </a:p>
          <a:p>
            <a:pPr algn="l" marL="356235" indent="-178118" lvl="1">
              <a:lnSpc>
                <a:spcPts val="2145"/>
              </a:lnSpc>
              <a:spcBef>
                <a:spcPct val="0"/>
              </a:spcBef>
              <a:buFont typeface="Arial"/>
              <a:buChar char="•"/>
            </a:pPr>
            <a:r>
              <a:rPr lang="en-US" sz="1650" strike="noStrike" u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PROFILE EMAILS EARN ABOUT 6X REVENUE PER RECIPIENT ($2.09 VS $0.32)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B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006522"/>
            <a:ext cx="997262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Future Metrics, Roadmap &amp; Recommendation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895350"/>
            <a:ext cx="13083390" cy="1177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8"/>
              </a:lnSpc>
            </a:pPr>
            <a:r>
              <a:rPr lang="en-US" sz="6877">
                <a:solidFill>
                  <a:srgbClr val="000000"/>
                </a:solidFill>
                <a:latin typeface="TAN Aegean"/>
                <a:ea typeface="TAN Aegean"/>
                <a:cs typeface="TAN Aegean"/>
                <a:sym typeface="TAN Aegean"/>
              </a:rPr>
              <a:t>Q5-Redefining Success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747004" y="243713"/>
            <a:ext cx="2306398" cy="1329110"/>
          </a:xfrm>
          <a:custGeom>
            <a:avLst/>
            <a:gdLst/>
            <a:ahLst/>
            <a:cxnLst/>
            <a:rect r="r" b="b" t="t" l="l"/>
            <a:pathLst>
              <a:path h="1329110" w="2306398">
                <a:moveTo>
                  <a:pt x="0" y="0"/>
                </a:moveTo>
                <a:lnTo>
                  <a:pt x="2306398" y="0"/>
                </a:lnTo>
                <a:lnTo>
                  <a:pt x="2306398" y="1329111"/>
                </a:lnTo>
                <a:lnTo>
                  <a:pt x="0" y="13291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3200426"/>
            <a:ext cx="5074458" cy="3130655"/>
            <a:chOff x="0" y="0"/>
            <a:chExt cx="2267793" cy="13991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67793" cy="1399101"/>
            </a:xfrm>
            <a:custGeom>
              <a:avLst/>
              <a:gdLst/>
              <a:ahLst/>
              <a:cxnLst/>
              <a:rect r="r" b="b" t="t" l="l"/>
              <a:pathLst>
                <a:path h="1399101" w="2267793">
                  <a:moveTo>
                    <a:pt x="0" y="0"/>
                  </a:moveTo>
                  <a:lnTo>
                    <a:pt x="2267793" y="0"/>
                  </a:lnTo>
                  <a:lnTo>
                    <a:pt x="2267793" y="1399101"/>
                  </a:lnTo>
                  <a:lnTo>
                    <a:pt x="0" y="1399101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2267793" cy="1370526"/>
            </a:xfrm>
            <a:prstGeom prst="rect">
              <a:avLst/>
            </a:prstGeom>
          </p:spPr>
          <p:txBody>
            <a:bodyPr anchor="ctr" rtlCol="false" tIns="34931" lIns="34931" bIns="34931" rIns="34931"/>
            <a:lstStyle/>
            <a:p>
              <a:pPr algn="ctr">
                <a:lnSpc>
                  <a:spcPts val="1922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594217" y="3200426"/>
            <a:ext cx="5074458" cy="3130655"/>
            <a:chOff x="0" y="0"/>
            <a:chExt cx="2267793" cy="139910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7793" cy="1399101"/>
            </a:xfrm>
            <a:custGeom>
              <a:avLst/>
              <a:gdLst/>
              <a:ahLst/>
              <a:cxnLst/>
              <a:rect r="r" b="b" t="t" l="l"/>
              <a:pathLst>
                <a:path h="1399101" w="2267793">
                  <a:moveTo>
                    <a:pt x="0" y="0"/>
                  </a:moveTo>
                  <a:lnTo>
                    <a:pt x="2267793" y="0"/>
                  </a:lnTo>
                  <a:lnTo>
                    <a:pt x="2267793" y="1399101"/>
                  </a:lnTo>
                  <a:lnTo>
                    <a:pt x="0" y="1399101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2267793" cy="1370526"/>
            </a:xfrm>
            <a:prstGeom prst="rect">
              <a:avLst/>
            </a:prstGeom>
          </p:spPr>
          <p:txBody>
            <a:bodyPr anchor="ctr" rtlCol="false" tIns="34931" lIns="34931" bIns="34931" rIns="34931"/>
            <a:lstStyle/>
            <a:p>
              <a:pPr algn="ctr">
                <a:lnSpc>
                  <a:spcPts val="1922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158976" y="3200426"/>
            <a:ext cx="5074458" cy="3130655"/>
            <a:chOff x="0" y="0"/>
            <a:chExt cx="2267793" cy="13991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67793" cy="1399101"/>
            </a:xfrm>
            <a:custGeom>
              <a:avLst/>
              <a:gdLst/>
              <a:ahLst/>
              <a:cxnLst/>
              <a:rect r="r" b="b" t="t" l="l"/>
              <a:pathLst>
                <a:path h="1399101" w="2267793">
                  <a:moveTo>
                    <a:pt x="0" y="0"/>
                  </a:moveTo>
                  <a:lnTo>
                    <a:pt x="2267793" y="0"/>
                  </a:lnTo>
                  <a:lnTo>
                    <a:pt x="2267793" y="1399101"/>
                  </a:lnTo>
                  <a:lnTo>
                    <a:pt x="0" y="1399101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2267793" cy="1370526"/>
            </a:xfrm>
            <a:prstGeom prst="rect">
              <a:avLst/>
            </a:prstGeom>
          </p:spPr>
          <p:txBody>
            <a:bodyPr anchor="ctr" rtlCol="false" tIns="34931" lIns="34931" bIns="34931" rIns="34931"/>
            <a:lstStyle/>
            <a:p>
              <a:pPr algn="ctr">
                <a:lnSpc>
                  <a:spcPts val="1922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01187" y="3885281"/>
            <a:ext cx="4529483" cy="1530509"/>
            <a:chOff x="0" y="0"/>
            <a:chExt cx="2078366" cy="702279"/>
          </a:xfrm>
        </p:grpSpPr>
        <p:sp>
          <p:nvSpPr>
            <p:cNvPr name="Freeform 15" id="15" descr="Woman with long dark hair"/>
            <p:cNvSpPr/>
            <p:nvPr/>
          </p:nvSpPr>
          <p:spPr>
            <a:xfrm flipH="false" flipV="false" rot="0">
              <a:off x="0" y="0"/>
              <a:ext cx="2078366" cy="702279"/>
            </a:xfrm>
            <a:custGeom>
              <a:avLst/>
              <a:gdLst/>
              <a:ahLst/>
              <a:cxnLst/>
              <a:rect r="r" b="b" t="t" l="l"/>
              <a:pathLst>
                <a:path h="702279" w="2078366">
                  <a:moveTo>
                    <a:pt x="0" y="0"/>
                  </a:moveTo>
                  <a:lnTo>
                    <a:pt x="2078366" y="0"/>
                  </a:lnTo>
                  <a:lnTo>
                    <a:pt x="2078366" y="702279"/>
                  </a:lnTo>
                  <a:lnTo>
                    <a:pt x="0" y="702279"/>
                  </a:lnTo>
                  <a:close/>
                </a:path>
              </a:pathLst>
            </a:custGeom>
            <a:blipFill>
              <a:blip r:embed="rId3"/>
              <a:stretch>
                <a:fillRect l="0" t="-97973" r="0" b="-97973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481023" y="3885281"/>
            <a:ext cx="4529483" cy="1530509"/>
            <a:chOff x="0" y="0"/>
            <a:chExt cx="2078366" cy="702279"/>
          </a:xfrm>
        </p:grpSpPr>
        <p:sp>
          <p:nvSpPr>
            <p:cNvPr name="Freeform 17" id="17" descr="Hands holding a Mauli bottle"/>
            <p:cNvSpPr/>
            <p:nvPr/>
          </p:nvSpPr>
          <p:spPr>
            <a:xfrm flipH="false" flipV="false" rot="0">
              <a:off x="0" y="0"/>
              <a:ext cx="2078366" cy="702279"/>
            </a:xfrm>
            <a:custGeom>
              <a:avLst/>
              <a:gdLst/>
              <a:ahLst/>
              <a:cxnLst/>
              <a:rect r="r" b="b" t="t" l="l"/>
              <a:pathLst>
                <a:path h="702279" w="2078366">
                  <a:moveTo>
                    <a:pt x="0" y="0"/>
                  </a:moveTo>
                  <a:lnTo>
                    <a:pt x="2078366" y="0"/>
                  </a:lnTo>
                  <a:lnTo>
                    <a:pt x="2078366" y="702279"/>
                  </a:lnTo>
                  <a:lnTo>
                    <a:pt x="0" y="702279"/>
                  </a:lnTo>
                  <a:close/>
                </a:path>
              </a:pathLst>
            </a:custGeom>
            <a:blipFill>
              <a:blip r:embed="rId4"/>
              <a:stretch>
                <a:fillRect l="0" t="-97973" r="0" b="-97973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52394" y="6542175"/>
            <a:ext cx="5075114" cy="3057629"/>
            <a:chOff x="0" y="0"/>
            <a:chExt cx="3031002" cy="182610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031002" cy="1826103"/>
            </a:xfrm>
            <a:custGeom>
              <a:avLst/>
              <a:gdLst/>
              <a:ahLst/>
              <a:cxnLst/>
              <a:rect r="r" b="b" t="t" l="l"/>
              <a:pathLst>
                <a:path h="1826103" w="3031002">
                  <a:moveTo>
                    <a:pt x="0" y="0"/>
                  </a:moveTo>
                  <a:lnTo>
                    <a:pt x="3031002" y="0"/>
                  </a:lnTo>
                  <a:lnTo>
                    <a:pt x="3031002" y="1826103"/>
                  </a:lnTo>
                  <a:lnTo>
                    <a:pt x="0" y="1826103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28575"/>
              <a:ext cx="3031002" cy="1797528"/>
            </a:xfrm>
            <a:prstGeom prst="rect">
              <a:avLst/>
            </a:prstGeom>
          </p:spPr>
          <p:txBody>
            <a:bodyPr anchor="ctr" rtlCol="false" tIns="34931" lIns="34931" bIns="34931" rIns="34931"/>
            <a:lstStyle/>
            <a:p>
              <a:pPr algn="ctr">
                <a:lnSpc>
                  <a:spcPts val="1922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618669" y="6542175"/>
            <a:ext cx="5075114" cy="3057629"/>
            <a:chOff x="0" y="0"/>
            <a:chExt cx="3031002" cy="182610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031002" cy="1826103"/>
            </a:xfrm>
            <a:custGeom>
              <a:avLst/>
              <a:gdLst/>
              <a:ahLst/>
              <a:cxnLst/>
              <a:rect r="r" b="b" t="t" l="l"/>
              <a:pathLst>
                <a:path h="1826103" w="3031002">
                  <a:moveTo>
                    <a:pt x="0" y="0"/>
                  </a:moveTo>
                  <a:lnTo>
                    <a:pt x="3031002" y="0"/>
                  </a:lnTo>
                  <a:lnTo>
                    <a:pt x="3031002" y="1826103"/>
                  </a:lnTo>
                  <a:lnTo>
                    <a:pt x="0" y="1826103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28575"/>
              <a:ext cx="3031002" cy="1797528"/>
            </a:xfrm>
            <a:prstGeom prst="rect">
              <a:avLst/>
            </a:prstGeom>
          </p:spPr>
          <p:txBody>
            <a:bodyPr anchor="ctr" rtlCol="false" tIns="34931" lIns="34931" bIns="34931" rIns="34931"/>
            <a:lstStyle/>
            <a:p>
              <a:pPr algn="ctr">
                <a:lnSpc>
                  <a:spcPts val="1922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184186" y="6542175"/>
            <a:ext cx="5075114" cy="3057629"/>
            <a:chOff x="0" y="0"/>
            <a:chExt cx="3031002" cy="182610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031002" cy="1826103"/>
            </a:xfrm>
            <a:custGeom>
              <a:avLst/>
              <a:gdLst/>
              <a:ahLst/>
              <a:cxnLst/>
              <a:rect r="r" b="b" t="t" l="l"/>
              <a:pathLst>
                <a:path h="1826103" w="3031002">
                  <a:moveTo>
                    <a:pt x="0" y="0"/>
                  </a:moveTo>
                  <a:lnTo>
                    <a:pt x="3031002" y="0"/>
                  </a:lnTo>
                  <a:lnTo>
                    <a:pt x="3031002" y="1826103"/>
                  </a:lnTo>
                  <a:lnTo>
                    <a:pt x="0" y="1826103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28575"/>
              <a:ext cx="3031002" cy="1797528"/>
            </a:xfrm>
            <a:prstGeom prst="rect">
              <a:avLst/>
            </a:prstGeom>
          </p:spPr>
          <p:txBody>
            <a:bodyPr anchor="ctr" rtlCol="false" tIns="34931" lIns="34931" bIns="34931" rIns="34931"/>
            <a:lstStyle/>
            <a:p>
              <a:pPr algn="ctr">
                <a:lnSpc>
                  <a:spcPts val="1922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431170" y="7191443"/>
            <a:ext cx="4530069" cy="1467337"/>
            <a:chOff x="0" y="0"/>
            <a:chExt cx="2777825" cy="899767"/>
          </a:xfrm>
        </p:grpSpPr>
        <p:sp>
          <p:nvSpPr>
            <p:cNvPr name="Freeform 28" id="28" descr="Portrait with golden light"/>
            <p:cNvSpPr/>
            <p:nvPr/>
          </p:nvSpPr>
          <p:spPr>
            <a:xfrm flipH="false" flipV="false" rot="0">
              <a:off x="0" y="0"/>
              <a:ext cx="2777825" cy="899767"/>
            </a:xfrm>
            <a:custGeom>
              <a:avLst/>
              <a:gdLst/>
              <a:ahLst/>
              <a:cxnLst/>
              <a:rect r="r" b="b" t="t" l="l"/>
              <a:pathLst>
                <a:path h="899767" w="2777825">
                  <a:moveTo>
                    <a:pt x="0" y="0"/>
                  </a:moveTo>
                  <a:lnTo>
                    <a:pt x="2777825" y="0"/>
                  </a:lnTo>
                  <a:lnTo>
                    <a:pt x="2777825" y="899767"/>
                  </a:lnTo>
                  <a:lnTo>
                    <a:pt x="0" y="899767"/>
                  </a:lnTo>
                  <a:close/>
                </a:path>
              </a:pathLst>
            </a:custGeom>
            <a:blipFill>
              <a:blip r:embed="rId5"/>
              <a:stretch>
                <a:fillRect l="0" t="-61720" r="0" b="-6172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347393" y="7191443"/>
            <a:ext cx="4530069" cy="1467337"/>
            <a:chOff x="0" y="0"/>
            <a:chExt cx="2777825" cy="899767"/>
          </a:xfrm>
        </p:grpSpPr>
        <p:sp>
          <p:nvSpPr>
            <p:cNvPr name="Freeform 30" id="30" descr="Turmeric paste"/>
            <p:cNvSpPr/>
            <p:nvPr/>
          </p:nvSpPr>
          <p:spPr>
            <a:xfrm flipH="false" flipV="false" rot="0">
              <a:off x="0" y="0"/>
              <a:ext cx="2777825" cy="899767"/>
            </a:xfrm>
            <a:custGeom>
              <a:avLst/>
              <a:gdLst/>
              <a:ahLst/>
              <a:cxnLst/>
              <a:rect r="r" b="b" t="t" l="l"/>
              <a:pathLst>
                <a:path h="899767" w="2777825">
                  <a:moveTo>
                    <a:pt x="0" y="0"/>
                  </a:moveTo>
                  <a:lnTo>
                    <a:pt x="2777825" y="0"/>
                  </a:lnTo>
                  <a:lnTo>
                    <a:pt x="2777825" y="899767"/>
                  </a:lnTo>
                  <a:lnTo>
                    <a:pt x="0" y="899767"/>
                  </a:lnTo>
                  <a:close/>
                </a:path>
              </a:pathLst>
            </a:custGeom>
            <a:blipFill>
              <a:blip r:embed="rId6"/>
              <a:stretch>
                <a:fillRect l="0" t="-142954" r="0" b="-142954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891192" y="7226625"/>
            <a:ext cx="4530069" cy="1467337"/>
            <a:chOff x="0" y="0"/>
            <a:chExt cx="2777825" cy="899767"/>
          </a:xfrm>
        </p:grpSpPr>
        <p:sp>
          <p:nvSpPr>
            <p:cNvPr name="Freeform 32" id="32" descr="Saffron threads"/>
            <p:cNvSpPr/>
            <p:nvPr/>
          </p:nvSpPr>
          <p:spPr>
            <a:xfrm flipH="false" flipV="false" rot="0">
              <a:off x="0" y="0"/>
              <a:ext cx="2777825" cy="899767"/>
            </a:xfrm>
            <a:custGeom>
              <a:avLst/>
              <a:gdLst/>
              <a:ahLst/>
              <a:cxnLst/>
              <a:rect r="r" b="b" t="t" l="l"/>
              <a:pathLst>
                <a:path h="899767" w="2777825">
                  <a:moveTo>
                    <a:pt x="0" y="0"/>
                  </a:moveTo>
                  <a:lnTo>
                    <a:pt x="2777825" y="0"/>
                  </a:lnTo>
                  <a:lnTo>
                    <a:pt x="2777825" y="899767"/>
                  </a:lnTo>
                  <a:lnTo>
                    <a:pt x="0" y="899767"/>
                  </a:lnTo>
                  <a:close/>
                </a:path>
              </a:pathLst>
            </a:custGeom>
            <a:blipFill>
              <a:blip r:embed="rId7"/>
              <a:stretch>
                <a:fillRect l="0" t="-104363" r="0" b="-104363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891777" y="3887273"/>
            <a:ext cx="4529483" cy="1530509"/>
            <a:chOff x="0" y="0"/>
            <a:chExt cx="2078366" cy="702279"/>
          </a:xfrm>
        </p:grpSpPr>
        <p:sp>
          <p:nvSpPr>
            <p:cNvPr name="Freeform 34" id="34" descr="Amber oil droplets"/>
            <p:cNvSpPr/>
            <p:nvPr/>
          </p:nvSpPr>
          <p:spPr>
            <a:xfrm flipH="false" flipV="false" rot="0">
              <a:off x="0" y="0"/>
              <a:ext cx="2078366" cy="702279"/>
            </a:xfrm>
            <a:custGeom>
              <a:avLst/>
              <a:gdLst/>
              <a:ahLst/>
              <a:cxnLst/>
              <a:rect r="r" b="b" t="t" l="l"/>
              <a:pathLst>
                <a:path h="702279" w="2078366">
                  <a:moveTo>
                    <a:pt x="0" y="0"/>
                  </a:moveTo>
                  <a:lnTo>
                    <a:pt x="2078366" y="0"/>
                  </a:lnTo>
                  <a:lnTo>
                    <a:pt x="2078366" y="702279"/>
                  </a:lnTo>
                  <a:lnTo>
                    <a:pt x="0" y="702279"/>
                  </a:lnTo>
                  <a:close/>
                </a:path>
              </a:pathLst>
            </a:custGeom>
            <a:blipFill>
              <a:blip r:embed="rId8"/>
              <a:stretch>
                <a:fillRect l="0" t="-147297" r="0" b="-147297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548169" y="3364872"/>
            <a:ext cx="4128516" cy="460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39"/>
              </a:lnSpc>
              <a:spcBef>
                <a:spcPct val="0"/>
              </a:spcBef>
            </a:pPr>
            <a:r>
              <a:rPr lang="en-US" b="true" sz="2671" strike="noStrike" u="none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NORTH STAR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292745" y="5513032"/>
            <a:ext cx="3749127" cy="5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276"/>
              </a:lnSpc>
              <a:spcBef>
                <a:spcPct val="0"/>
              </a:spcBef>
            </a:pPr>
            <a:r>
              <a:rPr lang="en-US" sz="1625" strike="noStrike" u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10 monthly questions in ChatGPT and Gemini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292745" y="3311357"/>
            <a:ext cx="4128516" cy="460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39"/>
              </a:lnSpc>
              <a:spcBef>
                <a:spcPct val="0"/>
              </a:spcBef>
            </a:pPr>
            <a:r>
              <a:rPr lang="en-US" b="true" sz="2671" strike="noStrike" u="none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AI VISIBILITY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29171" y="5496082"/>
            <a:ext cx="4873068" cy="26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276"/>
              </a:lnSpc>
              <a:spcBef>
                <a:spcPct val="0"/>
              </a:spcBef>
            </a:pPr>
            <a:r>
              <a:rPr lang="en-US" sz="1625" strike="noStrike" u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Whole ritual bought, back within 6 months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295978" y="8839708"/>
            <a:ext cx="4851530" cy="26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276"/>
              </a:lnSpc>
              <a:spcBef>
                <a:spcPct val="0"/>
              </a:spcBef>
            </a:pPr>
            <a:r>
              <a:rPr lang="en-US" sz="1625" strike="noStrike" u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2+ meaningful interactions per 30 days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657485" y="3344753"/>
            <a:ext cx="4128516" cy="460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39"/>
              </a:lnSpc>
              <a:spcBef>
                <a:spcPct val="0"/>
              </a:spcBef>
            </a:pPr>
            <a:r>
              <a:rPr lang="en-US" b="true" sz="2671" strike="noStrike" u="none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AI ACCURACY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891192" y="8764899"/>
            <a:ext cx="4530069" cy="26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81"/>
              </a:lnSpc>
              <a:spcBef>
                <a:spcPct val="0"/>
              </a:spcBef>
            </a:pPr>
            <a:r>
              <a:rPr lang="en-US" sz="1629" strike="noStrike" u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54% today: at or above, as channels launch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091968" y="6704914"/>
            <a:ext cx="3989334" cy="468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00"/>
              </a:lnSpc>
              <a:spcBef>
                <a:spcPct val="0"/>
              </a:spcBef>
            </a:pPr>
            <a:r>
              <a:rPr lang="en-US" b="true" sz="2714" strike="noStrike" u="none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REPEAT RATE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17760" y="6704914"/>
            <a:ext cx="3989334" cy="468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00"/>
              </a:lnSpc>
              <a:spcBef>
                <a:spcPct val="0"/>
              </a:spcBef>
            </a:pPr>
            <a:r>
              <a:rPr lang="en-US" b="true" sz="2714" strike="noStrike" u="none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QUIZ TO RITUAL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01187" y="8696880"/>
            <a:ext cx="4701051" cy="26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281"/>
              </a:lnSpc>
              <a:spcBef>
                <a:spcPct val="0"/>
              </a:spcBef>
            </a:pPr>
            <a:r>
              <a:rPr lang="en-US" sz="1629" strike="noStrike" u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Quiz-to-ritual purchase within 30 days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846135" y="6704914"/>
            <a:ext cx="3989334" cy="468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00"/>
              </a:lnSpc>
              <a:spcBef>
                <a:spcPct val="0"/>
              </a:spcBef>
            </a:pPr>
            <a:r>
              <a:rPr lang="en-US" b="true" sz="2714" strike="noStrike" u="none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PARTICIPATION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295978" y="5638957"/>
            <a:ext cx="4851530" cy="26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276"/>
              </a:lnSpc>
              <a:spcBef>
                <a:spcPct val="0"/>
              </a:spcBef>
            </a:pPr>
            <a:r>
              <a:rPr lang="en-US" sz="1625" strike="noStrike" u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No wrong prices or unapproved claims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B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4892" y="3405556"/>
            <a:ext cx="4020486" cy="837629"/>
            <a:chOff x="0" y="0"/>
            <a:chExt cx="996698" cy="2076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6698" cy="207652"/>
            </a:xfrm>
            <a:custGeom>
              <a:avLst/>
              <a:gdLst/>
              <a:ahLst/>
              <a:cxnLst/>
              <a:rect r="r" b="b" t="t" l="l"/>
              <a:pathLst>
                <a:path h="207652" w="996698">
                  <a:moveTo>
                    <a:pt x="0" y="0"/>
                  </a:moveTo>
                  <a:lnTo>
                    <a:pt x="996698" y="0"/>
                  </a:lnTo>
                  <a:lnTo>
                    <a:pt x="996698" y="207652"/>
                  </a:lnTo>
                  <a:lnTo>
                    <a:pt x="0" y="207652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996698" cy="236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48380" y="7115727"/>
            <a:ext cx="4020486" cy="2625949"/>
            <a:chOff x="0" y="0"/>
            <a:chExt cx="586293" cy="382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86293" cy="382933"/>
            </a:xfrm>
            <a:custGeom>
              <a:avLst/>
              <a:gdLst/>
              <a:ahLst/>
              <a:cxnLst/>
              <a:rect r="r" b="b" t="t" l="l"/>
              <a:pathLst>
                <a:path h="382933" w="586293">
                  <a:moveTo>
                    <a:pt x="0" y="0"/>
                  </a:moveTo>
                  <a:lnTo>
                    <a:pt x="586293" y="0"/>
                  </a:lnTo>
                  <a:lnTo>
                    <a:pt x="586293" y="382933"/>
                  </a:lnTo>
                  <a:lnTo>
                    <a:pt x="0" y="382933"/>
                  </a:lnTo>
                  <a:close/>
                </a:path>
              </a:pathLst>
            </a:custGeom>
            <a:blipFill>
              <a:blip r:embed="rId2"/>
              <a:stretch>
                <a:fillRect l="0" t="-64441" r="0" b="-4736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5209481" y="3405556"/>
            <a:ext cx="4020486" cy="837629"/>
            <a:chOff x="0" y="0"/>
            <a:chExt cx="996698" cy="2076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96698" cy="207652"/>
            </a:xfrm>
            <a:custGeom>
              <a:avLst/>
              <a:gdLst/>
              <a:ahLst/>
              <a:cxnLst/>
              <a:rect r="r" b="b" t="t" l="l"/>
              <a:pathLst>
                <a:path h="207652" w="996698">
                  <a:moveTo>
                    <a:pt x="0" y="0"/>
                  </a:moveTo>
                  <a:lnTo>
                    <a:pt x="996698" y="0"/>
                  </a:lnTo>
                  <a:lnTo>
                    <a:pt x="996698" y="207652"/>
                  </a:lnTo>
                  <a:lnTo>
                    <a:pt x="0" y="207652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996698" cy="236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209481" y="4489778"/>
            <a:ext cx="4020486" cy="2494804"/>
            <a:chOff x="0" y="0"/>
            <a:chExt cx="586293" cy="3638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86293" cy="363808"/>
            </a:xfrm>
            <a:custGeom>
              <a:avLst/>
              <a:gdLst/>
              <a:ahLst/>
              <a:cxnLst/>
              <a:rect r="r" b="b" t="t" l="l"/>
              <a:pathLst>
                <a:path h="363808" w="586293">
                  <a:moveTo>
                    <a:pt x="0" y="0"/>
                  </a:moveTo>
                  <a:lnTo>
                    <a:pt x="586293" y="0"/>
                  </a:lnTo>
                  <a:lnTo>
                    <a:pt x="586293" y="363808"/>
                  </a:lnTo>
                  <a:lnTo>
                    <a:pt x="0" y="363808"/>
                  </a:lnTo>
                  <a:close/>
                </a:path>
              </a:pathLst>
            </a:custGeom>
            <a:blipFill>
              <a:blip r:embed="rId3"/>
              <a:stretch>
                <a:fillRect l="0" t="-14794" r="0" b="-607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374380" y="3405556"/>
            <a:ext cx="4020486" cy="837629"/>
            <a:chOff x="0" y="0"/>
            <a:chExt cx="996698" cy="20765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96698" cy="207652"/>
            </a:xfrm>
            <a:custGeom>
              <a:avLst/>
              <a:gdLst/>
              <a:ahLst/>
              <a:cxnLst/>
              <a:rect r="r" b="b" t="t" l="l"/>
              <a:pathLst>
                <a:path h="207652" w="996698">
                  <a:moveTo>
                    <a:pt x="0" y="0"/>
                  </a:moveTo>
                  <a:lnTo>
                    <a:pt x="996698" y="0"/>
                  </a:lnTo>
                  <a:lnTo>
                    <a:pt x="996698" y="207652"/>
                  </a:lnTo>
                  <a:lnTo>
                    <a:pt x="0" y="207652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996698" cy="236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374380" y="7115727"/>
            <a:ext cx="4020486" cy="2625949"/>
            <a:chOff x="0" y="0"/>
            <a:chExt cx="586293" cy="38293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86293" cy="382933"/>
            </a:xfrm>
            <a:custGeom>
              <a:avLst/>
              <a:gdLst/>
              <a:ahLst/>
              <a:cxnLst/>
              <a:rect r="r" b="b" t="t" l="l"/>
              <a:pathLst>
                <a:path h="382933" w="586293">
                  <a:moveTo>
                    <a:pt x="0" y="0"/>
                  </a:moveTo>
                  <a:lnTo>
                    <a:pt x="586293" y="0"/>
                  </a:lnTo>
                  <a:lnTo>
                    <a:pt x="586293" y="382933"/>
                  </a:lnTo>
                  <a:lnTo>
                    <a:pt x="0" y="382933"/>
                  </a:lnTo>
                  <a:close/>
                </a:path>
              </a:pathLst>
            </a:custGeom>
            <a:blipFill>
              <a:blip r:embed="rId4"/>
              <a:stretch>
                <a:fillRect l="0" t="-53897" r="0" b="-50188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538969" y="3405556"/>
            <a:ext cx="4020486" cy="837629"/>
            <a:chOff x="0" y="0"/>
            <a:chExt cx="996698" cy="2076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96698" cy="207652"/>
            </a:xfrm>
            <a:custGeom>
              <a:avLst/>
              <a:gdLst/>
              <a:ahLst/>
              <a:cxnLst/>
              <a:rect r="r" b="b" t="t" l="l"/>
              <a:pathLst>
                <a:path h="207652" w="996698">
                  <a:moveTo>
                    <a:pt x="0" y="0"/>
                  </a:moveTo>
                  <a:lnTo>
                    <a:pt x="996698" y="0"/>
                  </a:lnTo>
                  <a:lnTo>
                    <a:pt x="996698" y="207652"/>
                  </a:lnTo>
                  <a:lnTo>
                    <a:pt x="0" y="207652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996698" cy="236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538969" y="4489778"/>
            <a:ext cx="4020486" cy="2494804"/>
            <a:chOff x="0" y="0"/>
            <a:chExt cx="586293" cy="3638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86293" cy="363808"/>
            </a:xfrm>
            <a:custGeom>
              <a:avLst/>
              <a:gdLst/>
              <a:ahLst/>
              <a:cxnLst/>
              <a:rect r="r" b="b" t="t" l="l"/>
              <a:pathLst>
                <a:path h="363808" w="586293">
                  <a:moveTo>
                    <a:pt x="0" y="0"/>
                  </a:moveTo>
                  <a:lnTo>
                    <a:pt x="586293" y="0"/>
                  </a:lnTo>
                  <a:lnTo>
                    <a:pt x="586293" y="363808"/>
                  </a:lnTo>
                  <a:lnTo>
                    <a:pt x="0" y="363808"/>
                  </a:lnTo>
                  <a:close/>
                </a:path>
              </a:pathLst>
            </a:custGeom>
            <a:blipFill>
              <a:blip r:embed="rId5"/>
              <a:stretch>
                <a:fillRect l="-47058" t="-64168" r="-34502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464462" y="3378933"/>
            <a:ext cx="3179370" cy="826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7"/>
              </a:lnSpc>
            </a:pPr>
            <a:r>
              <a:rPr lang="en-US" b="true" sz="2369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VERIFIED </a:t>
            </a:r>
          </a:p>
          <a:p>
            <a:pPr algn="ctr">
              <a:lnSpc>
                <a:spcPts val="3317"/>
              </a:lnSpc>
            </a:pPr>
            <a:r>
              <a:rPr lang="en-US" b="true" sz="2369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ACCESS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212322" y="3426050"/>
            <a:ext cx="3931678" cy="7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b="true" sz="2263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RITUAL </a:t>
            </a:r>
          </a:p>
          <a:p>
            <a:pPr algn="ctr">
              <a:lnSpc>
                <a:spcPts val="3168"/>
              </a:lnSpc>
            </a:pPr>
            <a:r>
              <a:rPr lang="en-US" b="true" sz="2263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TRAINING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911630" y="3382465"/>
            <a:ext cx="3045943" cy="826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7"/>
              </a:lnSpc>
            </a:pPr>
            <a:r>
              <a:rPr lang="en-US" b="true" sz="2369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FLEXIBLE REPLENISHMENT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080026" y="3348406"/>
            <a:ext cx="2810006" cy="826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7"/>
              </a:lnSpc>
            </a:pPr>
            <a:r>
              <a:rPr lang="en-US" b="true" sz="2369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COMMUNITY PARTICIPATION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34540" y="2555101"/>
            <a:ext cx="16514563" cy="552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Verified access → Ritual training → Flexible replenishment → Community participation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19685" y="1369202"/>
            <a:ext cx="17648630" cy="1252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28"/>
              </a:lnSpc>
            </a:pPr>
            <a:r>
              <a:rPr lang="en-US" sz="7306">
                <a:solidFill>
                  <a:srgbClr val="000000"/>
                </a:solidFill>
                <a:latin typeface="TAN Aegean"/>
                <a:ea typeface="TAN Aegean"/>
                <a:cs typeface="TAN Aegean"/>
                <a:sym typeface="TAN Aegean"/>
              </a:rPr>
              <a:t>Therapist Community Platform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5981602" y="-17891"/>
            <a:ext cx="2306398" cy="1329110"/>
          </a:xfrm>
          <a:custGeom>
            <a:avLst/>
            <a:gdLst/>
            <a:ahLst/>
            <a:cxnLst/>
            <a:rect r="r" b="b" t="t" l="l"/>
            <a:pathLst>
              <a:path h="1329110" w="2306398">
                <a:moveTo>
                  <a:pt x="0" y="0"/>
                </a:moveTo>
                <a:lnTo>
                  <a:pt x="2306398" y="0"/>
                </a:lnTo>
                <a:lnTo>
                  <a:pt x="2306398" y="1329110"/>
                </a:lnTo>
                <a:lnTo>
                  <a:pt x="0" y="13291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1044892" y="4489778"/>
            <a:ext cx="4020486" cy="2494804"/>
            <a:chOff x="0" y="0"/>
            <a:chExt cx="996698" cy="61847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96698" cy="618474"/>
            </a:xfrm>
            <a:custGeom>
              <a:avLst/>
              <a:gdLst/>
              <a:ahLst/>
              <a:cxnLst/>
              <a:rect r="r" b="b" t="t" l="l"/>
              <a:pathLst>
                <a:path h="618474" w="996698">
                  <a:moveTo>
                    <a:pt x="0" y="0"/>
                  </a:moveTo>
                  <a:lnTo>
                    <a:pt x="996698" y="0"/>
                  </a:lnTo>
                  <a:lnTo>
                    <a:pt x="996698" y="618474"/>
                  </a:lnTo>
                  <a:lnTo>
                    <a:pt x="0" y="618474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996698" cy="666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Bai Jamjuree"/>
                  <a:ea typeface="Bai Jamjuree"/>
                  <a:cs typeface="Bai Jamjuree"/>
                  <a:sym typeface="Bai Jamjuree"/>
                </a:rPr>
                <a:t>Dedicated professional area on Mauli’s website • Qualifications and insurance checked • Approved trade accounts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223394" y="7115727"/>
            <a:ext cx="4020486" cy="2606524"/>
            <a:chOff x="0" y="0"/>
            <a:chExt cx="996698" cy="64617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96698" cy="646170"/>
            </a:xfrm>
            <a:custGeom>
              <a:avLst/>
              <a:gdLst/>
              <a:ahLst/>
              <a:cxnLst/>
              <a:rect r="r" b="b" t="t" l="l"/>
              <a:pathLst>
                <a:path h="646170" w="996698">
                  <a:moveTo>
                    <a:pt x="0" y="0"/>
                  </a:moveTo>
                  <a:lnTo>
                    <a:pt x="996698" y="0"/>
                  </a:lnTo>
                  <a:lnTo>
                    <a:pt x="996698" y="646170"/>
                  </a:lnTo>
                  <a:lnTo>
                    <a:pt x="0" y="646170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996698" cy="6937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Bai Jamjuree"/>
                  <a:ea typeface="Bai Jamjuree"/>
                  <a:cs typeface="Bai Jamjuree"/>
                  <a:sym typeface="Bai Jamjuree"/>
                </a:rPr>
                <a:t>Product and treatment guidance • Recorded ritual demonstrations • Practitioner Q&amp;A sessions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394267" y="4499491"/>
            <a:ext cx="4020486" cy="2485092"/>
            <a:chOff x="0" y="0"/>
            <a:chExt cx="996698" cy="61606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96698" cy="616066"/>
            </a:xfrm>
            <a:custGeom>
              <a:avLst/>
              <a:gdLst/>
              <a:ahLst/>
              <a:cxnLst/>
              <a:rect r="r" b="b" t="t" l="l"/>
              <a:pathLst>
                <a:path h="616066" w="996698">
                  <a:moveTo>
                    <a:pt x="0" y="0"/>
                  </a:moveTo>
                  <a:lnTo>
                    <a:pt x="996698" y="0"/>
                  </a:lnTo>
                  <a:lnTo>
                    <a:pt x="996698" y="616066"/>
                  </a:lnTo>
                  <a:lnTo>
                    <a:pt x="0" y="616066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996698" cy="6636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Bai Jamjuree"/>
                  <a:ea typeface="Bai Jamjuree"/>
                  <a:cs typeface="Bai Jamjuree"/>
                  <a:sym typeface="Bai Jamjuree"/>
                </a:rPr>
                <a:t>Tiers suited to practice size • Adjustable quantities and delivery frequency • Options to skip or pause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528617" y="7115727"/>
            <a:ext cx="4020486" cy="2606524"/>
            <a:chOff x="0" y="0"/>
            <a:chExt cx="996698" cy="64617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96698" cy="646170"/>
            </a:xfrm>
            <a:custGeom>
              <a:avLst/>
              <a:gdLst/>
              <a:ahLst/>
              <a:cxnLst/>
              <a:rect r="r" b="b" t="t" l="l"/>
              <a:pathLst>
                <a:path h="646170" w="996698">
                  <a:moveTo>
                    <a:pt x="0" y="0"/>
                  </a:moveTo>
                  <a:lnTo>
                    <a:pt x="996698" y="0"/>
                  </a:lnTo>
                  <a:lnTo>
                    <a:pt x="996698" y="646170"/>
                  </a:lnTo>
                  <a:lnTo>
                    <a:pt x="0" y="646170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996698" cy="6937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Bai Jamjuree"/>
                  <a:ea typeface="Bai Jamjuree"/>
                  <a:cs typeface="Bai Jamjuree"/>
                  <a:sym typeface="Bai Jamjuree"/>
                </a:rPr>
                <a:t>Share treatment feedback • Join practitioner sessions • Contribute approved ritual content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5039"/>
            <a:ext cx="18288000" cy="10241961"/>
          </a:xfrm>
          <a:custGeom>
            <a:avLst/>
            <a:gdLst/>
            <a:ahLst/>
            <a:cxnLst/>
            <a:rect r="r" b="b" t="t" l="l"/>
            <a:pathLst>
              <a:path h="10241961" w="18288000">
                <a:moveTo>
                  <a:pt x="0" y="0"/>
                </a:moveTo>
                <a:lnTo>
                  <a:pt x="18288000" y="0"/>
                </a:lnTo>
                <a:lnTo>
                  <a:pt x="18288000" y="10241961"/>
                </a:lnTo>
                <a:lnTo>
                  <a:pt x="0" y="102419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</a:blip>
            <a:stretch>
              <a:fillRect l="0" t="-66402" r="0" b="-7161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5749" y="-447829"/>
            <a:ext cx="19279216" cy="11605613"/>
            <a:chOff x="0" y="0"/>
            <a:chExt cx="5077654" cy="30566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77654" cy="3056622"/>
            </a:xfrm>
            <a:custGeom>
              <a:avLst/>
              <a:gdLst/>
              <a:ahLst/>
              <a:cxnLst/>
              <a:rect r="r" b="b" t="t" l="l"/>
              <a:pathLst>
                <a:path h="3056622" w="5077654">
                  <a:moveTo>
                    <a:pt x="0" y="0"/>
                  </a:moveTo>
                  <a:lnTo>
                    <a:pt x="5077654" y="0"/>
                  </a:lnTo>
                  <a:lnTo>
                    <a:pt x="5077654" y="3056622"/>
                  </a:lnTo>
                  <a:lnTo>
                    <a:pt x="0" y="3056622"/>
                  </a:lnTo>
                  <a:close/>
                </a:path>
              </a:pathLst>
            </a:custGeom>
            <a:solidFill>
              <a:srgbClr val="250C08">
                <a:alpha val="4078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077654" cy="3085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10631967" y="5377843"/>
            <a:ext cx="633172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7" id="7"/>
          <p:cNvGrpSpPr/>
          <p:nvPr/>
        </p:nvGrpSpPr>
        <p:grpSpPr>
          <a:xfrm rot="0">
            <a:off x="14802048" y="3578514"/>
            <a:ext cx="3009900" cy="3531926"/>
            <a:chOff x="0" y="0"/>
            <a:chExt cx="4013200" cy="470923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13200" cy="4709235"/>
            </a:xfrm>
            <a:custGeom>
              <a:avLst/>
              <a:gdLst/>
              <a:ahLst/>
              <a:cxnLst/>
              <a:rect r="r" b="b" t="t" l="l"/>
              <a:pathLst>
                <a:path h="4709235" w="4013200">
                  <a:moveTo>
                    <a:pt x="206897" y="0"/>
                  </a:moveTo>
                  <a:lnTo>
                    <a:pt x="3806303" y="0"/>
                  </a:lnTo>
                  <a:cubicBezTo>
                    <a:pt x="3861175" y="0"/>
                    <a:pt x="3913800" y="21798"/>
                    <a:pt x="3952601" y="60599"/>
                  </a:cubicBezTo>
                  <a:cubicBezTo>
                    <a:pt x="3991402" y="99400"/>
                    <a:pt x="4013200" y="152025"/>
                    <a:pt x="4013200" y="206897"/>
                  </a:cubicBezTo>
                  <a:lnTo>
                    <a:pt x="4013200" y="4502338"/>
                  </a:lnTo>
                  <a:cubicBezTo>
                    <a:pt x="4013200" y="4616604"/>
                    <a:pt x="3920569" y="4709235"/>
                    <a:pt x="3806303" y="4709235"/>
                  </a:cubicBezTo>
                  <a:lnTo>
                    <a:pt x="206897" y="4709235"/>
                  </a:lnTo>
                  <a:cubicBezTo>
                    <a:pt x="152025" y="4709235"/>
                    <a:pt x="99400" y="4687438"/>
                    <a:pt x="60599" y="4648636"/>
                  </a:cubicBezTo>
                  <a:cubicBezTo>
                    <a:pt x="21798" y="4609836"/>
                    <a:pt x="0" y="4557211"/>
                    <a:pt x="0" y="4502338"/>
                  </a:cubicBezTo>
                  <a:lnTo>
                    <a:pt x="0" y="206897"/>
                  </a:lnTo>
                  <a:cubicBezTo>
                    <a:pt x="0" y="152025"/>
                    <a:pt x="21798" y="99400"/>
                    <a:pt x="60599" y="60599"/>
                  </a:cubicBezTo>
                  <a:cubicBezTo>
                    <a:pt x="99400" y="21798"/>
                    <a:pt x="152025" y="0"/>
                    <a:pt x="206897" y="0"/>
                  </a:cubicBezTo>
                  <a:close/>
                </a:path>
              </a:pathLst>
            </a:custGeom>
            <a:solidFill>
              <a:srgbClr val="503332">
                <a:alpha val="67843"/>
              </a:srgbClr>
            </a:solidFill>
            <a:ln w="19050" cap="sq">
              <a:solidFill>
                <a:srgbClr val="502A22">
                  <a:alpha val="67843"/>
                </a:srgbClr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013200" cy="47473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239698" y="3578514"/>
            <a:ext cx="3009900" cy="3531926"/>
            <a:chOff x="0" y="0"/>
            <a:chExt cx="4013200" cy="47092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13200" cy="4709235"/>
            </a:xfrm>
            <a:custGeom>
              <a:avLst/>
              <a:gdLst/>
              <a:ahLst/>
              <a:cxnLst/>
              <a:rect r="r" b="b" t="t" l="l"/>
              <a:pathLst>
                <a:path h="4709235" w="4013200">
                  <a:moveTo>
                    <a:pt x="206897" y="0"/>
                  </a:moveTo>
                  <a:lnTo>
                    <a:pt x="3806303" y="0"/>
                  </a:lnTo>
                  <a:cubicBezTo>
                    <a:pt x="3861175" y="0"/>
                    <a:pt x="3913800" y="21798"/>
                    <a:pt x="3952601" y="60599"/>
                  </a:cubicBezTo>
                  <a:cubicBezTo>
                    <a:pt x="3991402" y="99400"/>
                    <a:pt x="4013200" y="152025"/>
                    <a:pt x="4013200" y="206897"/>
                  </a:cubicBezTo>
                  <a:lnTo>
                    <a:pt x="4013200" y="4502338"/>
                  </a:lnTo>
                  <a:cubicBezTo>
                    <a:pt x="4013200" y="4616604"/>
                    <a:pt x="3920569" y="4709235"/>
                    <a:pt x="3806303" y="4709235"/>
                  </a:cubicBezTo>
                  <a:lnTo>
                    <a:pt x="206897" y="4709235"/>
                  </a:lnTo>
                  <a:cubicBezTo>
                    <a:pt x="152025" y="4709235"/>
                    <a:pt x="99400" y="4687438"/>
                    <a:pt x="60599" y="4648636"/>
                  </a:cubicBezTo>
                  <a:cubicBezTo>
                    <a:pt x="21798" y="4609836"/>
                    <a:pt x="0" y="4557211"/>
                    <a:pt x="0" y="4502338"/>
                  </a:cubicBezTo>
                  <a:lnTo>
                    <a:pt x="0" y="206897"/>
                  </a:lnTo>
                  <a:cubicBezTo>
                    <a:pt x="0" y="152025"/>
                    <a:pt x="21798" y="99400"/>
                    <a:pt x="60599" y="60599"/>
                  </a:cubicBezTo>
                  <a:cubicBezTo>
                    <a:pt x="99400" y="21798"/>
                    <a:pt x="152025" y="0"/>
                    <a:pt x="206897" y="0"/>
                  </a:cubicBezTo>
                  <a:close/>
                </a:path>
              </a:pathLst>
            </a:custGeom>
            <a:solidFill>
              <a:srgbClr val="503332">
                <a:alpha val="67843"/>
              </a:srgbClr>
            </a:solidFill>
            <a:ln w="19050" cap="sq">
              <a:solidFill>
                <a:srgbClr val="502A22">
                  <a:alpha val="67843"/>
                </a:srgbClr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013200" cy="47473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677348" y="3611880"/>
            <a:ext cx="3009900" cy="3531926"/>
            <a:chOff x="0" y="0"/>
            <a:chExt cx="4013200" cy="470923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13200" cy="4709235"/>
            </a:xfrm>
            <a:custGeom>
              <a:avLst/>
              <a:gdLst/>
              <a:ahLst/>
              <a:cxnLst/>
              <a:rect r="r" b="b" t="t" l="l"/>
              <a:pathLst>
                <a:path h="4709235" w="4013200">
                  <a:moveTo>
                    <a:pt x="206897" y="0"/>
                  </a:moveTo>
                  <a:lnTo>
                    <a:pt x="3806303" y="0"/>
                  </a:lnTo>
                  <a:cubicBezTo>
                    <a:pt x="3861175" y="0"/>
                    <a:pt x="3913800" y="21798"/>
                    <a:pt x="3952601" y="60599"/>
                  </a:cubicBezTo>
                  <a:cubicBezTo>
                    <a:pt x="3991402" y="99400"/>
                    <a:pt x="4013200" y="152025"/>
                    <a:pt x="4013200" y="206897"/>
                  </a:cubicBezTo>
                  <a:lnTo>
                    <a:pt x="4013200" y="4502338"/>
                  </a:lnTo>
                  <a:cubicBezTo>
                    <a:pt x="4013200" y="4616604"/>
                    <a:pt x="3920569" y="4709235"/>
                    <a:pt x="3806303" y="4709235"/>
                  </a:cubicBezTo>
                  <a:lnTo>
                    <a:pt x="206897" y="4709235"/>
                  </a:lnTo>
                  <a:cubicBezTo>
                    <a:pt x="152025" y="4709235"/>
                    <a:pt x="99400" y="4687438"/>
                    <a:pt x="60599" y="4648636"/>
                  </a:cubicBezTo>
                  <a:cubicBezTo>
                    <a:pt x="21798" y="4609836"/>
                    <a:pt x="0" y="4557211"/>
                    <a:pt x="0" y="4502338"/>
                  </a:cubicBezTo>
                  <a:lnTo>
                    <a:pt x="0" y="206897"/>
                  </a:lnTo>
                  <a:cubicBezTo>
                    <a:pt x="0" y="152025"/>
                    <a:pt x="21798" y="99400"/>
                    <a:pt x="60599" y="60599"/>
                  </a:cubicBezTo>
                  <a:cubicBezTo>
                    <a:pt x="99400" y="21798"/>
                    <a:pt x="152025" y="0"/>
                    <a:pt x="206897" y="0"/>
                  </a:cubicBezTo>
                  <a:close/>
                </a:path>
              </a:pathLst>
            </a:custGeom>
            <a:solidFill>
              <a:srgbClr val="503332">
                <a:alpha val="67843"/>
              </a:srgbClr>
            </a:solidFill>
            <a:ln w="19050" cap="sq">
              <a:solidFill>
                <a:srgbClr val="502A22">
                  <a:alpha val="67843"/>
                </a:srgbClr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013200" cy="47473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114998" y="3578514"/>
            <a:ext cx="3009900" cy="3531926"/>
            <a:chOff x="0" y="0"/>
            <a:chExt cx="4013200" cy="470923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013200" cy="4709235"/>
            </a:xfrm>
            <a:custGeom>
              <a:avLst/>
              <a:gdLst/>
              <a:ahLst/>
              <a:cxnLst/>
              <a:rect r="r" b="b" t="t" l="l"/>
              <a:pathLst>
                <a:path h="4709235" w="4013200">
                  <a:moveTo>
                    <a:pt x="206897" y="0"/>
                  </a:moveTo>
                  <a:lnTo>
                    <a:pt x="3806303" y="0"/>
                  </a:lnTo>
                  <a:cubicBezTo>
                    <a:pt x="3861175" y="0"/>
                    <a:pt x="3913800" y="21798"/>
                    <a:pt x="3952601" y="60599"/>
                  </a:cubicBezTo>
                  <a:cubicBezTo>
                    <a:pt x="3991402" y="99400"/>
                    <a:pt x="4013200" y="152025"/>
                    <a:pt x="4013200" y="206897"/>
                  </a:cubicBezTo>
                  <a:lnTo>
                    <a:pt x="4013200" y="4502338"/>
                  </a:lnTo>
                  <a:cubicBezTo>
                    <a:pt x="4013200" y="4616604"/>
                    <a:pt x="3920569" y="4709235"/>
                    <a:pt x="3806303" y="4709235"/>
                  </a:cubicBezTo>
                  <a:lnTo>
                    <a:pt x="206897" y="4709235"/>
                  </a:lnTo>
                  <a:cubicBezTo>
                    <a:pt x="152025" y="4709235"/>
                    <a:pt x="99400" y="4687438"/>
                    <a:pt x="60599" y="4648636"/>
                  </a:cubicBezTo>
                  <a:cubicBezTo>
                    <a:pt x="21798" y="4609836"/>
                    <a:pt x="0" y="4557211"/>
                    <a:pt x="0" y="4502338"/>
                  </a:cubicBezTo>
                  <a:lnTo>
                    <a:pt x="0" y="206897"/>
                  </a:lnTo>
                  <a:cubicBezTo>
                    <a:pt x="0" y="152025"/>
                    <a:pt x="21798" y="99400"/>
                    <a:pt x="60599" y="60599"/>
                  </a:cubicBezTo>
                  <a:cubicBezTo>
                    <a:pt x="99400" y="21798"/>
                    <a:pt x="152025" y="0"/>
                    <a:pt x="206897" y="0"/>
                  </a:cubicBezTo>
                  <a:close/>
                </a:path>
              </a:pathLst>
            </a:custGeom>
            <a:solidFill>
              <a:srgbClr val="503332">
                <a:alpha val="67843"/>
              </a:srgbClr>
            </a:solidFill>
            <a:ln w="19050" cap="sq">
              <a:solidFill>
                <a:srgbClr val="502A22">
                  <a:alpha val="67843"/>
                </a:srgbClr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013200" cy="47473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52450" y="3611880"/>
            <a:ext cx="3009900" cy="3531926"/>
            <a:chOff x="0" y="0"/>
            <a:chExt cx="4013200" cy="470923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013200" cy="4709235"/>
            </a:xfrm>
            <a:custGeom>
              <a:avLst/>
              <a:gdLst/>
              <a:ahLst/>
              <a:cxnLst/>
              <a:rect r="r" b="b" t="t" l="l"/>
              <a:pathLst>
                <a:path h="4709235" w="4013200">
                  <a:moveTo>
                    <a:pt x="206897" y="0"/>
                  </a:moveTo>
                  <a:lnTo>
                    <a:pt x="3806303" y="0"/>
                  </a:lnTo>
                  <a:cubicBezTo>
                    <a:pt x="3861175" y="0"/>
                    <a:pt x="3913800" y="21798"/>
                    <a:pt x="3952601" y="60599"/>
                  </a:cubicBezTo>
                  <a:cubicBezTo>
                    <a:pt x="3991402" y="99400"/>
                    <a:pt x="4013200" y="152025"/>
                    <a:pt x="4013200" y="206897"/>
                  </a:cubicBezTo>
                  <a:lnTo>
                    <a:pt x="4013200" y="4502338"/>
                  </a:lnTo>
                  <a:cubicBezTo>
                    <a:pt x="4013200" y="4616604"/>
                    <a:pt x="3920569" y="4709235"/>
                    <a:pt x="3806303" y="4709235"/>
                  </a:cubicBezTo>
                  <a:lnTo>
                    <a:pt x="206897" y="4709235"/>
                  </a:lnTo>
                  <a:cubicBezTo>
                    <a:pt x="152025" y="4709235"/>
                    <a:pt x="99400" y="4687438"/>
                    <a:pt x="60599" y="4648636"/>
                  </a:cubicBezTo>
                  <a:cubicBezTo>
                    <a:pt x="21798" y="4609836"/>
                    <a:pt x="0" y="4557211"/>
                    <a:pt x="0" y="4502338"/>
                  </a:cubicBezTo>
                  <a:lnTo>
                    <a:pt x="0" y="206897"/>
                  </a:lnTo>
                  <a:cubicBezTo>
                    <a:pt x="0" y="152025"/>
                    <a:pt x="21798" y="99400"/>
                    <a:pt x="60599" y="60599"/>
                  </a:cubicBezTo>
                  <a:cubicBezTo>
                    <a:pt x="99400" y="21798"/>
                    <a:pt x="152025" y="0"/>
                    <a:pt x="206897" y="0"/>
                  </a:cubicBezTo>
                  <a:close/>
                </a:path>
              </a:pathLst>
            </a:custGeom>
            <a:solidFill>
              <a:srgbClr val="503332">
                <a:alpha val="67843"/>
              </a:srgbClr>
            </a:solidFill>
            <a:ln w="19050" cap="sq">
              <a:solidFill>
                <a:srgbClr val="502A22">
                  <a:alpha val="67843"/>
                </a:srgbClr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4013200" cy="47473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442448" y="7429500"/>
            <a:ext cx="8369500" cy="1828800"/>
            <a:chOff x="0" y="0"/>
            <a:chExt cx="11159333" cy="2438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159333" cy="2438400"/>
            </a:xfrm>
            <a:custGeom>
              <a:avLst/>
              <a:gdLst/>
              <a:ahLst/>
              <a:cxnLst/>
              <a:rect r="r" b="b" t="t" l="l"/>
              <a:pathLst>
                <a:path h="2438400" w="11159333">
                  <a:moveTo>
                    <a:pt x="204371" y="0"/>
                  </a:moveTo>
                  <a:lnTo>
                    <a:pt x="10954962" y="0"/>
                  </a:lnTo>
                  <a:cubicBezTo>
                    <a:pt x="11067833" y="0"/>
                    <a:pt x="11159333" y="91500"/>
                    <a:pt x="11159333" y="204371"/>
                  </a:cubicBezTo>
                  <a:lnTo>
                    <a:pt x="11159333" y="2234029"/>
                  </a:lnTo>
                  <a:cubicBezTo>
                    <a:pt x="11159333" y="2346900"/>
                    <a:pt x="11067833" y="2438400"/>
                    <a:pt x="10954962" y="2438400"/>
                  </a:cubicBezTo>
                  <a:lnTo>
                    <a:pt x="204371" y="2438400"/>
                  </a:lnTo>
                  <a:cubicBezTo>
                    <a:pt x="91500" y="2438400"/>
                    <a:pt x="0" y="2346900"/>
                    <a:pt x="0" y="2234029"/>
                  </a:cubicBezTo>
                  <a:lnTo>
                    <a:pt x="0" y="204371"/>
                  </a:lnTo>
                  <a:cubicBezTo>
                    <a:pt x="0" y="91500"/>
                    <a:pt x="91500" y="0"/>
                    <a:pt x="204371" y="0"/>
                  </a:cubicBezTo>
                  <a:close/>
                </a:path>
              </a:pathLst>
            </a:custGeom>
            <a:solidFill>
              <a:srgbClr val="503332">
                <a:alpha val="67843"/>
              </a:srgbClr>
            </a:solidFill>
            <a:ln w="19050" cap="sq">
              <a:solidFill>
                <a:srgbClr val="502A22">
                  <a:alpha val="67843"/>
                </a:srgbClr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1159333" cy="247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52450" y="7429500"/>
            <a:ext cx="8453719" cy="1828800"/>
            <a:chOff x="0" y="0"/>
            <a:chExt cx="11271625" cy="2438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271625" cy="2438400"/>
            </a:xfrm>
            <a:custGeom>
              <a:avLst/>
              <a:gdLst/>
              <a:ahLst/>
              <a:cxnLst/>
              <a:rect r="r" b="b" t="t" l="l"/>
              <a:pathLst>
                <a:path h="2438400" w="11271625">
                  <a:moveTo>
                    <a:pt x="202335" y="0"/>
                  </a:moveTo>
                  <a:lnTo>
                    <a:pt x="11069290" y="0"/>
                  </a:lnTo>
                  <a:cubicBezTo>
                    <a:pt x="11122953" y="0"/>
                    <a:pt x="11174418" y="21317"/>
                    <a:pt x="11212363" y="59262"/>
                  </a:cubicBezTo>
                  <a:cubicBezTo>
                    <a:pt x="11250308" y="97208"/>
                    <a:pt x="11271625" y="148672"/>
                    <a:pt x="11271625" y="202335"/>
                  </a:cubicBezTo>
                  <a:lnTo>
                    <a:pt x="11271625" y="2236065"/>
                  </a:lnTo>
                  <a:cubicBezTo>
                    <a:pt x="11271625" y="2347812"/>
                    <a:pt x="11181037" y="2438400"/>
                    <a:pt x="11069290" y="2438400"/>
                  </a:cubicBezTo>
                  <a:lnTo>
                    <a:pt x="202335" y="2438400"/>
                  </a:lnTo>
                  <a:cubicBezTo>
                    <a:pt x="90588" y="2438400"/>
                    <a:pt x="0" y="2347812"/>
                    <a:pt x="0" y="2236065"/>
                  </a:cubicBezTo>
                  <a:lnTo>
                    <a:pt x="0" y="202335"/>
                  </a:lnTo>
                  <a:cubicBezTo>
                    <a:pt x="0" y="90588"/>
                    <a:pt x="90588" y="0"/>
                    <a:pt x="202335" y="0"/>
                  </a:cubicBezTo>
                  <a:close/>
                </a:path>
              </a:pathLst>
            </a:custGeom>
            <a:solidFill>
              <a:srgbClr val="503332">
                <a:alpha val="67843"/>
              </a:srgbClr>
            </a:solidFill>
            <a:ln w="19050" cap="sq">
              <a:solidFill>
                <a:srgbClr val="502A22">
                  <a:alpha val="67843"/>
                </a:srgbClr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1271625" cy="247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28" id="28"/>
          <p:cNvSpPr/>
          <p:nvPr/>
        </p:nvSpPr>
        <p:spPr>
          <a:xfrm>
            <a:off x="7086134" y="5344477"/>
            <a:ext cx="633172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9" id="29"/>
          <p:cNvSpPr/>
          <p:nvPr/>
        </p:nvSpPr>
        <p:spPr>
          <a:xfrm>
            <a:off x="3516729" y="5363556"/>
            <a:ext cx="633172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0" id="30"/>
          <p:cNvSpPr/>
          <p:nvPr/>
        </p:nvSpPr>
        <p:spPr>
          <a:xfrm>
            <a:off x="14243269" y="5392131"/>
            <a:ext cx="633172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31" id="31"/>
          <p:cNvSpPr txBox="true"/>
          <p:nvPr/>
        </p:nvSpPr>
        <p:spPr>
          <a:xfrm rot="0">
            <a:off x="552450" y="2714625"/>
            <a:ext cx="162306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-171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Instagram should be the doorway to community, not the community itself.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33598" y="3983037"/>
            <a:ext cx="1847603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AN Aegean"/>
                <a:ea typeface="TAN Aegean"/>
                <a:cs typeface="TAN Aegean"/>
                <a:sym typeface="TAN Aegean"/>
              </a:rPr>
              <a:t>DISCOVER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76202" y="7686731"/>
            <a:ext cx="3810098" cy="347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2084">
                <a:solidFill>
                  <a:srgbClr val="F7F2EC"/>
                </a:solidFill>
                <a:latin typeface="TAN Aegean"/>
                <a:ea typeface="TAN Aegean"/>
                <a:cs typeface="TAN Aegean"/>
                <a:sym typeface="TAN Aegean"/>
              </a:rPr>
              <a:t>CUSTOMER JOURNEY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76202" y="8315325"/>
            <a:ext cx="7405871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spc="-96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Hi</a:t>
            </a:r>
            <a:r>
              <a:rPr lang="en-US" sz="1700" spc="-96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gh-Reach Reel → Profile → VAY Quiz → Community Participation → Mauli / Practitioner Interaction → Purchase → Repeat Purchase / Referral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817099" y="7686731"/>
            <a:ext cx="3810098" cy="347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2084">
                <a:solidFill>
                  <a:srgbClr val="F7F2EC"/>
                </a:solidFill>
                <a:latin typeface="TAN Aegean"/>
                <a:ea typeface="TAN Aegean"/>
                <a:cs typeface="TAN Aegean"/>
                <a:sym typeface="TAN Aegean"/>
              </a:rPr>
              <a:t>RECOMMENDATION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817099" y="8167687"/>
            <a:ext cx="7804151" cy="87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spc="-96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Do not build anot</a:t>
            </a:r>
            <a:r>
              <a:rPr lang="en-US" sz="1700" spc="-96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her audience.</a:t>
            </a:r>
          </a:p>
          <a:p>
            <a:pPr algn="l">
              <a:lnSpc>
                <a:spcPts val="2380"/>
              </a:lnSpc>
            </a:pPr>
            <a:r>
              <a:rPr lang="en-US" sz="1700" spc="-96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Build a system that converts the audience Mauli already has into active participants in the Mauli ecosystem.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696269" y="3983037"/>
            <a:ext cx="1847603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AN Aegean"/>
                <a:ea typeface="TAN Aegean"/>
                <a:cs typeface="TAN Aegean"/>
                <a:sym typeface="TAN Aegean"/>
              </a:rPr>
              <a:t>IDENTIFY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084953" y="3906202"/>
            <a:ext cx="219468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AN Aegean"/>
                <a:ea typeface="TAN Aegean"/>
                <a:cs typeface="TAN Aegean"/>
                <a:sym typeface="TAN Aegean"/>
              </a:rPr>
              <a:t>PARTICIPATE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820846" y="3906202"/>
            <a:ext cx="1847603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AN Aegean"/>
                <a:ea typeface="TAN Aegean"/>
                <a:cs typeface="TAN Aegean"/>
                <a:sym typeface="TAN Aegean"/>
              </a:rPr>
              <a:t>CONVERT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5383196" y="3832225"/>
            <a:ext cx="1847603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AN Aegean"/>
                <a:ea typeface="TAN Aegean"/>
                <a:cs typeface="TAN Aegean"/>
                <a:sym typeface="TAN Aegean"/>
              </a:rPr>
              <a:t>RETAIN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36399" y="4961283"/>
            <a:ext cx="2442001" cy="1267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5"/>
              </a:lnSpc>
            </a:pPr>
            <a:r>
              <a:rPr lang="en-US" sz="2199" spc="-125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High-Reach Instagram Content </a:t>
            </a:r>
          </a:p>
          <a:p>
            <a:pPr algn="ctr">
              <a:lnSpc>
                <a:spcPts val="2485"/>
              </a:lnSpc>
            </a:pPr>
            <a:r>
              <a:rPr lang="en-US" sz="2199" spc="-125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↓ </a:t>
            </a:r>
          </a:p>
          <a:p>
            <a:pPr algn="ctr">
              <a:lnSpc>
                <a:spcPts val="2485"/>
              </a:lnSpc>
            </a:pPr>
            <a:r>
              <a:rPr lang="en-US" sz="2199" spc="-125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Mauli Profile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283252" y="4804121"/>
            <a:ext cx="2673392" cy="1581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5"/>
              </a:lnSpc>
            </a:pPr>
            <a:r>
              <a:rPr lang="en-US" sz="2199" spc="-125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Personalised VAY / Dosha Quiz </a:t>
            </a:r>
          </a:p>
          <a:p>
            <a:pPr algn="ctr">
              <a:lnSpc>
                <a:spcPts val="2485"/>
              </a:lnSpc>
            </a:pPr>
            <a:r>
              <a:rPr lang="en-US" sz="2199" spc="-125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↓ </a:t>
            </a:r>
          </a:p>
          <a:p>
            <a:pPr algn="ctr">
              <a:lnSpc>
                <a:spcPts val="2485"/>
              </a:lnSpc>
            </a:pPr>
            <a:r>
              <a:rPr lang="en-US" sz="2199" spc="-125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Understand customer needs and interests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848798" y="4407852"/>
            <a:ext cx="2673392" cy="2210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2485"/>
              </a:lnSpc>
              <a:buFont typeface="Arial"/>
              <a:buChar char="•"/>
            </a:pPr>
            <a:r>
              <a:rPr lang="en-US" sz="2199" spc="-125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Return to Self</a:t>
            </a:r>
          </a:p>
          <a:p>
            <a:pPr algn="l" marL="474979" indent="-237490" lvl="1">
              <a:lnSpc>
                <a:spcPts val="2485"/>
              </a:lnSpc>
              <a:buFont typeface="Arial"/>
              <a:buChar char="•"/>
            </a:pPr>
            <a:r>
              <a:rPr lang="en-US" sz="2199" spc="-125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Ask Anita</a:t>
            </a:r>
          </a:p>
          <a:p>
            <a:pPr algn="l" marL="474979" indent="-237490" lvl="1">
              <a:lnSpc>
                <a:spcPts val="2485"/>
              </a:lnSpc>
              <a:buFont typeface="Arial"/>
              <a:buChar char="•"/>
            </a:pPr>
            <a:r>
              <a:rPr lang="en-US" sz="2199" spc="-125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Ayurveda Did It First</a:t>
            </a:r>
          </a:p>
          <a:p>
            <a:pPr algn="l" marL="474979" indent="-237490" lvl="1">
              <a:lnSpc>
                <a:spcPts val="2485"/>
              </a:lnSpc>
              <a:buFont typeface="Arial"/>
              <a:buChar char="•"/>
            </a:pPr>
            <a:r>
              <a:rPr lang="en-US" sz="2199" spc="-125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Practitioner Rituals</a:t>
            </a:r>
          </a:p>
          <a:p>
            <a:pPr algn="l" marL="474979" indent="-237490" lvl="1">
              <a:lnSpc>
                <a:spcPts val="2485"/>
              </a:lnSpc>
              <a:buFont typeface="Arial"/>
              <a:buChar char="•"/>
            </a:pPr>
            <a:r>
              <a:rPr lang="en-US" sz="2199" spc="-125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Customer Stories &amp; UGC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407952" y="4961283"/>
            <a:ext cx="2673392" cy="1267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5"/>
              </a:lnSpc>
            </a:pPr>
            <a:r>
              <a:rPr lang="en-US" sz="2199" spc="-125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Relevant Mauli Ritual / Product </a:t>
            </a:r>
          </a:p>
          <a:p>
            <a:pPr algn="ctr">
              <a:lnSpc>
                <a:spcPts val="2485"/>
              </a:lnSpc>
            </a:pPr>
            <a:r>
              <a:rPr lang="en-US" sz="2199" spc="-125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↓ </a:t>
            </a:r>
          </a:p>
          <a:p>
            <a:pPr algn="ctr">
              <a:lnSpc>
                <a:spcPts val="2485"/>
              </a:lnSpc>
            </a:pPr>
            <a:r>
              <a:rPr lang="en-US" sz="2199" spc="-125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Purchase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973498" y="4804121"/>
            <a:ext cx="2673392" cy="1581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5"/>
              </a:lnSpc>
            </a:pPr>
            <a:r>
              <a:rPr lang="en-US" sz="2199" spc="-125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Repeat Participation</a:t>
            </a:r>
          </a:p>
          <a:p>
            <a:pPr algn="ctr">
              <a:lnSpc>
                <a:spcPts val="2485"/>
              </a:lnSpc>
            </a:pPr>
            <a:r>
              <a:rPr lang="en-US" sz="2199" spc="-125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 ↓ </a:t>
            </a:r>
          </a:p>
          <a:p>
            <a:pPr algn="ctr">
              <a:lnSpc>
                <a:spcPts val="2485"/>
              </a:lnSpc>
            </a:pPr>
            <a:r>
              <a:rPr lang="en-US" sz="2199" spc="-125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Repeat Purchase </a:t>
            </a:r>
          </a:p>
          <a:p>
            <a:pPr algn="ctr">
              <a:lnSpc>
                <a:spcPts val="2485"/>
              </a:lnSpc>
            </a:pPr>
            <a:r>
              <a:rPr lang="en-US" sz="2199" spc="-125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↓ </a:t>
            </a:r>
          </a:p>
          <a:p>
            <a:pPr algn="ctr">
              <a:lnSpc>
                <a:spcPts val="2485"/>
              </a:lnSpc>
            </a:pPr>
            <a:r>
              <a:rPr lang="en-US" sz="2199" spc="-125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Referral &amp; Advocacy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52450" y="1104900"/>
            <a:ext cx="16467178" cy="1531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77"/>
              </a:lnSpc>
            </a:pPr>
            <a:r>
              <a:rPr lang="en-US" sz="5692">
                <a:solidFill>
                  <a:srgbClr val="FFFFFF"/>
                </a:solidFill>
                <a:latin typeface="TAN Aegean"/>
                <a:ea typeface="TAN Aegean"/>
                <a:cs typeface="TAN Aegean"/>
                <a:sym typeface="TAN Aegean"/>
              </a:rPr>
              <a:t>Turn Instagram reach into an owned Mauli Ecossytem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B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006522"/>
            <a:ext cx="162306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Emotion → Ayurveda → Mauli → Ritual → Participation → Purchase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895350"/>
            <a:ext cx="13081116" cy="1177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8"/>
              </a:lnSpc>
            </a:pPr>
            <a:r>
              <a:rPr lang="en-US" sz="6877">
                <a:solidFill>
                  <a:srgbClr val="000000"/>
                </a:solidFill>
                <a:latin typeface="TAN Aegean"/>
                <a:ea typeface="TAN Aegean"/>
                <a:cs typeface="TAN Aegean"/>
                <a:sym typeface="TAN Aegean"/>
              </a:rPr>
              <a:t>Q7-Building Community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747004" y="243713"/>
            <a:ext cx="2306398" cy="1329110"/>
          </a:xfrm>
          <a:custGeom>
            <a:avLst/>
            <a:gdLst/>
            <a:ahLst/>
            <a:cxnLst/>
            <a:rect r="r" b="b" t="t" l="l"/>
            <a:pathLst>
              <a:path h="1329110" w="2306398">
                <a:moveTo>
                  <a:pt x="0" y="0"/>
                </a:moveTo>
                <a:lnTo>
                  <a:pt x="2306398" y="0"/>
                </a:lnTo>
                <a:lnTo>
                  <a:pt x="2306398" y="1329111"/>
                </a:lnTo>
                <a:lnTo>
                  <a:pt x="0" y="13291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896212" y="7459939"/>
            <a:ext cx="2526422" cy="2068520"/>
            <a:chOff x="0" y="0"/>
            <a:chExt cx="539115" cy="4414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9115" cy="441403"/>
            </a:xfrm>
            <a:custGeom>
              <a:avLst/>
              <a:gdLst/>
              <a:ahLst/>
              <a:cxnLst/>
              <a:rect r="r" b="b" t="t" l="l"/>
              <a:pathLst>
                <a:path h="441403" w="539115">
                  <a:moveTo>
                    <a:pt x="0" y="0"/>
                  </a:moveTo>
                  <a:lnTo>
                    <a:pt x="539115" y="0"/>
                  </a:lnTo>
                  <a:lnTo>
                    <a:pt x="539115" y="441403"/>
                  </a:lnTo>
                  <a:lnTo>
                    <a:pt x="0" y="441403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539115" cy="508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61918" y="7459939"/>
            <a:ext cx="2526422" cy="2068520"/>
            <a:chOff x="0" y="0"/>
            <a:chExt cx="539115" cy="4414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9115" cy="441403"/>
            </a:xfrm>
            <a:custGeom>
              <a:avLst/>
              <a:gdLst/>
              <a:ahLst/>
              <a:cxnLst/>
              <a:rect r="r" b="b" t="t" l="l"/>
              <a:pathLst>
                <a:path h="441403" w="539115">
                  <a:moveTo>
                    <a:pt x="0" y="0"/>
                  </a:moveTo>
                  <a:lnTo>
                    <a:pt x="539115" y="0"/>
                  </a:lnTo>
                  <a:lnTo>
                    <a:pt x="539115" y="441403"/>
                  </a:lnTo>
                  <a:lnTo>
                    <a:pt x="0" y="441403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539115" cy="508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661918" y="3003624"/>
            <a:ext cx="2526422" cy="2068520"/>
            <a:chOff x="0" y="0"/>
            <a:chExt cx="539115" cy="4414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9115" cy="441403"/>
            </a:xfrm>
            <a:custGeom>
              <a:avLst/>
              <a:gdLst/>
              <a:ahLst/>
              <a:cxnLst/>
              <a:rect r="r" b="b" t="t" l="l"/>
              <a:pathLst>
                <a:path h="441403" w="539115">
                  <a:moveTo>
                    <a:pt x="0" y="0"/>
                  </a:moveTo>
                  <a:lnTo>
                    <a:pt x="539115" y="0"/>
                  </a:lnTo>
                  <a:lnTo>
                    <a:pt x="539115" y="441403"/>
                  </a:lnTo>
                  <a:lnTo>
                    <a:pt x="0" y="441403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9115" cy="508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864020" y="3003624"/>
            <a:ext cx="2526422" cy="2068520"/>
            <a:chOff x="0" y="0"/>
            <a:chExt cx="539115" cy="4414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9115" cy="441403"/>
            </a:xfrm>
            <a:custGeom>
              <a:avLst/>
              <a:gdLst/>
              <a:ahLst/>
              <a:cxnLst/>
              <a:rect r="r" b="b" t="t" l="l"/>
              <a:pathLst>
                <a:path h="441403" w="539115">
                  <a:moveTo>
                    <a:pt x="0" y="0"/>
                  </a:moveTo>
                  <a:lnTo>
                    <a:pt x="539115" y="0"/>
                  </a:lnTo>
                  <a:lnTo>
                    <a:pt x="539115" y="441403"/>
                  </a:lnTo>
                  <a:lnTo>
                    <a:pt x="0" y="441403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539115" cy="508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61918" y="5227220"/>
            <a:ext cx="2526422" cy="2068520"/>
            <a:chOff x="0" y="0"/>
            <a:chExt cx="539115" cy="44140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9115" cy="441403"/>
            </a:xfrm>
            <a:custGeom>
              <a:avLst/>
              <a:gdLst/>
              <a:ahLst/>
              <a:cxnLst/>
              <a:rect r="r" b="b" t="t" l="l"/>
              <a:pathLst>
                <a:path h="441403" w="539115">
                  <a:moveTo>
                    <a:pt x="0" y="0"/>
                  </a:moveTo>
                  <a:lnTo>
                    <a:pt x="539115" y="0"/>
                  </a:lnTo>
                  <a:lnTo>
                    <a:pt x="539115" y="441403"/>
                  </a:lnTo>
                  <a:lnTo>
                    <a:pt x="0" y="441403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539115" cy="508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28700" y="8395885"/>
            <a:ext cx="4314806" cy="1022815"/>
            <a:chOff x="0" y="0"/>
            <a:chExt cx="1500018" cy="35557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00018" cy="355576"/>
            </a:xfrm>
            <a:custGeom>
              <a:avLst/>
              <a:gdLst/>
              <a:ahLst/>
              <a:cxnLst/>
              <a:rect r="r" b="b" t="t" l="l"/>
              <a:pathLst>
                <a:path h="355576" w="1500018">
                  <a:moveTo>
                    <a:pt x="0" y="0"/>
                  </a:moveTo>
                  <a:lnTo>
                    <a:pt x="1296818" y="0"/>
                  </a:lnTo>
                  <a:lnTo>
                    <a:pt x="1500018" y="177788"/>
                  </a:lnTo>
                  <a:lnTo>
                    <a:pt x="1296818" y="355576"/>
                  </a:lnTo>
                  <a:lnTo>
                    <a:pt x="0" y="355576"/>
                  </a:lnTo>
                  <a:lnTo>
                    <a:pt x="203200" y="1777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0C08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77800" y="-28575"/>
              <a:ext cx="1246018" cy="384151"/>
            </a:xfrm>
            <a:prstGeom prst="rect">
              <a:avLst/>
            </a:prstGeom>
          </p:spPr>
          <p:txBody>
            <a:bodyPr anchor="ctr" rtlCol="false" tIns="46204" lIns="46204" bIns="46204" rIns="46204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673683" y="8395885"/>
            <a:ext cx="3663330" cy="1022815"/>
            <a:chOff x="0" y="0"/>
            <a:chExt cx="1273536" cy="35557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73536" cy="355576"/>
            </a:xfrm>
            <a:custGeom>
              <a:avLst/>
              <a:gdLst/>
              <a:ahLst/>
              <a:cxnLst/>
              <a:rect r="r" b="b" t="t" l="l"/>
              <a:pathLst>
                <a:path h="355576" w="1273536">
                  <a:moveTo>
                    <a:pt x="0" y="0"/>
                  </a:moveTo>
                  <a:lnTo>
                    <a:pt x="1070336" y="0"/>
                  </a:lnTo>
                  <a:lnTo>
                    <a:pt x="1273536" y="177788"/>
                  </a:lnTo>
                  <a:lnTo>
                    <a:pt x="1070336" y="355576"/>
                  </a:lnTo>
                  <a:lnTo>
                    <a:pt x="0" y="355576"/>
                  </a:lnTo>
                  <a:lnTo>
                    <a:pt x="203200" y="1777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77800" y="-28575"/>
              <a:ext cx="1019536" cy="384151"/>
            </a:xfrm>
            <a:prstGeom prst="rect">
              <a:avLst/>
            </a:prstGeom>
          </p:spPr>
          <p:txBody>
            <a:bodyPr anchor="ctr" rtlCol="false" tIns="46204" lIns="46204" bIns="46204" rIns="46204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702458" y="8395885"/>
            <a:ext cx="3956578" cy="1022815"/>
            <a:chOff x="0" y="0"/>
            <a:chExt cx="1375482" cy="35557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75482" cy="355576"/>
            </a:xfrm>
            <a:custGeom>
              <a:avLst/>
              <a:gdLst/>
              <a:ahLst/>
              <a:cxnLst/>
              <a:rect r="r" b="b" t="t" l="l"/>
              <a:pathLst>
                <a:path h="355576" w="1375482">
                  <a:moveTo>
                    <a:pt x="0" y="0"/>
                  </a:moveTo>
                  <a:lnTo>
                    <a:pt x="1172282" y="0"/>
                  </a:lnTo>
                  <a:lnTo>
                    <a:pt x="1375482" y="177788"/>
                  </a:lnTo>
                  <a:lnTo>
                    <a:pt x="1172282" y="355576"/>
                  </a:lnTo>
                  <a:lnTo>
                    <a:pt x="0" y="355576"/>
                  </a:lnTo>
                  <a:lnTo>
                    <a:pt x="203200" y="1777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653C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177800" y="-28575"/>
              <a:ext cx="1121482" cy="384151"/>
            </a:xfrm>
            <a:prstGeom prst="rect">
              <a:avLst/>
            </a:prstGeom>
          </p:spPr>
          <p:txBody>
            <a:bodyPr anchor="ctr" rtlCol="false" tIns="46204" lIns="46204" bIns="46204" rIns="46204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583413" y="5852765"/>
            <a:ext cx="3219729" cy="2195173"/>
            <a:chOff x="0" y="0"/>
            <a:chExt cx="1007019" cy="68657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07019" cy="686573"/>
            </a:xfrm>
            <a:custGeom>
              <a:avLst/>
              <a:gdLst/>
              <a:ahLst/>
              <a:cxnLst/>
              <a:rect r="r" b="b" t="t" l="l"/>
              <a:pathLst>
                <a:path h="686573" w="1007019">
                  <a:moveTo>
                    <a:pt x="0" y="0"/>
                  </a:moveTo>
                  <a:lnTo>
                    <a:pt x="1007019" y="0"/>
                  </a:lnTo>
                  <a:lnTo>
                    <a:pt x="1007019" y="686573"/>
                  </a:lnTo>
                  <a:lnTo>
                    <a:pt x="0" y="686573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1007019" cy="715148"/>
            </a:xfrm>
            <a:prstGeom prst="rect">
              <a:avLst/>
            </a:prstGeom>
          </p:spPr>
          <p:txBody>
            <a:bodyPr anchor="ctr" rtlCol="false" tIns="46204" lIns="46204" bIns="46204" rIns="46204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28700" y="5852765"/>
            <a:ext cx="3335472" cy="2195173"/>
            <a:chOff x="0" y="0"/>
            <a:chExt cx="1043219" cy="68657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43219" cy="686573"/>
            </a:xfrm>
            <a:custGeom>
              <a:avLst/>
              <a:gdLst/>
              <a:ahLst/>
              <a:cxnLst/>
              <a:rect r="r" b="b" t="t" l="l"/>
              <a:pathLst>
                <a:path h="686573" w="1043219">
                  <a:moveTo>
                    <a:pt x="0" y="0"/>
                  </a:moveTo>
                  <a:lnTo>
                    <a:pt x="1043219" y="0"/>
                  </a:lnTo>
                  <a:lnTo>
                    <a:pt x="1043219" y="686573"/>
                  </a:lnTo>
                  <a:lnTo>
                    <a:pt x="0" y="686573"/>
                  </a:lnTo>
                  <a:close/>
                </a:path>
              </a:pathLst>
            </a:custGeom>
            <a:solidFill>
              <a:srgbClr val="250C08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1043219" cy="715148"/>
            </a:xfrm>
            <a:prstGeom prst="rect">
              <a:avLst/>
            </a:prstGeom>
          </p:spPr>
          <p:txBody>
            <a:bodyPr anchor="ctr" rtlCol="false" tIns="46204" lIns="46204" bIns="46204" rIns="46204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064629" y="5852765"/>
            <a:ext cx="3523306" cy="2195173"/>
            <a:chOff x="0" y="0"/>
            <a:chExt cx="1075568" cy="67012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75568" cy="670126"/>
            </a:xfrm>
            <a:custGeom>
              <a:avLst/>
              <a:gdLst/>
              <a:ahLst/>
              <a:cxnLst/>
              <a:rect r="r" b="b" t="t" l="l"/>
              <a:pathLst>
                <a:path h="670126" w="1075568">
                  <a:moveTo>
                    <a:pt x="0" y="0"/>
                  </a:moveTo>
                  <a:lnTo>
                    <a:pt x="1075568" y="0"/>
                  </a:lnTo>
                  <a:lnTo>
                    <a:pt x="1075568" y="670126"/>
                  </a:lnTo>
                  <a:lnTo>
                    <a:pt x="0" y="670126"/>
                  </a:lnTo>
                  <a:close/>
                </a:path>
              </a:pathLst>
            </a:custGeom>
            <a:solidFill>
              <a:srgbClr val="8B653C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1075568" cy="698701"/>
            </a:xfrm>
            <a:prstGeom prst="rect">
              <a:avLst/>
            </a:prstGeom>
          </p:spPr>
          <p:txBody>
            <a:bodyPr anchor="ctr" rtlCol="false" tIns="40530" lIns="40530" bIns="40530" rIns="40530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28700" y="2645992"/>
            <a:ext cx="10559235" cy="2961446"/>
            <a:chOff x="0" y="0"/>
            <a:chExt cx="1051620" cy="29493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51620" cy="294938"/>
            </a:xfrm>
            <a:custGeom>
              <a:avLst/>
              <a:gdLst/>
              <a:ahLst/>
              <a:cxnLst/>
              <a:rect r="r" b="b" t="t" l="l"/>
              <a:pathLst>
                <a:path h="294938" w="1051620">
                  <a:moveTo>
                    <a:pt x="0" y="0"/>
                  </a:moveTo>
                  <a:lnTo>
                    <a:pt x="1051620" y="0"/>
                  </a:lnTo>
                  <a:lnTo>
                    <a:pt x="1051620" y="294938"/>
                  </a:lnTo>
                  <a:lnTo>
                    <a:pt x="0" y="294938"/>
                  </a:lnTo>
                  <a:close/>
                </a:path>
              </a:pathLst>
            </a:custGeom>
            <a:blipFill>
              <a:blip r:embed="rId3"/>
              <a:stretch>
                <a:fillRect l="0" t="-13893" r="0" b="-64384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2047113" y="8299182"/>
            <a:ext cx="2160235" cy="712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13"/>
              </a:lnSpc>
              <a:spcBef>
                <a:spcPct val="0"/>
              </a:spcBef>
            </a:pPr>
            <a:r>
              <a:rPr lang="en-US" sz="1723" strike="noStrike" u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Participation: 2+ interactions per 30 days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831183" y="8299182"/>
            <a:ext cx="2187893" cy="712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13"/>
              </a:lnSpc>
              <a:spcBef>
                <a:spcPct val="0"/>
              </a:spcBef>
            </a:pPr>
            <a:r>
              <a:rPr lang="en-US" sz="1723" strike="noStrike" u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Real people only: no synthetic voices or influencers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729533" y="3691318"/>
            <a:ext cx="2391193" cy="475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13"/>
              </a:lnSpc>
              <a:spcBef>
                <a:spcPct val="0"/>
              </a:spcBef>
            </a:pPr>
            <a:r>
              <a:rPr lang="en-US" sz="1723" strike="noStrike" u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Anita and practitioner clips on ritual pages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166520" y="7756104"/>
            <a:ext cx="1898885" cy="296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38"/>
              </a:lnSpc>
              <a:spcBef>
                <a:spcPct val="0"/>
              </a:spcBef>
            </a:pPr>
            <a:r>
              <a:rPr lang="en-US" sz="2106" strike="noStrike" u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MEASURED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774754" y="7756104"/>
            <a:ext cx="2300751" cy="28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2"/>
              </a:lnSpc>
              <a:spcBef>
                <a:spcPct val="0"/>
              </a:spcBef>
            </a:pPr>
            <a:r>
              <a:rPr lang="en-US" sz="2011" strike="noStrike" u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PROTECTED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851211" y="3185880"/>
            <a:ext cx="2147836" cy="28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2"/>
              </a:lnSpc>
              <a:spcBef>
                <a:spcPct val="0"/>
              </a:spcBef>
            </a:pPr>
            <a:r>
              <a:rPr lang="en-US" sz="2011" strike="noStrike" u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RECORDED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811154" y="6168114"/>
            <a:ext cx="2227950" cy="712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13"/>
              </a:lnSpc>
              <a:spcBef>
                <a:spcPct val="0"/>
              </a:spcBef>
            </a:pPr>
            <a:r>
              <a:rPr lang="en-US" sz="1723" strike="noStrike" u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Verified practitioners lead rituals from month 6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811154" y="5446631"/>
            <a:ext cx="2147836" cy="28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2"/>
              </a:lnSpc>
              <a:spcBef>
                <a:spcPct val="0"/>
              </a:spcBef>
            </a:pPr>
            <a:r>
              <a:rPr lang="en-US" sz="2011" strike="noStrike" u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LIVE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047113" y="3621260"/>
            <a:ext cx="2227950" cy="1135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2"/>
              </a:lnSpc>
              <a:spcBef>
                <a:spcPct val="0"/>
              </a:spcBef>
            </a:pPr>
            <a:r>
              <a:rPr lang="en-US" sz="2011" strike="noStrike" u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Ask Anita, Ayurveda Did It First, Return to Self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085505" y="3185880"/>
            <a:ext cx="2147836" cy="28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2"/>
              </a:lnSpc>
              <a:spcBef>
                <a:spcPct val="0"/>
              </a:spcBef>
            </a:pPr>
            <a:r>
              <a:rPr lang="en-US" sz="2011" strike="noStrike" u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WEEKLY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845158" y="6605020"/>
            <a:ext cx="2716752" cy="1359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39"/>
              </a:lnSpc>
              <a:spcBef>
                <a:spcPct val="0"/>
              </a:spcBef>
            </a:pPr>
            <a:r>
              <a:rPr lang="en-US" sz="1957" strike="noStrike" u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Ritual pages, quiz explanations, Ritual Profile pilot, community formats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10272" y="6053338"/>
            <a:ext cx="3107731" cy="301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42"/>
              </a:lnSpc>
              <a:spcBef>
                <a:spcPct val="0"/>
              </a:spcBef>
            </a:pPr>
            <a:r>
              <a:rPr lang="en-US" sz="2242" strike="noStrike" u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MONTHS 0-3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4649669" y="6053338"/>
            <a:ext cx="3107731" cy="301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42"/>
              </a:lnSpc>
              <a:spcBef>
                <a:spcPct val="0"/>
              </a:spcBef>
            </a:pPr>
            <a:r>
              <a:rPr lang="en-US" sz="2242" strike="noStrike" u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MONTHS 3-6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272416" y="6047560"/>
            <a:ext cx="3107731" cy="313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38"/>
              </a:lnSpc>
              <a:spcBef>
                <a:spcPct val="0"/>
              </a:spcBef>
            </a:pPr>
            <a:r>
              <a:rPr lang="en-US" sz="2338" strike="noStrike" u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MONTHS 6-12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06172" y="6605020"/>
            <a:ext cx="3072441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9"/>
              </a:lnSpc>
              <a:spcBef>
                <a:spcPct val="0"/>
              </a:spcBef>
              <a:buFont typeface="Arial"/>
              <a:buChar char="•"/>
            </a:pPr>
            <a:r>
              <a:rPr lang="en-US" sz="1949" strike="noStrike" u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Baselines, claims audit, quiz linked to stock. Start weekly Ask Anita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340069" y="6583561"/>
            <a:ext cx="2972426" cy="1016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50"/>
              </a:lnSpc>
              <a:spcBef>
                <a:spcPct val="0"/>
              </a:spcBef>
            </a:pPr>
            <a:r>
              <a:rPr lang="en-US" sz="1964" strike="noStrike" u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Practitioners lead live rituals. Move budget from non-driving elements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658315" y="8801554"/>
            <a:ext cx="2750825" cy="259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19"/>
              </a:lnSpc>
              <a:spcBef>
                <a:spcPct val="0"/>
              </a:spcBef>
            </a:pPr>
            <a:r>
              <a:rPr lang="en-US" sz="2019" strike="noStrike" u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FOUNDATION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301727" y="8801554"/>
            <a:ext cx="2242105" cy="259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19"/>
              </a:lnSpc>
              <a:spcBef>
                <a:spcPct val="0"/>
              </a:spcBef>
            </a:pPr>
            <a:r>
              <a:rPr lang="en-US" sz="2019" strike="noStrike" u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LAUNCH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8304715" y="8801554"/>
            <a:ext cx="3043135" cy="259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19"/>
              </a:lnSpc>
              <a:spcBef>
                <a:spcPct val="0"/>
              </a:spcBef>
            </a:pPr>
            <a:r>
              <a:rPr lang="en-US" sz="2019" strike="noStrike" u="none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SCALE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1852478" y="6432865"/>
            <a:ext cx="2403033" cy="239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41"/>
              </a:lnSpc>
              <a:spcBef>
                <a:spcPct val="0"/>
              </a:spcBef>
            </a:pPr>
            <a:r>
              <a:rPr lang="en-US" sz="1918" strike="noStrike" u="none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Community plan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2166520" y="5502663"/>
            <a:ext cx="1921421" cy="853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34"/>
              </a:lnSpc>
              <a:spcBef>
                <a:spcPct val="0"/>
              </a:spcBef>
            </a:pPr>
            <a:r>
              <a:rPr lang="en-US" sz="4960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Metric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B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013251"/>
            <a:ext cx="3110797" cy="2809165"/>
            <a:chOff x="0" y="0"/>
            <a:chExt cx="916815" cy="827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6815" cy="827918"/>
            </a:xfrm>
            <a:custGeom>
              <a:avLst/>
              <a:gdLst/>
              <a:ahLst/>
              <a:cxnLst/>
              <a:rect r="r" b="b" t="t" l="l"/>
              <a:pathLst>
                <a:path h="827918" w="916815">
                  <a:moveTo>
                    <a:pt x="0" y="0"/>
                  </a:moveTo>
                  <a:lnTo>
                    <a:pt x="916815" y="0"/>
                  </a:lnTo>
                  <a:lnTo>
                    <a:pt x="916815" y="827918"/>
                  </a:lnTo>
                  <a:lnTo>
                    <a:pt x="0" y="827918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16815" cy="8660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5942348"/>
            <a:ext cx="3110797" cy="2809165"/>
            <a:chOff x="0" y="0"/>
            <a:chExt cx="772094" cy="6972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72094" cy="697230"/>
            </a:xfrm>
            <a:custGeom>
              <a:avLst/>
              <a:gdLst/>
              <a:ahLst/>
              <a:cxnLst/>
              <a:rect r="r" b="b" t="t" l="l"/>
              <a:pathLst>
                <a:path h="697230" w="772094">
                  <a:moveTo>
                    <a:pt x="0" y="0"/>
                  </a:moveTo>
                  <a:lnTo>
                    <a:pt x="772094" y="0"/>
                  </a:lnTo>
                  <a:lnTo>
                    <a:pt x="772094" y="697230"/>
                  </a:lnTo>
                  <a:lnTo>
                    <a:pt x="0" y="697230"/>
                  </a:lnTo>
                  <a:close/>
                </a:path>
              </a:pathLst>
            </a:custGeom>
            <a:blipFill>
              <a:blip r:embed="rId2"/>
              <a:stretch>
                <a:fillRect l="0" t="-18657" r="0" b="-18657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308850" y="3013251"/>
            <a:ext cx="3110797" cy="2809165"/>
            <a:chOff x="0" y="0"/>
            <a:chExt cx="772094" cy="6972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72094" cy="697230"/>
            </a:xfrm>
            <a:custGeom>
              <a:avLst/>
              <a:gdLst/>
              <a:ahLst/>
              <a:cxnLst/>
              <a:rect r="r" b="b" t="t" l="l"/>
              <a:pathLst>
                <a:path h="697230" w="772094">
                  <a:moveTo>
                    <a:pt x="0" y="0"/>
                  </a:moveTo>
                  <a:lnTo>
                    <a:pt x="772094" y="0"/>
                  </a:lnTo>
                  <a:lnTo>
                    <a:pt x="772094" y="697230"/>
                  </a:lnTo>
                  <a:lnTo>
                    <a:pt x="0" y="697230"/>
                  </a:lnTo>
                  <a:close/>
                </a:path>
              </a:pathLst>
            </a:custGeom>
            <a:blipFill>
              <a:blip r:embed="rId3"/>
              <a:stretch>
                <a:fillRect l="0" t="-33053" r="0" b="-3305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4308850" y="5942348"/>
            <a:ext cx="3110797" cy="2809165"/>
            <a:chOff x="0" y="0"/>
            <a:chExt cx="916815" cy="82791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6815" cy="827918"/>
            </a:xfrm>
            <a:custGeom>
              <a:avLst/>
              <a:gdLst/>
              <a:ahLst/>
              <a:cxnLst/>
              <a:rect r="r" b="b" t="t" l="l"/>
              <a:pathLst>
                <a:path h="827918" w="916815">
                  <a:moveTo>
                    <a:pt x="0" y="0"/>
                  </a:moveTo>
                  <a:lnTo>
                    <a:pt x="916815" y="0"/>
                  </a:lnTo>
                  <a:lnTo>
                    <a:pt x="916815" y="827918"/>
                  </a:lnTo>
                  <a:lnTo>
                    <a:pt x="0" y="827918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16815" cy="8660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88734" y="3013251"/>
            <a:ext cx="3110797" cy="2809165"/>
            <a:chOff x="0" y="0"/>
            <a:chExt cx="916815" cy="82791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6815" cy="827918"/>
            </a:xfrm>
            <a:custGeom>
              <a:avLst/>
              <a:gdLst/>
              <a:ahLst/>
              <a:cxnLst/>
              <a:rect r="r" b="b" t="t" l="l"/>
              <a:pathLst>
                <a:path h="827918" w="916815">
                  <a:moveTo>
                    <a:pt x="0" y="0"/>
                  </a:moveTo>
                  <a:lnTo>
                    <a:pt x="916815" y="0"/>
                  </a:lnTo>
                  <a:lnTo>
                    <a:pt x="916815" y="827918"/>
                  </a:lnTo>
                  <a:lnTo>
                    <a:pt x="0" y="827918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916815" cy="8660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588734" y="5942348"/>
            <a:ext cx="3110797" cy="2809165"/>
            <a:chOff x="0" y="0"/>
            <a:chExt cx="772094" cy="6972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72094" cy="697230"/>
            </a:xfrm>
            <a:custGeom>
              <a:avLst/>
              <a:gdLst/>
              <a:ahLst/>
              <a:cxnLst/>
              <a:rect r="r" b="b" t="t" l="l"/>
              <a:pathLst>
                <a:path h="697230" w="772094">
                  <a:moveTo>
                    <a:pt x="0" y="0"/>
                  </a:moveTo>
                  <a:lnTo>
                    <a:pt x="772094" y="0"/>
                  </a:lnTo>
                  <a:lnTo>
                    <a:pt x="772094" y="697230"/>
                  </a:lnTo>
                  <a:lnTo>
                    <a:pt x="0" y="697230"/>
                  </a:lnTo>
                  <a:close/>
                </a:path>
              </a:pathLst>
            </a:custGeom>
            <a:blipFill>
              <a:blip r:embed="rId4"/>
              <a:stretch>
                <a:fillRect l="0" t="-3624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868619" y="3013251"/>
            <a:ext cx="3110797" cy="2809165"/>
            <a:chOff x="0" y="0"/>
            <a:chExt cx="772094" cy="69723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72094" cy="697230"/>
            </a:xfrm>
            <a:custGeom>
              <a:avLst/>
              <a:gdLst/>
              <a:ahLst/>
              <a:cxnLst/>
              <a:rect r="r" b="b" t="t" l="l"/>
              <a:pathLst>
                <a:path h="697230" w="772094">
                  <a:moveTo>
                    <a:pt x="0" y="0"/>
                  </a:moveTo>
                  <a:lnTo>
                    <a:pt x="772094" y="0"/>
                  </a:lnTo>
                  <a:lnTo>
                    <a:pt x="772094" y="697230"/>
                  </a:lnTo>
                  <a:lnTo>
                    <a:pt x="0" y="697230"/>
                  </a:lnTo>
                  <a:close/>
                </a:path>
              </a:pathLst>
            </a:custGeom>
            <a:blipFill>
              <a:blip r:embed="rId5"/>
              <a:stretch>
                <a:fillRect l="0" t="-19184" r="0" b="-19184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868619" y="5942348"/>
            <a:ext cx="3110797" cy="2809165"/>
            <a:chOff x="0" y="0"/>
            <a:chExt cx="916815" cy="82791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6815" cy="827918"/>
            </a:xfrm>
            <a:custGeom>
              <a:avLst/>
              <a:gdLst/>
              <a:ahLst/>
              <a:cxnLst/>
              <a:rect r="r" b="b" t="t" l="l"/>
              <a:pathLst>
                <a:path h="827918" w="916815">
                  <a:moveTo>
                    <a:pt x="0" y="0"/>
                  </a:moveTo>
                  <a:lnTo>
                    <a:pt x="916815" y="0"/>
                  </a:lnTo>
                  <a:lnTo>
                    <a:pt x="916815" y="827918"/>
                  </a:lnTo>
                  <a:lnTo>
                    <a:pt x="0" y="827918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916815" cy="8660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148503" y="8870681"/>
            <a:ext cx="3110797" cy="585870"/>
            <a:chOff x="0" y="0"/>
            <a:chExt cx="916815" cy="17266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6815" cy="172668"/>
            </a:xfrm>
            <a:custGeom>
              <a:avLst/>
              <a:gdLst/>
              <a:ahLst/>
              <a:cxnLst/>
              <a:rect r="r" b="b" t="t" l="l"/>
              <a:pathLst>
                <a:path h="172668" w="916815">
                  <a:moveTo>
                    <a:pt x="0" y="0"/>
                  </a:moveTo>
                  <a:lnTo>
                    <a:pt x="916815" y="0"/>
                  </a:lnTo>
                  <a:lnTo>
                    <a:pt x="916815" y="172668"/>
                  </a:lnTo>
                  <a:lnTo>
                    <a:pt x="0" y="172668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916815" cy="2107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28700" y="8870681"/>
            <a:ext cx="12950716" cy="585870"/>
            <a:chOff x="0" y="0"/>
            <a:chExt cx="3816838" cy="17266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816838" cy="172668"/>
            </a:xfrm>
            <a:custGeom>
              <a:avLst/>
              <a:gdLst/>
              <a:ahLst/>
              <a:cxnLst/>
              <a:rect r="r" b="b" t="t" l="l"/>
              <a:pathLst>
                <a:path h="172668" w="3816838">
                  <a:moveTo>
                    <a:pt x="0" y="0"/>
                  </a:moveTo>
                  <a:lnTo>
                    <a:pt x="3816838" y="0"/>
                  </a:lnTo>
                  <a:lnTo>
                    <a:pt x="3816838" y="172668"/>
                  </a:lnTo>
                  <a:lnTo>
                    <a:pt x="0" y="172668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3816838" cy="2107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148503" y="3013251"/>
            <a:ext cx="3110797" cy="5738263"/>
            <a:chOff x="0" y="0"/>
            <a:chExt cx="772094" cy="142422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72094" cy="1424226"/>
            </a:xfrm>
            <a:custGeom>
              <a:avLst/>
              <a:gdLst/>
              <a:ahLst/>
              <a:cxnLst/>
              <a:rect r="r" b="b" t="t" l="l"/>
              <a:pathLst>
                <a:path h="1424226" w="772094">
                  <a:moveTo>
                    <a:pt x="0" y="0"/>
                  </a:moveTo>
                  <a:lnTo>
                    <a:pt x="772094" y="0"/>
                  </a:lnTo>
                  <a:lnTo>
                    <a:pt x="772094" y="1424226"/>
                  </a:lnTo>
                  <a:lnTo>
                    <a:pt x="0" y="1424226"/>
                  </a:lnTo>
                  <a:close/>
                </a:path>
              </a:pathLst>
            </a:custGeom>
            <a:blipFill>
              <a:blip r:embed="rId6"/>
              <a:stretch>
                <a:fillRect l="-10678" t="0" r="-10678" b="0"/>
              </a:stretch>
            </a:blipFill>
          </p:spPr>
        </p:sp>
      </p:grpSp>
      <p:sp>
        <p:nvSpPr>
          <p:cNvPr name="Freeform 30" id="30"/>
          <p:cNvSpPr/>
          <p:nvPr/>
        </p:nvSpPr>
        <p:spPr>
          <a:xfrm flipH="false" flipV="false" rot="0">
            <a:off x="3349365" y="7851133"/>
            <a:ext cx="320714" cy="290246"/>
          </a:xfrm>
          <a:custGeom>
            <a:avLst/>
            <a:gdLst/>
            <a:ahLst/>
            <a:cxnLst/>
            <a:rect r="r" b="b" t="t" l="l"/>
            <a:pathLst>
              <a:path h="290246" w="320714">
                <a:moveTo>
                  <a:pt x="0" y="0"/>
                </a:moveTo>
                <a:lnTo>
                  <a:pt x="320714" y="0"/>
                </a:lnTo>
                <a:lnTo>
                  <a:pt x="320714" y="290246"/>
                </a:lnTo>
                <a:lnTo>
                  <a:pt x="0" y="2902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5179" r="0" b="-5179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028700" y="2241726"/>
            <a:ext cx="997262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503332"/>
                </a:solidFill>
                <a:latin typeface="Bai Jamjuree"/>
                <a:ea typeface="Bai Jamjuree"/>
                <a:cs typeface="Bai Jamjuree"/>
                <a:sym typeface="Bai Jamjuree"/>
              </a:rPr>
              <a:t>Creating a World You Can Relate To Your Roots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8700" y="895350"/>
            <a:ext cx="12840497" cy="1177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8"/>
              </a:lnSpc>
            </a:pPr>
            <a:r>
              <a:rPr lang="en-US" sz="6877">
                <a:solidFill>
                  <a:srgbClr val="503332"/>
                </a:solidFill>
                <a:latin typeface="TAN Aegean"/>
                <a:ea typeface="TAN Aegean"/>
                <a:cs typeface="TAN Aegean"/>
                <a:sym typeface="TAN Aegean"/>
              </a:rPr>
              <a:t>Social </a:t>
            </a:r>
            <a:r>
              <a:rPr lang="en-US" sz="6877">
                <a:solidFill>
                  <a:srgbClr val="503332"/>
                </a:solidFill>
                <a:latin typeface="TAN Aegean"/>
                <a:ea typeface="TAN Aegean"/>
                <a:cs typeface="TAN Aegean"/>
                <a:sym typeface="TAN Aegean"/>
              </a:rPr>
              <a:t>Campaign Goals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38919" y="3507110"/>
            <a:ext cx="2902782" cy="1449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2"/>
              </a:lnSpc>
            </a:pPr>
            <a:r>
              <a:rPr lang="en-US" sz="2394">
                <a:solidFill>
                  <a:srgbClr val="FBFEFD"/>
                </a:solidFill>
                <a:latin typeface="Bai Jamjuree"/>
                <a:ea typeface="Bai Jamjuree"/>
                <a:cs typeface="Bai Jamjuree"/>
                <a:sym typeface="Bai Jamjuree"/>
              </a:rPr>
              <a:t>Culturally Relevant</a:t>
            </a:r>
          </a:p>
          <a:p>
            <a:pPr algn="ctr">
              <a:lnSpc>
                <a:spcPts val="2726"/>
              </a:lnSpc>
            </a:pPr>
            <a:r>
              <a:rPr lang="en-US" sz="1947">
                <a:solidFill>
                  <a:srgbClr val="FBFEFD"/>
                </a:solidFill>
                <a:latin typeface="Bai Jamjuree"/>
                <a:ea typeface="Bai Jamjuree"/>
                <a:cs typeface="Bai Jamjuree"/>
                <a:sym typeface="Bai Jamjuree"/>
              </a:rPr>
              <a:t>R</a:t>
            </a:r>
            <a:r>
              <a:rPr lang="en-US" sz="1947">
                <a:solidFill>
                  <a:srgbClr val="FBFEFD"/>
                </a:solidFill>
                <a:latin typeface="Bai Jamjuree"/>
                <a:ea typeface="Bai Jamjuree"/>
                <a:cs typeface="Bai Jamjuree"/>
                <a:sym typeface="Bai Jamjuree"/>
              </a:rPr>
              <a:t>eposition Ayurveda Rituals as more than a functional medicine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740362" y="3283357"/>
            <a:ext cx="2807543" cy="2211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2"/>
              </a:lnSpc>
            </a:pPr>
            <a:r>
              <a:rPr lang="en-US" sz="2394">
                <a:solidFill>
                  <a:srgbClr val="FBFEFD"/>
                </a:solidFill>
                <a:latin typeface="Bai Jamjuree"/>
                <a:ea typeface="Bai Jamjuree"/>
                <a:cs typeface="Bai Jamjuree"/>
                <a:sym typeface="Bai Jamjuree"/>
              </a:rPr>
              <a:t>Cohesive Brand World</a:t>
            </a:r>
          </a:p>
          <a:p>
            <a:pPr algn="ctr">
              <a:lnSpc>
                <a:spcPts val="2726"/>
              </a:lnSpc>
            </a:pPr>
            <a:r>
              <a:rPr lang="en-US" sz="1947">
                <a:solidFill>
                  <a:srgbClr val="FBFEFD"/>
                </a:solidFill>
                <a:latin typeface="Bai Jamjuree"/>
                <a:ea typeface="Bai Jamjuree"/>
                <a:cs typeface="Bai Jamjuree"/>
                <a:sym typeface="Bai Jamjuree"/>
              </a:rPr>
              <a:t>Use seasons as the organizing system so consumers can enjoy rituals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975540" y="6445879"/>
            <a:ext cx="2893657" cy="1449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2"/>
              </a:lnSpc>
            </a:pPr>
            <a:r>
              <a:rPr lang="en-US" sz="2394">
                <a:solidFill>
                  <a:srgbClr val="FBFEFD"/>
                </a:solidFill>
                <a:latin typeface="Bai Jamjuree"/>
                <a:ea typeface="Bai Jamjuree"/>
                <a:cs typeface="Bai Jamjuree"/>
                <a:sym typeface="Bai Jamjuree"/>
              </a:rPr>
              <a:t>Drive Product Desire</a:t>
            </a:r>
          </a:p>
          <a:p>
            <a:pPr algn="ctr">
              <a:lnSpc>
                <a:spcPts val="2726"/>
              </a:lnSpc>
            </a:pPr>
            <a:r>
              <a:rPr lang="en-US" sz="1947">
                <a:solidFill>
                  <a:srgbClr val="FBFEFD"/>
                </a:solidFill>
                <a:latin typeface="Bai Jamjuree"/>
                <a:ea typeface="Bai Jamjuree"/>
                <a:cs typeface="Bai Jamjuree"/>
                <a:sym typeface="Bai Jamjuree"/>
              </a:rPr>
              <a:t>Increas</a:t>
            </a:r>
            <a:r>
              <a:rPr lang="en-US" sz="1947">
                <a:solidFill>
                  <a:srgbClr val="FBFEFD"/>
                </a:solidFill>
                <a:latin typeface="Bai Jamjuree"/>
                <a:ea typeface="Bai Jamjuree"/>
                <a:cs typeface="Bai Jamjuree"/>
                <a:sym typeface="Bai Jamjuree"/>
              </a:rPr>
              <a:t>e impulse purchases and repeat buying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415772" y="6445879"/>
            <a:ext cx="2893657" cy="1449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2"/>
              </a:lnSpc>
            </a:pPr>
            <a:r>
              <a:rPr lang="en-US" sz="2394">
                <a:solidFill>
                  <a:srgbClr val="FBFEFD"/>
                </a:solidFill>
                <a:latin typeface="Bai Jamjuree"/>
                <a:ea typeface="Bai Jamjuree"/>
                <a:cs typeface="Bai Jamjuree"/>
                <a:sym typeface="Bai Jamjuree"/>
              </a:rPr>
              <a:t>Build Community</a:t>
            </a:r>
          </a:p>
          <a:p>
            <a:pPr algn="ctr">
              <a:lnSpc>
                <a:spcPts val="2726"/>
              </a:lnSpc>
            </a:pPr>
            <a:r>
              <a:rPr lang="en-US" sz="1947">
                <a:solidFill>
                  <a:srgbClr val="FBFEFD"/>
                </a:solidFill>
                <a:latin typeface="Bai Jamjuree"/>
                <a:ea typeface="Bai Jamjuree"/>
                <a:cs typeface="Bai Jamjuree"/>
                <a:sym typeface="Bai Jamjuree"/>
              </a:rPr>
              <a:t>Move from brand-to-consumer to brand-with-consumer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148503" y="8906435"/>
            <a:ext cx="3110797" cy="465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3"/>
              </a:lnSpc>
            </a:pPr>
            <a:r>
              <a:rPr lang="en-US" sz="268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Core Values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28700" y="8955966"/>
            <a:ext cx="12950716" cy="374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2"/>
              </a:lnSpc>
            </a:pPr>
            <a:r>
              <a:rPr lang="en-US" sz="2144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Balance Heritage (care, accessibility, trust) + Modernity (flavors, partnerships, experiences)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15747004" y="243713"/>
            <a:ext cx="2306398" cy="1329110"/>
          </a:xfrm>
          <a:custGeom>
            <a:avLst/>
            <a:gdLst/>
            <a:ahLst/>
            <a:cxnLst/>
            <a:rect r="r" b="b" t="t" l="l"/>
            <a:pathLst>
              <a:path h="1329110" w="2306398">
                <a:moveTo>
                  <a:pt x="0" y="0"/>
                </a:moveTo>
                <a:lnTo>
                  <a:pt x="2306398" y="0"/>
                </a:lnTo>
                <a:lnTo>
                  <a:pt x="2306398" y="1329111"/>
                </a:lnTo>
                <a:lnTo>
                  <a:pt x="0" y="13291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B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962143"/>
            <a:ext cx="3067724" cy="4940740"/>
            <a:chOff x="0" y="0"/>
            <a:chExt cx="925816" cy="14910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25816" cy="1491078"/>
            </a:xfrm>
            <a:custGeom>
              <a:avLst/>
              <a:gdLst/>
              <a:ahLst/>
              <a:cxnLst/>
              <a:rect r="r" b="b" t="t" l="l"/>
              <a:pathLst>
                <a:path h="1491078" w="925816">
                  <a:moveTo>
                    <a:pt x="0" y="0"/>
                  </a:moveTo>
                  <a:lnTo>
                    <a:pt x="925816" y="0"/>
                  </a:lnTo>
                  <a:lnTo>
                    <a:pt x="925816" y="1491078"/>
                  </a:lnTo>
                  <a:lnTo>
                    <a:pt x="0" y="1491078"/>
                  </a:lnTo>
                  <a:close/>
                </a:path>
              </a:pathLst>
            </a:custGeom>
            <a:blipFill>
              <a:blip r:embed="rId2"/>
              <a:stretch>
                <a:fillRect l="-15062" t="-6353" r="-25759" b="-226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32620" y="7982503"/>
            <a:ext cx="3048113" cy="550910"/>
            <a:chOff x="0" y="0"/>
            <a:chExt cx="1400385" cy="2531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0385" cy="253103"/>
            </a:xfrm>
            <a:custGeom>
              <a:avLst/>
              <a:gdLst/>
              <a:ahLst/>
              <a:cxnLst/>
              <a:rect r="r" b="b" t="t" l="l"/>
              <a:pathLst>
                <a:path h="253103" w="1400385">
                  <a:moveTo>
                    <a:pt x="0" y="0"/>
                  </a:moveTo>
                  <a:lnTo>
                    <a:pt x="1400385" y="0"/>
                  </a:lnTo>
                  <a:lnTo>
                    <a:pt x="1400385" y="253103"/>
                  </a:lnTo>
                  <a:lnTo>
                    <a:pt x="0" y="253103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400385" cy="281678"/>
            </a:xfrm>
            <a:prstGeom prst="rect">
              <a:avLst/>
            </a:prstGeom>
          </p:spPr>
          <p:txBody>
            <a:bodyPr anchor="ctr" rtlCol="false" tIns="46204" lIns="46204" bIns="46204" rIns="46204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319419" y="2962143"/>
            <a:ext cx="3067724" cy="4940740"/>
            <a:chOff x="0" y="0"/>
            <a:chExt cx="925816" cy="14910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25816" cy="1491078"/>
            </a:xfrm>
            <a:custGeom>
              <a:avLst/>
              <a:gdLst/>
              <a:ahLst/>
              <a:cxnLst/>
              <a:rect r="r" b="b" t="t" l="l"/>
              <a:pathLst>
                <a:path h="1491078" w="925816">
                  <a:moveTo>
                    <a:pt x="0" y="0"/>
                  </a:moveTo>
                  <a:lnTo>
                    <a:pt x="925816" y="0"/>
                  </a:lnTo>
                  <a:lnTo>
                    <a:pt x="925816" y="1491078"/>
                  </a:lnTo>
                  <a:lnTo>
                    <a:pt x="0" y="1491078"/>
                  </a:lnTo>
                  <a:close/>
                </a:path>
              </a:pathLst>
            </a:custGeom>
            <a:blipFill>
              <a:blip r:embed="rId3"/>
              <a:stretch>
                <a:fillRect l="0" t="-5282" r="0" b="-528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36541" y="8609613"/>
            <a:ext cx="3048113" cy="984404"/>
            <a:chOff x="0" y="0"/>
            <a:chExt cx="1400385" cy="4522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00385" cy="452262"/>
            </a:xfrm>
            <a:custGeom>
              <a:avLst/>
              <a:gdLst/>
              <a:ahLst/>
              <a:cxnLst/>
              <a:rect r="r" b="b" t="t" l="l"/>
              <a:pathLst>
                <a:path h="452262" w="1400385">
                  <a:moveTo>
                    <a:pt x="0" y="0"/>
                  </a:moveTo>
                  <a:lnTo>
                    <a:pt x="1400385" y="0"/>
                  </a:lnTo>
                  <a:lnTo>
                    <a:pt x="1400385" y="452262"/>
                  </a:lnTo>
                  <a:lnTo>
                    <a:pt x="0" y="452262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400385" cy="480837"/>
            </a:xfrm>
            <a:prstGeom prst="rect">
              <a:avLst/>
            </a:prstGeom>
          </p:spPr>
          <p:txBody>
            <a:bodyPr anchor="ctr" rtlCol="false" tIns="46204" lIns="46204" bIns="46204" rIns="46204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604253" y="2965563"/>
            <a:ext cx="3067724" cy="4940740"/>
            <a:chOff x="0" y="0"/>
            <a:chExt cx="925816" cy="149107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25816" cy="1491078"/>
            </a:xfrm>
            <a:custGeom>
              <a:avLst/>
              <a:gdLst/>
              <a:ahLst/>
              <a:cxnLst/>
              <a:rect r="r" b="b" t="t" l="l"/>
              <a:pathLst>
                <a:path h="1491078" w="925816">
                  <a:moveTo>
                    <a:pt x="0" y="0"/>
                  </a:moveTo>
                  <a:lnTo>
                    <a:pt x="925816" y="0"/>
                  </a:lnTo>
                  <a:lnTo>
                    <a:pt x="925816" y="1491078"/>
                  </a:lnTo>
                  <a:lnTo>
                    <a:pt x="0" y="1491078"/>
                  </a:lnTo>
                  <a:close/>
                </a:path>
              </a:pathLst>
            </a:custGeom>
            <a:blipFill>
              <a:blip r:embed="rId4"/>
              <a:stretch>
                <a:fillRect l="-14422" t="0" r="-14422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886569" y="2965563"/>
            <a:ext cx="3067724" cy="4940740"/>
            <a:chOff x="0" y="0"/>
            <a:chExt cx="925816" cy="14910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25816" cy="1491078"/>
            </a:xfrm>
            <a:custGeom>
              <a:avLst/>
              <a:gdLst/>
              <a:ahLst/>
              <a:cxnLst/>
              <a:rect r="r" b="b" t="t" l="l"/>
              <a:pathLst>
                <a:path h="1491078" w="925816">
                  <a:moveTo>
                    <a:pt x="0" y="0"/>
                  </a:moveTo>
                  <a:lnTo>
                    <a:pt x="925816" y="0"/>
                  </a:lnTo>
                  <a:lnTo>
                    <a:pt x="925816" y="1491078"/>
                  </a:lnTo>
                  <a:lnTo>
                    <a:pt x="0" y="1491078"/>
                  </a:lnTo>
                  <a:close/>
                </a:path>
              </a:pathLst>
            </a:custGeom>
            <a:blipFill>
              <a:blip r:embed="rId5"/>
              <a:stretch>
                <a:fillRect l="-31440" t="-61827" r="-66579" b="-2107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173367" y="2965563"/>
            <a:ext cx="3250021" cy="1007135"/>
            <a:chOff x="0" y="0"/>
            <a:chExt cx="780200" cy="24177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80200" cy="241773"/>
            </a:xfrm>
            <a:custGeom>
              <a:avLst/>
              <a:gdLst/>
              <a:ahLst/>
              <a:cxnLst/>
              <a:rect r="r" b="b" t="t" l="l"/>
              <a:pathLst>
                <a:path h="241773" w="780200">
                  <a:moveTo>
                    <a:pt x="0" y="0"/>
                  </a:moveTo>
                  <a:lnTo>
                    <a:pt x="780200" y="0"/>
                  </a:lnTo>
                  <a:lnTo>
                    <a:pt x="780200" y="241773"/>
                  </a:lnTo>
                  <a:lnTo>
                    <a:pt x="0" y="241773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780200" cy="270348"/>
            </a:xfrm>
            <a:prstGeom prst="rect">
              <a:avLst/>
            </a:prstGeom>
          </p:spPr>
          <p:txBody>
            <a:bodyPr anchor="ctr" rtlCol="false" tIns="57868" lIns="57868" bIns="57868" rIns="57868"/>
            <a:lstStyle/>
            <a:p>
              <a:pPr algn="ctr">
                <a:lnSpc>
                  <a:spcPts val="23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173367" y="4136365"/>
            <a:ext cx="3250021" cy="1007135"/>
            <a:chOff x="0" y="0"/>
            <a:chExt cx="780200" cy="24177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80200" cy="241773"/>
            </a:xfrm>
            <a:custGeom>
              <a:avLst/>
              <a:gdLst/>
              <a:ahLst/>
              <a:cxnLst/>
              <a:rect r="r" b="b" t="t" l="l"/>
              <a:pathLst>
                <a:path h="241773" w="780200">
                  <a:moveTo>
                    <a:pt x="0" y="0"/>
                  </a:moveTo>
                  <a:lnTo>
                    <a:pt x="780200" y="0"/>
                  </a:lnTo>
                  <a:lnTo>
                    <a:pt x="780200" y="241773"/>
                  </a:lnTo>
                  <a:lnTo>
                    <a:pt x="0" y="241773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780200" cy="270348"/>
            </a:xfrm>
            <a:prstGeom prst="rect">
              <a:avLst/>
            </a:prstGeom>
          </p:spPr>
          <p:txBody>
            <a:bodyPr anchor="ctr" rtlCol="false" tIns="57868" lIns="57868" bIns="57868" rIns="57868"/>
            <a:lstStyle/>
            <a:p>
              <a:pPr algn="ctr">
                <a:lnSpc>
                  <a:spcPts val="23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173367" y="5305425"/>
            <a:ext cx="3250021" cy="1007135"/>
            <a:chOff x="0" y="0"/>
            <a:chExt cx="780200" cy="24177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80200" cy="241773"/>
            </a:xfrm>
            <a:custGeom>
              <a:avLst/>
              <a:gdLst/>
              <a:ahLst/>
              <a:cxnLst/>
              <a:rect r="r" b="b" t="t" l="l"/>
              <a:pathLst>
                <a:path h="241773" w="780200">
                  <a:moveTo>
                    <a:pt x="0" y="0"/>
                  </a:moveTo>
                  <a:lnTo>
                    <a:pt x="780200" y="0"/>
                  </a:lnTo>
                  <a:lnTo>
                    <a:pt x="780200" y="241773"/>
                  </a:lnTo>
                  <a:lnTo>
                    <a:pt x="0" y="241773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780200" cy="270348"/>
            </a:xfrm>
            <a:prstGeom prst="rect">
              <a:avLst/>
            </a:prstGeom>
          </p:spPr>
          <p:txBody>
            <a:bodyPr anchor="ctr" rtlCol="false" tIns="57868" lIns="57868" bIns="57868" rIns="57868"/>
            <a:lstStyle/>
            <a:p>
              <a:pPr algn="ctr">
                <a:lnSpc>
                  <a:spcPts val="23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173367" y="6476228"/>
            <a:ext cx="3250021" cy="1007135"/>
            <a:chOff x="0" y="0"/>
            <a:chExt cx="780200" cy="24177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80200" cy="241773"/>
            </a:xfrm>
            <a:custGeom>
              <a:avLst/>
              <a:gdLst/>
              <a:ahLst/>
              <a:cxnLst/>
              <a:rect r="r" b="b" t="t" l="l"/>
              <a:pathLst>
                <a:path h="241773" w="780200">
                  <a:moveTo>
                    <a:pt x="0" y="0"/>
                  </a:moveTo>
                  <a:lnTo>
                    <a:pt x="780200" y="0"/>
                  </a:lnTo>
                  <a:lnTo>
                    <a:pt x="780200" y="241773"/>
                  </a:lnTo>
                  <a:lnTo>
                    <a:pt x="0" y="241773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780200" cy="270348"/>
            </a:xfrm>
            <a:prstGeom prst="rect">
              <a:avLst/>
            </a:prstGeom>
          </p:spPr>
          <p:txBody>
            <a:bodyPr anchor="ctr" rtlCol="false" tIns="57868" lIns="57868" bIns="57868" rIns="57868"/>
            <a:lstStyle/>
            <a:p>
              <a:pPr algn="ctr">
                <a:lnSpc>
                  <a:spcPts val="23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319419" y="7982503"/>
            <a:ext cx="3048113" cy="550910"/>
            <a:chOff x="0" y="0"/>
            <a:chExt cx="1400385" cy="25310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00385" cy="253103"/>
            </a:xfrm>
            <a:custGeom>
              <a:avLst/>
              <a:gdLst/>
              <a:ahLst/>
              <a:cxnLst/>
              <a:rect r="r" b="b" t="t" l="l"/>
              <a:pathLst>
                <a:path h="253103" w="1400385">
                  <a:moveTo>
                    <a:pt x="0" y="0"/>
                  </a:moveTo>
                  <a:lnTo>
                    <a:pt x="1400385" y="0"/>
                  </a:lnTo>
                  <a:lnTo>
                    <a:pt x="1400385" y="253103"/>
                  </a:lnTo>
                  <a:lnTo>
                    <a:pt x="0" y="253103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1400385" cy="281678"/>
            </a:xfrm>
            <a:prstGeom prst="rect">
              <a:avLst/>
            </a:prstGeom>
          </p:spPr>
          <p:txBody>
            <a:bodyPr anchor="ctr" rtlCol="false" tIns="46204" lIns="46204" bIns="46204" rIns="46204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323339" y="8609613"/>
            <a:ext cx="3048113" cy="984404"/>
            <a:chOff x="0" y="0"/>
            <a:chExt cx="1400385" cy="45226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00385" cy="452262"/>
            </a:xfrm>
            <a:custGeom>
              <a:avLst/>
              <a:gdLst/>
              <a:ahLst/>
              <a:cxnLst/>
              <a:rect r="r" b="b" t="t" l="l"/>
              <a:pathLst>
                <a:path h="452262" w="1400385">
                  <a:moveTo>
                    <a:pt x="0" y="0"/>
                  </a:moveTo>
                  <a:lnTo>
                    <a:pt x="1400385" y="0"/>
                  </a:lnTo>
                  <a:lnTo>
                    <a:pt x="1400385" y="452262"/>
                  </a:lnTo>
                  <a:lnTo>
                    <a:pt x="0" y="452262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1400385" cy="480837"/>
            </a:xfrm>
            <a:prstGeom prst="rect">
              <a:avLst/>
            </a:prstGeom>
          </p:spPr>
          <p:txBody>
            <a:bodyPr anchor="ctr" rtlCol="false" tIns="46204" lIns="46204" bIns="46204" rIns="46204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606218" y="8000783"/>
            <a:ext cx="3048113" cy="550910"/>
            <a:chOff x="0" y="0"/>
            <a:chExt cx="1400385" cy="25310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00385" cy="253103"/>
            </a:xfrm>
            <a:custGeom>
              <a:avLst/>
              <a:gdLst/>
              <a:ahLst/>
              <a:cxnLst/>
              <a:rect r="r" b="b" t="t" l="l"/>
              <a:pathLst>
                <a:path h="253103" w="1400385">
                  <a:moveTo>
                    <a:pt x="0" y="0"/>
                  </a:moveTo>
                  <a:lnTo>
                    <a:pt x="1400385" y="0"/>
                  </a:lnTo>
                  <a:lnTo>
                    <a:pt x="1400385" y="253103"/>
                  </a:lnTo>
                  <a:lnTo>
                    <a:pt x="0" y="253103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1400385" cy="281678"/>
            </a:xfrm>
            <a:prstGeom prst="rect">
              <a:avLst/>
            </a:prstGeom>
          </p:spPr>
          <p:txBody>
            <a:bodyPr anchor="ctr" rtlCol="false" tIns="46204" lIns="46204" bIns="46204" rIns="46204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610138" y="8627893"/>
            <a:ext cx="3048113" cy="984404"/>
            <a:chOff x="0" y="0"/>
            <a:chExt cx="1400385" cy="45226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400385" cy="452262"/>
            </a:xfrm>
            <a:custGeom>
              <a:avLst/>
              <a:gdLst/>
              <a:ahLst/>
              <a:cxnLst/>
              <a:rect r="r" b="b" t="t" l="l"/>
              <a:pathLst>
                <a:path h="452262" w="1400385">
                  <a:moveTo>
                    <a:pt x="0" y="0"/>
                  </a:moveTo>
                  <a:lnTo>
                    <a:pt x="1400385" y="0"/>
                  </a:lnTo>
                  <a:lnTo>
                    <a:pt x="1400385" y="452262"/>
                  </a:lnTo>
                  <a:lnTo>
                    <a:pt x="0" y="452262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1400385" cy="480837"/>
            </a:xfrm>
            <a:prstGeom prst="rect">
              <a:avLst/>
            </a:prstGeom>
          </p:spPr>
          <p:txBody>
            <a:bodyPr anchor="ctr" rtlCol="false" tIns="46204" lIns="46204" bIns="46204" rIns="46204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893017" y="8000783"/>
            <a:ext cx="3048113" cy="550910"/>
            <a:chOff x="0" y="0"/>
            <a:chExt cx="1400385" cy="25310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400385" cy="253103"/>
            </a:xfrm>
            <a:custGeom>
              <a:avLst/>
              <a:gdLst/>
              <a:ahLst/>
              <a:cxnLst/>
              <a:rect r="r" b="b" t="t" l="l"/>
              <a:pathLst>
                <a:path h="253103" w="1400385">
                  <a:moveTo>
                    <a:pt x="0" y="0"/>
                  </a:moveTo>
                  <a:lnTo>
                    <a:pt x="1400385" y="0"/>
                  </a:lnTo>
                  <a:lnTo>
                    <a:pt x="1400385" y="253103"/>
                  </a:lnTo>
                  <a:lnTo>
                    <a:pt x="0" y="253103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1400385" cy="281678"/>
            </a:xfrm>
            <a:prstGeom prst="rect">
              <a:avLst/>
            </a:prstGeom>
          </p:spPr>
          <p:txBody>
            <a:bodyPr anchor="ctr" rtlCol="false" tIns="46204" lIns="46204" bIns="46204" rIns="46204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896937" y="8627893"/>
            <a:ext cx="3048113" cy="984404"/>
            <a:chOff x="0" y="0"/>
            <a:chExt cx="1400385" cy="45226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400385" cy="452262"/>
            </a:xfrm>
            <a:custGeom>
              <a:avLst/>
              <a:gdLst/>
              <a:ahLst/>
              <a:cxnLst/>
              <a:rect r="r" b="b" t="t" l="l"/>
              <a:pathLst>
                <a:path h="452262" w="1400385">
                  <a:moveTo>
                    <a:pt x="0" y="0"/>
                  </a:moveTo>
                  <a:lnTo>
                    <a:pt x="1400385" y="0"/>
                  </a:lnTo>
                  <a:lnTo>
                    <a:pt x="1400385" y="452262"/>
                  </a:lnTo>
                  <a:lnTo>
                    <a:pt x="0" y="452262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1400385" cy="480837"/>
            </a:xfrm>
            <a:prstGeom prst="rect">
              <a:avLst/>
            </a:prstGeom>
          </p:spPr>
          <p:txBody>
            <a:bodyPr anchor="ctr" rtlCol="false" tIns="46204" lIns="46204" bIns="46204" rIns="46204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028700" y="2006522"/>
            <a:ext cx="997262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Ambassador Archetypes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28700" y="895350"/>
            <a:ext cx="10917473" cy="1177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8"/>
              </a:lnSpc>
            </a:pPr>
            <a:r>
              <a:rPr lang="en-US" sz="6877">
                <a:solidFill>
                  <a:srgbClr val="000000"/>
                </a:solidFill>
                <a:latin typeface="TAN Aegean"/>
                <a:ea typeface="TAN Aegean"/>
                <a:cs typeface="TAN Aegean"/>
                <a:sym typeface="TAN Aegean"/>
              </a:rPr>
              <a:t>Ambassadors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32620" y="8027963"/>
            <a:ext cx="3067724" cy="40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3"/>
              </a:lnSpc>
            </a:pPr>
            <a:r>
              <a:rPr lang="en-US" b="true" sz="2295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TAM KAUR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62017" y="8796245"/>
            <a:ext cx="2789320" cy="576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3"/>
              </a:lnSpc>
            </a:pPr>
            <a:r>
              <a:rPr lang="en-US" sz="1695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Perfect embodiment of self-care as a ritual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291209" y="3040582"/>
            <a:ext cx="3008183" cy="771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7"/>
              </a:lnSpc>
            </a:pPr>
            <a:r>
              <a:rPr lang="en-US" sz="2233" b="true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SELF-CARE </a:t>
            </a:r>
          </a:p>
          <a:p>
            <a:pPr algn="ctr">
              <a:lnSpc>
                <a:spcPts val="3127"/>
              </a:lnSpc>
            </a:pPr>
            <a:r>
              <a:rPr lang="en-US" b="true" sz="2233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RITUAL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4291209" y="4228692"/>
            <a:ext cx="3008183" cy="771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7"/>
              </a:lnSpc>
            </a:pPr>
            <a:r>
              <a:rPr lang="en-US" sz="2233" b="true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GEN Z </a:t>
            </a:r>
          </a:p>
          <a:p>
            <a:pPr algn="ctr">
              <a:lnSpc>
                <a:spcPts val="3127"/>
              </a:lnSpc>
            </a:pPr>
            <a:r>
              <a:rPr lang="en-US" b="true" sz="2233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CULTURE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4294286" y="5423661"/>
            <a:ext cx="3008183" cy="771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7"/>
              </a:lnSpc>
            </a:pPr>
            <a:r>
              <a:rPr lang="en-US" b="true" sz="2233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CONFIDENCE &amp; IDENTITY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4294286" y="6569188"/>
            <a:ext cx="3008183" cy="771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7"/>
              </a:lnSpc>
            </a:pPr>
            <a:r>
              <a:rPr lang="en-US" b="true" sz="2233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COMMUNITY CREATOR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319419" y="8027963"/>
            <a:ext cx="3067724" cy="40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3"/>
              </a:lnSpc>
            </a:pPr>
            <a:r>
              <a:rPr lang="en-US" b="true" sz="2295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SID AND LISTEN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4458621" y="8947133"/>
            <a:ext cx="2789320" cy="280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3"/>
              </a:lnSpc>
            </a:pPr>
            <a:r>
              <a:rPr lang="en-US" sz="1695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High Gen Z recognition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7606218" y="8046243"/>
            <a:ext cx="3067724" cy="40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3"/>
              </a:lnSpc>
            </a:pPr>
            <a:r>
              <a:rPr lang="en-US" b="true" sz="2295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SIMONE ASHLEY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7735615" y="8796245"/>
            <a:ext cx="2789320" cy="576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3"/>
              </a:lnSpc>
            </a:pPr>
            <a:r>
              <a:rPr lang="en-US" sz="1695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Aligns with beauty, confidence, and identity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0893017" y="8046243"/>
            <a:ext cx="3067724" cy="40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3"/>
              </a:lnSpc>
            </a:pPr>
            <a:r>
              <a:rPr lang="en-US" b="true" sz="2295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ASTHA RAJYAGURU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1032219" y="8796245"/>
            <a:ext cx="2789320" cy="576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3"/>
              </a:lnSpc>
            </a:pPr>
            <a:r>
              <a:rPr lang="en-US" sz="1695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Strong connection to Beauty communities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14170290" y="7645287"/>
            <a:ext cx="3250021" cy="906406"/>
            <a:chOff x="0" y="0"/>
            <a:chExt cx="780200" cy="21759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80200" cy="217592"/>
            </a:xfrm>
            <a:custGeom>
              <a:avLst/>
              <a:gdLst/>
              <a:ahLst/>
              <a:cxnLst/>
              <a:rect r="r" b="b" t="t" l="l"/>
              <a:pathLst>
                <a:path h="217592" w="780200">
                  <a:moveTo>
                    <a:pt x="0" y="0"/>
                  </a:moveTo>
                  <a:lnTo>
                    <a:pt x="780200" y="0"/>
                  </a:lnTo>
                  <a:lnTo>
                    <a:pt x="780200" y="217592"/>
                  </a:lnTo>
                  <a:lnTo>
                    <a:pt x="0" y="217592"/>
                  </a:lnTo>
                  <a:close/>
                </a:path>
              </a:pathLst>
            </a:custGeom>
            <a:solidFill>
              <a:srgbClr val="503332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780200" cy="246167"/>
            </a:xfrm>
            <a:prstGeom prst="rect">
              <a:avLst/>
            </a:prstGeom>
          </p:spPr>
          <p:txBody>
            <a:bodyPr anchor="ctr" rtlCol="false" tIns="57868" lIns="57868" bIns="57868" rIns="57868"/>
            <a:lstStyle/>
            <a:p>
              <a:pPr algn="ctr">
                <a:lnSpc>
                  <a:spcPts val="2359"/>
                </a:lnSpc>
              </a:pP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4294286" y="7688711"/>
            <a:ext cx="3008183" cy="771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7"/>
              </a:lnSpc>
            </a:pPr>
            <a:r>
              <a:rPr lang="en-US" sz="2233" b="true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INDIAN HERITAGE </a:t>
            </a:r>
          </a:p>
          <a:p>
            <a:pPr algn="ctr">
              <a:lnSpc>
                <a:spcPts val="3127"/>
              </a:lnSpc>
            </a:pPr>
            <a:r>
              <a:rPr lang="en-US" b="true" sz="2233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DRIVEN</a:t>
            </a:r>
          </a:p>
        </p:txBody>
      </p:sp>
      <p:sp>
        <p:nvSpPr>
          <p:cNvPr name="Freeform 64" id="64"/>
          <p:cNvSpPr/>
          <p:nvPr/>
        </p:nvSpPr>
        <p:spPr>
          <a:xfrm flipH="false" flipV="false" rot="0">
            <a:off x="15747004" y="243713"/>
            <a:ext cx="2306398" cy="1329110"/>
          </a:xfrm>
          <a:custGeom>
            <a:avLst/>
            <a:gdLst/>
            <a:ahLst/>
            <a:cxnLst/>
            <a:rect r="r" b="b" t="t" l="l"/>
            <a:pathLst>
              <a:path h="1329110" w="2306398">
                <a:moveTo>
                  <a:pt x="0" y="0"/>
                </a:moveTo>
                <a:lnTo>
                  <a:pt x="2306398" y="0"/>
                </a:lnTo>
                <a:lnTo>
                  <a:pt x="2306398" y="1329111"/>
                </a:lnTo>
                <a:lnTo>
                  <a:pt x="0" y="13291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DAHYL598kb8</dc:identifier>
  <dcterms:modified xsi:type="dcterms:W3CDTF">2011-08-01T06:04:30Z</dcterms:modified>
  <cp:revision>1</cp:revision>
  <dc:title>Mauli Rituals</dc:title>
</cp:coreProperties>
</file>