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4646"/>
  </p:normalViewPr>
  <p:slideViewPr>
    <p:cSldViewPr snapToGrid="0" snapToObjects="1">
      <p:cViewPr varScale="1">
        <p:scale>
          <a:sx n="108" d="100"/>
          <a:sy n="108" d="100"/>
        </p:scale>
        <p:origin x="760" y="19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9/21/26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9/21/26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9/21/26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9/21/26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9/21/26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9/21/26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9/21/26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8B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4663440"/>
            <a:ext cx="12191695" cy="45720"/>
          </a:xfrm>
          <a:prstGeom prst="rect">
            <a:avLst/>
          </a:prstGeom>
          <a:solidFill>
            <a:srgbClr val="C99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22960" y="1737360"/>
            <a:ext cx="105156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400" b="1" i="0">
                <a:solidFill>
                  <a:srgbClr val="FFFFFF"/>
                </a:solidFill>
                <a:latin typeface="Calibri"/>
              </a:rPr>
              <a:t>The Mauli Draw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880360"/>
            <a:ext cx="105156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C99A2E"/>
                </a:solidFill>
                <a:latin typeface="Calibri"/>
              </a:rPr>
              <a:t>One chit. One problem. </a:t>
            </a:r>
            <a:r>
              <a:rPr lang="en-GB" sz="2400" b="1">
                <a:solidFill>
                  <a:srgbClr val="C99A2E"/>
                </a:solidFill>
                <a:latin typeface="Calibri"/>
              </a:rPr>
              <a:t>6</a:t>
            </a:r>
            <a:r>
              <a:rPr sz="2400" b="1" i="0">
                <a:solidFill>
                  <a:srgbClr val="C99A2E"/>
                </a:solidFill>
                <a:latin typeface="Calibri"/>
              </a:rPr>
              <a:t>0 minutes. Find the right question.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484632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FFFFFF"/>
                </a:solidFill>
                <a:latin typeface="Calibri"/>
              </a:rPr>
              <a:t>Future of Commerce · Mauli Rituals client challenge · 8 teams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8B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109728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THE SETUP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384048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The client in 60 seconds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371600"/>
            <a:ext cx="11155680" cy="35394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800">
                <a:solidFill>
                  <a:srgbClr val="2B2B2B"/>
                </a:solidFill>
                <a:latin typeface="Calibri"/>
              </a:rPr>
              <a:t>•  Mauli Rituals — British luxury wellness brand, founded by Anita &amp; Bittu Kaushal</a:t>
            </a:r>
          </a:p>
          <a:p>
            <a:pPr>
              <a:spcAft>
                <a:spcPts val="1200"/>
              </a:spcAft>
            </a:pPr>
            <a:r>
              <a:rPr sz="1800">
                <a:solidFill>
                  <a:srgbClr val="2B2B2B"/>
                </a:solidFill>
                <a:latin typeface="Calibri"/>
              </a:rPr>
              <a:t>•  Sells rituals, not just products: hair oiling, sleep ceremonies, dosha mind-body types</a:t>
            </a:r>
          </a:p>
          <a:p>
            <a:pPr>
              <a:spcAft>
                <a:spcPts val="1200"/>
              </a:spcAft>
            </a:pPr>
            <a:r>
              <a:rPr sz="1800">
                <a:solidFill>
                  <a:srgbClr val="2B2B2B"/>
                </a:solidFill>
                <a:latin typeface="Calibri"/>
              </a:rPr>
              <a:t>•  74 awards · £87 average order · stocked at Harrods, Space NK, Bulgari spas</a:t>
            </a:r>
          </a:p>
          <a:p>
            <a:pPr>
              <a:spcAft>
                <a:spcPts val="1200"/>
              </a:spcAft>
            </a:pPr>
            <a:r>
              <a:rPr sz="1800">
                <a:solidFill>
                  <a:srgbClr val="2B2B2B"/>
                </a:solidFill>
                <a:latin typeface="Calibri"/>
              </a:rPr>
              <a:t>•  Famous partners (Bulgari, Lamborghini, Range Rover) came to THEM</a:t>
            </a:r>
          </a:p>
          <a:p>
            <a:pPr>
              <a:spcAft>
                <a:spcPts val="1200"/>
              </a:spcAft>
            </a:pPr>
            <a:r>
              <a:rPr sz="1800">
                <a:solidFill>
                  <a:srgbClr val="2B2B2B"/>
                </a:solidFill>
                <a:latin typeface="Calibri"/>
              </a:rPr>
              <a:t>•  The problem: the brand uses almost no technology — and the founder fears tech will kill the personal touch</a:t>
            </a:r>
          </a:p>
          <a:p>
            <a:pPr>
              <a:spcAft>
                <a:spcPts val="1200"/>
              </a:spcAft>
            </a:pPr>
            <a:endParaRPr lang="en-GB">
              <a:solidFill>
                <a:srgbClr val="2B2B2B"/>
              </a:solidFill>
              <a:latin typeface="Calibri"/>
            </a:endParaRPr>
          </a:p>
          <a:p>
            <a:pPr>
              <a:spcAft>
                <a:spcPts val="1200"/>
              </a:spcAft>
            </a:pPr>
            <a:endParaRPr lang="en-US" sz="1800">
              <a:solidFill>
                <a:srgbClr val="2B2B2B"/>
              </a:solidFill>
              <a:latin typeface="Calibri"/>
            </a:endParaRPr>
          </a:p>
          <a:p>
            <a:pPr algn="ctr">
              <a:spcAft>
                <a:spcPts val="1200"/>
              </a:spcAft>
            </a:pPr>
            <a:r>
              <a:rPr sz="2800">
                <a:solidFill>
                  <a:srgbClr val="2B2B2B"/>
                </a:solidFill>
                <a:latin typeface="Calibri"/>
              </a:rPr>
              <a:t>Today: you pick a chit, find the real question inside it, and pitch your answer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8B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109728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THE MECHANIC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384048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How the draw works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417320"/>
            <a:ext cx="2011680" cy="914400"/>
          </a:xfrm>
          <a:prstGeom prst="rect">
            <a:avLst/>
          </a:prstGeom>
          <a:solidFill>
            <a:srgbClr val="C99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85800" y="1691640"/>
            <a:ext cx="1737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Calibri"/>
              </a:rPr>
              <a:t>STEP 1</a:t>
            </a:r>
          </a:p>
        </p:txBody>
      </p:sp>
      <p:sp>
        <p:nvSpPr>
          <p:cNvPr id="7" name="Rectangle 6"/>
          <p:cNvSpPr/>
          <p:nvPr/>
        </p:nvSpPr>
        <p:spPr>
          <a:xfrm>
            <a:off x="2514600" y="1417320"/>
            <a:ext cx="9144000" cy="914400"/>
          </a:xfrm>
          <a:prstGeom prst="rect">
            <a:avLst/>
          </a:prstGeom>
          <a:solidFill>
            <a:srgbClr val="FAF3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2743200" y="1673352"/>
            <a:ext cx="8778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2B2B2B"/>
                </a:solidFill>
                <a:latin typeface="Calibri"/>
              </a:rPr>
              <a:t>One member of your team comes to the front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2468880"/>
            <a:ext cx="2011680" cy="914400"/>
          </a:xfrm>
          <a:prstGeom prst="rect">
            <a:avLst/>
          </a:prstGeom>
          <a:solidFill>
            <a:srgbClr val="C99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85800" y="2743200"/>
            <a:ext cx="1737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Calibri"/>
              </a:rPr>
              <a:t>STEP 2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514600" y="2468880"/>
            <a:ext cx="9144000" cy="914400"/>
          </a:xfrm>
          <a:prstGeom prst="rect">
            <a:avLst/>
          </a:prstGeom>
          <a:solidFill>
            <a:srgbClr val="FAF3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2743200" y="2724912"/>
            <a:ext cx="877824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2B2B2B"/>
                </a:solidFill>
                <a:latin typeface="Calibri"/>
              </a:rPr>
              <a:t>Call a number from 1 to 8  that is your chit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2920" y="3520440"/>
            <a:ext cx="2011680" cy="914400"/>
          </a:xfrm>
          <a:prstGeom prst="rect">
            <a:avLst/>
          </a:prstGeom>
          <a:solidFill>
            <a:srgbClr val="C99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85800" y="3794760"/>
            <a:ext cx="1737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Calibri"/>
              </a:rPr>
              <a:t>STEP 3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514600" y="3520440"/>
            <a:ext cx="9144000" cy="914400"/>
          </a:xfrm>
          <a:prstGeom prst="rect">
            <a:avLst/>
          </a:prstGeom>
          <a:solidFill>
            <a:srgbClr val="FAF3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2743200" y="3776472"/>
            <a:ext cx="8778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2B2B2B"/>
                </a:solidFill>
                <a:latin typeface="Calibri"/>
              </a:rPr>
              <a:t>Your problem appears on screen. No swapping. No negotiating.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2920" y="4572000"/>
            <a:ext cx="2011680" cy="914400"/>
          </a:xfrm>
          <a:prstGeom prst="rect">
            <a:avLst/>
          </a:prstGeom>
          <a:solidFill>
            <a:srgbClr val="C99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85800" y="4846320"/>
            <a:ext cx="1737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Calibri"/>
              </a:rPr>
              <a:t>STEP 4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514600" y="4572000"/>
            <a:ext cx="9144000" cy="914400"/>
          </a:xfrm>
          <a:prstGeom prst="rect">
            <a:avLst/>
          </a:prstGeom>
          <a:solidFill>
            <a:srgbClr val="FAF3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2743200" y="4828032"/>
            <a:ext cx="877824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GB" b="1">
                <a:solidFill>
                  <a:srgbClr val="2B2B2B"/>
                </a:solidFill>
                <a:latin typeface="Calibri"/>
              </a:rPr>
              <a:t>6</a:t>
            </a:r>
            <a:r>
              <a:rPr sz="1800" b="1" i="0">
                <a:solidFill>
                  <a:srgbClr val="2B2B2B"/>
                </a:solidFill>
                <a:latin typeface="Calibri"/>
              </a:rPr>
              <a:t>0 minutes: find the question, build the answer, pitch it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2920" y="5760720"/>
            <a:ext cx="11155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1">
                <a:solidFill>
                  <a:srgbClr val="666666"/>
                </a:solidFill>
                <a:latin typeface="Calibri"/>
              </a:rPr>
              <a:t>Some chits look easier than they are. All of them are harder than they look.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8B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109728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THE METHOD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384048"/>
            <a:ext cx="109728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What you do with your chit </a:t>
            </a:r>
            <a:r>
              <a:rPr lang="en-GB" sz="2800" b="1">
                <a:solidFill>
                  <a:srgbClr val="FFFFFF"/>
                </a:solidFill>
                <a:latin typeface="Calibri"/>
              </a:rPr>
              <a:t>..</a:t>
            </a:r>
            <a:endParaRPr sz="2800" b="1" i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502920" y="1417320"/>
            <a:ext cx="2011680" cy="960120"/>
          </a:xfrm>
          <a:prstGeom prst="rect">
            <a:avLst/>
          </a:prstGeom>
          <a:solidFill>
            <a:srgbClr val="8B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85800" y="1709928"/>
            <a:ext cx="1737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Calibri"/>
              </a:rPr>
              <a:t>1 · DIG</a:t>
            </a:r>
          </a:p>
        </p:txBody>
      </p:sp>
      <p:sp>
        <p:nvSpPr>
          <p:cNvPr id="7" name="Rectangle 6"/>
          <p:cNvSpPr/>
          <p:nvPr/>
        </p:nvSpPr>
        <p:spPr>
          <a:xfrm>
            <a:off x="2514600" y="1417320"/>
            <a:ext cx="9144000" cy="960120"/>
          </a:xfrm>
          <a:prstGeom prst="rect">
            <a:avLst/>
          </a:prstGeom>
          <a:solidFill>
            <a:srgbClr val="FAF3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2743200" y="1545336"/>
            <a:ext cx="87782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2B2B2B"/>
                </a:solidFill>
                <a:latin typeface="Calibri"/>
              </a:rPr>
              <a:t>Read your client pack. What is this problem really about? Who does it hurt?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2514600"/>
            <a:ext cx="2011680" cy="960120"/>
          </a:xfrm>
          <a:prstGeom prst="rect">
            <a:avLst/>
          </a:prstGeom>
          <a:solidFill>
            <a:srgbClr val="8B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85800" y="2807208"/>
            <a:ext cx="1737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Calibri"/>
              </a:rPr>
              <a:t>2 · ASK WHY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514600" y="2514600"/>
            <a:ext cx="9144000" cy="960120"/>
          </a:xfrm>
          <a:prstGeom prst="rect">
            <a:avLst/>
          </a:prstGeom>
          <a:solidFill>
            <a:srgbClr val="FAF3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2743200" y="2642616"/>
            <a:ext cx="8778240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2B2B2B"/>
                </a:solidFill>
                <a:latin typeface="Calibri"/>
              </a:rPr>
              <a:t>Ask “why?” three times to find the real question. Write it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2920" y="3611880"/>
            <a:ext cx="2011680" cy="960120"/>
          </a:xfrm>
          <a:prstGeom prst="rect">
            <a:avLst/>
          </a:prstGeom>
          <a:solidFill>
            <a:srgbClr val="8B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85800" y="3904488"/>
            <a:ext cx="1737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Calibri"/>
              </a:rPr>
              <a:t>3 · BUILD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514600" y="3611880"/>
            <a:ext cx="9144000" cy="960120"/>
          </a:xfrm>
          <a:prstGeom prst="rect">
            <a:avLst/>
          </a:prstGeom>
          <a:solidFill>
            <a:srgbClr val="FAF3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2743200" y="3739896"/>
            <a:ext cx="87782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2B2B2B"/>
                </a:solidFill>
                <a:latin typeface="Calibri"/>
              </a:rPr>
              <a:t>Sketch your answer: what it is, who uses it, how it works. Show what you would REFUSE to build.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2920" y="4709160"/>
            <a:ext cx="2011680" cy="960120"/>
          </a:xfrm>
          <a:prstGeom prst="rect">
            <a:avLst/>
          </a:prstGeom>
          <a:solidFill>
            <a:srgbClr val="8B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85800" y="5001768"/>
            <a:ext cx="1737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Calibri"/>
              </a:rPr>
              <a:t>4 · PITCH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514600" y="4709160"/>
            <a:ext cx="9144000" cy="960120"/>
          </a:xfrm>
          <a:prstGeom prst="rect">
            <a:avLst/>
          </a:prstGeom>
          <a:solidFill>
            <a:srgbClr val="FAF3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2743200" y="4837176"/>
            <a:ext cx="87782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2B2B2B"/>
                </a:solidFill>
                <a:latin typeface="Calibri"/>
              </a:rPr>
              <a:t>Two minutes: your question → your answer → your refusal. Question first, always.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2920" y="5897880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8B3A2A"/>
                </a:solidFill>
                <a:latin typeface="Calibri"/>
              </a:rPr>
              <a:t>The facilitator will visit and ask only one thing: “What's the question underneath your chit?”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8B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109728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CHEAT SHEET · KEEP THIS OPEN ALL SESSION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384048"/>
            <a:ext cx="109728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How to find your answer  Part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371600"/>
            <a:ext cx="11155680" cy="26520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1800">
                <a:solidFill>
                  <a:srgbClr val="2B2B2B"/>
                </a:solidFill>
                <a:latin typeface="Calibri"/>
              </a:rPr>
              <a:t>•  START with the client pack everything important is already in it</a:t>
            </a:r>
          </a:p>
          <a:p>
            <a:pPr>
              <a:spcAft>
                <a:spcPts val="1400"/>
              </a:spcAft>
            </a:pPr>
            <a:r>
              <a:rPr sz="1800">
                <a:solidFill>
                  <a:srgbClr val="2B2B2B"/>
                </a:solidFill>
                <a:latin typeface="Calibri"/>
              </a:rPr>
              <a:t>•  ASK: Which numbers connect to my chit? What has the founder already tried or refused?</a:t>
            </a:r>
          </a:p>
          <a:p>
            <a:pPr>
              <a:spcAft>
                <a:spcPts val="1400"/>
              </a:spcAft>
            </a:pPr>
            <a:r>
              <a:rPr sz="1800">
                <a:solidFill>
                  <a:srgbClr val="2B2B2B"/>
                </a:solidFill>
                <a:latin typeface="Calibri"/>
              </a:rPr>
              <a:t>•  ASK WHY three times:  Why is this a problem? → Why? → Why?  The real question hides at the bottom</a:t>
            </a:r>
          </a:p>
          <a:p>
            <a:pPr>
              <a:spcAft>
                <a:spcPts val="1400"/>
              </a:spcAft>
            </a:pPr>
            <a:r>
              <a:rPr sz="1800">
                <a:solidFill>
                  <a:srgbClr val="2B2B2B"/>
                </a:solidFill>
                <a:latin typeface="Calibri"/>
              </a:rPr>
              <a:t>•  LOOK at maulirituals.com  read one product page word by word. How do they talk? What do they never say?</a:t>
            </a:r>
          </a:p>
          <a:p>
            <a:pPr>
              <a:spcAft>
                <a:spcPts val="1400"/>
              </a:spcAft>
            </a:pPr>
            <a:r>
              <a:rPr sz="1800">
                <a:solidFill>
                  <a:srgbClr val="2B2B2B"/>
                </a:solidFill>
                <a:latin typeface="Calibri"/>
              </a:rPr>
              <a:t>•  STEAL structure from the brief:  the five non-negotiables, the partner list, the customer numbers use them</a:t>
            </a:r>
          </a:p>
          <a:p>
            <a:pPr>
              <a:spcAft>
                <a:spcPts val="1400"/>
              </a:spcAft>
            </a:pPr>
            <a:r>
              <a:rPr sz="1800">
                <a:solidFill>
                  <a:srgbClr val="2B2B2B"/>
                </a:solidFill>
                <a:latin typeface="Calibri"/>
              </a:rPr>
              <a:t>•  One strong fact beats ten weak ones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8B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109728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CHEAT SHEET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384048"/>
            <a:ext cx="109728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How to find your answer  Part 2: the answer builder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371600"/>
            <a:ext cx="11155680" cy="1446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700">
                <a:solidFill>
                  <a:srgbClr val="2B2B2B"/>
                </a:solidFill>
                <a:latin typeface="Calibri"/>
              </a:rPr>
              <a:t>•  Every answer needs three parts:  WHAT (one sentence) · WHO + HOW (sketch it) · WHAT WE REFUSE</a:t>
            </a:r>
          </a:p>
          <a:p>
            <a:pPr>
              <a:spcAft>
                <a:spcPts val="1200"/>
              </a:spcAft>
            </a:pPr>
            <a:r>
              <a:rPr sz="1700">
                <a:solidFill>
                  <a:srgbClr val="2B2B2B"/>
                </a:solidFill>
                <a:latin typeface="Calibri"/>
              </a:rPr>
              <a:t>•  If you can't find data make a sensible guess and SAY it is a guess</a:t>
            </a:r>
          </a:p>
          <a:p>
            <a:pPr>
              <a:spcAft>
                <a:spcPts val="1200"/>
              </a:spcAft>
            </a:pPr>
            <a:r>
              <a:rPr sz="1700">
                <a:solidFill>
                  <a:srgbClr val="2B2B2B"/>
                </a:solidFill>
                <a:latin typeface="Calibri"/>
              </a:rPr>
              <a:t>•  Check yourself before the pitch:  Does it respect the five non-negotiables?  Did we refuse at least one thing?  Is our best idea on paper, not in someone's head?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4480560"/>
            <a:ext cx="11155680" cy="1554480"/>
          </a:xfrm>
          <a:prstGeom prst="rect">
            <a:avLst/>
          </a:prstGeom>
          <a:solidFill>
            <a:srgbClr val="FAF3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77240" y="4709160"/>
            <a:ext cx="10607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8B3A2A"/>
                </a:solidFill>
                <a:latin typeface="Calibri"/>
              </a:rPr>
              <a:t>STUCK? Do this: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5120640"/>
            <a:ext cx="1060704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2B2B2B"/>
                </a:solidFill>
                <a:latin typeface="Calibri"/>
              </a:rPr>
              <a:t>Re-read the founder's quotes in the pack her words usually contain the answer.  ·  Ask the facilitator — but expect a question back.  ·  Still silent after 10 minutes? You haven't found the question yet. Go back to ‘ask why three times.’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8B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109728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TIMING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384048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The clock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371600"/>
            <a:ext cx="2560320" cy="658368"/>
          </a:xfrm>
          <a:prstGeom prst="rect">
            <a:avLst/>
          </a:prstGeom>
          <a:solidFill>
            <a:srgbClr val="2B2B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85800" y="1508760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00:00 – 00:10</a:t>
            </a:r>
          </a:p>
        </p:txBody>
      </p:sp>
      <p:sp>
        <p:nvSpPr>
          <p:cNvPr id="7" name="Rectangle 6"/>
          <p:cNvSpPr/>
          <p:nvPr/>
        </p:nvSpPr>
        <p:spPr>
          <a:xfrm>
            <a:off x="3063240" y="1371600"/>
            <a:ext cx="8595360" cy="658368"/>
          </a:xfrm>
          <a:prstGeom prst="rect">
            <a:avLst/>
          </a:prstGeom>
          <a:solidFill>
            <a:srgbClr val="FAF3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291840" y="1508760"/>
            <a:ext cx="8229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2B2B2B"/>
                </a:solidFill>
                <a:latin typeface="Calibri"/>
              </a:rPr>
              <a:t>Setup — you are hearing it now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2121408"/>
            <a:ext cx="2560320" cy="658368"/>
          </a:xfrm>
          <a:prstGeom prst="rect">
            <a:avLst/>
          </a:prstGeom>
          <a:solidFill>
            <a:srgbClr val="2B2B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85800" y="2258568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00:10 – 00:15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063240" y="2121408"/>
            <a:ext cx="8595360" cy="658368"/>
          </a:xfrm>
          <a:prstGeom prst="rect">
            <a:avLst/>
          </a:prstGeom>
          <a:solidFill>
            <a:srgbClr val="FAF3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291840" y="2258568"/>
            <a:ext cx="8229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2B2B2B"/>
                </a:solidFill>
                <a:latin typeface="Calibri"/>
              </a:rPr>
              <a:t>The draw — teams call their numbers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2920" y="2871216"/>
            <a:ext cx="2560320" cy="658368"/>
          </a:xfrm>
          <a:prstGeom prst="rect">
            <a:avLst/>
          </a:prstGeom>
          <a:solidFill>
            <a:srgbClr val="2B2B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85800" y="3008376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00:15 – 00:30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063240" y="2871216"/>
            <a:ext cx="8595360" cy="658368"/>
          </a:xfrm>
          <a:prstGeom prst="rect">
            <a:avLst/>
          </a:prstGeom>
          <a:solidFill>
            <a:srgbClr val="FAF3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3291840" y="3008376"/>
            <a:ext cx="8229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2B2B2B"/>
                </a:solidFill>
                <a:latin typeface="Calibri"/>
              </a:rPr>
              <a:t>DIG + ASK WHY — understand, find your question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2920" y="3621024"/>
            <a:ext cx="2560320" cy="658368"/>
          </a:xfrm>
          <a:prstGeom prst="rect">
            <a:avLst/>
          </a:prstGeom>
          <a:solidFill>
            <a:srgbClr val="2B2B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85800" y="3758184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00:30 – 00:55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063240" y="3621024"/>
            <a:ext cx="8595360" cy="658368"/>
          </a:xfrm>
          <a:prstGeom prst="rect">
            <a:avLst/>
          </a:prstGeom>
          <a:solidFill>
            <a:srgbClr val="FAF3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3291840" y="3758184"/>
            <a:ext cx="8229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2B2B2B"/>
                </a:solidFill>
                <a:latin typeface="Calibri"/>
              </a:rPr>
              <a:t>BUILD — sketch the answer on your A3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2920" y="4370832"/>
            <a:ext cx="2560320" cy="658368"/>
          </a:xfrm>
          <a:prstGeom prst="rect">
            <a:avLst/>
          </a:prstGeom>
          <a:solidFill>
            <a:srgbClr val="2B2B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85800" y="4507992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00:55 – 01:25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063240" y="4370832"/>
            <a:ext cx="8595360" cy="658368"/>
          </a:xfrm>
          <a:prstGeom prst="rect">
            <a:avLst/>
          </a:prstGeom>
          <a:solidFill>
            <a:srgbClr val="FAF3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3291840" y="4507992"/>
            <a:ext cx="8229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2B2B2B"/>
                </a:solidFill>
                <a:latin typeface="Calibri"/>
              </a:rPr>
              <a:t>PITCHES — two minutes per team, strict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8B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109728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THE PITCH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384048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Two minutes. Three things. Question first.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417320"/>
            <a:ext cx="2743200" cy="1234440"/>
          </a:xfrm>
          <a:prstGeom prst="rect">
            <a:avLst/>
          </a:prstGeom>
          <a:solidFill>
            <a:srgbClr val="C99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31520" y="1828800"/>
            <a:ext cx="2377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  <a:latin typeface="Calibri"/>
              </a:rPr>
              <a:t>THE QUESTION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3246120" y="1417320"/>
            <a:ext cx="8412480" cy="1234440"/>
          </a:xfrm>
          <a:prstGeom prst="rect">
            <a:avLst/>
          </a:prstGeom>
          <a:solidFill>
            <a:srgbClr val="FAF3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520440" y="1581912"/>
            <a:ext cx="7955279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2B2B2B"/>
                </a:solidFill>
                <a:latin typeface="Calibri"/>
              </a:rPr>
              <a:t>The question your team thinks Mauli should really be asking. Sharp question = half the room won.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2788920"/>
            <a:ext cx="2743200" cy="1234440"/>
          </a:xfrm>
          <a:prstGeom prst="rect">
            <a:avLst/>
          </a:prstGeom>
          <a:solidFill>
            <a:srgbClr val="C99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31520" y="3200400"/>
            <a:ext cx="2377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  <a:latin typeface="Calibri"/>
              </a:rPr>
              <a:t>THE ANSWER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46120" y="2788920"/>
            <a:ext cx="8412480" cy="1234440"/>
          </a:xfrm>
          <a:prstGeom prst="rect">
            <a:avLst/>
          </a:prstGeom>
          <a:solidFill>
            <a:srgbClr val="FAF3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520440" y="2953512"/>
            <a:ext cx="7955279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2B2B2B"/>
                </a:solidFill>
                <a:latin typeface="Calibri"/>
              </a:rPr>
              <a:t>Your idea — point at the A3 sketch. What it is, who uses it, what it protects.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2920" y="4160520"/>
            <a:ext cx="2743200" cy="1234440"/>
          </a:xfrm>
          <a:prstGeom prst="rect">
            <a:avLst/>
          </a:prstGeom>
          <a:solidFill>
            <a:srgbClr val="C99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31520" y="4572000"/>
            <a:ext cx="2377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  <a:latin typeface="Calibri"/>
              </a:rPr>
              <a:t>THE REFUSAL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246120" y="4160520"/>
            <a:ext cx="8412480" cy="1234440"/>
          </a:xfrm>
          <a:prstGeom prst="rect">
            <a:avLst/>
          </a:prstGeom>
          <a:solidFill>
            <a:srgbClr val="FAF3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3520440" y="4325112"/>
            <a:ext cx="7955279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2B2B2B"/>
                </a:solidFill>
                <a:latin typeface="Calibri"/>
              </a:rPr>
              <a:t>One thing you would NOT build, and why. Every real strategist refuses something.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2920" y="5623560"/>
            <a:ext cx="11155680" cy="914400"/>
          </a:xfrm>
          <a:prstGeom prst="rect">
            <a:avLst/>
          </a:prstGeom>
          <a:solidFill>
            <a:srgbClr val="8B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777240" y="5833872"/>
            <a:ext cx="10607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BANNED in pitches: follower counts · open rates · “use TikTok” · anything needing a £1m budget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B2B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22960" y="118872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C99A2E"/>
                </a:solidFill>
                <a:latin typeface="Calibri"/>
              </a:rPr>
              <a:t>THE DRAW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73736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 i="0">
                <a:solidFill>
                  <a:srgbClr val="FFFFFF"/>
                </a:solidFill>
                <a:latin typeface="Calibri"/>
              </a:rPr>
              <a:t>Team — call your number.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301752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666666"/>
                </a:solidFill>
                <a:latin typeface="Calibri"/>
              </a:rPr>
              <a:t>Your problem is about to appear. There is no going back.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512064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C99A2E"/>
                </a:solidFill>
                <a:latin typeface="Calibri"/>
              </a:rPr>
              <a:t>Chits 1 – 8  ·  good luck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8B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640080" y="502920"/>
            <a:ext cx="1371600" cy="1371600"/>
          </a:xfrm>
          <a:prstGeom prst="rect">
            <a:avLst/>
          </a:prstGeom>
          <a:solidFill>
            <a:srgbClr val="C99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749808"/>
            <a:ext cx="1371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2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331720" y="621792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C99A2E"/>
                </a:solidFill>
                <a:latin typeface="Calibri"/>
              </a:rPr>
              <a:t>CHIT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331720" y="960120"/>
            <a:ext cx="932688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THE FLATTENING FEAR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2148840"/>
            <a:ext cx="10881360" cy="13258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14400" y="2304288"/>
            <a:ext cx="10332720" cy="4154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100" b="1" i="0">
                <a:solidFill>
                  <a:srgbClr val="8B3A2A"/>
                </a:solidFill>
                <a:latin typeface="Calibri"/>
              </a:rPr>
              <a:t>How do you sell a Mauli ritual through a chatbot without losing the magic?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3657600"/>
            <a:ext cx="10881360" cy="731520"/>
          </a:xfrm>
          <a:prstGeom prst="rect">
            <a:avLst/>
          </a:prstGeom>
          <a:solidFill>
            <a:srgbClr val="C99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14400" y="3776472"/>
            <a:ext cx="10332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YOUR TASK:  Design the chatbot experience for someone who has never heard of Ayurveda.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4617720"/>
            <a:ext cx="10881360" cy="1691640"/>
          </a:xfrm>
          <a:prstGeom prst="rect">
            <a:avLst/>
          </a:prstGeom>
          <a:solidFill>
            <a:srgbClr val="7A33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914400" y="4754880"/>
            <a:ext cx="10332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C99A2E"/>
                </a:solidFill>
                <a:latin typeface="Calibri"/>
              </a:rPr>
              <a:t>START HERE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5102352"/>
            <a:ext cx="1033272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FFFFFF"/>
                </a:solidFill>
                <a:latin typeface="Calibri"/>
              </a:rPr>
              <a:t>Go to maulirituals.com. Read ONE product page word by word.  ·  Ask: what does a customer FEEL that no chatbot can create?  ·  Look at their dosha quiz — it gives value without selling. That is your proof it can be done.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8B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640080" y="502920"/>
            <a:ext cx="1371600" cy="1371600"/>
          </a:xfrm>
          <a:prstGeom prst="rect">
            <a:avLst/>
          </a:prstGeom>
          <a:solidFill>
            <a:srgbClr val="C99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749808"/>
            <a:ext cx="1371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2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331720" y="621792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C99A2E"/>
                </a:solidFill>
                <a:latin typeface="Calibri"/>
              </a:rPr>
              <a:t>CHIT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331720" y="960120"/>
            <a:ext cx="932688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THE AUDIENCE OR THE NUMBER?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2148840"/>
            <a:ext cx="10881360" cy="13258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14400" y="2304288"/>
            <a:ext cx="103327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100" b="1" i="0">
                <a:solidFill>
                  <a:srgbClr val="8B3A2A"/>
                </a:solidFill>
                <a:latin typeface="Calibri"/>
              </a:rPr>
              <a:t>Mauli has 105,000 Instagram followers. How would we know if they actually care?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3657600"/>
            <a:ext cx="10881360" cy="731520"/>
          </a:xfrm>
          <a:prstGeom prst="rect">
            <a:avLst/>
          </a:prstGeom>
          <a:solidFill>
            <a:srgbClr val="C99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14400" y="3776472"/>
            <a:ext cx="10332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YOUR TASK:  Show the founder real proof of community — and one idea to build more of it.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4617720"/>
            <a:ext cx="10881360" cy="1691640"/>
          </a:xfrm>
          <a:prstGeom prst="rect">
            <a:avLst/>
          </a:prstGeom>
          <a:solidFill>
            <a:srgbClr val="7A33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914400" y="4754880"/>
            <a:ext cx="10332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C99A2E"/>
                </a:solidFill>
                <a:latin typeface="Calibri"/>
              </a:rPr>
              <a:t>START HERE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5102352"/>
            <a:ext cx="1033272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FFFFFF"/>
                </a:solidFill>
                <a:latin typeface="Calibri"/>
              </a:rPr>
              <a:t>The founder's own words: “Is she building the audience, or just the numbers?”  ·  Ask: what do people DO when they truly love a brand? (They come back. They finish things. They bring friends.)  ·  Use the pack: 77% open rate, 54% repeat buyers.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8B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640080" y="502920"/>
            <a:ext cx="1371600" cy="1371600"/>
          </a:xfrm>
          <a:prstGeom prst="rect">
            <a:avLst/>
          </a:prstGeom>
          <a:solidFill>
            <a:srgbClr val="C99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749808"/>
            <a:ext cx="1371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2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331720" y="621792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C99A2E"/>
                </a:solidFill>
                <a:latin typeface="Calibri"/>
              </a:rPr>
              <a:t>CHIT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331720" y="960120"/>
            <a:ext cx="932688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EXPENSIVE ADS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2148840"/>
            <a:ext cx="10881360" cy="13258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14400" y="2304288"/>
            <a:ext cx="103327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100" b="1" i="0">
                <a:solidFill>
                  <a:srgbClr val="8B3A2A"/>
                </a:solidFill>
                <a:latin typeface="Calibri"/>
              </a:rPr>
              <a:t>Ads barely break even and Meta is getting worse. How else can Mauli find new customers?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3657600"/>
            <a:ext cx="10881360" cy="731520"/>
          </a:xfrm>
          <a:prstGeom prst="rect">
            <a:avLst/>
          </a:prstGeom>
          <a:solidFill>
            <a:srgbClr val="C99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14400" y="3776472"/>
            <a:ext cx="10332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YOUR TASK:  Say where the next marketing pound should go — and what you would stop paying for.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4617720"/>
            <a:ext cx="10881360" cy="1691640"/>
          </a:xfrm>
          <a:prstGeom prst="rect">
            <a:avLst/>
          </a:prstGeom>
          <a:solidFill>
            <a:srgbClr val="7A33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914400" y="4754880"/>
            <a:ext cx="10332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C99A2E"/>
                </a:solidFill>
                <a:latin typeface="Calibri"/>
              </a:rPr>
              <a:t>START HERE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5102352"/>
            <a:ext cx="1033272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FFFFFF"/>
                </a:solidFill>
                <a:latin typeface="Calibri"/>
              </a:rPr>
              <a:t>Find these numbers in the pack: £87 order, 46% new vs 54% returning, 77% open rate.  ·  Ask: which channel brings buyers who come BACK?  ·  The business already runs on repeat customers — feed that.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8B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640080" y="502920"/>
            <a:ext cx="1371600" cy="1371600"/>
          </a:xfrm>
          <a:prstGeom prst="rect">
            <a:avLst/>
          </a:prstGeom>
          <a:solidFill>
            <a:srgbClr val="C99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749808"/>
            <a:ext cx="1371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2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331720" y="621792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C99A2E"/>
                </a:solidFill>
                <a:latin typeface="Calibri"/>
              </a:rPr>
              <a:t>CHIT 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331720" y="960120"/>
            <a:ext cx="932688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FAMOUS BUT BROKE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2148840"/>
            <a:ext cx="10881360" cy="13258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14400" y="2304288"/>
            <a:ext cx="10332720" cy="4154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100" b="1" i="0">
                <a:solidFill>
                  <a:srgbClr val="8B3A2A"/>
                </a:solidFill>
                <a:latin typeface="Calibri"/>
              </a:rPr>
              <a:t>Bulgari and Lamborghini love the brand but it brings no profit. How do we fix that?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3657600"/>
            <a:ext cx="10881360" cy="731520"/>
          </a:xfrm>
          <a:prstGeom prst="rect">
            <a:avLst/>
          </a:prstGeom>
          <a:solidFill>
            <a:srgbClr val="C99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14400" y="3776472"/>
            <a:ext cx="10332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YOUR TASK:  Turn one partnership moment into a lasting customer.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4617720"/>
            <a:ext cx="10881360" cy="1691640"/>
          </a:xfrm>
          <a:prstGeom prst="rect">
            <a:avLst/>
          </a:prstGeom>
          <a:solidFill>
            <a:srgbClr val="7A33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914400" y="4754880"/>
            <a:ext cx="10332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C99A2E"/>
                </a:solidFill>
                <a:latin typeface="Calibri"/>
              </a:rPr>
              <a:t>START HERE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5102352"/>
            <a:ext cx="1033272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FFFFFF"/>
                </a:solidFill>
                <a:latin typeface="Calibri"/>
              </a:rPr>
              <a:t>List the partners in the pack: Bulgari, Lamborghini, Range Rover, Emirates, Dishoom.  ·  Ask: what happens AFTER someone tries Mauli at a Bulgari spa? (Usually: nothing.)  ·  Hint: every box already contains a red thread — could something travel with it?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8B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640080" y="502920"/>
            <a:ext cx="1371600" cy="1371600"/>
          </a:xfrm>
          <a:prstGeom prst="rect">
            <a:avLst/>
          </a:prstGeom>
          <a:solidFill>
            <a:srgbClr val="C99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749808"/>
            <a:ext cx="1371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200" b="1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331720" y="621792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C99A2E"/>
                </a:solidFill>
                <a:latin typeface="Calibri"/>
              </a:rPr>
              <a:t>CHIT 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331720" y="960120"/>
            <a:ext cx="932688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THE SALE HABIT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2148840"/>
            <a:ext cx="10881360" cy="13258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14400" y="2304288"/>
            <a:ext cx="10332720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100" b="1" i="0">
                <a:solidFill>
                  <a:srgbClr val="8B3A2A"/>
                </a:solidFill>
                <a:latin typeface="Calibri"/>
              </a:rPr>
              <a:t>Two big 20% sales bring in much of the year's money. How can Mauli earn the same without them?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3657600"/>
            <a:ext cx="10881360" cy="731520"/>
          </a:xfrm>
          <a:prstGeom prst="rect">
            <a:avLst/>
          </a:prstGeom>
          <a:solidFill>
            <a:srgbClr val="C99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14400" y="3776472"/>
            <a:ext cx="10332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YOUR TASK:  Design what replaces the sales — without losing the customers who wait for them.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4617720"/>
            <a:ext cx="10881360" cy="1691640"/>
          </a:xfrm>
          <a:prstGeom prst="rect">
            <a:avLst/>
          </a:prstGeom>
          <a:solidFill>
            <a:srgbClr val="7A33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914400" y="4754880"/>
            <a:ext cx="10332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C99A2E"/>
                </a:solidFill>
                <a:latin typeface="Calibri"/>
              </a:rPr>
              <a:t>START HERE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5102352"/>
            <a:ext cx="1033272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FFFFFF"/>
                </a:solidFill>
                <a:latin typeface="Calibri"/>
              </a:rPr>
              <a:t>Find in the pack: September birthday sale + Black Friday, −20% each.  ·  Ask: why do people wait for the sale? What do they not get the rest of the year?  ·  Look at the Sleep Dharma range — products used every night. What could replace a sale with a habit?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8B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640080" y="502920"/>
            <a:ext cx="1371600" cy="1371600"/>
          </a:xfrm>
          <a:prstGeom prst="rect">
            <a:avLst/>
          </a:prstGeom>
          <a:solidFill>
            <a:srgbClr val="C99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749808"/>
            <a:ext cx="1371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200" b="1" i="0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331720" y="621792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C99A2E"/>
                </a:solidFill>
                <a:latin typeface="Calibri"/>
              </a:rPr>
              <a:t>CHIT 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331720" y="960120"/>
            <a:ext cx="932688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THE KNOCKING DOOR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2148840"/>
            <a:ext cx="10881360" cy="13258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14400" y="2304288"/>
            <a:ext cx="103327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100" b="1" i="0">
                <a:solidFill>
                  <a:srgbClr val="8B3A2A"/>
                </a:solidFill>
                <a:latin typeface="Calibri"/>
              </a:rPr>
              <a:t>Therapists keep asking to buy Mauli and use it on their clients. Build them a simple system.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3657600"/>
            <a:ext cx="10881360" cy="731520"/>
          </a:xfrm>
          <a:prstGeom prst="rect">
            <a:avLst/>
          </a:prstGeom>
          <a:solidFill>
            <a:srgbClr val="C99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14400" y="3776472"/>
            <a:ext cx="10332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YOUR TASK:  Design it: who can join, how they buy, how the brand stays protected.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4617720"/>
            <a:ext cx="10881360" cy="1691640"/>
          </a:xfrm>
          <a:prstGeom prst="rect">
            <a:avLst/>
          </a:prstGeom>
          <a:solidFill>
            <a:srgbClr val="7A33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914400" y="4754880"/>
            <a:ext cx="10332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C99A2E"/>
                </a:solidFill>
                <a:latin typeface="Calibri"/>
              </a:rPr>
              <a:t>START HERE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5102352"/>
            <a:ext cx="1033272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FFFFFF"/>
                </a:solidFill>
                <a:latin typeface="Calibri"/>
              </a:rPr>
              <a:t>The founder said: “We will do it — it's a question of when.” Your job is the HOW.  ·  Ask: what makes a therapist trustworthy enough to represent Mauli in someone's home?  ·  Sketch 3 levels: who buys what, at what price, with what checks.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8B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640080" y="502920"/>
            <a:ext cx="1371600" cy="1371600"/>
          </a:xfrm>
          <a:prstGeom prst="rect">
            <a:avLst/>
          </a:prstGeom>
          <a:solidFill>
            <a:srgbClr val="C99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749808"/>
            <a:ext cx="1371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200" b="1" i="0">
                <a:solidFill>
                  <a:srgbClr val="FFFFFF"/>
                </a:solidFill>
                <a:latin typeface="Calibri"/>
              </a:rPr>
              <a:t>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331720" y="621792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C99A2E"/>
                </a:solidFill>
                <a:latin typeface="Calibri"/>
              </a:rPr>
              <a:t>CHIT 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331720" y="960120"/>
            <a:ext cx="932688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THE MISSING NUMBER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2148840"/>
            <a:ext cx="10881360" cy="13258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14400" y="2304288"/>
            <a:ext cx="103327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100" b="1" i="0">
                <a:solidFill>
                  <a:srgbClr val="8B3A2A"/>
                </a:solidFill>
                <a:latin typeface="Calibri"/>
              </a:rPr>
              <a:t>Followers and open rates don't prove love. Invent ONE new number that does.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3657600"/>
            <a:ext cx="10881360" cy="731520"/>
          </a:xfrm>
          <a:prstGeom prst="rect">
            <a:avLst/>
          </a:prstGeom>
          <a:solidFill>
            <a:srgbClr val="C99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14400" y="3776472"/>
            <a:ext cx="10332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YOUR TASK:  Name it, define it, say how Mauli would measure it — and the decision it changes.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4617720"/>
            <a:ext cx="10881360" cy="1691640"/>
          </a:xfrm>
          <a:prstGeom prst="rect">
            <a:avLst/>
          </a:prstGeom>
          <a:solidFill>
            <a:srgbClr val="7A33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914400" y="4754880"/>
            <a:ext cx="10332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C99A2E"/>
                </a:solidFill>
                <a:latin typeface="Calibri"/>
              </a:rPr>
              <a:t>START HERE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5102352"/>
            <a:ext cx="1033272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FFFFFF"/>
                </a:solidFill>
                <a:latin typeface="Calibri"/>
              </a:rPr>
              <a:t>The founder doubts the numbers she has.  ·  Ask: what would people do if the brand disappeared tomorrow?  ·  Test: can Mauli measure it with things they already have (orders, emails, the quiz)? If not — wrong metric.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8B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640080" y="502920"/>
            <a:ext cx="1371600" cy="1371600"/>
          </a:xfrm>
          <a:prstGeom prst="rect">
            <a:avLst/>
          </a:prstGeom>
          <a:solidFill>
            <a:srgbClr val="C99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749808"/>
            <a:ext cx="1371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200" b="1" i="0">
                <a:solidFill>
                  <a:srgbClr val="FFFFFF"/>
                </a:solidFill>
                <a:latin typeface="Calibri"/>
              </a:rPr>
              <a:t>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331720" y="621792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C99A2E"/>
                </a:solidFill>
                <a:latin typeface="Calibri"/>
              </a:rPr>
              <a:t>CHIT 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331720" y="960120"/>
            <a:ext cx="932688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THE YOUNGER CROWD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2148840"/>
            <a:ext cx="10881360" cy="13258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14400" y="2304288"/>
            <a:ext cx="10332720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100" b="1" i="0">
                <a:solidFill>
                  <a:srgbClr val="8B3A2A"/>
                </a:solidFill>
                <a:latin typeface="Calibri"/>
              </a:rPr>
              <a:t>Young people love the product when they try it but most don't know it exists. How do we reach them?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3657600"/>
            <a:ext cx="10881360" cy="731520"/>
          </a:xfrm>
          <a:prstGeom prst="rect">
            <a:avLst/>
          </a:prstGeom>
          <a:solidFill>
            <a:srgbClr val="C99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14400" y="3776472"/>
            <a:ext cx="10332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YOUR TASK:  Design the doorway in. No discounts. No ‘just post on TikTok.’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4617720"/>
            <a:ext cx="10881360" cy="1691640"/>
          </a:xfrm>
          <a:prstGeom prst="rect">
            <a:avLst/>
          </a:prstGeom>
          <a:solidFill>
            <a:srgbClr val="7A33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914400" y="4754880"/>
            <a:ext cx="10332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C99A2E"/>
                </a:solidFill>
                <a:latin typeface="Calibri"/>
              </a:rPr>
              <a:t>START HERE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5102352"/>
            <a:ext cx="1033272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FFFFFF"/>
                </a:solidFill>
                <a:latin typeface="Calibri"/>
              </a:rPr>
              <a:t>The pack says under-35s “absolutely loved the product” when reached. So the product is fine — the doorway isn't.  ·  Ask: where does a 27-year-old already practise self-care?  ·  Entry products exist: £24–29 lip balm and aroma remedies.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B2B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22960" y="146304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C99A2E"/>
                </a:solidFill>
                <a:latin typeface="Calibri"/>
              </a:rPr>
              <a:t>THE VOTE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103120"/>
            <a:ext cx="1051560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  <a:latin typeface="Calibri"/>
              </a:rPr>
              <a:t>“Which team found the sharpest question</a:t>
            </a:r>
          </a:p>
          <a:p>
            <a:pPr algn="l"/>
            <a:r>
              <a:rPr sz="3600" b="1" i="0">
                <a:solidFill>
                  <a:srgbClr val="FFFFFF"/>
                </a:solidFill>
                <a:latin typeface="Calibri"/>
              </a:rPr>
              <a:t>and protected the brand while answering it?”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493776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666666"/>
                </a:solidFill>
                <a:latin typeface="Calibri"/>
              </a:rPr>
              <a:t>One vote per student · not your own team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8B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109728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DEBRIEF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384048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What just happened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417320"/>
            <a:ext cx="111556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1800">
                <a:solidFill>
                  <a:srgbClr val="2B2B2B"/>
                </a:solidFill>
                <a:latin typeface="Calibri"/>
              </a:rPr>
              <a:t>•  Eight different problems — one brand. They are not separate chits; they are one connected system</a:t>
            </a:r>
          </a:p>
          <a:p>
            <a:pPr>
              <a:spcAft>
                <a:spcPts val="1400"/>
              </a:spcAft>
            </a:pPr>
            <a:r>
              <a:rPr sz="1800">
                <a:solidFill>
                  <a:srgbClr val="2B2B2B"/>
                </a:solidFill>
                <a:latin typeface="Calibri"/>
              </a:rPr>
              <a:t>•  The best pitches questioned the chit — not just answered it</a:t>
            </a:r>
          </a:p>
          <a:p>
            <a:pPr>
              <a:spcAft>
                <a:spcPts val="1400"/>
              </a:spcAft>
            </a:pPr>
            <a:r>
              <a:rPr sz="1800">
                <a:solidFill>
                  <a:srgbClr val="2B2B2B"/>
                </a:solidFill>
                <a:latin typeface="Calibri"/>
              </a:rPr>
              <a:t>•  The refusals told us as much as the proposals — strategy is what you say no to</a:t>
            </a:r>
          </a:p>
          <a:p>
            <a:pPr>
              <a:spcAft>
                <a:spcPts val="1400"/>
              </a:spcAft>
            </a:pPr>
            <a:r>
              <a:rPr sz="1800">
                <a:solidFill>
                  <a:srgbClr val="2B2B2B"/>
                </a:solidFill>
                <a:latin typeface="Calibri"/>
              </a:rPr>
              <a:t>•  Every chit came from the real client brief — your coursework takes these further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5074920"/>
            <a:ext cx="11155680" cy="1097280"/>
          </a:xfrm>
          <a:prstGeom prst="rect">
            <a:avLst/>
          </a:prstGeom>
          <a:solidFill>
            <a:srgbClr val="FAF3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77240" y="5321808"/>
            <a:ext cx="106070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8B3A2A"/>
                </a:solidFill>
                <a:latin typeface="Calibri"/>
              </a:rPr>
              <a:t>Keep your A3 sheets — they are the starting point for your assessed client deliverable.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1658</Words>
  <Application>Microsoft Macintosh PowerPoint</Application>
  <PresentationFormat>Widescreen</PresentationFormat>
  <Paragraphs>142</Paragraphs>
  <Slides>19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2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Nikhil Soi</cp:lastModifiedBy>
  <cp:revision>12</cp:revision>
  <dcterms:created xsi:type="dcterms:W3CDTF">2013-01-27T09:14:16Z</dcterms:created>
  <dcterms:modified xsi:type="dcterms:W3CDTF">2026-09-21T10:11:09Z</dcterms:modified>
  <cp:category/>
</cp:coreProperties>
</file>