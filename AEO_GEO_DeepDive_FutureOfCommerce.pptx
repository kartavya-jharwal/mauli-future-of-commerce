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73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646"/>
  </p:normalViewPr>
  <p:slideViewPr>
    <p:cSldViewPr snapToGrid="0" snapToObjects="1">
      <p:cViewPr varScale="1">
        <p:scale>
          <a:sx n="91" d="100"/>
          <a:sy n="91" d="100"/>
        </p:scale>
        <p:origin x="192" y="5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E5A211-3870-1C43-B393-564BE1B41E3D}" type="datetimeFigureOut">
              <a:rPr lang="en-US" smtClean="0"/>
              <a:t>9/30/26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29CACA-9444-CE46-9A5A-FCCCB6399A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0289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1" dirty="0">
                <a:solidFill>
                  <a:srgbClr val="F59E0B"/>
                </a:solidFill>
                <a:latin typeface="Segoe UI"/>
              </a:rPr>
              <a:t>Class debate: should paid agent recommendations be labelled — and who enforces it?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29CACA-9444-CE46-9A5A-FCCCB6399AF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1824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aiwideopen.substack.com/p/ai-is-becoming-the-new-gatekeeper" TargetMode="Externa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75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680960" y="-548640"/>
            <a:ext cx="5669280" cy="8046720"/>
          </a:xfrm>
          <a:prstGeom prst="rect">
            <a:avLst/>
          </a:prstGeom>
          <a:solidFill>
            <a:srgbClr val="10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3_AI_Shopping_Assistant_eCommerce_Mob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3931920" cy="29489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001000" y="1371600"/>
            <a:ext cx="3931920" cy="2953512"/>
          </a:xfrm>
          <a:prstGeom prst="roundRect">
            <a:avLst/>
          </a:prstGeom>
          <a:noFill/>
          <a:ln w="1905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143000"/>
            <a:ext cx="713232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 i="0">
                <a:solidFill>
                  <a:srgbClr val="F1F5F9"/>
                </a:solidFill>
                <a:latin typeface="Segoe UI"/>
              </a:rPr>
              <a:t>From SEO to </a:t>
            </a:r>
            <a:r>
              <a:rPr sz="4400" b="1" i="0">
                <a:solidFill>
                  <a:srgbClr val="2DD4BF"/>
                </a:solidFill>
                <a:latin typeface="Segoe UI"/>
              </a:rPr>
              <a:t>AEO / GEO</a:t>
            </a:r>
          </a:p>
          <a:p>
            <a:pPr algn="l"/>
            <a:r>
              <a:rPr sz="2200" b="0" i="1">
                <a:solidFill>
                  <a:srgbClr val="94A3B8"/>
                </a:solidFill>
                <a:latin typeface="Segoe UI"/>
              </a:rPr>
              <a:t>Answer Engines &amp; Generative Engines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80360"/>
            <a:ext cx="676656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dirty="0">
                <a:solidFill>
                  <a:srgbClr val="F1F5F9"/>
                </a:solidFill>
                <a:latin typeface="Segoe UI"/>
              </a:rPr>
              <a:t>When the shopper stops scrolling and starts asking </a:t>
            </a:r>
          </a:p>
          <a:p>
            <a:pPr algn="l"/>
            <a:r>
              <a:rPr sz="1500" b="0" i="0" dirty="0">
                <a:solidFill>
                  <a:srgbClr val="F1F5F9"/>
                </a:solidFill>
                <a:latin typeface="Segoe UI"/>
              </a:rPr>
              <a:t>how brands get found, compared, and chosen by AI agents.</a:t>
            </a:r>
          </a:p>
        </p:txBody>
      </p:sp>
      <p:sp>
        <p:nvSpPr>
          <p:cNvPr id="10" name="Chevron 9"/>
          <p:cNvSpPr/>
          <p:nvPr/>
        </p:nvSpPr>
        <p:spPr>
          <a:xfrm>
            <a:off x="640080" y="4709160"/>
            <a:ext cx="1783080" cy="475488"/>
          </a:xfrm>
          <a:prstGeom prst="chevron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45720" rtlCol="0" anchor="ctr"/>
          <a:lstStyle/>
          <a:p>
            <a:pPr algn="ctr"/>
            <a:r>
              <a:rPr sz="1100" b="1">
                <a:solidFill>
                  <a:srgbClr val="060B16"/>
                </a:solidFill>
                <a:latin typeface="Segoe UI"/>
              </a:rPr>
              <a:t>VISIBILITY</a:t>
            </a:r>
          </a:p>
        </p:txBody>
      </p:sp>
      <p:sp>
        <p:nvSpPr>
          <p:cNvPr id="11" name="Chevron 10"/>
          <p:cNvSpPr/>
          <p:nvPr/>
        </p:nvSpPr>
        <p:spPr>
          <a:xfrm>
            <a:off x="2331720" y="4709160"/>
            <a:ext cx="1783080" cy="475488"/>
          </a:xfrm>
          <a:prstGeom prst="chevron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45720" rtlCol="0" anchor="ctr"/>
          <a:lstStyle/>
          <a:p>
            <a:pPr algn="ctr"/>
            <a:r>
              <a:rPr sz="1100" b="1">
                <a:solidFill>
                  <a:srgbClr val="060B16"/>
                </a:solidFill>
                <a:latin typeface="Segoe UI"/>
              </a:rPr>
              <a:t>CONSIDERATION</a:t>
            </a:r>
          </a:p>
        </p:txBody>
      </p:sp>
      <p:sp>
        <p:nvSpPr>
          <p:cNvPr id="12" name="Chevron 11"/>
          <p:cNvSpPr/>
          <p:nvPr/>
        </p:nvSpPr>
        <p:spPr>
          <a:xfrm>
            <a:off x="4023360" y="4709160"/>
            <a:ext cx="1783080" cy="475488"/>
          </a:xfrm>
          <a:prstGeom prst="chevron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45720" rtlCol="0" anchor="ctr"/>
          <a:lstStyle/>
          <a:p>
            <a:pPr algn="ctr"/>
            <a:r>
              <a:rPr sz="1100" b="1">
                <a:solidFill>
                  <a:srgbClr val="060B16"/>
                </a:solidFill>
                <a:latin typeface="Segoe UI"/>
              </a:rPr>
              <a:t>LOYALTY-AS-API</a:t>
            </a:r>
          </a:p>
        </p:txBody>
      </p:sp>
      <p:sp>
        <p:nvSpPr>
          <p:cNvPr id="13" name="Chevron 12"/>
          <p:cNvSpPr/>
          <p:nvPr/>
        </p:nvSpPr>
        <p:spPr>
          <a:xfrm>
            <a:off x="5715000" y="4709160"/>
            <a:ext cx="1783080" cy="475488"/>
          </a:xfrm>
          <a:prstGeom prst="chevron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45720" rtlCol="0" anchor="ctr"/>
          <a:lstStyle/>
          <a:p>
            <a:pPr algn="ctr"/>
            <a:r>
              <a:rPr sz="1100" b="1">
                <a:solidFill>
                  <a:srgbClr val="060B16"/>
                </a:solidFill>
                <a:latin typeface="Segoe UI"/>
              </a:rPr>
              <a:t>MEASUREMENT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06440"/>
            <a:ext cx="6858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1">
                <a:solidFill>
                  <a:srgbClr val="94A3B8"/>
                </a:solidFill>
                <a:latin typeface="Segoe UI"/>
              </a:rPr>
              <a:t>Extends Thread 04 of the Week 3 deck · September 2026 · All statistics flagged with evidence grades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82296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2DD4BF"/>
                </a:solidFill>
                <a:latin typeface="Segoe UI"/>
              </a:rPr>
              <a:t>01 · THE TRIGGER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03504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F1F5F9"/>
                </a:solidFill>
                <a:latin typeface="Segoe UI"/>
              </a:rPr>
              <a:t>The click is dying: search became an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170432"/>
            <a:ext cx="1088136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 dirty="0">
                <a:solidFill>
                  <a:srgbClr val="94A3B8"/>
                </a:solidFill>
                <a:latin typeface="Segoe UI"/>
              </a:rPr>
              <a:t>Discovery is migrating from result lists to synthesized answers most journeys now end inside the chat.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2697480" cy="1920240"/>
          </a:xfrm>
          <a:prstGeom prst="roundRect">
            <a:avLst/>
          </a:prstGeom>
          <a:solidFill>
            <a:srgbClr val="1B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783080"/>
            <a:ext cx="2697480" cy="6400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" y="1947672"/>
            <a:ext cx="236829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2DD4BF"/>
                </a:solidFill>
                <a:latin typeface="Segoe UI"/>
              </a:rPr>
              <a:t>37%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532888"/>
            <a:ext cx="2368296" cy="854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dirty="0">
                <a:solidFill>
                  <a:srgbClr val="F1F5F9"/>
                </a:solidFill>
                <a:latin typeface="Segoe UI"/>
              </a:rPr>
              <a:t>of product-discovery queries now start in AI interfaces (ChatGPT, Perplexity…)</a:t>
            </a:r>
            <a:endParaRPr lang="en-GB" sz="1150" b="1" i="0" dirty="0">
              <a:solidFill>
                <a:srgbClr val="F1F5F9"/>
              </a:solidFill>
              <a:latin typeface="Segoe UI"/>
            </a:endParaRPr>
          </a:p>
          <a:p>
            <a:pPr algn="l"/>
            <a:endParaRPr sz="1150" b="1" i="0" dirty="0">
              <a:solidFill>
                <a:srgbClr val="F1F5F9"/>
              </a:solidFill>
              <a:latin typeface="Segoe UI"/>
            </a:endParaRPr>
          </a:p>
          <a:p>
            <a:pPr algn="l"/>
            <a:r>
              <a:rPr sz="950" b="0" i="1" dirty="0">
                <a:solidFill>
                  <a:srgbClr val="94A3B8"/>
                </a:solidFill>
                <a:latin typeface="Segoe UI"/>
              </a:rPr>
              <a:t>Vendor-tracked, 2026 — directional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783080"/>
            <a:ext cx="2697480" cy="1920240"/>
          </a:xfrm>
          <a:prstGeom prst="roundRect">
            <a:avLst/>
          </a:prstGeom>
          <a:solidFill>
            <a:srgbClr val="1B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337560" y="1783080"/>
            <a:ext cx="2697480" cy="6400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02152" y="1947672"/>
            <a:ext cx="236829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38BDF8"/>
                </a:solidFill>
                <a:latin typeface="Segoe UI"/>
              </a:rPr>
              <a:t>13.8%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2152" y="2532888"/>
            <a:ext cx="2368296" cy="677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dirty="0">
                <a:solidFill>
                  <a:srgbClr val="F1F5F9"/>
                </a:solidFill>
                <a:latin typeface="Segoe UI"/>
              </a:rPr>
              <a:t>overall AI citation rate across 15,730 live buyer-question checks</a:t>
            </a:r>
            <a:endParaRPr lang="en-GB" sz="1150" b="1" i="0" dirty="0">
              <a:solidFill>
                <a:srgbClr val="F1F5F9"/>
              </a:solidFill>
              <a:latin typeface="Segoe UI"/>
            </a:endParaRPr>
          </a:p>
          <a:p>
            <a:pPr algn="l"/>
            <a:endParaRPr sz="1150" b="1" i="0" dirty="0">
              <a:solidFill>
                <a:srgbClr val="F1F5F9"/>
              </a:solidFill>
              <a:latin typeface="Segoe UI"/>
            </a:endParaRPr>
          </a:p>
          <a:p>
            <a:pPr algn="l"/>
            <a:r>
              <a:rPr sz="950" b="0" i="1" dirty="0">
                <a:solidFill>
                  <a:srgbClr val="94A3B8"/>
                </a:solidFill>
                <a:latin typeface="Segoe UI"/>
              </a:rPr>
              <a:t>Boring Marketing audit engine, Sep 2026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83080"/>
            <a:ext cx="2697480" cy="1920240"/>
          </a:xfrm>
          <a:prstGeom prst="roundRect">
            <a:avLst/>
          </a:prstGeom>
          <a:solidFill>
            <a:srgbClr val="1B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72200" y="1783080"/>
            <a:ext cx="2697480" cy="64008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36792" y="1947672"/>
            <a:ext cx="236829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FB7185"/>
                </a:solidFill>
                <a:latin typeface="Segoe UI"/>
              </a:rPr>
              <a:t>54%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6792" y="2532888"/>
            <a:ext cx="2368296" cy="677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dirty="0">
                <a:solidFill>
                  <a:srgbClr val="F1F5F9"/>
                </a:solidFill>
                <a:latin typeface="Segoe UI"/>
              </a:rPr>
              <a:t>of audited brands were INVISIBLE on all four major AI platforms</a:t>
            </a:r>
            <a:endParaRPr lang="en-GB" sz="1150" b="1" i="0" dirty="0">
              <a:solidFill>
                <a:srgbClr val="F1F5F9"/>
              </a:solidFill>
              <a:latin typeface="Segoe UI"/>
            </a:endParaRPr>
          </a:p>
          <a:p>
            <a:pPr algn="l"/>
            <a:endParaRPr sz="1150" b="1" i="0" dirty="0">
              <a:solidFill>
                <a:srgbClr val="F1F5F9"/>
              </a:solidFill>
              <a:latin typeface="Segoe UI"/>
            </a:endParaRPr>
          </a:p>
          <a:p>
            <a:pPr algn="l"/>
            <a:r>
              <a:rPr sz="950" b="0" i="1" dirty="0">
                <a:solidFill>
                  <a:srgbClr val="94A3B8"/>
                </a:solidFill>
                <a:latin typeface="Segoe UI"/>
              </a:rPr>
              <a:t>Same source  the new ‘page 2’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1783080"/>
            <a:ext cx="2697480" cy="1920240"/>
          </a:xfrm>
          <a:prstGeom prst="roundRect">
            <a:avLst/>
          </a:prstGeom>
          <a:solidFill>
            <a:srgbClr val="1B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006840" y="1783080"/>
            <a:ext cx="2697480" cy="640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71432" y="1947672"/>
            <a:ext cx="236829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F59E0B"/>
                </a:solidFill>
                <a:latin typeface="Segoe UI"/>
              </a:rPr>
              <a:t>40.7%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71432" y="2532888"/>
            <a:ext cx="2368296" cy="677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dirty="0">
                <a:solidFill>
                  <a:srgbClr val="F1F5F9"/>
                </a:solidFill>
                <a:latin typeface="Segoe UI"/>
              </a:rPr>
              <a:t>of voice answers are pulled from featured snippets</a:t>
            </a:r>
            <a:endParaRPr lang="en-GB" sz="1150" b="1" i="0" dirty="0">
              <a:solidFill>
                <a:srgbClr val="F1F5F9"/>
              </a:solidFill>
              <a:latin typeface="Segoe UI"/>
            </a:endParaRPr>
          </a:p>
          <a:p>
            <a:pPr algn="l"/>
            <a:endParaRPr sz="1150" b="1" i="0" dirty="0">
              <a:solidFill>
                <a:srgbClr val="F1F5F9"/>
              </a:solidFill>
              <a:latin typeface="Segoe UI"/>
            </a:endParaRPr>
          </a:p>
          <a:p>
            <a:pPr algn="l"/>
            <a:r>
              <a:rPr sz="950" b="0" i="1" dirty="0">
                <a:solidFill>
                  <a:srgbClr val="94A3B8"/>
                </a:solidFill>
                <a:latin typeface="Segoe UI"/>
              </a:rPr>
              <a:t>From your Week 3 deck · voice = AEO-native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977639"/>
            <a:ext cx="11201400" cy="2148840"/>
          </a:xfrm>
          <a:prstGeom prst="roundRect">
            <a:avLst/>
          </a:prstGeom>
          <a:solidFill>
            <a:srgbClr val="14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40" y="416052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dirty="0">
                <a:solidFill>
                  <a:srgbClr val="F59E0B"/>
                </a:solidFill>
                <a:latin typeface="Segoe UI"/>
              </a:rPr>
              <a:t>THE ZERO-CLICK ECONOMY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526280"/>
            <a:ext cx="10698480" cy="623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dirty="0">
                <a:solidFill>
                  <a:srgbClr val="94A3B8"/>
                </a:solidFill>
                <a:latin typeface="Segoe UI"/>
              </a:rPr>
              <a:t>Traditional SEO:  query → 10 blue links → click → your site → conversion.</a:t>
            </a:r>
            <a:endParaRPr lang="en-GB" sz="1350" b="0" i="0" dirty="0">
              <a:solidFill>
                <a:srgbClr val="94A3B8"/>
              </a:solidFill>
              <a:latin typeface="Segoe UI"/>
            </a:endParaRPr>
          </a:p>
          <a:p>
            <a:pPr algn="l"/>
            <a:endParaRPr sz="1350" b="0" i="0" dirty="0">
              <a:solidFill>
                <a:srgbClr val="94A3B8"/>
              </a:solidFill>
              <a:latin typeface="Segoe UI"/>
            </a:endParaRPr>
          </a:p>
          <a:p>
            <a:pPr algn="l"/>
            <a:r>
              <a:rPr sz="1350" b="1" i="0" dirty="0">
                <a:solidFill>
                  <a:srgbClr val="F1F5F9"/>
                </a:solidFill>
                <a:latin typeface="Segoe UI"/>
              </a:rPr>
              <a:t>Answer engines:  prompt → synthesized recommendation → often NO visit at all.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Future of Commerce · BBA — Deep Dive: The Shift from SEO to AEO/GEO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94A3B8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82296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A78BFA"/>
                </a:solidFill>
                <a:latin typeface="Segoe UI"/>
              </a:rPr>
              <a:t>02 · THE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03504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F1F5F9"/>
                </a:solidFill>
                <a:latin typeface="Segoe UI"/>
              </a:rPr>
              <a:t>From ranking pages to synthesizing consensus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170432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  <a:latin typeface="Segoe UI"/>
              </a:rPr>
              <a:t>Google ranked documents. Answer engines build agreement across independent sources before they dare to recommend.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5394960" cy="4297680"/>
          </a:xfrm>
          <a:prstGeom prst="roundRect">
            <a:avLst/>
          </a:prstGeom>
          <a:solidFill>
            <a:srgbClr val="14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920240"/>
            <a:ext cx="484632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dirty="0">
                <a:solidFill>
                  <a:srgbClr val="94A3B8"/>
                </a:solidFill>
                <a:latin typeface="Segoe UI"/>
              </a:rPr>
              <a:t>SEO  THE INDEX MODEL</a:t>
            </a:r>
          </a:p>
        </p:txBody>
      </p:sp>
      <p:sp>
        <p:nvSpPr>
          <p:cNvPr id="9" name="Chevron 8"/>
          <p:cNvSpPr/>
          <p:nvPr/>
        </p:nvSpPr>
        <p:spPr>
          <a:xfrm>
            <a:off x="777240" y="2331720"/>
            <a:ext cx="4846320" cy="658368"/>
          </a:xfrm>
          <a:prstGeom prst="chevron">
            <a:avLst/>
          </a:prstGeom>
          <a:solidFill>
            <a:srgbClr val="3A4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45720" rtlCol="0" anchor="ctr"/>
          <a:lstStyle/>
          <a:p>
            <a:pPr algn="ctr"/>
            <a:r>
              <a:rPr sz="1150" b="1" dirty="0">
                <a:solidFill>
                  <a:schemeClr val="bg1"/>
                </a:solidFill>
                <a:latin typeface="Segoe UI"/>
              </a:rPr>
              <a:t>1 · CRAWL  Bots fetch pages; keywords &amp; backlinks</a:t>
            </a:r>
            <a:r>
              <a:rPr lang="en-US" sz="1150" b="1" dirty="0">
                <a:solidFill>
                  <a:schemeClr val="bg1"/>
                </a:solidFill>
                <a:latin typeface="Segoe UI"/>
              </a:rPr>
              <a:t> </a:t>
            </a:r>
            <a:r>
              <a:rPr sz="1150" b="1" dirty="0">
                <a:solidFill>
                  <a:schemeClr val="bg1"/>
                </a:solidFill>
                <a:latin typeface="Segoe UI"/>
              </a:rPr>
              <a:t>signal relevance</a:t>
            </a:r>
          </a:p>
        </p:txBody>
      </p:sp>
      <p:sp>
        <p:nvSpPr>
          <p:cNvPr id="10" name="Chevron 9"/>
          <p:cNvSpPr/>
          <p:nvPr/>
        </p:nvSpPr>
        <p:spPr>
          <a:xfrm>
            <a:off x="777240" y="3172968"/>
            <a:ext cx="4846320" cy="658368"/>
          </a:xfrm>
          <a:prstGeom prst="chevron">
            <a:avLst/>
          </a:prstGeom>
          <a:solidFill>
            <a:srgbClr val="3A4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45720" rtlCol="0" anchor="ctr"/>
          <a:lstStyle/>
          <a:p>
            <a:pPr algn="ctr"/>
            <a:r>
              <a:rPr sz="1150" b="1" dirty="0">
                <a:solidFill>
                  <a:schemeClr val="bg1"/>
                </a:solidFill>
                <a:latin typeface="Segoe UI"/>
              </a:rPr>
              <a:t>2 · RANK One winner per position · Page 1 or nothing</a:t>
            </a:r>
          </a:p>
        </p:txBody>
      </p:sp>
      <p:sp>
        <p:nvSpPr>
          <p:cNvPr id="11" name="Chevron 10"/>
          <p:cNvSpPr/>
          <p:nvPr/>
        </p:nvSpPr>
        <p:spPr>
          <a:xfrm>
            <a:off x="777240" y="4014215"/>
            <a:ext cx="4846320" cy="658368"/>
          </a:xfrm>
          <a:prstGeom prst="chevron">
            <a:avLst/>
          </a:prstGeom>
          <a:solidFill>
            <a:srgbClr val="3A4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45720" rtlCol="0" anchor="ctr"/>
          <a:lstStyle/>
          <a:p>
            <a:pPr algn="ctr"/>
            <a:r>
              <a:rPr sz="1150" b="1" dirty="0">
                <a:solidFill>
                  <a:schemeClr val="bg1"/>
                </a:solidFill>
                <a:latin typeface="Segoe UI"/>
              </a:rPr>
              <a:t>3 · CLICK  User leaves the SERP · you own the visit</a:t>
            </a:r>
          </a:p>
        </p:txBody>
      </p:sp>
      <p:sp>
        <p:nvSpPr>
          <p:cNvPr id="12" name="Chevron 11"/>
          <p:cNvSpPr/>
          <p:nvPr/>
        </p:nvSpPr>
        <p:spPr>
          <a:xfrm>
            <a:off x="777240" y="4855464"/>
            <a:ext cx="4846320" cy="658368"/>
          </a:xfrm>
          <a:prstGeom prst="chevron">
            <a:avLst/>
          </a:prstGeom>
          <a:solidFill>
            <a:srgbClr val="3A4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45720" rtlCol="0" anchor="ctr"/>
          <a:lstStyle/>
          <a:p>
            <a:pPr algn="ctr"/>
            <a:r>
              <a:rPr sz="1150" b="1" dirty="0">
                <a:solidFill>
                  <a:schemeClr val="bg1"/>
                </a:solidFill>
                <a:latin typeface="Segoe UI"/>
              </a:rPr>
              <a:t>4 · CONVERT Funnels, landing pages, CRO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742432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1">
                <a:solidFill>
                  <a:srgbClr val="94A3B8"/>
                </a:solidFill>
                <a:latin typeface="Segoe UI"/>
              </a:rPr>
              <a:t>Unit of competition: the POSITION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737360"/>
            <a:ext cx="5394960" cy="4297680"/>
          </a:xfrm>
          <a:prstGeom prst="roundRect">
            <a:avLst/>
          </a:prstGeom>
          <a:solidFill>
            <a:srgbClr val="14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37960" y="1920240"/>
            <a:ext cx="484632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dirty="0">
                <a:solidFill>
                  <a:srgbClr val="2DD4BF"/>
                </a:solidFill>
                <a:latin typeface="Segoe UI"/>
              </a:rPr>
              <a:t>AEO / GEO  THE CONSENSUS MODEL</a:t>
            </a:r>
          </a:p>
        </p:txBody>
      </p:sp>
      <p:sp>
        <p:nvSpPr>
          <p:cNvPr id="16" name="Chevron 15"/>
          <p:cNvSpPr/>
          <p:nvPr/>
        </p:nvSpPr>
        <p:spPr>
          <a:xfrm>
            <a:off x="6537960" y="2331720"/>
            <a:ext cx="4846320" cy="658368"/>
          </a:xfrm>
          <a:prstGeom prst="chevron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45720" rtlCol="0" anchor="ctr"/>
          <a:lstStyle/>
          <a:p>
            <a:pPr algn="ctr"/>
            <a:r>
              <a:rPr sz="1150" b="1" dirty="0">
                <a:solidFill>
                  <a:srgbClr val="060B16"/>
                </a:solidFill>
                <a:latin typeface="Segoe UI"/>
              </a:rPr>
              <a:t>1 · PROMPT  Conversational, multi-constraint, ~29 words (voice)</a:t>
            </a:r>
          </a:p>
        </p:txBody>
      </p:sp>
      <p:sp>
        <p:nvSpPr>
          <p:cNvPr id="17" name="Chevron 16"/>
          <p:cNvSpPr/>
          <p:nvPr/>
        </p:nvSpPr>
        <p:spPr>
          <a:xfrm>
            <a:off x="6537960" y="3172968"/>
            <a:ext cx="4846320" cy="658368"/>
          </a:xfrm>
          <a:prstGeom prst="chevron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45720" rtlCol="0" anchor="ctr"/>
          <a:lstStyle/>
          <a:p>
            <a:pPr algn="ctr"/>
            <a:r>
              <a:rPr sz="1150" b="1" dirty="0">
                <a:solidFill>
                  <a:srgbClr val="060B16"/>
                </a:solidFill>
                <a:latin typeface="Segoe UI"/>
              </a:rPr>
              <a:t>2 · RETRIEVE RAG pulls live sources feeds, reviews, Reddit, editorial</a:t>
            </a:r>
          </a:p>
        </p:txBody>
      </p:sp>
      <p:sp>
        <p:nvSpPr>
          <p:cNvPr id="18" name="Chevron 17"/>
          <p:cNvSpPr/>
          <p:nvPr/>
        </p:nvSpPr>
        <p:spPr>
          <a:xfrm>
            <a:off x="6537960" y="4014215"/>
            <a:ext cx="4846320" cy="658368"/>
          </a:xfrm>
          <a:prstGeom prst="chevron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45720" rtlCol="0" anchor="ctr"/>
          <a:lstStyle/>
          <a:p>
            <a:pPr algn="ctr"/>
            <a:r>
              <a:rPr sz="1150" b="1" dirty="0">
                <a:solidFill>
                  <a:srgbClr val="060B16"/>
                </a:solidFill>
                <a:latin typeface="Segoe UI"/>
              </a:rPr>
              <a:t>3 · CONSENSUS Agreement across INDEPENDENT sources builds confidence</a:t>
            </a:r>
          </a:p>
        </p:txBody>
      </p:sp>
      <p:sp>
        <p:nvSpPr>
          <p:cNvPr id="19" name="Chevron 18"/>
          <p:cNvSpPr/>
          <p:nvPr/>
        </p:nvSpPr>
        <p:spPr>
          <a:xfrm>
            <a:off x="6537960" y="4855464"/>
            <a:ext cx="4846320" cy="658368"/>
          </a:xfrm>
          <a:prstGeom prst="chevron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45720" rtlCol="0" anchor="ctr"/>
          <a:lstStyle/>
          <a:p>
            <a:pPr algn="ctr"/>
            <a:r>
              <a:rPr sz="1150" b="1" dirty="0">
                <a:solidFill>
                  <a:srgbClr val="060B16"/>
                </a:solidFill>
                <a:latin typeface="Segoe UI"/>
              </a:rPr>
              <a:t>4 · SYNTHESIZE One answer names 3–5 brands · cite or disappear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5742432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1">
                <a:solidFill>
                  <a:srgbClr val="2DD4BF"/>
                </a:solidFill>
                <a:latin typeface="Segoe UI"/>
              </a:rPr>
              <a:t>Unit of competition: the MENTION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73952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Future of Commerce · BBA — Deep Dive: The Shift from SEO to AEO/GEO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9284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94A3B8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 animBg="1"/>
      <p:bldP spid="17" grpId="0" animBg="1"/>
      <p:bldP spid="18" grpId="0" animBg="1"/>
      <p:bldP spid="19" grpId="0" animBg="1"/>
      <p:bldP spid="2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82296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  <a:latin typeface="Segoe UI"/>
              </a:rPr>
              <a:t>03 · DEFINITIONS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03504"/>
            <a:ext cx="1088136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dirty="0">
                <a:solidFill>
                  <a:srgbClr val="F1F5F9"/>
                </a:solidFill>
                <a:latin typeface="Segoe UI"/>
              </a:rPr>
              <a:t>SEO vs AEO vs GEO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170432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  <a:latin typeface="Segoe UI"/>
              </a:rPr>
              <a:t>Microsoft (Jan 2026): “SEO drove clicks. AEO drives clarity with enriched real-time data. GEO establishes credibility through an authoritative voice.”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3611880" cy="3291840"/>
          </a:xfrm>
          <a:prstGeom prst="roundRect">
            <a:avLst/>
          </a:prstGeom>
          <a:solidFill>
            <a:srgbClr val="1B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828800"/>
            <a:ext cx="3611880" cy="54864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901952"/>
            <a:ext cx="32461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1F5F9"/>
                </a:solidFill>
                <a:latin typeface="Segoe UI"/>
              </a:rPr>
              <a:t>SEO  ·  Search Engine Optimisation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3246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1">
                <a:solidFill>
                  <a:srgbClr val="94A3B8"/>
                </a:solidFill>
                <a:latin typeface="Segoe UI"/>
              </a:rPr>
              <a:t>Be found in ranked lists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907792"/>
            <a:ext cx="329184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 dirty="0">
                <a:solidFill>
                  <a:srgbClr val="F1F5F9"/>
                </a:solidFill>
                <a:latin typeface="Segoe UI"/>
              </a:rPr>
              <a:t>•  Keyword research &amp; density</a:t>
            </a:r>
          </a:p>
          <a:p>
            <a:pPr algn="l"/>
            <a:r>
              <a:rPr sz="1150" b="0" i="0" dirty="0">
                <a:solidFill>
                  <a:srgbClr val="F1F5F9"/>
                </a:solidFill>
                <a:latin typeface="Segoe UI"/>
              </a:rPr>
              <a:t>•  Backlinks &amp; domain authority</a:t>
            </a:r>
          </a:p>
          <a:p>
            <a:pPr algn="l"/>
            <a:r>
              <a:rPr sz="1150" b="0" i="0" dirty="0">
                <a:solidFill>
                  <a:srgbClr val="F1F5F9"/>
                </a:solidFill>
                <a:latin typeface="Segoe UI"/>
              </a:rPr>
              <a:t>•  Meta tags · CTR </a:t>
            </a:r>
            <a:r>
              <a:rPr sz="1150" b="0" i="0" dirty="0" err="1">
                <a:solidFill>
                  <a:srgbClr val="F1F5F9"/>
                </a:solidFill>
                <a:latin typeface="Segoe UI"/>
              </a:rPr>
              <a:t>optimisation</a:t>
            </a:r>
            <a:endParaRPr sz="1150" b="0" i="0" dirty="0">
              <a:solidFill>
                <a:srgbClr val="F1F5F9"/>
              </a:solidFill>
              <a:latin typeface="Segoe UI"/>
            </a:endParaRPr>
          </a:p>
          <a:p>
            <a:pPr algn="l"/>
            <a:r>
              <a:rPr sz="1150" b="0" i="0" dirty="0">
                <a:solidFill>
                  <a:srgbClr val="F1F5F9"/>
                </a:solidFill>
                <a:latin typeface="Segoe UI"/>
              </a:rPr>
              <a:t>•  Unit: the click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828800"/>
            <a:ext cx="3611880" cy="3291840"/>
          </a:xfrm>
          <a:prstGeom prst="roundRect">
            <a:avLst/>
          </a:prstGeom>
          <a:solidFill>
            <a:srgbClr val="1B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25112" y="1828800"/>
            <a:ext cx="3611880" cy="54864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07992" y="1901952"/>
            <a:ext cx="32461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60B16"/>
                </a:solidFill>
                <a:latin typeface="Segoe UI"/>
              </a:rPr>
              <a:t>AEO  ·  Answer Engine Optimisation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2487168"/>
            <a:ext cx="3246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1">
                <a:solidFill>
                  <a:srgbClr val="2DD4BF"/>
                </a:solidFill>
                <a:latin typeface="Segoe UI"/>
              </a:rPr>
              <a:t>Be the cited answer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7992" y="2907792"/>
            <a:ext cx="329184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 dirty="0">
                <a:solidFill>
                  <a:srgbClr val="F1F5F9"/>
                </a:solidFill>
                <a:latin typeface="Segoe UI"/>
              </a:rPr>
              <a:t>•  Structured data (</a:t>
            </a:r>
            <a:r>
              <a:rPr sz="1150" b="0" i="0" dirty="0" err="1">
                <a:solidFill>
                  <a:srgbClr val="F1F5F9"/>
                </a:solidFill>
                <a:latin typeface="Segoe UI"/>
              </a:rPr>
              <a:t>schema.org</a:t>
            </a:r>
            <a:r>
              <a:rPr sz="1150" b="0" i="0" dirty="0">
                <a:solidFill>
                  <a:srgbClr val="F1F5F9"/>
                </a:solidFill>
                <a:latin typeface="Segoe UI"/>
              </a:rPr>
              <a:t>, JSON-LD)</a:t>
            </a:r>
          </a:p>
          <a:p>
            <a:pPr algn="l"/>
            <a:r>
              <a:rPr sz="1150" b="0" i="0" dirty="0">
                <a:solidFill>
                  <a:srgbClr val="F1F5F9"/>
                </a:solidFill>
                <a:latin typeface="Segoe UI"/>
              </a:rPr>
              <a:t>•  Product feeds &amp; APIs pushed to engines</a:t>
            </a:r>
          </a:p>
          <a:p>
            <a:pPr algn="l"/>
            <a:r>
              <a:rPr sz="1150" b="0" i="0" dirty="0">
                <a:solidFill>
                  <a:srgbClr val="F1F5F9"/>
                </a:solidFill>
                <a:latin typeface="Segoe UI"/>
              </a:rPr>
              <a:t>•  Direct, extractable, dated answers</a:t>
            </a:r>
          </a:p>
          <a:p>
            <a:pPr algn="l"/>
            <a:r>
              <a:rPr sz="1150" b="0" i="0" dirty="0">
                <a:solidFill>
                  <a:srgbClr val="F1F5F9"/>
                </a:solidFill>
                <a:latin typeface="Segoe UI"/>
              </a:rPr>
              <a:t>•  Unit: the citation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47304" y="1828800"/>
            <a:ext cx="3611880" cy="3291840"/>
          </a:xfrm>
          <a:prstGeom prst="roundRect">
            <a:avLst/>
          </a:prstGeom>
          <a:solidFill>
            <a:srgbClr val="1B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47304" y="1828800"/>
            <a:ext cx="3611880" cy="54864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30183" y="1901952"/>
            <a:ext cx="32461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60B16"/>
                </a:solidFill>
                <a:latin typeface="Segoe UI"/>
              </a:rPr>
              <a:t>GEO  ·  Generative Engine Optimisation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0183" y="2487168"/>
            <a:ext cx="3246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1">
                <a:solidFill>
                  <a:srgbClr val="A78BFA"/>
                </a:solidFill>
                <a:latin typeface="Segoe UI"/>
              </a:rPr>
              <a:t>Shape what models believe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0183" y="2907792"/>
            <a:ext cx="329184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 dirty="0">
                <a:solidFill>
                  <a:srgbClr val="F1F5F9"/>
                </a:solidFill>
                <a:latin typeface="Segoe UI"/>
              </a:rPr>
              <a:t>•  Third-party consensus &amp; reviews</a:t>
            </a:r>
          </a:p>
          <a:p>
            <a:pPr algn="l"/>
            <a:r>
              <a:rPr sz="1150" b="0" i="0" dirty="0">
                <a:solidFill>
                  <a:srgbClr val="F1F5F9"/>
                </a:solidFill>
                <a:latin typeface="Segoe UI"/>
              </a:rPr>
              <a:t>•  Brand mentions across trusted sources</a:t>
            </a:r>
          </a:p>
          <a:p>
            <a:pPr algn="l"/>
            <a:r>
              <a:rPr sz="1150" b="0" i="0" dirty="0">
                <a:solidFill>
                  <a:srgbClr val="F1F5F9"/>
                </a:solidFill>
                <a:latin typeface="Segoe UI"/>
              </a:rPr>
              <a:t>•  Narrative &amp; authority signals</a:t>
            </a:r>
          </a:p>
          <a:p>
            <a:pPr algn="l"/>
            <a:r>
              <a:rPr sz="1150" b="0" i="0" dirty="0">
                <a:solidFill>
                  <a:srgbClr val="F1F5F9"/>
                </a:solidFill>
                <a:latin typeface="Segoe UI"/>
              </a:rPr>
              <a:t>•  Unit: the recommendation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349240"/>
            <a:ext cx="11201400" cy="868680"/>
          </a:xfrm>
          <a:prstGeom prst="roundRect">
            <a:avLst/>
          </a:prstGeom>
          <a:solidFill>
            <a:srgbClr val="14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" y="550468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94A3B8"/>
                </a:solidFill>
                <a:latin typeface="Segoe UI"/>
              </a:rPr>
              <a:t>Same product, three eras:  </a:t>
            </a:r>
            <a:r>
              <a:rPr sz="1250" b="0" i="0">
                <a:solidFill>
                  <a:srgbClr val="F1F5F9"/>
                </a:solidFill>
                <a:latin typeface="Segoe UI"/>
              </a:rPr>
              <a:t>SEO: “Waterproof rain jacket” → AEO: “Lightweight, packable waterproof jacket with stuff pocket, ventilated seams, reflective piping” → GEO: “Best-rated waterproof jacket by Outdoor magazine, 4.8★, 180-day returns, 3-year warranty.”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Future of Commerce · BBA — Deep Dive: The Shift from SEO to AEO/GEO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9284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94A3B8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EO vs GEO vs AEO vs AIO: What's the difference? | Launchcodex">
            <a:extLst>
              <a:ext uri="{FF2B5EF4-FFF2-40B4-BE49-F238E27FC236}">
                <a16:creationId xmlns:a16="http://schemas.microsoft.com/office/drawing/2014/main" id="{C340A548-565D-5E87-118A-4AC4457F4F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651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6831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8229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Segoe UI"/>
              </a:rPr>
              <a:t>04 · THE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03504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F1F5F9"/>
                </a:solidFill>
                <a:latin typeface="Segoe UI"/>
              </a:rPr>
              <a:t>What answer engines actually cite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170432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  <a:latin typeface="Segoe UI"/>
              </a:rPr>
              <a:t>15,730 live buyer-question checks across ChatGPT, Perplexity, Claude &amp; Gemini (Boring Marketing, Sep 2026).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5394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Segoe UI"/>
              </a:rPr>
              <a:t>BRAND CITATION RATE BY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221992"/>
            <a:ext cx="1234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1F5F9"/>
                </a:solidFill>
                <a:latin typeface="Segoe UI"/>
              </a:rPr>
              <a:t>Perplexity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1783080" y="2148840"/>
            <a:ext cx="2913278" cy="4572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42078" y="219456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2DD4BF"/>
                </a:solidFill>
                <a:latin typeface="Segoe UI"/>
              </a:rPr>
              <a:t>17.7%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35224"/>
            <a:ext cx="1234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1F5F9"/>
                </a:solidFill>
                <a:latin typeface="Segoe UI"/>
              </a:rPr>
              <a:t>Gemini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83080" y="2862072"/>
            <a:ext cx="2847441" cy="4572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76241" y="2907791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  <a:latin typeface="Segoe UI"/>
              </a:rPr>
              <a:t>17.3%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648456"/>
            <a:ext cx="1234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1F5F9"/>
                </a:solidFill>
                <a:latin typeface="Segoe UI"/>
              </a:rPr>
              <a:t>ChatGPT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83080" y="3575304"/>
            <a:ext cx="2024481" cy="4572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53281" y="3621024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egoe UI"/>
              </a:rPr>
              <a:t>12.3%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361688"/>
            <a:ext cx="1234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1F5F9"/>
                </a:solidFill>
                <a:latin typeface="Segoe UI"/>
              </a:rPr>
              <a:t>Claude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783080" y="4288536"/>
            <a:ext cx="1250899" cy="457200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079699" y="4334255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B7185"/>
                </a:solidFill>
                <a:latin typeface="Segoe UI"/>
              </a:rPr>
              <a:t>7.6%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074920"/>
            <a:ext cx="5394960" cy="353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1" dirty="0">
                <a:solidFill>
                  <a:srgbClr val="94A3B8"/>
                </a:solidFill>
                <a:latin typeface="Segoe UI"/>
              </a:rPr>
              <a:t>Same brands, same questions  four different answers. </a:t>
            </a:r>
            <a:r>
              <a:rPr sz="1150" b="0" i="1" dirty="0" err="1">
                <a:solidFill>
                  <a:srgbClr val="94A3B8"/>
                </a:solidFill>
                <a:latin typeface="Segoe UI"/>
              </a:rPr>
              <a:t>Optimising</a:t>
            </a:r>
            <a:r>
              <a:rPr sz="1150" b="0" i="1" dirty="0">
                <a:solidFill>
                  <a:srgbClr val="94A3B8"/>
                </a:solidFill>
                <a:latin typeface="Segoe UI"/>
              </a:rPr>
              <a:t> for one engine leaves the other three dark.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1691640"/>
            <a:ext cx="5394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2DD4BF"/>
                </a:solidFill>
                <a:latin typeface="Segoe UI"/>
              </a:rPr>
              <a:t>WHERE CITATIONS COME FROM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194560"/>
            <a:ext cx="283464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Segoe UI"/>
              </a:rPr>
              <a:t>Brand's own site (when machine-readable)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35440" y="2148840"/>
            <a:ext cx="2090986" cy="38404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372146" y="2176272"/>
            <a:ext cx="685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2DD4BF"/>
                </a:solidFill>
                <a:latin typeface="Segoe UI"/>
              </a:rPr>
              <a:t>51.7%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2761488"/>
            <a:ext cx="283464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Segoe UI"/>
              </a:rPr>
              <a:t>Guides &amp; blog posts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35440" y="2715768"/>
            <a:ext cx="578358" cy="38404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859518" y="2743200"/>
            <a:ext cx="685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Segoe UI"/>
              </a:rPr>
              <a:t>14.3%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328415"/>
            <a:ext cx="283464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Segoe UI"/>
              </a:rPr>
              <a:t>Listicles &amp; roundups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235440" y="3282696"/>
            <a:ext cx="501513" cy="38404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782673" y="3310127"/>
            <a:ext cx="685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  <a:latin typeface="Segoe UI"/>
              </a:rPr>
              <a:t>12.4%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3895344"/>
            <a:ext cx="283464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Segoe UI"/>
              </a:rPr>
              <a:t>Community &amp; social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235440" y="3849624"/>
            <a:ext cx="323556" cy="3840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604716" y="3877056"/>
            <a:ext cx="685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Segoe UI"/>
              </a:rPr>
              <a:t>8.0%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4462272"/>
            <a:ext cx="283464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Segoe UI"/>
              </a:rPr>
              <a:t>Video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235440" y="4416552"/>
            <a:ext cx="242667" cy="384048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523827" y="4443984"/>
            <a:ext cx="685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B7185"/>
                </a:solidFill>
                <a:latin typeface="Segoe UI"/>
              </a:rPr>
              <a:t>6.0%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55080" y="5074920"/>
            <a:ext cx="5349240" cy="822960"/>
          </a:xfrm>
          <a:prstGeom prst="roundRect">
            <a:avLst/>
          </a:prstGeom>
          <a:solidFill>
            <a:srgbClr val="1B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537960" y="5193792"/>
            <a:ext cx="5029200" cy="353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 dirty="0">
                <a:solidFill>
                  <a:srgbClr val="94A3B8"/>
                </a:solidFill>
                <a:latin typeface="Segoe UI"/>
              </a:rPr>
              <a:t>Reddit appears in answers for </a:t>
            </a:r>
            <a:r>
              <a:rPr sz="1150" b="1" i="0" dirty="0">
                <a:solidFill>
                  <a:srgbClr val="FB7185"/>
                </a:solidFill>
                <a:latin typeface="Segoe UI"/>
              </a:rPr>
              <a:t>56% of brands</a:t>
            </a:r>
            <a:r>
              <a:rPr sz="1150" b="0" i="0" dirty="0">
                <a:solidFill>
                  <a:srgbClr val="94A3B8"/>
                </a:solidFill>
                <a:latin typeface="Segoe UI"/>
              </a:rPr>
              <a:t> more than Forbes &amp; Wikipedia combined. YouTube: 51%.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473952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Future of Commerce · BBA — Deep Dive: The Shift from SEO to AEO/GEO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9284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94A3B8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822960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B7185"/>
                </a:solidFill>
                <a:latin typeface="Segoe UI"/>
              </a:rPr>
              <a:t>05 · THE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03504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dirty="0">
                <a:solidFill>
                  <a:srgbClr val="F1F5F9"/>
                </a:solidFill>
                <a:latin typeface="Segoe UI"/>
              </a:rPr>
              <a:t>Machine-readability is the new gatekeeper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170432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  <a:latin typeface="Segoe UI"/>
              </a:rPr>
              <a:t>2,225 crawled pages: AI cites what it can extract, date and attribute.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2651760" cy="1828800"/>
          </a:xfrm>
          <a:prstGeom prst="roundRect">
            <a:avLst/>
          </a:prstGeom>
          <a:solidFill>
            <a:srgbClr val="1B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783080"/>
            <a:ext cx="2651760" cy="64008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" y="1947672"/>
            <a:ext cx="232257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FB7185"/>
                </a:solidFill>
                <a:latin typeface="Segoe UI"/>
              </a:rPr>
              <a:t>36%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532888"/>
            <a:ext cx="2322576" cy="5001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dirty="0">
                <a:solidFill>
                  <a:srgbClr val="F1F5F9"/>
                </a:solidFill>
                <a:latin typeface="Segoe UI"/>
              </a:rPr>
              <a:t>of pages were thin or non-extractable invisible by default</a:t>
            </a:r>
          </a:p>
          <a:p>
            <a:pPr algn="l"/>
            <a:r>
              <a:rPr sz="950" b="0" i="1" dirty="0">
                <a:solidFill>
                  <a:srgbClr val="94A3B8"/>
                </a:solidFill>
                <a:latin typeface="Segoe UI"/>
              </a:rPr>
              <a:t>Boring Marketing crawl, 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1783080"/>
            <a:ext cx="2651760" cy="1828800"/>
          </a:xfrm>
          <a:prstGeom prst="roundRect">
            <a:avLst/>
          </a:prstGeom>
          <a:solidFill>
            <a:srgbClr val="1B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91840" y="1783080"/>
            <a:ext cx="2651760" cy="640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56432" y="1947672"/>
            <a:ext cx="232257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F59E0B"/>
                </a:solidFill>
                <a:latin typeface="Segoe UI"/>
              </a:rPr>
              <a:t>77%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6432" y="2532888"/>
            <a:ext cx="2322576" cy="5001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dirty="0">
                <a:solidFill>
                  <a:srgbClr val="F1F5F9"/>
                </a:solidFill>
                <a:latin typeface="Segoe UI"/>
              </a:rPr>
              <a:t>carried no visible date engines distrust undated claims</a:t>
            </a:r>
          </a:p>
          <a:p>
            <a:pPr algn="l"/>
            <a:r>
              <a:rPr sz="950" b="0" i="1" dirty="0">
                <a:solidFill>
                  <a:srgbClr val="94A3B8"/>
                </a:solidFill>
                <a:latin typeface="Segoe UI"/>
              </a:rPr>
              <a:t>Same crawl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0760" y="1783080"/>
            <a:ext cx="2651760" cy="1828800"/>
          </a:xfrm>
          <a:prstGeom prst="roundRect">
            <a:avLst/>
          </a:prstGeom>
          <a:solidFill>
            <a:srgbClr val="1B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080760" y="1783080"/>
            <a:ext cx="2651760" cy="6400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45352" y="1947672"/>
            <a:ext cx="232257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38BDF8"/>
                </a:solidFill>
                <a:latin typeface="Segoe UI"/>
              </a:rPr>
              <a:t>21%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5352" y="2532888"/>
            <a:ext cx="2322576" cy="5001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dirty="0">
                <a:solidFill>
                  <a:srgbClr val="F1F5F9"/>
                </a:solidFill>
                <a:latin typeface="Segoe UI"/>
              </a:rPr>
              <a:t>showed author signals  attribution builds cite-confidence</a:t>
            </a:r>
          </a:p>
          <a:p>
            <a:pPr algn="l"/>
            <a:r>
              <a:rPr sz="950" b="0" i="1" dirty="0">
                <a:solidFill>
                  <a:srgbClr val="94A3B8"/>
                </a:solidFill>
                <a:latin typeface="Segoe UI"/>
              </a:rPr>
              <a:t>Same crawl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69680" y="1783080"/>
            <a:ext cx="2834640" cy="1828800"/>
          </a:xfrm>
          <a:prstGeom prst="roundRect">
            <a:avLst/>
          </a:prstGeom>
          <a:solidFill>
            <a:srgbClr val="1B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869680" y="1783080"/>
            <a:ext cx="2834640" cy="6400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034272" y="1947672"/>
            <a:ext cx="250545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2DD4BF"/>
                </a:solidFill>
                <a:latin typeface="Segoe UI"/>
              </a:rPr>
              <a:t>3.6×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34272" y="2532888"/>
            <a:ext cx="2505456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1F5F9"/>
                </a:solidFill>
                <a:latin typeface="Segoe UI"/>
              </a:rPr>
              <a:t>more customer reviews on recommended vs non-recommended products in ChatGPT's carousel</a:t>
            </a:r>
          </a:p>
          <a:p>
            <a:pPr algn="l"/>
            <a:r>
              <a:rPr sz="950" b="0" i="1">
                <a:solidFill>
                  <a:srgbClr val="94A3B8"/>
                </a:solidFill>
                <a:latin typeface="Segoe UI"/>
              </a:rPr>
              <a:t>WitsCode 2026 — vendor playbook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977639"/>
            <a:ext cx="11201400" cy="2148840"/>
          </a:xfrm>
          <a:prstGeom prst="roundRect">
            <a:avLst/>
          </a:prstGeom>
          <a:solidFill>
            <a:srgbClr val="14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4" name="TextBox 23"/>
          <p:cNvSpPr txBox="1"/>
          <p:nvPr/>
        </p:nvSpPr>
        <p:spPr>
          <a:xfrm>
            <a:off x="777240" y="4133087"/>
            <a:ext cx="1069848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dirty="0">
                <a:solidFill>
                  <a:srgbClr val="2DD4BF"/>
                </a:solidFill>
                <a:latin typeface="Segoe UI"/>
              </a:rPr>
              <a:t>THE AEO TECH-CHECK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625798"/>
            <a:ext cx="10561320" cy="12003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Autonomous Filtering: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200" dirty="0">
                <a:solidFill>
                  <a:schemeClr val="bg1"/>
                </a:solidFill>
              </a:rPr>
              <a:t>AI assistants like </a:t>
            </a:r>
            <a:r>
              <a:rPr lang="en-US" sz="1200" dirty="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Amazon Alexa for Shopping</a:t>
            </a:r>
            <a:r>
              <a:rPr lang="en-US" sz="1200" dirty="0">
                <a:solidFill>
                  <a:schemeClr val="bg1"/>
                </a:solidFill>
              </a:rPr>
              <a:t> and research tools curate shortlists of 3 to 5 options based on logic, price, and specs, entirely bypassing traditional top-of-funnel brand awareness</a:t>
            </a:r>
          </a:p>
          <a:p>
            <a:endParaRPr lang="en-US" sz="1200" b="1" i="0" dirty="0">
              <a:solidFill>
                <a:schemeClr val="bg1"/>
              </a:solidFill>
              <a:latin typeface="Segoe UI"/>
            </a:endParaRPr>
          </a:p>
          <a:p>
            <a:r>
              <a:rPr lang="en-US" sz="1400" b="1" dirty="0">
                <a:solidFill>
                  <a:schemeClr val="bg1"/>
                </a:solidFill>
              </a:rPr>
              <a:t>Generative Engine Optimization (GEO</a:t>
            </a:r>
            <a:r>
              <a:rPr lang="en-US" sz="1200" dirty="0">
                <a:solidFill>
                  <a:schemeClr val="bg1"/>
                </a:solidFill>
              </a:rPr>
              <a:t>) replaces traditional SEO by rewarding clarity, structured data, and </a:t>
            </a:r>
            <a:r>
              <a:rPr lang="en-US" sz="1200" dirty="0" err="1">
                <a:solidFill>
                  <a:schemeClr val="bg1"/>
                </a:solidFill>
              </a:rPr>
              <a:t>citability</a:t>
            </a:r>
            <a:r>
              <a:rPr lang="en-US" sz="1200" dirty="0">
                <a:solidFill>
                  <a:schemeClr val="bg1"/>
                </a:solidFill>
              </a:rPr>
              <a:t> over keyword volume and backlinks</a:t>
            </a:r>
          </a:p>
          <a:p>
            <a:endParaRPr lang="en-US" sz="1200" b="0" i="0" dirty="0">
              <a:solidFill>
                <a:schemeClr val="bg1"/>
              </a:solidFill>
              <a:latin typeface="Segoe UI"/>
            </a:endParaRPr>
          </a:p>
          <a:p>
            <a:r>
              <a:rPr lang="en-US" sz="1400" b="1" dirty="0">
                <a:solidFill>
                  <a:schemeClr val="bg1"/>
                </a:solidFill>
              </a:rPr>
              <a:t>Elimination of Vague Content: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200" dirty="0">
                <a:solidFill>
                  <a:schemeClr val="bg1"/>
                </a:solidFill>
              </a:rPr>
              <a:t>AI models ignore lifestyle videos, hero images, and hidden text, extracting meaning strictly from clean, </a:t>
            </a:r>
            <a:r>
              <a:rPr lang="en-US" sz="1200" dirty="0" err="1">
                <a:solidFill>
                  <a:schemeClr val="bg1"/>
                </a:solidFill>
              </a:rPr>
              <a:t>parsable</a:t>
            </a:r>
            <a:r>
              <a:rPr lang="en-US" sz="1200" dirty="0">
                <a:solidFill>
                  <a:schemeClr val="bg1"/>
                </a:solidFill>
              </a:rPr>
              <a:t> data and physical text.</a:t>
            </a:r>
            <a:endParaRPr sz="1200" b="0" i="0" dirty="0">
              <a:solidFill>
                <a:schemeClr val="bg1"/>
              </a:solidFill>
              <a:latin typeface="Segoe UI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Future of Commerce · BBA — Deep Dive: The Shift from SEO to AEO/GEO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9284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94A3B8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82296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2DD4BF"/>
                </a:solidFill>
                <a:latin typeface="Segoe UI"/>
              </a:rPr>
              <a:t>06 · THE PLAYBOOK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03504"/>
            <a:ext cx="1088136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dirty="0">
                <a:solidFill>
                  <a:srgbClr val="F1F5F9"/>
                </a:solidFill>
                <a:latin typeface="Segoe UI"/>
              </a:rPr>
              <a:t>The AEO/GEO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170432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  <a:latin typeface="Segoe UI"/>
              </a:rPr>
              <a:t>What actually moves the citation needle, ordered by effort vs impact.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11201400" cy="960120"/>
          </a:xfrm>
          <a:prstGeom prst="roundRect">
            <a:avLst/>
          </a:prstGeom>
          <a:solidFill>
            <a:srgbClr val="1B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783080"/>
            <a:ext cx="109728" cy="96012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892807"/>
            <a:ext cx="21031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A78BFA"/>
                </a:solidFill>
                <a:latin typeface="Segoe UI"/>
              </a:rPr>
              <a:t>L4 · NARRATIVE</a:t>
            </a:r>
          </a:p>
          <a:p>
            <a:pPr algn="l"/>
            <a:r>
              <a:rPr sz="1000" b="1" i="0">
                <a:solidFill>
                  <a:srgbClr val="94A3B8"/>
                </a:solidFill>
                <a:latin typeface="Segoe UI"/>
              </a:rPr>
              <a:t>GEO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1892807"/>
            <a:ext cx="630936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 dirty="0">
                <a:solidFill>
                  <a:srgbClr val="F1F5F9"/>
                </a:solidFill>
                <a:latin typeface="Segoe UI"/>
              </a:rPr>
              <a:t>Earned mentions in trusted publications &amp; communities; consistent positioning everywhere the model looks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0" y="2057400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1">
                <a:solidFill>
                  <a:srgbClr val="94A3B8"/>
                </a:solidFill>
                <a:latin typeface="Segoe UI"/>
              </a:rPr>
              <a:t>Slow · compounding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898648"/>
            <a:ext cx="11201400" cy="960120"/>
          </a:xfrm>
          <a:prstGeom prst="roundRect">
            <a:avLst/>
          </a:prstGeom>
          <a:solidFill>
            <a:srgbClr val="1B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02920" y="2898648"/>
            <a:ext cx="109728" cy="96012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3008376"/>
            <a:ext cx="21031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38BDF8"/>
                </a:solidFill>
                <a:latin typeface="Segoe UI"/>
              </a:rPr>
              <a:t>L3 · CONSENSUS</a:t>
            </a:r>
          </a:p>
          <a:p>
            <a:pPr algn="l"/>
            <a:r>
              <a:rPr sz="1000" b="1" i="0">
                <a:solidFill>
                  <a:srgbClr val="94A3B8"/>
                </a:solidFill>
                <a:latin typeface="Segoe UI"/>
              </a:rPr>
              <a:t>GEO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3008376"/>
            <a:ext cx="630936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 dirty="0">
                <a:solidFill>
                  <a:srgbClr val="F1F5F9"/>
                </a:solidFill>
                <a:latin typeface="Segoe UI"/>
              </a:rPr>
              <a:t>Reviews on G2/Capterra/Trustpilot, Reddit threads, YouTube — independent validation at scale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3172968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1">
                <a:solidFill>
                  <a:srgbClr val="94A3B8"/>
                </a:solidFill>
                <a:latin typeface="Segoe UI"/>
              </a:rPr>
              <a:t>Medium · high trust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014215"/>
            <a:ext cx="11201400" cy="960120"/>
          </a:xfrm>
          <a:prstGeom prst="roundRect">
            <a:avLst/>
          </a:prstGeom>
          <a:solidFill>
            <a:srgbClr val="1B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2920" y="4014215"/>
            <a:ext cx="109728" cy="96012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4123944"/>
            <a:ext cx="21031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2DD4BF"/>
                </a:solidFill>
                <a:latin typeface="Segoe UI"/>
              </a:rPr>
              <a:t>L2 · STRUCTURE</a:t>
            </a:r>
          </a:p>
          <a:p>
            <a:pPr algn="l"/>
            <a:r>
              <a:rPr sz="1000" b="1" i="0">
                <a:solidFill>
                  <a:srgbClr val="94A3B8"/>
                </a:solidFill>
                <a:latin typeface="Segoe UI"/>
              </a:rPr>
              <a:t>AEO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71800" y="4123944"/>
            <a:ext cx="630936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 dirty="0" err="1">
                <a:solidFill>
                  <a:srgbClr val="F1F5F9"/>
                </a:solidFill>
                <a:latin typeface="Segoe UI"/>
              </a:rPr>
              <a:t>Schema.org</a:t>
            </a:r>
            <a:r>
              <a:rPr b="0" i="0" dirty="0">
                <a:solidFill>
                  <a:srgbClr val="F1F5F9"/>
                </a:solidFill>
                <a:latin typeface="Segoe UI"/>
              </a:rPr>
              <a:t> JSON-LD, product feeds (ChatGPT Merchant Program, Google Shopping), </a:t>
            </a:r>
            <a:r>
              <a:rPr b="0" i="0" dirty="0" err="1">
                <a:solidFill>
                  <a:srgbClr val="F1F5F9"/>
                </a:solidFill>
                <a:latin typeface="Segoe UI"/>
              </a:rPr>
              <a:t>llms.txt</a:t>
            </a:r>
            <a:endParaRPr b="0" i="0" dirty="0">
              <a:solidFill>
                <a:srgbClr val="F1F5F9"/>
              </a:solidFill>
              <a:latin typeface="Segoe U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418320" y="4288536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1">
                <a:solidFill>
                  <a:srgbClr val="94A3B8"/>
                </a:solidFill>
                <a:latin typeface="Segoe UI"/>
              </a:rPr>
              <a:t>Fast · table stakes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129784"/>
            <a:ext cx="11201400" cy="960120"/>
          </a:xfrm>
          <a:prstGeom prst="roundRect">
            <a:avLst/>
          </a:prstGeom>
          <a:solidFill>
            <a:srgbClr val="1B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02920" y="5129784"/>
            <a:ext cx="109728" cy="960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40" y="5239512"/>
            <a:ext cx="21031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  <a:latin typeface="Segoe UI"/>
              </a:rPr>
              <a:t>L1 · TRUTH</a:t>
            </a:r>
          </a:p>
          <a:p>
            <a:pPr algn="l"/>
            <a:r>
              <a:rPr sz="1000" b="1" i="0">
                <a:solidFill>
                  <a:srgbClr val="94A3B8"/>
                </a:solidFill>
                <a:latin typeface="Segoe UI"/>
              </a:rPr>
              <a:t>AEO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71800" y="5239512"/>
            <a:ext cx="630936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 dirty="0">
                <a:solidFill>
                  <a:srgbClr val="F1F5F9"/>
                </a:solidFill>
                <a:latin typeface="Segoe UI"/>
              </a:rPr>
              <a:t>Real-time price &amp; stock APIs, canonical data, dated content the RAG pipeline can fetch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5404104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1">
                <a:solidFill>
                  <a:srgbClr val="94A3B8"/>
                </a:solidFill>
                <a:latin typeface="Segoe UI"/>
              </a:rPr>
              <a:t>Fast · foundational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73952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Future of Commerce · BBA — Deep Dive: The Shift from SEO to AEO/GEO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9284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94A3B8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82296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  <a:latin typeface="Segoe UI"/>
              </a:rPr>
              <a:t>07 · IN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03504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F1F5F9"/>
                </a:solidFill>
                <a:latin typeface="Segoe UI"/>
              </a:rPr>
              <a:t>One running shoe, three eras of discovery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170432"/>
            <a:ext cx="1088136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1" dirty="0">
                <a:solidFill>
                  <a:srgbClr val="94A3B8"/>
                </a:solidFill>
                <a:latin typeface="Segoe UI"/>
              </a:rPr>
              <a:t>How the same product gets found from keywords to conversations to machine consensus.</a:t>
            </a:r>
          </a:p>
        </p:txBody>
      </p:sp>
      <p:pic>
        <p:nvPicPr>
          <p:cNvPr id="7" name="Picture 6" descr="8_AI_Shopping_Assistant_UI_Ecommer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28800"/>
            <a:ext cx="4114800" cy="30861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828800"/>
            <a:ext cx="4114800" cy="3090672"/>
          </a:xfrm>
          <a:prstGeom prst="roundRect">
            <a:avLst/>
          </a:prstGeom>
          <a:noFill/>
          <a:ln w="1587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498348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 i="1">
                <a:solidFill>
                  <a:srgbClr val="94A3B8"/>
                </a:solidFill>
                <a:latin typeface="Segoe UI"/>
              </a:rPr>
              <a:t>The agent interface is the new shelf edge (Dribbble UI concept)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83480" y="1783080"/>
            <a:ext cx="6720840" cy="1298448"/>
          </a:xfrm>
          <a:prstGeom prst="roundRect">
            <a:avLst/>
          </a:prstGeom>
          <a:solidFill>
            <a:srgbClr val="1B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983480" y="1783080"/>
            <a:ext cx="91440" cy="1298448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12080" y="1874519"/>
            <a:ext cx="192024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94A3B8"/>
                </a:solidFill>
                <a:latin typeface="Segoe UI"/>
              </a:rPr>
              <a:t>2015 · SEO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2240280"/>
            <a:ext cx="630936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F1F5F9"/>
                </a:solidFill>
                <a:latin typeface="Segoe UI"/>
              </a:rPr>
              <a:t>Maya googles “best running shoes flat feet”. Ten blue links; Nike and Brooks fight for position 1. Winner takes the click.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83480" y="3264408"/>
            <a:ext cx="6720840" cy="1298448"/>
          </a:xfrm>
          <a:prstGeom prst="roundRect">
            <a:avLst/>
          </a:prstGeom>
          <a:solidFill>
            <a:srgbClr val="1B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983480" y="3264408"/>
            <a:ext cx="91440" cy="129844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212080" y="3355848"/>
            <a:ext cx="192024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38BDF8"/>
                </a:solidFill>
                <a:latin typeface="Segoe UI"/>
              </a:rPr>
              <a:t>2024 · AEO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3721608"/>
            <a:ext cx="630936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dirty="0">
                <a:solidFill>
                  <a:srgbClr val="F1F5F9"/>
                </a:solidFill>
                <a:latin typeface="Segoe UI"/>
              </a:rPr>
              <a:t>She asks Perplexity “best cushioned shoes for flat feet under £130, in stock near me?” the engine </a:t>
            </a:r>
            <a:r>
              <a:rPr sz="1400" b="0" i="0" dirty="0" err="1">
                <a:solidFill>
                  <a:srgbClr val="F1F5F9"/>
                </a:solidFill>
                <a:latin typeface="Segoe UI"/>
              </a:rPr>
              <a:t>synthesises</a:t>
            </a:r>
            <a:r>
              <a:rPr sz="1400" b="0" i="0" dirty="0">
                <a:solidFill>
                  <a:srgbClr val="F1F5F9"/>
                </a:solidFill>
                <a:latin typeface="Segoe UI"/>
              </a:rPr>
              <a:t>; brands with structured feeds &amp; reviews get cited.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83480" y="4745736"/>
            <a:ext cx="6720840" cy="1298448"/>
          </a:xfrm>
          <a:prstGeom prst="roundRect">
            <a:avLst/>
          </a:prstGeom>
          <a:solidFill>
            <a:srgbClr val="1B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983480" y="4745736"/>
            <a:ext cx="91440" cy="129844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212080" y="4837176"/>
            <a:ext cx="192024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A78BFA"/>
                </a:solidFill>
                <a:latin typeface="Segoe UI"/>
              </a:rPr>
              <a:t>2026 · GEO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5202936"/>
            <a:ext cx="630936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dirty="0">
                <a:solidFill>
                  <a:srgbClr val="F1F5F9"/>
                </a:solidFill>
                <a:latin typeface="Segoe UI"/>
              </a:rPr>
              <a:t>Her agent compares five options, weighs her 400km history, checks Reddit consensus  and surfaces the brand the internet collectively vouches for.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73952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Future of Commerce · BBA — Deep Dive: The Shift from SEO to AEO/GEO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9284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94A3B8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8229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Segoe UI"/>
              </a:rPr>
              <a:t>08 · STRATEGY RESET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03504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F1F5F9"/>
                </a:solidFill>
                <a:latin typeface="Segoe UI"/>
              </a:rPr>
              <a:t>The consideration-set paradox: AI EXPANDS choice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94A3B8"/>
                </a:solidFill>
                <a:latin typeface="Segoe UI"/>
              </a:rPr>
              <a:t>OLD WORLD — FUNNEL NARROWS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148840"/>
            <a:ext cx="4754880" cy="713232"/>
          </a:xfrm>
          <a:prstGeom prst="rect">
            <a:avLst/>
          </a:prstGeom>
          <a:solidFill>
            <a:srgbClr val="3A4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233172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F1F5F9"/>
                </a:solidFill>
                <a:latin typeface="Segoe UI"/>
              </a:rPr>
              <a:t>20 results seen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25880" y="3017520"/>
            <a:ext cx="3108960" cy="713232"/>
          </a:xfrm>
          <a:prstGeom prst="rect">
            <a:avLst/>
          </a:prstGeom>
          <a:solidFill>
            <a:srgbClr val="4A5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25880" y="320040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F1F5F9"/>
                </a:solidFill>
                <a:latin typeface="Segoe UI"/>
              </a:rPr>
              <a:t>5 clicked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74519" y="3886200"/>
            <a:ext cx="2011680" cy="713232"/>
          </a:xfrm>
          <a:prstGeom prst="rect">
            <a:avLst/>
          </a:prstGeom>
          <a:solidFill>
            <a:srgbClr val="5C74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874519" y="406908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F1F5F9"/>
                </a:solidFill>
                <a:latin typeface="Segoe UI"/>
              </a:rPr>
              <a:t>2 compared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0" y="4754879"/>
            <a:ext cx="1188720" cy="713232"/>
          </a:xfrm>
          <a:prstGeom prst="rect">
            <a:avLst/>
          </a:prstGeom>
          <a:solidFill>
            <a:srgbClr val="6E8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286000" y="4937759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F1F5F9"/>
                </a:solidFill>
                <a:latin typeface="Segoe UI"/>
              </a:rPr>
              <a:t>1 bought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71500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 i="1">
                <a:solidFill>
                  <a:srgbClr val="94A3B8"/>
                </a:solidFill>
                <a:latin typeface="Segoe UI"/>
              </a:rPr>
              <a:t>SEO goal: survive the narrowing → win position 1.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1691640"/>
            <a:ext cx="539496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dirty="0">
                <a:solidFill>
                  <a:srgbClr val="F59E0B"/>
                </a:solidFill>
                <a:latin typeface="Segoe UI"/>
              </a:rPr>
              <a:t>AGENTIC WORLD  SET EXPANDS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2148840"/>
            <a:ext cx="5394960" cy="3657600"/>
          </a:xfrm>
          <a:prstGeom prst="roundRect">
            <a:avLst/>
          </a:prstGeom>
          <a:solidFill>
            <a:srgbClr val="14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92240" y="2331720"/>
            <a:ext cx="493776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1">
                <a:solidFill>
                  <a:srgbClr val="F1F5F9"/>
                </a:solidFill>
                <a:latin typeface="Segoe UI"/>
              </a:rPr>
              <a:t>Maya: “find me shoes like these, vegan, under £120, 4★+”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92240" y="2834640"/>
            <a:ext cx="146304" cy="14630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48272" y="2788920"/>
            <a:ext cx="475488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Segoe UI"/>
              </a:rPr>
              <a:t>Brand A — cited (structured feed)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3310128"/>
            <a:ext cx="146304" cy="14630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748272" y="3264408"/>
            <a:ext cx="475488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Segoe UI"/>
              </a:rPr>
              <a:t>Brand B — cited (Reddit consensus)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3785616"/>
            <a:ext cx="146304" cy="14630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48272" y="3739896"/>
            <a:ext cx="475488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Segoe UI"/>
              </a:rPr>
              <a:t>Brand C — cited (editorial roundup)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92240" y="4261104"/>
            <a:ext cx="146304" cy="146304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748272" y="4215384"/>
            <a:ext cx="475488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A78BFA"/>
                </a:solidFill>
                <a:latin typeface="Segoe UI"/>
              </a:rPr>
              <a:t>Brand D — NEW entrant, poached in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92240" y="4736592"/>
            <a:ext cx="146304" cy="146304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748272" y="4690872"/>
            <a:ext cx="475488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A78BFA"/>
                </a:solidFill>
                <a:latin typeface="Segoe UI"/>
              </a:rPr>
              <a:t>Brand E — NEW entrant, niche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92240" y="5212080"/>
            <a:ext cx="146304" cy="146304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748272" y="5166360"/>
            <a:ext cx="475488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B7185"/>
                </a:solidFill>
                <a:latin typeface="Segoe UI"/>
              </a:rPr>
              <a:t>Your brand — invisible: no schema, no reviews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5897880"/>
            <a:ext cx="539496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1" dirty="0">
                <a:solidFill>
                  <a:srgbClr val="F59E0B"/>
                </a:solidFill>
                <a:latin typeface="Segoe UI"/>
              </a:rPr>
              <a:t>Agents </a:t>
            </a:r>
            <a:r>
              <a:rPr sz="1100" b="0" i="1" dirty="0" err="1">
                <a:solidFill>
                  <a:srgbClr val="F59E0B"/>
                </a:solidFill>
                <a:latin typeface="Segoe UI"/>
              </a:rPr>
              <a:t>industrialise</a:t>
            </a:r>
            <a:r>
              <a:rPr sz="1100" b="0" i="1" dirty="0">
                <a:solidFill>
                  <a:srgbClr val="F59E0B"/>
                </a:solidFill>
                <a:latin typeface="Segoe UI"/>
              </a:rPr>
              <a:t> curation is the agent the shopper's filter or the store's recommender?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73952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Future of Commerce · BBA — Deep Dive: The Shift from SEO to AEO/GEO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9284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94A3B8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822960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B7185"/>
                </a:solidFill>
                <a:latin typeface="Segoe UI"/>
              </a:rPr>
              <a:t>09 · THE CONFLICT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03504"/>
            <a:ext cx="1088136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dirty="0">
                <a:solidFill>
                  <a:srgbClr val="F1F5F9"/>
                </a:solidFill>
                <a:latin typeface="Segoe UI"/>
              </a:rPr>
              <a:t>Who pays the agent?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5394960" cy="4206240"/>
          </a:xfrm>
          <a:prstGeom prst="roundRect">
            <a:avLst/>
          </a:prstGeom>
          <a:solidFill>
            <a:srgbClr val="1B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965960"/>
            <a:ext cx="484632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dirty="0">
                <a:solidFill>
                  <a:srgbClr val="2DD4BF"/>
                </a:solidFill>
                <a:latin typeface="Segoe UI"/>
              </a:rPr>
              <a:t>TODAY  EARNED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77440"/>
            <a:ext cx="91440" cy="91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377440"/>
            <a:ext cx="91440" cy="91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2377440"/>
            <a:ext cx="91440" cy="91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2377440"/>
            <a:ext cx="91440" cy="91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2395728"/>
            <a:ext cx="489204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dirty="0">
                <a:solidFill>
                  <a:srgbClr val="F1F5F9"/>
                </a:solidFill>
                <a:latin typeface="Segoe UI"/>
              </a:rPr>
              <a:t>•  ChatGPT recommendations are organic &amp; unsponsored  “ranked purely on relevance” (OpenAI, 2026)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236976"/>
            <a:ext cx="489204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F1F5F9"/>
                </a:solidFill>
                <a:latin typeface="Segoe UI"/>
              </a:rPr>
              <a:t>•  ChatGPT Merchant Program: submit product feeds directly — a free direct channel (chatgpt.com/merchants)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078224"/>
            <a:ext cx="489204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F1F5F9"/>
                </a:solidFill>
                <a:latin typeface="Segoe UI"/>
              </a:rPr>
              <a:t>•  Perplexity cites independent pages 3× more than brand PDPs — earned media is the moat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919472"/>
            <a:ext cx="489204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F1F5F9"/>
                </a:solidFill>
                <a:latin typeface="Segoe UI"/>
              </a:rPr>
              <a:t>•  Visibility = structured data × reviews × third-party consensus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1783080"/>
            <a:ext cx="5394960" cy="4206240"/>
          </a:xfrm>
          <a:prstGeom prst="roundRect">
            <a:avLst/>
          </a:prstGeom>
          <a:solidFill>
            <a:srgbClr val="1B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37960" y="1965960"/>
            <a:ext cx="484632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>
                <a:solidFill>
                  <a:srgbClr val="FB7185"/>
                </a:solidFill>
                <a:latin typeface="Segoe UI"/>
              </a:rPr>
              <a:t>TOMORROW BOUGHT?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395728"/>
            <a:ext cx="489204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dirty="0">
                <a:solidFill>
                  <a:srgbClr val="F1F5F9"/>
                </a:solidFill>
                <a:latin typeface="Segoe UI"/>
              </a:rPr>
              <a:t>•  “Sponsored visibility inside agent answers” = the new retail-media inventory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236976"/>
            <a:ext cx="489204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F1F5F9"/>
                </a:solidFill>
                <a:latin typeface="Segoe UI"/>
              </a:rPr>
              <a:t>•  Google already monetises AI Overviews adjacency; agents will not stay ad-free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4078224"/>
            <a:ext cx="489204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dirty="0">
                <a:solidFill>
                  <a:srgbClr val="F1F5F9"/>
                </a:solidFill>
                <a:latin typeface="Segoe UI"/>
              </a:rPr>
              <a:t>•  If the agent is paid by the store, is it the shopper's filter or the store's recommender? BOTH depending on who pays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4919472"/>
            <a:ext cx="489204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dirty="0">
                <a:solidFill>
                  <a:srgbClr val="F1F5F9"/>
                </a:solidFill>
                <a:latin typeface="Segoe UI"/>
              </a:rPr>
              <a:t>•  Discipline: disclose sponsorship or burn the trust that GEO is built 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6108192"/>
            <a:ext cx="11155680" cy="27432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Future of Commerce · BBA — Deep Dive: The Shift from SEO to AEO/GEO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284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94A3B8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8229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Segoe UI"/>
              </a:rPr>
              <a:t>10 · RETENTION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03504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dirty="0">
                <a:solidFill>
                  <a:srgbClr val="F1F5F9"/>
                </a:solidFill>
                <a:latin typeface="Segoe UI"/>
              </a:rPr>
              <a:t>Loyalty-as-API: invisible benefits don't exist</a:t>
            </a:r>
          </a:p>
        </p:txBody>
      </p:sp>
      <p:sp>
        <p:nvSpPr>
          <p:cNvPr id="7" name="Chevron 6"/>
          <p:cNvSpPr/>
          <p:nvPr/>
        </p:nvSpPr>
        <p:spPr>
          <a:xfrm>
            <a:off x="502920" y="1828800"/>
            <a:ext cx="2331720" cy="914400"/>
          </a:xfrm>
          <a:prstGeom prst="chevron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45720" rtlCol="0" anchor="ctr"/>
          <a:lstStyle/>
          <a:p>
            <a:pPr algn="ctr"/>
            <a:r>
              <a:rPr sz="1200" b="1">
                <a:solidFill>
                  <a:srgbClr val="060B16"/>
                </a:solidFill>
                <a:latin typeface="Segoe UI"/>
              </a:rPr>
              <a:t>1 · TRIGGER
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52928"/>
            <a:ext cx="2057400" cy="5078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>
                <a:solidFill>
                  <a:srgbClr val="94A3B8"/>
                </a:solidFill>
                <a:latin typeface="Segoe UI"/>
              </a:rPr>
              <a:t>Agent detects depletion, calendar, context machine-readable replenishment logic</a:t>
            </a:r>
          </a:p>
        </p:txBody>
      </p:sp>
      <p:sp>
        <p:nvSpPr>
          <p:cNvPr id="9" name="Chevron 8"/>
          <p:cNvSpPr/>
          <p:nvPr/>
        </p:nvSpPr>
        <p:spPr>
          <a:xfrm>
            <a:off x="2761488" y="1828800"/>
            <a:ext cx="2331720" cy="914400"/>
          </a:xfrm>
          <a:prstGeom prst="chevron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45720" rtlCol="0" anchor="ctr"/>
          <a:lstStyle/>
          <a:p>
            <a:pPr algn="ctr"/>
            <a:r>
              <a:rPr sz="1200" b="1">
                <a:solidFill>
                  <a:srgbClr val="060B16"/>
                </a:solidFill>
                <a:latin typeface="Segoe UI"/>
              </a:rPr>
              <a:t>2 · INITIAL SET
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98648" y="2852928"/>
            <a:ext cx="205740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>
                <a:solidFill>
                  <a:srgbClr val="94A3B8"/>
                </a:solidFill>
                <a:latin typeface="Segoe UI"/>
              </a:rPr>
              <a:t>Preference model + structured merchant data not ad recall</a:t>
            </a:r>
          </a:p>
        </p:txBody>
      </p:sp>
      <p:sp>
        <p:nvSpPr>
          <p:cNvPr id="11" name="Chevron 10"/>
          <p:cNvSpPr/>
          <p:nvPr/>
        </p:nvSpPr>
        <p:spPr>
          <a:xfrm>
            <a:off x="5020056" y="1828800"/>
            <a:ext cx="2331720" cy="914400"/>
          </a:xfrm>
          <a:prstGeom prst="chevron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45720" rtlCol="0" anchor="ctr"/>
          <a:lstStyle/>
          <a:p>
            <a:pPr algn="ctr"/>
            <a:r>
              <a:rPr sz="1200" b="1">
                <a:solidFill>
                  <a:srgbClr val="060B16"/>
                </a:solidFill>
                <a:latin typeface="Segoe UI"/>
              </a:rPr>
              <a:t>3 · EVALUATION
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57216" y="2852928"/>
            <a:ext cx="205740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Parallel catalog scan; AEO/GEO is the battleground</a:t>
            </a:r>
          </a:p>
        </p:txBody>
      </p:sp>
      <p:sp>
        <p:nvSpPr>
          <p:cNvPr id="13" name="Chevron 12"/>
          <p:cNvSpPr/>
          <p:nvPr/>
        </p:nvSpPr>
        <p:spPr>
          <a:xfrm>
            <a:off x="7278624" y="1828800"/>
            <a:ext cx="2331720" cy="914400"/>
          </a:xfrm>
          <a:prstGeom prst="chevron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45720" rtlCol="0" anchor="ctr"/>
          <a:lstStyle/>
          <a:p>
            <a:pPr algn="ctr"/>
            <a:r>
              <a:rPr sz="1200" b="1">
                <a:solidFill>
                  <a:srgbClr val="060B16"/>
                </a:solidFill>
                <a:latin typeface="Segoe UI"/>
              </a:rPr>
              <a:t>4 · PURCHASE
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15783" y="2852928"/>
            <a:ext cx="205740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Protocol checkout + human approval gate (UCP/ACP)</a:t>
            </a:r>
          </a:p>
        </p:txBody>
      </p:sp>
      <p:sp>
        <p:nvSpPr>
          <p:cNvPr id="15" name="Chevron 14"/>
          <p:cNvSpPr/>
          <p:nvPr/>
        </p:nvSpPr>
        <p:spPr>
          <a:xfrm>
            <a:off x="9537192" y="1828800"/>
            <a:ext cx="2331720" cy="914400"/>
          </a:xfrm>
          <a:prstGeom prst="chevron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45720" rtlCol="0" anchor="ctr"/>
          <a:lstStyle/>
          <a:p>
            <a:pPr algn="ctr"/>
            <a:r>
              <a:rPr sz="1200" b="1">
                <a:solidFill>
                  <a:srgbClr val="060B16"/>
                </a:solidFill>
                <a:latin typeface="Segoe UI"/>
              </a:rPr>
              <a:t>5 · POST-PURCHASE
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74352" y="2852928"/>
            <a:ext cx="205740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Tracking &amp; returns speed = re-selection signal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069080"/>
            <a:ext cx="2651760" cy="1920240"/>
          </a:xfrm>
          <a:prstGeom prst="roundRect">
            <a:avLst/>
          </a:prstGeom>
          <a:solidFill>
            <a:srgbClr val="1B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2920" y="4069080"/>
            <a:ext cx="2651760" cy="64008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7512" y="4233672"/>
            <a:ext cx="232257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FB7185"/>
                </a:solidFill>
                <a:latin typeface="Segoe UI"/>
              </a:rPr>
              <a:t>37%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" y="4818888"/>
            <a:ext cx="2322576" cy="677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dirty="0">
                <a:solidFill>
                  <a:srgbClr val="F1F5F9"/>
                </a:solidFill>
                <a:latin typeface="Segoe UI"/>
              </a:rPr>
              <a:t>of LOYAL customers would let an agent switch brands poachable at ~zero switching cost</a:t>
            </a:r>
          </a:p>
          <a:p>
            <a:pPr algn="l"/>
            <a:r>
              <a:rPr sz="950" b="0" i="1" dirty="0">
                <a:solidFill>
                  <a:srgbClr val="94A3B8"/>
                </a:solidFill>
                <a:latin typeface="Segoe UI"/>
              </a:rPr>
              <a:t>Week 3 deck · Forrester 2026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91840" y="4069080"/>
            <a:ext cx="2651760" cy="1920240"/>
          </a:xfrm>
          <a:prstGeom prst="roundRect">
            <a:avLst/>
          </a:prstGeom>
          <a:solidFill>
            <a:srgbClr val="1B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291840" y="4069080"/>
            <a:ext cx="2651760" cy="6400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56432" y="4233672"/>
            <a:ext cx="232257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2DD4BF"/>
                </a:solidFill>
                <a:latin typeface="Segoe UI"/>
              </a:rPr>
              <a:t>$177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56432" y="4818888"/>
            <a:ext cx="2322576" cy="353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dirty="0">
                <a:solidFill>
                  <a:srgbClr val="F1F5F9"/>
                </a:solidFill>
                <a:latin typeface="Segoe UI"/>
              </a:rPr>
              <a:t>average no-approval ceiling consumers set per purchase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80760" y="4069080"/>
            <a:ext cx="2651760" cy="1920240"/>
          </a:xfrm>
          <a:prstGeom prst="roundRect">
            <a:avLst/>
          </a:prstGeom>
          <a:solidFill>
            <a:srgbClr val="1B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080760" y="4069080"/>
            <a:ext cx="2651760" cy="6400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45352" y="4233672"/>
            <a:ext cx="232257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38BDF8"/>
                </a:solidFill>
                <a:latin typeface="Segoe UI"/>
              </a:rPr>
              <a:t>MCP / UCP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5352" y="4818888"/>
            <a:ext cx="2322576" cy="11464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dirty="0">
                <a:solidFill>
                  <a:srgbClr val="F1F5F9"/>
                </a:solidFill>
                <a:latin typeface="Segoe UI"/>
              </a:rPr>
              <a:t>expose points, tiers &amp; member prices as agent-</a:t>
            </a:r>
            <a:r>
              <a:rPr sz="1150" b="1" i="0" dirty="0" err="1">
                <a:solidFill>
                  <a:srgbClr val="F1F5F9"/>
                </a:solidFill>
                <a:latin typeface="Segoe UI"/>
              </a:rPr>
              <a:t>queryable</a:t>
            </a:r>
            <a:r>
              <a:rPr sz="1150" b="1" i="0" dirty="0">
                <a:solidFill>
                  <a:srgbClr val="F1F5F9"/>
                </a:solidFill>
                <a:latin typeface="Segoe UI"/>
              </a:rPr>
              <a:t> tools loyalty must be COMPUTED by the shopper's agent</a:t>
            </a:r>
          </a:p>
          <a:p>
            <a:pPr algn="l"/>
            <a:r>
              <a:rPr sz="950" b="0" i="1" dirty="0">
                <a:solidFill>
                  <a:srgbClr val="94A3B8"/>
                </a:solidFill>
                <a:latin typeface="Segoe UI"/>
              </a:rPr>
              <a:t>Visa &amp; Mastercard building agentic loyalty rails — disintermediation risk (dunnhumby, Jan 2026)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869680" y="4069080"/>
            <a:ext cx="2834640" cy="1920240"/>
          </a:xfrm>
          <a:prstGeom prst="roundRect">
            <a:avLst/>
          </a:prstGeom>
          <a:solidFill>
            <a:srgbClr val="1B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869680" y="4069080"/>
            <a:ext cx="2834640" cy="640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034272" y="4233672"/>
            <a:ext cx="250545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F59E0B"/>
                </a:solidFill>
                <a:latin typeface="Segoe UI"/>
              </a:rPr>
              <a:t>KPI shift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34272" y="4818888"/>
            <a:ext cx="2505456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dirty="0">
                <a:solidFill>
                  <a:srgbClr val="F1F5F9"/>
                </a:solidFill>
                <a:latin typeface="Segoe UI"/>
              </a:rPr>
              <a:t>loyalty KPIs move from card-scans to agent recommendation rate · member retention · share of agent-mind</a:t>
            </a:r>
          </a:p>
          <a:p>
            <a:pPr algn="l"/>
            <a:r>
              <a:rPr sz="950" b="0" i="1" dirty="0">
                <a:solidFill>
                  <a:srgbClr val="94A3B8"/>
                </a:solidFill>
                <a:latin typeface="Segoe UI"/>
              </a:rPr>
              <a:t>Week 3 deck, Thread 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73952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Future of Commerce · BBA — Deep Dive: The Shift from SEO to AEO/GEO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9284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94A3B8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82296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A78BFA"/>
                </a:solidFill>
                <a:latin typeface="Segoe UI"/>
              </a:rPr>
              <a:t>11 · THE SENSES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03504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F1F5F9"/>
                </a:solidFill>
                <a:latin typeface="Segoe UI"/>
              </a:rPr>
              <a:t>Voice, camera, location: three AEO front doors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170432"/>
            <a:ext cx="1088136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 dirty="0">
                <a:solidFill>
                  <a:srgbClr val="94A3B8"/>
                </a:solidFill>
                <a:latin typeface="Segoe UI"/>
              </a:rPr>
              <a:t>Each sense collapses a different micro-moment  and each demands a different </a:t>
            </a:r>
            <a:r>
              <a:rPr sz="1300" b="0" i="1" dirty="0" err="1">
                <a:solidFill>
                  <a:srgbClr val="94A3B8"/>
                </a:solidFill>
                <a:latin typeface="Segoe UI"/>
              </a:rPr>
              <a:t>optimisation</a:t>
            </a:r>
            <a:r>
              <a:rPr sz="1300" b="0" i="1" dirty="0">
                <a:solidFill>
                  <a:srgbClr val="94A3B8"/>
                </a:solidFill>
                <a:latin typeface="Segoe UI"/>
              </a:rPr>
              <a:t> play </a:t>
            </a:r>
          </a:p>
        </p:txBody>
      </p:sp>
      <p:pic>
        <p:nvPicPr>
          <p:cNvPr id="7" name="Picture 6" descr="9_2_700_Smart_Home_Voice_Control_St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28800"/>
            <a:ext cx="3291840" cy="21945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828800"/>
            <a:ext cx="3291840" cy="2194560"/>
          </a:xfrm>
          <a:prstGeom prst="roundRect">
            <a:avLst/>
          </a:prstGeom>
          <a:noFill/>
          <a:ln w="1587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5_AI_Visual_Search_Fashion_Shopp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114800"/>
            <a:ext cx="3291840" cy="24688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02920" y="4114800"/>
            <a:ext cx="3291840" cy="2194560"/>
          </a:xfrm>
          <a:prstGeom prst="roundRect">
            <a:avLst/>
          </a:prstGeom>
          <a:noFill/>
          <a:ln w="1587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114800" y="1828800"/>
            <a:ext cx="7589520" cy="1371600"/>
          </a:xfrm>
          <a:prstGeom prst="roundRect">
            <a:avLst/>
          </a:prstGeom>
          <a:solidFill>
            <a:srgbClr val="1B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114800" y="1828800"/>
            <a:ext cx="91440" cy="13716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43400" y="1901952"/>
            <a:ext cx="722376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dirty="0">
                <a:solidFill>
                  <a:srgbClr val="A78BFA"/>
                </a:solidFill>
                <a:latin typeface="Segoe UI"/>
              </a:rPr>
              <a:t>VOICE  the replenishment sense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2231136"/>
            <a:ext cx="722376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dirty="0">
                <a:solidFill>
                  <a:srgbClr val="F1F5F9"/>
                </a:solidFill>
                <a:latin typeface="Segoe UI"/>
              </a:rPr>
              <a:t>Owns I-want-to-do + reorder. 72% of voice shoppers re-buy the same brand; queries average ~29 words vs 4 typed.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2825495"/>
            <a:ext cx="72237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1">
                <a:solidFill>
                  <a:srgbClr val="94A3B8"/>
                </a:solidFill>
                <a:latin typeface="Segoe UI"/>
              </a:rPr>
              <a:t>Play: conversational content, FAQ schema, featured snippets (40× more likely to be voice answers), Alexa Skills.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0" y="3364991"/>
            <a:ext cx="7589520" cy="1371600"/>
          </a:xfrm>
          <a:prstGeom prst="roundRect">
            <a:avLst/>
          </a:prstGeom>
          <a:solidFill>
            <a:srgbClr val="1B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114800" y="3364991"/>
            <a:ext cx="91440" cy="13716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43400" y="3438144"/>
            <a:ext cx="722376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dirty="0">
                <a:solidFill>
                  <a:srgbClr val="38BDF8"/>
                </a:solidFill>
                <a:latin typeface="Segoe UI"/>
              </a:rPr>
              <a:t>CAMERA the discovery sense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3767328"/>
            <a:ext cx="722376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dirty="0">
                <a:solidFill>
                  <a:srgbClr val="F1F5F9"/>
                </a:solidFill>
                <a:latin typeface="Segoe UI"/>
              </a:rPr>
              <a:t>VLMs encode style as embeddings: “coastal grandmother” retrieves with zero keyword match. ~20B Google Lens searches/month.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4279392"/>
            <a:ext cx="72237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1" dirty="0">
                <a:solidFill>
                  <a:srgbClr val="94A3B8"/>
                </a:solidFill>
                <a:latin typeface="Segoe UI"/>
              </a:rPr>
              <a:t>Play: image assets as structured data, semantic alt text (~3× AI visibility), AI-readable brand guidelines (only ~15% of brands have them).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0" y="4901183"/>
            <a:ext cx="7589520" cy="1371600"/>
          </a:xfrm>
          <a:prstGeom prst="roundRect">
            <a:avLst/>
          </a:prstGeom>
          <a:solidFill>
            <a:srgbClr val="1B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114800" y="4901183"/>
            <a:ext cx="91440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43400" y="4974336"/>
            <a:ext cx="722376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dirty="0">
                <a:solidFill>
                  <a:srgbClr val="F59E0B"/>
                </a:solidFill>
                <a:latin typeface="Segoe UI"/>
              </a:rPr>
              <a:t>LOCATION the proximity sense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5303520"/>
            <a:ext cx="722376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dirty="0">
                <a:solidFill>
                  <a:srgbClr val="F1F5F9"/>
                </a:solidFill>
                <a:latin typeface="Segoe UI"/>
              </a:rPr>
              <a:t>82% of “near me” queries carry intent modifiers; 28% of local voice searches convert same-day.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5815583"/>
            <a:ext cx="72237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1">
                <a:solidFill>
                  <a:srgbClr val="94A3B8"/>
                </a:solidFill>
                <a:latin typeface="Segoe UI"/>
              </a:rPr>
              <a:t>Play: intent maps over pin accuracy; opt-in is hard architecture (GDPR/CCPA/DPDP), not soft preference.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Future of Commerce · BBA — Deep Dive: The Shift from SEO to AEO/GEO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94A3B8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82296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  <a:latin typeface="Segoe UI"/>
              </a:rPr>
              <a:t>12 · MEASUREMENT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03504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F1F5F9"/>
                </a:solidFill>
                <a:latin typeface="Segoe UI"/>
              </a:rPr>
              <a:t>The dashboard dies, the answer-book is born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170432"/>
            <a:ext cx="1088136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1" dirty="0">
                <a:solidFill>
                  <a:srgbClr val="94A3B8"/>
                </a:solidFill>
                <a:latin typeface="Segoe UI"/>
              </a:rPr>
              <a:t>Attribution ≠ causation (Week 2, p38). AI influence often leaves no referral click measure the answer, not the visit.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3611880" cy="1600200"/>
          </a:xfrm>
          <a:prstGeom prst="roundRect">
            <a:avLst/>
          </a:prstGeom>
          <a:solidFill>
            <a:srgbClr val="1B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783080"/>
            <a:ext cx="3611880" cy="6400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947672"/>
            <a:ext cx="3246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2DD4BF"/>
                </a:solidFill>
                <a:latin typeface="Segoe UI"/>
              </a:rPr>
              <a:t>Agent recommendation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50008"/>
            <a:ext cx="324612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dirty="0">
                <a:solidFill>
                  <a:srgbClr val="F1F5F9"/>
                </a:solidFill>
                <a:latin typeface="Segoe UI"/>
              </a:rPr>
              <a:t>% of category prompts where you're cited in the top-5 answer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5112" y="1783080"/>
            <a:ext cx="3611880" cy="1600200"/>
          </a:xfrm>
          <a:prstGeom prst="roundRect">
            <a:avLst/>
          </a:prstGeom>
          <a:solidFill>
            <a:srgbClr val="1B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25112" y="1783080"/>
            <a:ext cx="3611880" cy="6400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07992" y="1947672"/>
            <a:ext cx="3246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A78BFA"/>
                </a:solidFill>
                <a:latin typeface="Segoe UI"/>
              </a:rPr>
              <a:t>Share of agent-mind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350008"/>
            <a:ext cx="3246120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F1F5F9"/>
                </a:solidFill>
                <a:latin typeface="Segoe UI"/>
              </a:rPr>
              <a:t>your mentions ÷ all brand mentions across ChatGPT · Perplexity · Gemini · Claude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47304" y="1783080"/>
            <a:ext cx="3611880" cy="1600200"/>
          </a:xfrm>
          <a:prstGeom prst="roundRect">
            <a:avLst/>
          </a:prstGeom>
          <a:solidFill>
            <a:srgbClr val="1B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47304" y="1783080"/>
            <a:ext cx="3611880" cy="6400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30183" y="1947672"/>
            <a:ext cx="3246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38BDF8"/>
                </a:solidFill>
                <a:latin typeface="Segoe UI"/>
              </a:rPr>
              <a:t>Answer accuracy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0183" y="2350008"/>
            <a:ext cx="324612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F1F5F9"/>
                </a:solidFill>
                <a:latin typeface="Segoe UI"/>
              </a:rPr>
              <a:t>% of AI answers about your brand with correct price, stock &amp; claims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566160"/>
            <a:ext cx="3611880" cy="1600200"/>
          </a:xfrm>
          <a:prstGeom prst="roundRect">
            <a:avLst/>
          </a:prstGeom>
          <a:solidFill>
            <a:srgbClr val="1B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02920" y="3566160"/>
            <a:ext cx="3611880" cy="640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3730752"/>
            <a:ext cx="3246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F59E0B"/>
                </a:solidFill>
                <a:latin typeface="Segoe UI"/>
              </a:rPr>
              <a:t>AI-assisted conversion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133087"/>
            <a:ext cx="324612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F1F5F9"/>
                </a:solidFill>
                <a:latin typeface="Segoe UI"/>
              </a:rPr>
              <a:t>brand-search lift &amp; cohort conversion in high-visibility markets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25112" y="3566160"/>
            <a:ext cx="3611880" cy="1600200"/>
          </a:xfrm>
          <a:prstGeom prst="roundRect">
            <a:avLst/>
          </a:prstGeom>
          <a:solidFill>
            <a:srgbClr val="1B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325112" y="3566160"/>
            <a:ext cx="3611880" cy="64008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07992" y="3730752"/>
            <a:ext cx="3246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FB7185"/>
                </a:solidFill>
                <a:latin typeface="Segoe UI"/>
              </a:rPr>
              <a:t>Citation drift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07992" y="4133087"/>
            <a:ext cx="3246120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F1F5F9"/>
                </a:solidFill>
                <a:latin typeface="Segoe UI"/>
              </a:rPr>
              <a:t>40–60% of cited domains change monthly — trends need 3+ months of baseline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47304" y="3566160"/>
            <a:ext cx="3611880" cy="1600200"/>
          </a:xfrm>
          <a:prstGeom prst="roundRect">
            <a:avLst/>
          </a:prstGeom>
          <a:solidFill>
            <a:srgbClr val="1B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147304" y="3566160"/>
            <a:ext cx="3611880" cy="64008"/>
          </a:xfrm>
          <a:prstGeom prst="rect">
            <a:avLst/>
          </a:prstGeom>
          <a:solidFill>
            <a:srgbClr val="A3E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30183" y="3730752"/>
            <a:ext cx="3246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A3E635"/>
                </a:solidFill>
                <a:latin typeface="Segoe UI"/>
              </a:rPr>
              <a:t>Zero-regret rate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0183" y="4133087"/>
            <a:ext cx="3246120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F1F5F9"/>
                </a:solidFill>
                <a:latin typeface="Segoe UI"/>
              </a:rPr>
              <a:t>delegated purchases with no return, complaint or revocation (from the Week 3 activity)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5440680"/>
            <a:ext cx="11201400" cy="777240"/>
          </a:xfrm>
          <a:prstGeom prst="roundRect">
            <a:avLst/>
          </a:prstGeom>
          <a:solidFill>
            <a:srgbClr val="14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77240" y="555955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B7185"/>
                </a:solidFill>
                <a:latin typeface="Segoe UI"/>
              </a:rPr>
              <a:t>Honesty rule: </a:t>
            </a:r>
            <a:r>
              <a:rPr sz="1200" b="0" i="0">
                <a:solidFill>
                  <a:srgbClr val="94A3B8"/>
                </a:solidFill>
                <a:latin typeface="Segoe UI"/>
              </a:rPr>
              <a:t>GA4 can't see most of this. Segment chat.openai.com referrals, survey “how did you first hear about us?”, and treat every AEO dashboard number as directional — vendor-graded, not peer-reviewed.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73952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Future of Commerce · BBA — Deep Dive: The Shift from SEO to AEO/GEO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9284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94A3B8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822960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B7185"/>
                </a:solidFill>
                <a:latin typeface="Segoe UI"/>
              </a:rPr>
              <a:t>13 · CASE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03504"/>
            <a:ext cx="1088136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dirty="0">
                <a:solidFill>
                  <a:srgbClr val="F1F5F9"/>
                </a:solidFill>
                <a:latin typeface="Segoe UI"/>
              </a:rPr>
              <a:t>What the numbers say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170432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 dirty="0">
                <a:solidFill>
                  <a:srgbClr val="94A3B8"/>
                </a:solidFill>
                <a:latin typeface="Segoe UI"/>
              </a:rPr>
              <a:t>In keeping with the deck's rule: estimates ≠ facts. Vendor-reported lifts are illustrative, not causal proof.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3611880" cy="2011680"/>
          </a:xfrm>
          <a:prstGeom prst="roundRect">
            <a:avLst/>
          </a:prstGeom>
          <a:solidFill>
            <a:srgbClr val="1B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783080"/>
            <a:ext cx="3611880" cy="6400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911095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2DD4BF"/>
                </a:solidFill>
                <a:latin typeface="Segoe UI"/>
              </a:rPr>
              <a:t>ChatGPT Shopping Research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21991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F1F5F9"/>
                </a:solidFill>
                <a:latin typeface="Segoe UI"/>
              </a:rPr>
              <a:t>52% vs 37%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15768"/>
            <a:ext cx="3291840" cy="5078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>
                <a:solidFill>
                  <a:srgbClr val="94A3B8"/>
                </a:solidFill>
                <a:latin typeface="Segoe UI"/>
              </a:rPr>
              <a:t>product-accuracy on complex multi-constraint queries vs standard ChatGPT Search (OpenAI benchmark)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447288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FB7185"/>
                </a:solidFill>
                <a:latin typeface="Segoe UI"/>
              </a:rPr>
              <a:t>FLAG: first-party benchmark, unaudited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5112" y="1783080"/>
            <a:ext cx="3611880" cy="2011680"/>
          </a:xfrm>
          <a:prstGeom prst="roundRect">
            <a:avLst/>
          </a:prstGeom>
          <a:solidFill>
            <a:srgbClr val="1B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25112" y="1783080"/>
            <a:ext cx="3611880" cy="6400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07992" y="1911095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A78BFA"/>
                </a:solidFill>
                <a:latin typeface="Segoe UI"/>
              </a:rPr>
              <a:t>ChatGPT Merchant Program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7992" y="2221991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F1F5F9"/>
                </a:solidFill>
                <a:latin typeface="Segoe UI"/>
              </a:rPr>
              <a:t>Free feed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2715768"/>
            <a:ext cx="3291840" cy="5078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>
                <a:solidFill>
                  <a:srgbClr val="94A3B8"/>
                </a:solidFill>
                <a:latin typeface="Segoe UI"/>
              </a:rPr>
              <a:t>direct product-feed channel to 900M weekly users  today's closest thing to a ‘submit to answer engines’ button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7992" y="3447288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FB7185"/>
                </a:solidFill>
                <a:latin typeface="Segoe UI"/>
              </a:rPr>
              <a:t>FLAG: platform still makes pricing errors; OpenAI tells users to verify on merchant sites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47304" y="1783080"/>
            <a:ext cx="3611880" cy="2011680"/>
          </a:xfrm>
          <a:prstGeom prst="roundRect">
            <a:avLst/>
          </a:prstGeom>
          <a:solidFill>
            <a:srgbClr val="1B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147304" y="1783080"/>
            <a:ext cx="3611880" cy="6400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30183" y="1911095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38BDF8"/>
                </a:solidFill>
                <a:latin typeface="Segoe UI"/>
              </a:rPr>
              <a:t>Perplexity consensus effect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0183" y="2221991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F1F5F9"/>
                </a:solidFill>
                <a:latin typeface="Segoe UI"/>
              </a:rPr>
              <a:t>3×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0183" y="2715768"/>
            <a:ext cx="329184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>
                <a:solidFill>
                  <a:srgbClr val="94A3B8"/>
                </a:solidFill>
                <a:latin typeface="Segoe UI"/>
              </a:rPr>
              <a:t>independent third-party pages cited 3× more often than brand-owned product pages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0183" y="3447288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FB7185"/>
                </a:solidFill>
                <a:latin typeface="Segoe UI"/>
              </a:rPr>
              <a:t>FLAG: single vendor analysis (True Margin 2026)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3977639"/>
            <a:ext cx="3611880" cy="2011680"/>
          </a:xfrm>
          <a:prstGeom prst="roundRect">
            <a:avLst/>
          </a:prstGeom>
          <a:solidFill>
            <a:srgbClr val="1B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02920" y="3977639"/>
            <a:ext cx="3611880" cy="640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5800" y="4105655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F59E0B"/>
                </a:solidFill>
                <a:latin typeface="Segoe UI"/>
              </a:rPr>
              <a:t>AI-referred traffic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4416552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F1F5F9"/>
                </a:solidFill>
                <a:latin typeface="Segoe UI"/>
              </a:rPr>
              <a:t>~4,700%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4910327"/>
            <a:ext cx="3291840" cy="5078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>
                <a:solidFill>
                  <a:srgbClr val="94A3B8"/>
                </a:solidFill>
                <a:latin typeface="Segoe UI"/>
              </a:rPr>
              <a:t>growth in US retail traffic referred by AI (Adobe, May 2026); Shopify: 8× AI traffic, 13× AI-search orders YoY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641848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FB7185"/>
                </a:solidFill>
                <a:latin typeface="Segoe UI"/>
              </a:rPr>
              <a:t>FLAG: platform first-party data — directional, not peer-reviewed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25112" y="3977639"/>
            <a:ext cx="3611880" cy="2011680"/>
          </a:xfrm>
          <a:prstGeom prst="roundRect">
            <a:avLst/>
          </a:prstGeom>
          <a:solidFill>
            <a:srgbClr val="1B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325112" y="3977639"/>
            <a:ext cx="3611880" cy="64008"/>
          </a:xfrm>
          <a:prstGeom prst="rect">
            <a:avLst/>
          </a:prstGeom>
          <a:solidFill>
            <a:srgbClr val="A3E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07992" y="4105655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A3E635"/>
                </a:solidFill>
                <a:latin typeface="Segoe UI"/>
              </a:rPr>
              <a:t>Albertsons voice replenishment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07992" y="4416552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F1F5F9"/>
                </a:solidFill>
                <a:latin typeface="Segoe UI"/>
              </a:rPr>
              <a:t>46 → 4 min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07992" y="4910327"/>
            <a:ext cx="329184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>
                <a:solidFill>
                  <a:srgbClr val="94A3B8"/>
                </a:solidFill>
                <a:latin typeface="Segoe UI"/>
              </a:rPr>
              <a:t>per shop with AI assistant  the replenishment-sense case from Week 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07992" y="5641848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FB7185"/>
                </a:solidFill>
                <a:latin typeface="Segoe UI"/>
              </a:rPr>
              <a:t>FLAG: vendor-reported case study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473952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Future of Commerce · BBA — Deep Dive: The Shift from SEO to AEO/GEO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9284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94A3B8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82296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1088136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2DD4BF"/>
                </a:solidFill>
                <a:latin typeface="Segoe UI"/>
              </a:rPr>
              <a:t>14 · THE PLAYBOOK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03504"/>
            <a:ext cx="1088136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F1F5F9"/>
                </a:solidFill>
                <a:latin typeface="Segoe UI"/>
              </a:rPr>
              <a:t>A 90-day AEO/GEO sprint for a mid-size brand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170432"/>
            <a:ext cx="1088136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1">
                <a:solidFill>
                  <a:srgbClr val="94A3B8"/>
                </a:solidFill>
                <a:latin typeface="Segoe UI"/>
              </a:rPr>
              <a:t>Sequenced for effort vs impact: fix the truth, structure it, earn the consensus, then measure the answer.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3611880" cy="4160520"/>
          </a:xfrm>
          <a:prstGeom prst="roundRect">
            <a:avLst/>
          </a:prstGeom>
          <a:solidFill>
            <a:srgbClr val="1B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Rectangle 7"/>
          <p:cNvSpPr/>
          <p:nvPr/>
        </p:nvSpPr>
        <p:spPr>
          <a:xfrm>
            <a:off x="502920" y="1783080"/>
            <a:ext cx="3611880" cy="5029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" name="TextBox 8"/>
          <p:cNvSpPr txBox="1"/>
          <p:nvPr/>
        </p:nvSpPr>
        <p:spPr>
          <a:xfrm>
            <a:off x="685800" y="1856231"/>
            <a:ext cx="329184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060B16"/>
                </a:solidFill>
                <a:latin typeface="Segoe UI"/>
              </a:rPr>
              <a:t>DAYS 1–30 · TRUTH &amp; 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50592"/>
            <a:ext cx="329184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dirty="0">
                <a:solidFill>
                  <a:srgbClr val="F1F5F9"/>
                </a:solidFill>
                <a:latin typeface="Segoe UI"/>
              </a:rPr>
              <a:t>▸  Unblock AI crawlers in </a:t>
            </a:r>
            <a:r>
              <a:rPr sz="1200" b="0" i="0" dirty="0" err="1">
                <a:solidFill>
                  <a:srgbClr val="F1F5F9"/>
                </a:solidFill>
                <a:latin typeface="Segoe UI"/>
              </a:rPr>
              <a:t>robots.txt</a:t>
            </a:r>
            <a:r>
              <a:rPr sz="1200" b="0" i="0" dirty="0">
                <a:solidFill>
                  <a:srgbClr val="F1F5F9"/>
                </a:solidFill>
                <a:latin typeface="Segoe UI"/>
              </a:rPr>
              <a:t> (</a:t>
            </a:r>
            <a:r>
              <a:rPr sz="1200" b="0" i="0" dirty="0" err="1">
                <a:solidFill>
                  <a:srgbClr val="F1F5F9"/>
                </a:solidFill>
                <a:latin typeface="Segoe UI"/>
              </a:rPr>
              <a:t>GPTBot</a:t>
            </a:r>
            <a:r>
              <a:rPr sz="1200" b="0" i="0" dirty="0">
                <a:solidFill>
                  <a:srgbClr val="F1F5F9"/>
                </a:solidFill>
                <a:latin typeface="Segoe UI"/>
              </a:rPr>
              <a:t>, OAI-</a:t>
            </a:r>
            <a:r>
              <a:rPr sz="1200" b="0" i="0" dirty="0" err="1">
                <a:solidFill>
                  <a:srgbClr val="F1F5F9"/>
                </a:solidFill>
                <a:latin typeface="Segoe UI"/>
              </a:rPr>
              <a:t>SearchBot</a:t>
            </a:r>
            <a:r>
              <a:rPr sz="1200" b="0" i="0" dirty="0">
                <a:solidFill>
                  <a:srgbClr val="F1F5F9"/>
                </a:solidFill>
                <a:latin typeface="Segoe UI"/>
              </a:rPr>
              <a:t>, </a:t>
            </a:r>
            <a:r>
              <a:rPr sz="1200" b="0" i="0" dirty="0" err="1">
                <a:solidFill>
                  <a:srgbClr val="F1F5F9"/>
                </a:solidFill>
                <a:latin typeface="Segoe UI"/>
              </a:rPr>
              <a:t>PerplexityBot</a:t>
            </a:r>
            <a:r>
              <a:rPr sz="1200" b="0" i="0" dirty="0">
                <a:solidFill>
                  <a:srgbClr val="F1F5F9"/>
                </a:solidFill>
                <a:latin typeface="Segoe UI"/>
              </a:rPr>
              <a:t>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319272"/>
            <a:ext cx="329184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Segoe UI"/>
              </a:rPr>
              <a:t>▸  Ship Product + Offer + AggregateRating + FAQPage JSON-LD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187952"/>
            <a:ext cx="329184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Segoe UI"/>
              </a:rPr>
              <a:t>▸  Submit feeds: Merchant Program + Google Shopping; GTIN everywhere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056631"/>
            <a:ext cx="329184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Segoe UI"/>
              </a:rPr>
              <a:t>▸  Baseline: run 50 category prompts across 4 engines, log who gets cited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5112" y="1783080"/>
            <a:ext cx="3611880" cy="4160520"/>
          </a:xfrm>
          <a:prstGeom prst="roundRect">
            <a:avLst/>
          </a:prstGeom>
          <a:solidFill>
            <a:srgbClr val="1B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5" name="Rectangle 14"/>
          <p:cNvSpPr/>
          <p:nvPr/>
        </p:nvSpPr>
        <p:spPr>
          <a:xfrm>
            <a:off x="4325112" y="1783080"/>
            <a:ext cx="3611880" cy="50292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6" name="TextBox 15"/>
          <p:cNvSpPr txBox="1"/>
          <p:nvPr/>
        </p:nvSpPr>
        <p:spPr>
          <a:xfrm>
            <a:off x="4507992" y="1856231"/>
            <a:ext cx="329184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060B16"/>
                </a:solidFill>
                <a:latin typeface="Segoe UI"/>
              </a:rPr>
              <a:t>DAYS 31–60 · CONSENSUS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2450592"/>
            <a:ext cx="329184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dirty="0">
                <a:solidFill>
                  <a:srgbClr val="F1F5F9"/>
                </a:solidFill>
                <a:latin typeface="Segoe UI"/>
              </a:rPr>
              <a:t>▸  Seed reviews: G2/Trustpilot/Amazon target the 3.6× review delta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7992" y="3319272"/>
            <a:ext cx="329184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Segoe UI"/>
              </a:rPr>
              <a:t>▸  Refresh editorial roundups &amp; comparison pages with dated, structured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7992" y="4187952"/>
            <a:ext cx="329184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Segoe UI"/>
              </a:rPr>
              <a:t>▸  Answer 10 real Reddit/forum threads weekly — where your buyers ask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07992" y="5056631"/>
            <a:ext cx="329184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Segoe UI"/>
              </a:rPr>
              <a:t>▸  Publish llms.txt + canonical pricing pages to kill hallucinations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47304" y="1783080"/>
            <a:ext cx="3611880" cy="4160520"/>
          </a:xfrm>
          <a:prstGeom prst="roundRect">
            <a:avLst/>
          </a:prstGeom>
          <a:solidFill>
            <a:srgbClr val="1B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2" name="Rectangle 21"/>
          <p:cNvSpPr/>
          <p:nvPr/>
        </p:nvSpPr>
        <p:spPr>
          <a:xfrm>
            <a:off x="8147304" y="1783080"/>
            <a:ext cx="3611880" cy="50292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3" name="TextBox 22"/>
          <p:cNvSpPr txBox="1"/>
          <p:nvPr/>
        </p:nvSpPr>
        <p:spPr>
          <a:xfrm>
            <a:off x="8330183" y="1856231"/>
            <a:ext cx="329184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060B16"/>
                </a:solidFill>
                <a:latin typeface="Segoe UI"/>
              </a:rPr>
              <a:t>DAYS 61–90 · MEASURE &amp; DEFEND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0183" y="2450592"/>
            <a:ext cx="329184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Segoe UI"/>
              </a:rPr>
              <a:t>▸  Stand up prompt-level tracking: % recommended, share of agent-mind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0183" y="3319272"/>
            <a:ext cx="329184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Segoe UI"/>
              </a:rPr>
              <a:t>▸  Segment AI referrals in GA4; add ‘heard about you via AI’ to checkout survey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0183" y="4187952"/>
            <a:ext cx="329184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Segoe UI"/>
              </a:rPr>
              <a:t>▸  Draft agent-readiness of loyalty: points/tiers as queryable API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0183" y="5056631"/>
            <a:ext cx="329184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Segoe UI"/>
              </a:rPr>
              <a:t>▸  Stress-test the creepiness line (Week 2, p34) before scaling personalisation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73952"/>
            <a:ext cx="96012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Segoe UI"/>
              </a:rPr>
              <a:t>Future of Commerce · BBA — Deep Dive: The Shift from SEO to AEO/GEO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 i="0">
                <a:solidFill>
                  <a:srgbClr val="94A3B8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822960"/>
          </a:xfrm>
          <a:prstGeom prst="rect">
            <a:avLst/>
          </a:prstGeom>
          <a:solidFill>
            <a:srgbClr val="A3E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A3E635"/>
                </a:solidFill>
                <a:latin typeface="Segoe UI"/>
              </a:rPr>
              <a:t>15 · DISCUSSION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03504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F1F5F9"/>
                </a:solidFill>
                <a:latin typeface="Segoe UI"/>
              </a:rPr>
              <a:t>Win the answer: the Maya prompt audit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170432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  <a:latin typeface="Segoe UI"/>
              </a:rPr>
              <a:t>Teams of 3 · 25 minutes · extends the Week 3 ‘Design the approval gate’ activity.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11201400" cy="1371600"/>
          </a:xfrm>
          <a:prstGeom prst="roundRect">
            <a:avLst/>
          </a:prstGeom>
          <a:solidFill>
            <a:srgbClr val="1B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92024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A3E635"/>
                </a:solidFill>
                <a:latin typeface="Segoe UI"/>
              </a:rPr>
              <a:t>THE BRIEF</a:t>
            </a:r>
          </a:p>
          <a:p>
            <a:pPr algn="l"/>
            <a:r>
              <a:rPr sz="1400" b="1" i="1">
                <a:solidFill>
                  <a:srgbClr val="F1F5F9"/>
                </a:solidFill>
                <a:latin typeface="Segoe UI"/>
              </a:rPr>
              <a:t>Maya asks ChatGPT: “I'm training for a half-marathon, flat feet, budget £130 — which running shoes should I buy, and where's cheapest near Shoreditch?”</a:t>
            </a:r>
          </a:p>
          <a:p>
            <a:pPr algn="l"/>
            <a:r>
              <a:rPr sz="1150" b="0" i="0">
                <a:solidFill>
                  <a:srgbClr val="94A3B8"/>
                </a:solidFill>
                <a:latin typeface="Segoe UI"/>
              </a:rPr>
              <a:t>Your team represents ONE brand. Run the audit, then redesign your presence to win the citation.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429000"/>
            <a:ext cx="2697480" cy="2377440"/>
          </a:xfrm>
          <a:prstGeom prst="roundRect">
            <a:avLst/>
          </a:prstGeom>
          <a:solidFill>
            <a:srgbClr val="1B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3429000"/>
            <a:ext cx="2697480" cy="6400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" y="356616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2DD4BF"/>
                </a:solidFill>
                <a:latin typeface="Segoe UI"/>
              </a:rPr>
              <a:t>1 · RUN THE PROMPT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3950208"/>
            <a:ext cx="2395728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F1F5F9"/>
                </a:solidFill>
                <a:latin typeface="Segoe UI"/>
              </a:rPr>
              <a:t>Actually prompt 2 AI engines with Maya's question. Who gets cited? Who is invisible? Screenshot the answers.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55848" y="3429000"/>
            <a:ext cx="2697480" cy="2377440"/>
          </a:xfrm>
          <a:prstGeom prst="roundRect">
            <a:avLst/>
          </a:prstGeom>
          <a:solidFill>
            <a:srgbClr val="1B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55848" y="3429000"/>
            <a:ext cx="2697480" cy="6400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20440" y="356616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  <a:latin typeface="Segoe UI"/>
              </a:rPr>
              <a:t>2 · DIAGNOSE THE GAP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3950208"/>
            <a:ext cx="2395728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F1F5F9"/>
                </a:solidFill>
                <a:latin typeface="Segoe UI"/>
              </a:rPr>
              <a:t>For one invisible brand: which stack layer failed — Truth, Structure, or Consensus? Point to the evidence.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8776" y="3429000"/>
            <a:ext cx="2697480" cy="2377440"/>
          </a:xfrm>
          <a:prstGeom prst="roundRect">
            <a:avLst/>
          </a:prstGeom>
          <a:solidFill>
            <a:srgbClr val="1B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08776" y="3429000"/>
            <a:ext cx="2697480" cy="6400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73368" y="356616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A78BFA"/>
                </a:solidFill>
                <a:latin typeface="Segoe UI"/>
              </a:rPr>
              <a:t>3 · REWRITE ONE ASSET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3950208"/>
            <a:ext cx="2395728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F1F5F9"/>
                </a:solidFill>
                <a:latin typeface="Segoe UI"/>
              </a:rPr>
              <a:t>Pick their PDP or a roundup page and rewrite it to AEO/GEO standard: schema, consensus, dated, extractable.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61704" y="3429000"/>
            <a:ext cx="2697480" cy="2377440"/>
          </a:xfrm>
          <a:prstGeom prst="roundRect">
            <a:avLst/>
          </a:prstGeom>
          <a:solidFill>
            <a:srgbClr val="1B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61704" y="3429000"/>
            <a:ext cx="2697480" cy="640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26296" y="356616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Segoe UI"/>
              </a:rPr>
              <a:t>4 · PITCH THE ANSWER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26296" y="3950208"/>
            <a:ext cx="2395728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F1F5F9"/>
                </a:solidFill>
                <a:latin typeface="Segoe UI"/>
              </a:rPr>
              <a:t>90 seconds: why your redesign would now win the citation — and which metric proves it in 90 days.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035040"/>
            <a:ext cx="11155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A3E635"/>
                </a:solidFill>
                <a:latin typeface="Segoe UI"/>
              </a:rPr>
              <a:t>Completion criteria: prompt screenshots · one gap diagnosis · one rewritten asset · one proof metric · 90-second pitch.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Future of Commerce · BBA — Deep Dive: The Shift from SEO to AEO/GEO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94A3B8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82296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2DD4BF"/>
                </a:solidFill>
                <a:latin typeface="Segoe UI"/>
              </a:rPr>
              <a:t>16 ·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03504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F1F5F9"/>
                </a:solidFill>
                <a:latin typeface="Segoe UI"/>
              </a:rPr>
              <a:t>Five takeaways for the answer-engine era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170432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  <a:latin typeface="Segoe UI"/>
              </a:rPr>
              <a:t>And the bridge back to Thread 04: visibility is no longer bought in auctions — it's earned in consensus.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11201400" cy="777240"/>
          </a:xfrm>
          <a:prstGeom prst="roundRect">
            <a:avLst/>
          </a:prstGeom>
          <a:solidFill>
            <a:srgbClr val="1B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737360"/>
            <a:ext cx="91440" cy="77724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810512"/>
            <a:ext cx="3566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2DD4BF"/>
                </a:solidFill>
                <a:latin typeface="Segoe UI"/>
              </a:rPr>
              <a:t>1 · Clicks were the unit; mentions 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810512"/>
            <a:ext cx="704088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Segoe UI"/>
              </a:rPr>
              <a:t>37% of discovery starts in AI interfaces. If the answer doesn't cite you, you were never considered.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633472"/>
            <a:ext cx="11201400" cy="777240"/>
          </a:xfrm>
          <a:prstGeom prst="roundRect">
            <a:avLst/>
          </a:prstGeom>
          <a:solidFill>
            <a:srgbClr val="1B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" y="2633472"/>
            <a:ext cx="91440" cy="77724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2706624"/>
            <a:ext cx="3566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egoe UI"/>
              </a:rPr>
              <a:t>2 · Consensus beats optimisation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706624"/>
            <a:ext cx="704088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Segoe UI"/>
              </a:rPr>
              <a:t>51.7% of citations go to machine-readable brand sites; independent validation multiplies trust. GEO is earned media at machine speed.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529584"/>
            <a:ext cx="11201400" cy="777240"/>
          </a:xfrm>
          <a:prstGeom prst="roundRect">
            <a:avLst/>
          </a:prstGeom>
          <a:solidFill>
            <a:srgbClr val="1B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02920" y="3529584"/>
            <a:ext cx="91440" cy="77724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3602736"/>
            <a:ext cx="3566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  <a:latin typeface="Segoe UI"/>
              </a:rPr>
              <a:t>3 · The set expands, the funnel dies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3602736"/>
            <a:ext cx="704088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Segoe UI"/>
              </a:rPr>
              <a:t>Agents industrialise curation — new entrants get poached in, loyal brands get switched out (37%). Post-purchase excellence now trains the machine gatekeeper.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425696"/>
            <a:ext cx="11201400" cy="777240"/>
          </a:xfrm>
          <a:prstGeom prst="roundRect">
            <a:avLst/>
          </a:prstGeom>
          <a:solidFill>
            <a:srgbClr val="1B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02920" y="4425696"/>
            <a:ext cx="91440" cy="7772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" y="4498848"/>
            <a:ext cx="3566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Segoe UI"/>
              </a:rPr>
              <a:t>4 · Loyalty must be an 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4498848"/>
            <a:ext cx="704088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Segoe UI"/>
              </a:rPr>
              <a:t>Benefits the agent can't query don't exist. Expose points, tiers and member prices — before Visa &amp; Mastercard's rails disintermediate you.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321808"/>
            <a:ext cx="11201400" cy="777240"/>
          </a:xfrm>
          <a:prstGeom prst="roundRect">
            <a:avLst/>
          </a:prstGeom>
          <a:solidFill>
            <a:srgbClr val="1B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02920" y="5321808"/>
            <a:ext cx="91440" cy="777240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7240" y="5394960"/>
            <a:ext cx="3566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B7185"/>
                </a:solidFill>
                <a:latin typeface="Segoe UI"/>
              </a:rPr>
              <a:t>5 · Measure the answer, not the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5394960"/>
            <a:ext cx="704088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Segoe UI"/>
              </a:rPr>
              <a:t>% recommended · share of agent-mind · answer accuracy · zero-regret rate. Attribution ≠ causation — flag every number with its evidence grade.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73952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Future of Commerce · BBA — Deep Dive: The Shift from SEO to AEO/GEO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9284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94A3B8"/>
                </a:solidFill>
                <a:latin typeface="Segoe UI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2949</Words>
  <Application>Microsoft Macintosh PowerPoint</Application>
  <PresentationFormat>Widescreen</PresentationFormat>
  <Paragraphs>327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Nikhil Soi</cp:lastModifiedBy>
  <cp:revision>24</cp:revision>
  <dcterms:created xsi:type="dcterms:W3CDTF">2013-01-27T09:14:16Z</dcterms:created>
  <dcterms:modified xsi:type="dcterms:W3CDTF">2026-09-30T09:51:15Z</dcterms:modified>
  <cp:category/>
</cp:coreProperties>
</file>