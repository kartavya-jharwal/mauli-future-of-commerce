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charts/chart10_1.xml" ContentType="application/vnd.openxmlformats-officedocument.drawingml.chart+xml"/>
  <Override PartName="/ppt/charts/chart26_1.xml" ContentType="application/vnd.openxmlformats-officedocument.drawingml.chart+xml"/>
  <Override PartName="/ppt/charts/chart28_1.xml" ContentType="application/vnd.openxmlformats-officedocument.drawingml.chart+xml"/>
  <Override PartName="/ppt/charts/chart29_1.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Lst>
  <p:sldSz cx="12192000" cy="6858000" type="custom"/>
  <p:notesSz cx="12192000" cy="6858000"/>
  <p:embeddedFontLst>
    <p:embeddedFont>
      <p:font typeface="Quattrocento Sans" charset="-122" pitchFamily="34"/>
      <p:regular r:id="rId47"/>
    </p:embeddedFont>
    <p:embeddedFont>
      <p:font typeface="Unna" charset="-122" pitchFamily="34"/>
      <p:regular r:id="rId4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font" Target="fonts/font1.fntdata"/><Relationship Id="rId48" Type="http://schemas.openxmlformats.org/officeDocument/2006/relationships/font" Target="fonts/font2.fntdata"/><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ableStyles" Target="tableStyles.xml"/></Relationships>
</file>

<file path=ppt/charts/chart10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Global retail e-commerce sales, $ trillion</c:v>
          </c:tx>
          <c:spPr>
            <a:solidFill>
              <a:srgbClr val="175E54"/>
            </a:solidFill>
          </c:spPr>
          <c:dLbls>
            <c:numFmt formatCode="0.0" sourceLinked="0"/>
            <c:txPr>
              <a:bodyPr/>
              <a:lstStyle/>
              <a:p>
                <a:pPr>
                  <a:defRPr sz="1000" noProof="1" b="0" i="0" u="none" strike="noStrike">
                    <a:solidFill>
                      <a:srgbClr val="23272E"/>
                    </a:solidFill>
                    <a:latin typeface="Arial"/>
                  </a:defRPr>
                </a:pPr>
                <a:endParaRPr lang="en-US" noProof="1"/>
              </a:p>
            </c:txPr>
            <c:dLblPos val="ctr"/>
            <c:showLegendKey val="0"/>
            <c:showVal val="1"/>
            <c:showCatName val="0"/>
            <c:showSerName val="0"/>
            <c:showPercent val="0"/>
            <c:showBubbleSize val="0"/>
          </c:dLbls>
          <c:cat>
            <c:strLit>
              <c:ptCount val="7"/>
              <c:pt idx="0">
                <c:v>2021</c:v>
              </c:pt>
              <c:pt idx="1">
                <c:v>2022</c:v>
              </c:pt>
              <c:pt idx="2">
                <c:v>2023</c:v>
              </c:pt>
              <c:pt idx="3">
                <c:v>2024</c:v>
              </c:pt>
              <c:pt idx="4">
                <c:v>2025</c:v>
              </c:pt>
              <c:pt idx="5">
                <c:v>2026*</c:v>
              </c:pt>
              <c:pt idx="6">
                <c:v>2027*</c:v>
              </c:pt>
            </c:strLit>
          </c:cat>
          <c:val>
            <c:numLit>
              <c:formatCode>General</c:formatCode>
              <c:ptCount val="7"/>
              <c:pt idx="0">
                <c:v>4.98</c:v>
              </c:pt>
              <c:pt idx="1">
                <c:v>5.29</c:v>
              </c:pt>
              <c:pt idx="2">
                <c:v>5.82</c:v>
              </c:pt>
              <c:pt idx="3">
                <c:v>6.33</c:v>
              </c:pt>
              <c:pt idx="4">
                <c:v>6.86</c:v>
              </c:pt>
              <c:pt idx="5">
                <c:v>7.41</c:v>
              </c:pt>
              <c:pt idx="6">
                <c:v>8</c:v>
              </c:pt>
            </c:numLit>
          </c:val>
        </c:ser>
        <c:gapWidth val="56"/>
        <c:overlap val="0"/>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888888"/>
            </a:solidFill>
          </a:ln>
        </c:spPr>
        <c:txPr>
          <a:bodyPr/>
          <a:lstStyle/>
          <a:p>
            <a:pPr>
              <a:defRPr sz="1100" noProof="1" b="0" i="0" u="none" strike="noStrike">
                <a:solidFill>
                  <a:srgbClr val="6E675C"/>
                </a:solidFill>
                <a:latin typeface="Quattrocento Sans"/>
              </a:defRPr>
            </a:pPr>
            <a:endParaRPr lang="en-US" noProof="1"/>
          </a:p>
        </c:txPr>
        <c:crossAx val="2"/>
        <c:crosses val="autoZero"/>
        <c:auto val="1"/>
        <c:lblAlgn val="ctr"/>
        <c:noMultiLvlLbl val="1"/>
      </c:catAx>
      <c:valAx>
        <c:axId val="2"/>
        <c:scaling>
          <c:orientation val="minMax"/>
          <c:max val="9"/>
          <c:min val="0"/>
        </c:scaling>
        <c:delete val="0"/>
        <c:axPos val="l"/>
        <c:majorGridlines>
          <c:spPr>
            <a:ln w="12700">
              <a:solidFill>
                <a:srgbClr val="D9D2C4"/>
              </a:solidFill>
            </a:ln>
          </c:spPr>
        </c:majorGridlines>
        <c:numFmt formatCode="0" sourceLinked="0"/>
        <c:majorTickMark val="out"/>
        <c:minorTickMark val="none"/>
        <c:tickLblPos val="nextTo"/>
        <c:spPr>
          <a:ln w="12700">
            <a:solidFill>
              <a:srgbClr val="888888"/>
            </a:solidFill>
          </a:ln>
        </c:spPr>
        <c:txPr>
          <a:bodyPr/>
          <a:lstStyle/>
          <a:p>
            <a:pPr>
              <a:defRPr sz="1000" noProof="1" b="0" i="0" u="none" strike="noStrike">
                <a:solidFill>
                  <a:srgbClr val="6E675C"/>
                </a:solidFill>
                <a:latin typeface="Quattrocento Sans"/>
              </a:defRPr>
            </a:pPr>
            <a:endParaRPr lang="en-US" noProof="1"/>
          </a:p>
        </c:txPr>
        <c:crossAx val="1"/>
        <c:crosses val="autoZero"/>
        <c:crossBetween val="between"/>
      </c:valAx>
      <c:spPr>
        <a:noFill/>
        <a:ln>
          <a:noFill/>
        </a:ln>
      </c:spPr>
    </c:plotArea>
    <c:plotVisOnly val="1"/>
    <c:dispBlanksAs val="gap"/>
  </c:chart>
  <c:spPr>
    <a:noFill/>
    <a:ln>
      <a:noFill/>
    </a:ln>
  </c:spPr>
  <c:txPr>
    <a:bodyPr/>
    <a:lstStyle/>
    <a:p>
      <a:pPr>
        <a:defRPr noProof="1" b="0" i="0" u="none" strike="noStrike">
          <a:latin typeface="Quattrocento Sans"/>
        </a:defRPr>
      </a:pPr>
      <a:endParaRPr lang="en-US" noProof="1"/>
    </a:p>
  </c:txPr>
</c:chartSpace>
</file>

<file path=ppt/charts/chart26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Share of population (%)</c:v>
          </c:tx>
          <c:spPr>
            <a:solidFill>
              <a:srgbClr val="175E54"/>
            </a:solidFill>
          </c:spPr>
          <c:dLbls>
            <c:numFmt formatCode="0.0" sourceLinked="0"/>
            <c:txPr>
              <a:bodyPr/>
              <a:lstStyle/>
              <a:p>
                <a:pPr>
                  <a:defRPr sz="1000" noProof="1" b="0" i="0" u="none" strike="noStrike">
                    <a:solidFill>
                      <a:srgbClr val="23272E"/>
                    </a:solidFill>
                    <a:latin typeface="Arial"/>
                  </a:defRPr>
                </a:pPr>
                <a:endParaRPr lang="en-US" noProof="1"/>
              </a:p>
            </c:txPr>
            <c:dLblPos val="ctr"/>
            <c:showLegendKey val="0"/>
            <c:showVal val="1"/>
            <c:showCatName val="0"/>
            <c:showSerName val="0"/>
            <c:showPercent val="0"/>
            <c:showBubbleSize val="0"/>
          </c:dLbls>
          <c:cat>
            <c:strLit>
              <c:ptCount val="5"/>
              <c:pt idx="0">
                <c:v>Innovators</c:v>
              </c:pt>
              <c:pt idx="1">
                <c:v>Early adopters</c:v>
              </c:pt>
              <c:pt idx="2">
                <c:v>Early majority</c:v>
              </c:pt>
              <c:pt idx="3">
                <c:v>Late majority</c:v>
              </c:pt>
              <c:pt idx="4">
                <c:v>Laggards</c:v>
              </c:pt>
            </c:strLit>
          </c:cat>
          <c:val>
            <c:numLit>
              <c:formatCode>General</c:formatCode>
              <c:ptCount val="5"/>
              <c:pt idx="0">
                <c:v>2.5</c:v>
              </c:pt>
              <c:pt idx="1">
                <c:v>13.5</c:v>
              </c:pt>
              <c:pt idx="2">
                <c:v>34</c:v>
              </c:pt>
              <c:pt idx="3">
                <c:v>34</c:v>
              </c:pt>
              <c:pt idx="4">
                <c:v>16</c:v>
              </c:pt>
            </c:numLit>
          </c:val>
        </c:ser>
        <c:gapWidth val="56"/>
        <c:overlap val="0"/>
        <c:axId val="1"/>
        <c:axId val="2"/>
      </c:barChart>
      <c:lineChart>
        <c:grouping val="standard"/>
        <c:varyColors val="0"/>
        <c:ser>
          <c:idx val="1"/>
          <c:order val="1"/>
          <c:tx>
            <c:v>Cumulative adoption — the S-curve (%)</c:v>
          </c:tx>
          <c:spPr>
            <a:solidFill>
              <a:srgbClr val="BC4B26"/>
            </a:solidFill>
            <a:ln w="25400">
              <a:solidFill>
                <a:srgbClr val="BC4B26"/>
              </a:solidFill>
            </a:ln>
          </c:spPr>
          <c:marker>
            <c:symbol val="circle"/>
            <c:size val="6"/>
            <c:spPr>
              <a:solidFill>
                <a:srgbClr val="BC4B26"/>
              </a:solidFill>
              <a:ln w="25400">
                <a:solidFill>
                  <a:srgbClr val="BC4B26"/>
                </a:solidFill>
              </a:ln>
            </c:spPr>
          </c:marker>
          <c:cat>
            <c:strLit>
              <c:ptCount val="5"/>
              <c:pt idx="0">
                <c:v>Innovators</c:v>
              </c:pt>
              <c:pt idx="1">
                <c:v>Early adopters</c:v>
              </c:pt>
              <c:pt idx="2">
                <c:v>Early majority</c:v>
              </c:pt>
              <c:pt idx="3">
                <c:v>Late majority</c:v>
              </c:pt>
              <c:pt idx="4">
                <c:v>Laggards</c:v>
              </c:pt>
            </c:strLit>
          </c:cat>
          <c:val>
            <c:numLit>
              <c:formatCode>General</c:formatCode>
              <c:ptCount val="5"/>
              <c:pt idx="0">
                <c:v>2.5</c:v>
              </c:pt>
              <c:pt idx="1">
                <c:v>16</c:v>
              </c:pt>
              <c:pt idx="2">
                <c:v>50</c:v>
              </c:pt>
              <c:pt idx="3">
                <c:v>84</c:v>
              </c:pt>
              <c:pt idx="4">
                <c:v>100</c:v>
              </c:pt>
            </c:numLit>
          </c:val>
          <c:smooth val="1"/>
        </c:ser>
        <c:axId val="1"/>
        <c:axId val="3"/>
      </c:line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888888"/>
            </a:solidFill>
          </a:ln>
        </c:spPr>
        <c:txPr>
          <a:bodyPr/>
          <a:lstStyle/>
          <a:p>
            <a:pPr>
              <a:defRPr sz="1000" noProof="1" b="0" i="0" u="none" strike="noStrike">
                <a:solidFill>
                  <a:srgbClr val="6E675C"/>
                </a:solidFill>
                <a:latin typeface="Quattrocento Sans"/>
              </a:defRPr>
            </a:pPr>
            <a:endParaRPr lang="en-US" noProof="1"/>
          </a:p>
        </c:txPr>
        <c:crossAx val="2"/>
        <c:crosses val="autoZero"/>
        <c:auto val="1"/>
        <c:lblAlgn val="ctr"/>
        <c:noMultiLvlLbl val="1"/>
      </c:catAx>
      <c:valAx>
        <c:axId val="2"/>
        <c:scaling>
          <c:orientation val="minMax"/>
          <c:max val="40"/>
          <c:min val="0"/>
        </c:scaling>
        <c:delete val="0"/>
        <c:axPos val="l"/>
        <c:majorGridlines>
          <c:spPr>
            <a:ln w="12700">
              <a:solidFill>
                <a:srgbClr val="D9D2C4"/>
              </a:solidFill>
            </a:ln>
          </c:spPr>
        </c:majorGridlines>
        <c:numFmt formatCode="0" sourceLinked="0"/>
        <c:majorTickMark val="out"/>
        <c:minorTickMark val="none"/>
        <c:tickLblPos val="nextTo"/>
        <c:spPr>
          <a:ln w="12700">
            <a:solidFill>
              <a:srgbClr val="888888"/>
            </a:solidFill>
          </a:ln>
        </c:spPr>
        <c:txPr>
          <a:bodyPr/>
          <a:lstStyle/>
          <a:p>
            <a:pPr>
              <a:defRPr sz="1000" noProof="1" b="0" i="0" u="none" strike="noStrike">
                <a:solidFill>
                  <a:srgbClr val="6E675C"/>
                </a:solidFill>
                <a:latin typeface="Quattrocento Sans"/>
              </a:defRPr>
            </a:pPr>
            <a:endParaRPr lang="en-US" noProof="1"/>
          </a:p>
        </c:txPr>
        <c:crossAx val="1"/>
        <c:crosses val="autoZero"/>
        <c:crossBetween val="between"/>
      </c:valAx>
      <c:valAx>
        <c:axId val="3"/>
        <c:scaling>
          <c:orientation val="minMax"/>
          <c:max val="100"/>
          <c:min val="0"/>
        </c:scaling>
        <c:delete val="0"/>
        <c:axPos val="r"/>
        <c:majorGridlines>
          <c:spPr>
            <a:ln>
              <a:noFill/>
            </a:ln>
          </c:spPr>
        </c:majorGridlines>
        <c:numFmt formatCode="0" sourceLinked="0"/>
        <c:majorTickMark val="out"/>
        <c:minorTickMark val="none"/>
        <c:tickLblPos val="nextTo"/>
        <c:spPr>
          <a:ln w="12700">
            <a:solidFill>
              <a:srgbClr val="888888"/>
            </a:solidFill>
          </a:ln>
        </c:spPr>
        <c:txPr>
          <a:bodyPr/>
          <a:lstStyle/>
          <a:p>
            <a:pPr>
              <a:defRPr sz="1000" noProof="1" b="0" i="0" u="none" strike="noStrike">
                <a:solidFill>
                  <a:srgbClr val="6E675C"/>
                </a:solidFill>
                <a:latin typeface="Quattrocento Sans"/>
              </a:defRPr>
            </a:pPr>
            <a:endParaRPr lang="en-US" noProof="1"/>
          </a:p>
        </c:txPr>
        <c:crossAx val="1"/>
        <c:crosses val="max"/>
        <c:crossBetween val="between"/>
      </c:valAx>
      <c:spPr>
        <a:noFill/>
        <a:ln>
          <a:noFill/>
        </a:ln>
      </c:spPr>
    </c:plotArea>
    <c:legend>
      <c:legendPos val="b"/>
      <c:layout/>
      <c:overlay val="0"/>
      <c:txPr>
        <a:bodyPr/>
        <a:lstStyle/>
        <a:p>
          <a:pPr>
            <a:defRPr sz="1000" noProof="1" b="0" i="0" u="none" strike="noStrike">
              <a:solidFill>
                <a:srgbClr val="6E675C"/>
              </a:solidFill>
              <a:latin typeface="Quattrocento Sans"/>
            </a:defRPr>
          </a:pPr>
          <a:endParaRPr lang="en-US" noProof="1"/>
        </a:p>
      </c:txPr>
    </c:legend>
    <c:plotVisOnly val="1"/>
    <c:dispBlanksAs val="gap"/>
  </c:chart>
  <c:spPr>
    <a:noFill/>
    <a:ln>
      <a:noFill/>
    </a:ln>
  </c:spPr>
  <c:txPr>
    <a:bodyPr/>
    <a:lstStyle/>
    <a:p>
      <a:pPr>
        <a:defRPr noProof="1" b="0" i="0" u="none" strike="noStrike">
          <a:latin typeface="Quattrocento Sans"/>
        </a:defRPr>
      </a:pPr>
      <a:endParaRPr lang="en-US" noProof="1"/>
    </a:p>
  </c:txPr>
</c:chartSpace>
</file>

<file path=ppt/charts/chart28_1.xml><?xml version="1.0" encoding="utf-8"?>
<c:chartSpace xmlns:c="http://schemas.openxmlformats.org/drawingml/2006/chart" xmlns:a="http://schemas.openxmlformats.org/drawingml/2006/main" xmlns:r="http://schemas.openxmlformats.org/officeDocument/2006/relationships">
  <c:date1904 val="0"/>
  <c:chart>
    <c:plotArea>
      <c:layout/>
      <c:lineChart>
        <c:grouping val="standard"/>
        <c:varyColors val="0"/>
        <c:ser>
          <c:idx val="0"/>
          <c:order val="0"/>
          <c:tx>
            <c:v>E-commerce % of total US retail</c:v>
          </c:tx>
          <c:spPr>
            <a:solidFill>
              <a:srgbClr val="175E54"/>
            </a:solidFill>
            <a:ln w="38100">
              <a:solidFill>
                <a:srgbClr val="175E54"/>
              </a:solidFill>
            </a:ln>
          </c:spPr>
          <c:marker>
            <c:symbol val="circle"/>
            <c:size val="6"/>
            <c:spPr>
              <a:solidFill>
                <a:srgbClr val="175E54"/>
              </a:solidFill>
              <a:ln w="38100">
                <a:solidFill>
                  <a:srgbClr val="175E54"/>
                </a:solidFill>
              </a:ln>
            </c:spPr>
          </c:marker>
          <c:dLbls>
            <c:numFmt formatCode="0.0" sourceLinked="0"/>
            <c:txPr>
              <a:bodyPr/>
              <a:lstStyle/>
              <a:p>
                <a:pPr>
                  <a:defRPr sz="900" noProof="1" b="0" i="0" u="none" strike="noStrike">
                    <a:solidFill>
                      <a:srgbClr val="6E675C"/>
                    </a:solidFill>
                    <a:latin typeface="Arial"/>
                  </a:defRPr>
                </a:pPr>
                <a:endParaRPr lang="en-US" noProof="1"/>
              </a:p>
            </c:txPr>
            <c:showLegendKey val="0"/>
            <c:showVal val="1"/>
            <c:showCatName val="0"/>
            <c:showSerName val="0"/>
            <c:showPercent val="0"/>
            <c:showBubbleSize val="0"/>
          </c:dLbls>
          <c:cat>
            <c:strLit>
              <c:ptCount val="12"/>
              <c:pt idx="0">
                <c:v>2013</c:v>
              </c:pt>
              <c:pt idx="1">
                <c:v>2014</c:v>
              </c:pt>
              <c:pt idx="2">
                <c:v>2015</c:v>
              </c:pt>
              <c:pt idx="3">
                <c:v>2016</c:v>
              </c:pt>
              <c:pt idx="4">
                <c:v>2017</c:v>
              </c:pt>
              <c:pt idx="5">
                <c:v>2018</c:v>
              </c:pt>
              <c:pt idx="6">
                <c:v>2019</c:v>
              </c:pt>
              <c:pt idx="7">
                <c:v>2020</c:v>
              </c:pt>
              <c:pt idx="8">
                <c:v>2021</c:v>
              </c:pt>
              <c:pt idx="9">
                <c:v>2022</c:v>
              </c:pt>
              <c:pt idx="10">
                <c:v>2023</c:v>
              </c:pt>
              <c:pt idx="11">
                <c:v>2024</c:v>
              </c:pt>
            </c:strLit>
          </c:cat>
          <c:val>
            <c:numLit>
              <c:formatCode>General</c:formatCode>
              <c:ptCount val="12"/>
              <c:pt idx="0">
                <c:v>5.9</c:v>
              </c:pt>
              <c:pt idx="1">
                <c:v>6.5</c:v>
              </c:pt>
              <c:pt idx="2">
                <c:v>7.1</c:v>
              </c:pt>
              <c:pt idx="3">
                <c:v>7.9</c:v>
              </c:pt>
              <c:pt idx="4">
                <c:v>8.8</c:v>
              </c:pt>
              <c:pt idx="5">
                <c:v>9.6</c:v>
              </c:pt>
              <c:pt idx="6">
                <c:v>10.6</c:v>
              </c:pt>
              <c:pt idx="7">
                <c:v>14.5</c:v>
              </c:pt>
              <c:pt idx="8">
                <c:v>14.6</c:v>
              </c:pt>
              <c:pt idx="9">
                <c:v>14.4</c:v>
              </c:pt>
              <c:pt idx="10">
                <c:v>15.3</c:v>
              </c:pt>
              <c:pt idx="11">
                <c:v>16.1</c:v>
              </c:pt>
            </c:numLit>
          </c:val>
          <c:smooth val="0"/>
        </c:ser>
        <c:axId val="1"/>
        <c:axId val="2"/>
      </c:line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888888"/>
            </a:solidFill>
          </a:ln>
        </c:spPr>
        <c:txPr>
          <a:bodyPr/>
          <a:lstStyle/>
          <a:p>
            <a:pPr>
              <a:defRPr sz="1000" noProof="1" b="0" i="0" u="none" strike="noStrike">
                <a:solidFill>
                  <a:srgbClr val="6E675C"/>
                </a:solidFill>
                <a:latin typeface="Quattrocento Sans"/>
              </a:defRPr>
            </a:pPr>
            <a:endParaRPr lang="en-US" noProof="1"/>
          </a:p>
        </c:txPr>
        <c:crossAx val="2"/>
        <c:crosses val="autoZero"/>
        <c:auto val="1"/>
        <c:lblAlgn val="ctr"/>
        <c:noMultiLvlLbl val="1"/>
      </c:catAx>
      <c:valAx>
        <c:axId val="2"/>
        <c:scaling>
          <c:orientation val="minMax"/>
          <c:max val="18"/>
          <c:min val="0"/>
        </c:scaling>
        <c:delete val="0"/>
        <c:axPos val="l"/>
        <c:majorGridlines>
          <c:spPr>
            <a:ln w="12700">
              <a:solidFill>
                <a:srgbClr val="D9D2C4"/>
              </a:solidFill>
            </a:ln>
          </c:spPr>
        </c:majorGridlines>
        <c:numFmt formatCode="0" sourceLinked="0"/>
        <c:majorTickMark val="out"/>
        <c:minorTickMark val="none"/>
        <c:tickLblPos val="nextTo"/>
        <c:spPr>
          <a:ln w="12700">
            <a:solidFill>
              <a:srgbClr val="888888"/>
            </a:solidFill>
          </a:ln>
        </c:spPr>
        <c:txPr>
          <a:bodyPr/>
          <a:lstStyle/>
          <a:p>
            <a:pPr>
              <a:defRPr sz="1000" noProof="1" b="0" i="0" u="none" strike="noStrike">
                <a:solidFill>
                  <a:srgbClr val="6E675C"/>
                </a:solidFill>
                <a:latin typeface="Quattrocento Sans"/>
              </a:defRPr>
            </a:pPr>
            <a:endParaRPr lang="en-US" noProof="1"/>
          </a:p>
        </c:txPr>
        <c:crossAx val="1"/>
        <c:crosses val="autoZero"/>
        <c:crossBetween val="between"/>
      </c:valAx>
      <c:spPr>
        <a:noFill/>
        <a:ln>
          <a:noFill/>
        </a:ln>
      </c:spPr>
    </c:plotArea>
    <c:plotVisOnly val="1"/>
    <c:dispBlanksAs val="gap"/>
  </c:chart>
  <c:spPr>
    <a:noFill/>
    <a:ln>
      <a:noFill/>
    </a:ln>
  </c:spPr>
  <c:txPr>
    <a:bodyPr/>
    <a:lstStyle/>
    <a:p>
      <a:pPr>
        <a:defRPr noProof="1" b="0" i="0" u="none" strike="noStrike">
          <a:latin typeface="Quattrocento Sans"/>
        </a:defRPr>
      </a:pPr>
      <a:endParaRPr lang="en-US" noProof="1"/>
    </a:p>
  </c:txPr>
</c:chartSpace>
</file>

<file path=ppt/charts/chart29_1.xml><?xml version="1.0" encoding="utf-8"?>
<c:chartSpace xmlns:c="http://schemas.openxmlformats.org/drawingml/2006/chart" xmlns:a="http://schemas.openxmlformats.org/drawingml/2006/main" xmlns:r="http://schemas.openxmlformats.org/officeDocument/2006/relationships">
  <c:date1904 val="0"/>
  <c:chart>
    <c:plotArea>
      <c:layout/>
      <c:barChart>
        <c:barDir val="bar"/>
        <c:grouping val="clustered"/>
        <c:varyColors val="0"/>
        <c:ser>
          <c:idx val="0"/>
          <c:order val="0"/>
          <c:tx>
            <c:v>Mobile share (%)</c:v>
          </c:tx>
          <c:spPr>
            <a:solidFill>
              <a:srgbClr val="175E54"/>
            </a:solidFill>
          </c:spPr>
          <c:dLbls>
            <c:numFmt formatCode="0" sourceLinked="0"/>
            <c:txPr>
              <a:bodyPr/>
              <a:lstStyle/>
              <a:p>
                <a:pPr>
                  <a:defRPr sz="1100" noProof="1" b="0" i="0" u="none" strike="noStrike">
                    <a:solidFill>
                      <a:srgbClr val="23272E"/>
                    </a:solidFill>
                    <a:latin typeface="Arial"/>
                  </a:defRPr>
                </a:pPr>
                <a:endParaRPr lang="en-US" noProof="1"/>
              </a:p>
            </c:txPr>
            <c:dLblPos val="ctr"/>
            <c:showLegendKey val="0"/>
            <c:showVal val="1"/>
            <c:showCatName val="0"/>
            <c:showSerName val="0"/>
            <c:showPercent val="0"/>
            <c:showBubbleSize val="0"/>
          </c:dLbls>
          <c:cat>
            <c:strLit>
              <c:ptCount val="4"/>
              <c:pt idx="0">
                <c:v>Share of e-commerce site traffic, global</c:v>
              </c:pt>
              <c:pt idx="1">
                <c:v>Share of e-commerce GMV, India</c:v>
              </c:pt>
              <c:pt idx="2">
                <c:v>Share of e-commerce transactions, US</c:v>
              </c:pt>
              <c:pt idx="3">
                <c:v>Share of e-commerce sales, global</c:v>
              </c:pt>
            </c:strLit>
          </c:cat>
          <c:val>
            <c:numLit>
              <c:formatCode>General</c:formatCode>
              <c:ptCount val="4"/>
              <c:pt idx="0">
                <c:v>77</c:v>
              </c:pt>
              <c:pt idx="1">
                <c:v>76</c:v>
              </c:pt>
              <c:pt idx="2">
                <c:v>72</c:v>
              </c:pt>
              <c:pt idx="3">
                <c:v>58</c:v>
              </c:pt>
            </c:numLit>
          </c:val>
        </c:ser>
        <c:gapWidth val="82"/>
        <c:overlap val="0"/>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888888"/>
            </a:solidFill>
          </a:ln>
        </c:spPr>
        <c:txPr>
          <a:bodyPr/>
          <a:lstStyle/>
          <a:p>
            <a:pPr>
              <a:defRPr sz="1050" noProof="1" b="0" i="0" u="none" strike="noStrike">
                <a:solidFill>
                  <a:srgbClr val="23272E"/>
                </a:solidFill>
                <a:latin typeface="Quattrocento Sans"/>
              </a:defRPr>
            </a:pPr>
            <a:endParaRPr lang="en-US" noProof="1"/>
          </a:p>
        </c:txPr>
        <c:crossAx val="2"/>
        <c:crosses val="autoZero"/>
        <c:auto val="1"/>
        <c:lblAlgn val="ctr"/>
        <c:noMultiLvlLbl val="1"/>
      </c:catAx>
      <c:valAx>
        <c:axId val="2"/>
        <c:scaling>
          <c:orientation val="minMax"/>
          <c:max val="100"/>
          <c:min val="0"/>
        </c:scaling>
        <c:delete val="0"/>
        <c:axPos val="l"/>
        <c:majorGridlines>
          <c:spPr>
            <a:ln w="12700">
              <a:solidFill>
                <a:srgbClr val="D9D2C4"/>
              </a:solidFill>
            </a:ln>
          </c:spPr>
        </c:majorGridlines>
        <c:numFmt formatCode="0" sourceLinked="0"/>
        <c:majorTickMark val="out"/>
        <c:minorTickMark val="none"/>
        <c:tickLblPos val="nextTo"/>
        <c:spPr>
          <a:ln w="12700">
            <a:solidFill>
              <a:srgbClr val="888888"/>
            </a:solidFill>
          </a:ln>
        </c:spPr>
        <c:txPr>
          <a:bodyPr/>
          <a:lstStyle/>
          <a:p>
            <a:pPr>
              <a:defRPr sz="1000" noProof="1" b="0" i="0" u="none" strike="noStrike">
                <a:solidFill>
                  <a:srgbClr val="6E675C"/>
                </a:solidFill>
                <a:latin typeface="Quattrocento Sans"/>
              </a:defRPr>
            </a:pPr>
            <a:endParaRPr lang="en-US" noProof="1"/>
          </a:p>
        </c:txPr>
        <c:crossAx val="1"/>
        <c:crosses val="autoZero"/>
        <c:crossBetween val="between"/>
      </c:valAx>
      <c:spPr>
        <a:noFill/>
        <a:ln>
          <a:noFill/>
        </a:ln>
      </c:spPr>
    </c:plotArea>
    <c:plotVisOnly val="1"/>
    <c:dispBlanksAs val="gap"/>
  </c:chart>
  <c:spPr>
    <a:noFill/>
    <a:ln>
      <a:noFill/>
    </a:ln>
  </c:spPr>
  <c:txPr>
    <a:bodyPr/>
    <a:lstStyle/>
    <a:p>
      <a:pPr>
        <a:defRPr noProof="1" b="0" i="0" u="none" strike="noStrike">
          <a:latin typeface="Quattrocento Sans"/>
        </a:defRPr>
      </a:pPr>
      <a:endParaRPr lang="en-US" noProof="1"/>
    </a:p>
  </c:txPr>
</c:chartSpace>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rabon.ca/blog/ecommerce-statistics-canada/" TargetMode="External"/><Relationship Id="rId3" Type="http://schemas.openxmlformats.org/officeDocument/2006/relationships/hyperlink" Target="https://pixelpanda.ai/statistics/online-shopping-statistics" TargetMode="External"/><Relationship Id="rId4" Type="http://schemas.openxmlformats.org/officeDocument/2006/relationships/hyperlink" Target="https://www.digitalcommerce360.com/2026/06/17/adobe-ai-referred-traffic-to-retail-sites-doubles-in-a-year/" TargetMode="Externa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tentencommerce.com/en/research/2026-ecommerce-trends" TargetMode="External"/><Relationship Id="rId3" Type="http://schemas.openxmlformats.org/officeDocument/2006/relationships/hyperlink" Target="https://pixelpanda.ai/statistics/online-shopping-statistics" TargetMode="External"/><Relationship Id="rId4" Type="http://schemas.openxmlformats.org/officeDocument/2006/relationships/hyperlink" Target="https://www.ringly.io/blog/social-commerce-statistics-2026" TargetMode="External"/><Relationship Id="rId5" Type="http://schemas.openxmlformats.org/officeDocument/2006/relationships/hyperlink" Target="https://www.thebusinessresearchcompany.com/report/voice-commerce-global-market-report" TargetMode="External"/><Relationship Id="rId6" Type="http://schemas.openxmlformats.org/officeDocument/2006/relationships/hyperlink" Target="https://www.salesforce.com/news/stories/consumer-shopping-ai-trends-2025/" TargetMode="Externa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0_1.xml"/><Relationship Id="rId3" Type="http://schemas.openxmlformats.org/officeDocument/2006/relationships/hyperlink" Target="https://grabon.ca/blog/ecommerce-statistics-canada/" TargetMode="External"/><Relationship Id="rId4" Type="http://schemas.openxmlformats.org/officeDocument/2006/relationships/hyperlink" Target="https://www.einvoicegenerator.com/blog/ecommerce-statistics" TargetMode="External"/><Relationship Id="rId5" Type="http://schemas.openxmlformats.org/officeDocument/2006/relationships/hyperlink" Target="https://www.grandviewresearch.com/industry-analysis/social-commerce-market" TargetMode="Externa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weforum.org/stories/2025/01/future-of-jobs-report-2025-the-fastest-growing-and-declining-jobs/" TargetMode="External"/><Relationship Id="rId3" Type="http://schemas.openxmlformats.org/officeDocument/2006/relationships/hyperlink" Target="https://getapeptalk.com/journal/world-economic-forum-future-of-jobs-report-2025"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digitalcommerce360.com/2026/06/17/adobe-ai-referred-traffic-to-retail-sites-doubles-in-a-year/" TargetMode="External"/><Relationship Id="rId3" Type="http://schemas.openxmlformats.org/officeDocument/2006/relationships/hyperlink" Target="https://www.darkroomagency.com/observatory/how-chatgpt-shopping-transforms-online-purchasing" TargetMode="External"/><Relationship Id="rId4" Type="http://schemas.openxmlformats.org/officeDocument/2006/relationships/hyperlink" Target="https://ai-showreel.com/en/cas/perplexity-buy-with-pro-2024.html" TargetMode="External"/><Relationship Id="rId5" Type="http://schemas.openxmlformats.org/officeDocument/2006/relationships/hyperlink" Target="https://www.sellerscommerce.com/blog/us-ecommerce-sales/" TargetMode="Externa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census.gov/retail/mrts/www/data/pdf/ec_current.pdf" TargetMode="External"/><Relationship Id="rId3" Type="http://schemas.openxmlformats.org/officeDocument/2006/relationships/hyperlink" Target="https://pixelpanda.ai/statistics/online-shopping-statistics" TargetMode="External"/><Relationship Id="rId4" Type="http://schemas.openxmlformats.org/officeDocument/2006/relationships/hyperlink" Target="https://www.ringly.io/blog/social-commerce-statistics-2026" TargetMode="External"/><Relationship Id="rId5" Type="http://schemas.openxmlformats.org/officeDocument/2006/relationships/hyperlink" Target="https://www.salesforce.com/news/stories/consumer-shopping-ai-trends-2025/" TargetMode="Externa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tentencommerce.com/en/research/2026-ecommerce-trends" TargetMode="External"/><Relationship Id="rId3" Type="http://schemas.openxmlformats.org/officeDocument/2006/relationships/hyperlink" Target="https://www.sellerscommerce.com/blog/ecommerce-statistics/" TargetMode="Externa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sellerscommerce.com/blog/ecommerce-statistics/" TargetMode="Externa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pixelpanda.ai/statistics/online-shopping-statistics" TargetMode="External"/><Relationship Id="rId3" Type="http://schemas.openxmlformats.org/officeDocument/2006/relationships/hyperlink" Target="https://www.mordorintelligence.com/industry-reports/united-states-ecommerce-market" TargetMode="External"/><Relationship Id="rId4" Type="http://schemas.openxmlformats.org/officeDocument/2006/relationships/hyperlink" Target="https://www.mordorintelligence.com/industry-reports/india-ecommerce-market" TargetMode="Externa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ringly.io/blog/social-commerce-statistics-2026" TargetMode="External"/><Relationship Id="rId3" Type="http://schemas.openxmlformats.org/officeDocument/2006/relationships/hyperlink" Target="https://www.einvoicegenerator.com/blog/ecommerce-statistics" TargetMode="Externa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arvio.io/blog/amazon-rufus-ai-search" TargetMode="External"/><Relationship Id="rId3" Type="http://schemas.openxmlformats.org/officeDocument/2006/relationships/hyperlink" Target="https://www.azoma.ai/insights/what-percentage-of-amazon-shoppers-use-rufus-2026" TargetMode="External"/><Relationship Id="rId4" Type="http://schemas.openxmlformats.org/officeDocument/2006/relationships/hyperlink" Target="https://ai-showreel.com/en/cas/perplexity-buy-with-pro-2024.html" TargetMode="External"/><Relationship Id="rId5" Type="http://schemas.openxmlformats.org/officeDocument/2006/relationships/hyperlink" Target="https://www.digitalcommerce360.com/2026/06/17/adobe-ai-referred-traffic-to-retail-sites-doubles-in-a-year/" TargetMode="External"/><Relationship Id="rId6" Type="http://schemas.openxmlformats.org/officeDocument/2006/relationships/hyperlink" Target="https://www.fwdslash.ai/blog/ai-agent-statistics" TargetMode="Externa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6_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census.gov/retail/mrts/www/data/pdf/ec_current.pdf" TargetMode="External"/><Relationship Id="rId3" Type="http://schemas.openxmlformats.org/officeDocument/2006/relationships/hyperlink" Target="https://pixelpanda.ai/statistics/online-shopping-statistics" TargetMode="External"/><Relationship Id="rId4" Type="http://schemas.openxmlformats.org/officeDocument/2006/relationships/hyperlink" Target="https://www.salesforce.com/news/stories/consumer-shopping-ai-trends-2025/" TargetMode="External"/><Relationship Id="rId5" Type="http://schemas.openxmlformats.org/officeDocument/2006/relationships/hyperlink" Target="https://www.ibef.org/industry/ecommerce" TargetMode="External"/><Relationship Id="rId6" Type="http://schemas.openxmlformats.org/officeDocument/2006/relationships/hyperlink" Target="https://www.ringly.io/blog/social-commerce-statistics-2026" TargetMode="Externa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8_1.xml"/><Relationship Id="rId3" Type="http://schemas.openxmlformats.org/officeDocument/2006/relationships/hyperlink" Target="https://www.census.gov/retail/mrts/www/data/pdf/ec_current.pdf" TargetMode="External"/><Relationship Id="rId4" Type="http://schemas.openxmlformats.org/officeDocument/2006/relationships/hyperlink" Target="https://www.sellerscommerce.com/blog/us-ecommerce-sales/" TargetMode="Externa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9_1.xml"/><Relationship Id="rId3" Type="http://schemas.openxmlformats.org/officeDocument/2006/relationships/hyperlink" Target="https://pixelpanda.ai/statistics/online-shopping-statistics" TargetMode="External"/><Relationship Id="rId4" Type="http://schemas.openxmlformats.org/officeDocument/2006/relationships/hyperlink" Target="https://tentencommerce.com/en/research/2026-ecommerce-trends" TargetMode="External"/><Relationship Id="rId5" Type="http://schemas.openxmlformats.org/officeDocument/2006/relationships/hyperlink" Target="https://www.mordorintelligence.com/industry-reports/united-states-ecommerce-market" TargetMode="External"/><Relationship Id="rId6" Type="http://schemas.openxmlformats.org/officeDocument/2006/relationships/hyperlink" Target="https://www.mordorintelligence.com/industry-reports/india-ecommerce-market" TargetMode="Externa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sellerscommerce.com/blog/ecommerce-statistics/" TargetMode="Externa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pixelpanda.ai/statistics/online-shopping-statistics" TargetMode="Externa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mobiloud.com/blog/woocommerce-vs-shopify-market-share-statistics" TargetMode="External"/><Relationship Id="rId3" Type="http://schemas.openxmlformats.org/officeDocument/2006/relationships/hyperlink" Target="https://hostingguider.com/blog/wordpress-statistics/" TargetMode="Externa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derapper.com/article/headless-commerce/headless-vs-composable-commerce/" TargetMode="External"/><Relationship Id="rId3" Type="http://schemas.openxmlformats.org/officeDocument/2006/relationships/hyperlink" Target="https://www.bigcommerce.com/articles/headless-commerce/" TargetMode="External"/><Relationship Id="rId4" Type="http://schemas.openxmlformats.org/officeDocument/2006/relationships/hyperlink" Target="https://www.marketscale.com/industries/retail/zero-click-commerce-ai-agents-set-to-intermediate-15-trillion-in-b2b-purchases-by-2028" TargetMode="Externa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sellerscommerce.com/blog/ecommerce-statistics/" TargetMode="External"/><Relationship Id="rId3" Type="http://schemas.openxmlformats.org/officeDocument/2006/relationships/hyperlink" Target="https://jarvio.io/blog/amazon-rufus-ai-search" TargetMode="Externa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mobiloud.com/blog/woocommerce-vs-shopify-market-share-statistics" TargetMode="External"/><Relationship Id="rId3" Type="http://schemas.openxmlformats.org/officeDocument/2006/relationships/hyperlink" Target="https://www.darkroomagency.com/observatory/how-chatgpt-shopping-transforms-online-purchasing" TargetMode="Externa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sellerscommerce.com/blog/ecommerce-statistics/" TargetMode="Externa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census.gov/retail/mrts/www/data/pdf/ec_current.pdf" TargetMode="External"/><Relationship Id="rId3" Type="http://schemas.openxmlformats.org/officeDocument/2006/relationships/hyperlink" Target="https://www.digitalcommerce360.com/article/us-ecommerce-sales/" TargetMode="External"/><Relationship Id="rId4" Type="http://schemas.openxmlformats.org/officeDocument/2006/relationships/hyperlink" Target="https://tentencommerce.com/en/research/2026-ecommerce-trends" TargetMode="Externa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census.gov/retail/mrts/www/data/pdf/ec_current.pdf" TargetMode="External"/><Relationship Id="rId3" Type="http://schemas.openxmlformats.org/officeDocument/2006/relationships/hyperlink" Target="https://tentencommerce.com/en/research/2026-ecommerce-trends" TargetMode="External"/><Relationship Id="rId4" Type="http://schemas.openxmlformats.org/officeDocument/2006/relationships/hyperlink" Target="https://grabon.ca/blog/ecommerce-statistics-canada/" TargetMode="External"/><Relationship Id="rId5" Type="http://schemas.openxmlformats.org/officeDocument/2006/relationships/hyperlink" Target="https://pixelpanda.ai/statistics/online-shopping-statistics" TargetMode="External"/><Relationship Id="rId6" Type="http://schemas.openxmlformats.org/officeDocument/2006/relationships/hyperlink" Target="https://www.mordorintelligence.com/industry-reports/united-states-ecommerce-market" TargetMode="External"/><Relationship Id="rId7" Type="http://schemas.openxmlformats.org/officeDocument/2006/relationships/hyperlink" Target="https://www.mordorintelligence.com/industry-reports/india-ecommerce-market" TargetMode="External"/><Relationship Id="rId8" Type="http://schemas.openxmlformats.org/officeDocument/2006/relationships/hyperlink" Target="https://www.ibef.org/industry/ecommerce" TargetMode="External"/><Relationship Id="rId9" Type="http://schemas.openxmlformats.org/officeDocument/2006/relationships/hyperlink" Target="https://www.ringly.io/blog/social-commerce-statistics-2026" TargetMode="External"/><Relationship Id="rId10" Type="http://schemas.openxmlformats.org/officeDocument/2006/relationships/hyperlink" Target="https://www.digitalcommerce360.com/article/us-ecommerce-sales/" TargetMode="External"/><Relationship Id="rId11" Type="http://schemas.openxmlformats.org/officeDocument/2006/relationships/hyperlink" Target="https://www.thebusinessresearchcompany.com/report/voice-commerce-global-market-report" TargetMode="External"/><Relationship Id="rId12" Type="http://schemas.openxmlformats.org/officeDocument/2006/relationships/hyperlink" Target="https://www.weforum.org/stories/2025/01/future-of-jobs-report-2025-the-fastest-growing-and-declining-jobs/" TargetMode="External"/><Relationship Id="rId13" Type="http://schemas.openxmlformats.org/officeDocument/2006/relationships/hyperlink" Target="https://www.salesforce.com/news/stories/consumer-shopping-ai-trends-2025/" TargetMode="External"/><Relationship Id="rId14" Type="http://schemas.openxmlformats.org/officeDocument/2006/relationships/hyperlink" Target="https://www.sellerscommerce.com/blog/ecommerce-statistics/" TargetMode="External"/><Relationship Id="rId15" Type="http://schemas.openxmlformats.org/officeDocument/2006/relationships/hyperlink" Target="https://www.mobiloud.com/blog/woocommerce-vs-shopify-market-share-statistics" TargetMode="External"/><Relationship Id="rId16" Type="http://schemas.openxmlformats.org/officeDocument/2006/relationships/hyperlink" Target="https://hostingguider.com/blog/wordpress-statistics/" TargetMode="External"/><Relationship Id="rId17" Type="http://schemas.openxmlformats.org/officeDocument/2006/relationships/hyperlink" Target="https://www.bigcommerce.com/articles/headless-commerce/" TargetMode="External"/><Relationship Id="rId18" Type="http://schemas.openxmlformats.org/officeDocument/2006/relationships/hyperlink" Target="https://www.digitalcommerce360.com/2026/06/17/adobe-ai-referred-traffic-to-retail-sites-doubles-in-a-year/" TargetMode="External"/><Relationship Id="rId19" Type="http://schemas.openxmlformats.org/officeDocument/2006/relationships/hyperlink" Target="https://jarvio.io/blog/amazon-rufus-ai-search" TargetMode="External"/><Relationship Id="rId20" Type="http://schemas.openxmlformats.org/officeDocument/2006/relationships/hyperlink" Target="https://ai-showreel.com/en/cas/perplexity-buy-with-pro-2024.html" TargetMode="External"/><Relationship Id="rId21" Type="http://schemas.openxmlformats.org/officeDocument/2006/relationships/hyperlink" Target="https://www.darkroomagency.com/observatory/how-chatgpt-shopping-transforms-online-purchasing" TargetMode="Externa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0E3B34"/>
        </a:solidFill>
      </p:bgPr>
    </p:bg>
    <p:spTree>
      <p:nvGrpSpPr>
        <p:cNvPr id="1" name=""/>
        <p:cNvGrpSpPr/>
        <p:nvPr/>
      </p:nvGrpSpPr>
      <p:grpSpPr>
        <a:xfrm>
          <a:off x="0" y="0"/>
          <a:ext cx="0" cy="0"/>
          <a:chOff x="0" y="0"/>
          <a:chExt cx="0" cy="0"/>
        </a:xfrm>
      </p:grpSpPr>
      <p:pic>
        <p:nvPicPr>
          <p:cNvPr id="2" name="cover-art"/>
          <p:cNvPicPr/>
          <p:nvPr/>
        </p:nvPicPr>
        <p:blipFill>
          <a:blip r:embed="rId2">
            <a:alphaModFix amt="32000"/>
          </a:blip>
          <a:srcRect t="0" b="0"/>
          <a:stretch>
            <a:fillRect/>
          </a:stretch>
        </p:blipFill>
        <p:spPr>
          <a:xfrm>
            <a:off x="0" y="0"/>
            <a:ext cx="12192000" cy="6858000"/>
          </a:xfrm>
          <a:prstGeom prst="rect">
            <a:avLst/>
          </a:prstGeom>
          <a:ln>
            <a:noFill/>
          </a:ln>
        </p:spPr>
      </p:pic>
      <p:sp>
        <p:nvSpPr>
          <p:cNvPr id="3" name="cover-tag"/>
          <p:cNvSpPr txBox="1"/>
          <p:nvPr/>
        </p:nvSpPr>
        <p:spPr>
          <a:xfrm>
            <a:off x="711200" y="965200"/>
            <a:ext cx="10769600" cy="228600"/>
          </a:xfrm>
          <a:prstGeom prst="rect">
            <a:avLst/>
          </a:prstGeom>
          <a:noFill/>
          <a:ln>
            <a:noFill/>
          </a:ln>
        </p:spPr>
        <p:txBody>
          <a:bodyPr lIns="0" rIns="0" tIns="0" bIns="0" wrap="square" rtlCol="0"/>
          <a:lstStyle/>
          <a:p>
            <a:pPr>
              <a:lnSpc>
                <a:spcPct val="120000"/>
              </a:lnSpc>
            </a:pPr>
            <a:r>
              <a:rPr lang="en-US" sz="1200" noProof="1" b="1" spc="200" kern="0">
                <a:solidFill>
                  <a:srgbClr val="F6E7DE"/>
                </a:solidFill>
                <a:latin typeface="Quattrocento Sans"/>
                <a:ea typeface="Quattrocento Sans"/>
              </a:rPr>
              <a:t>BBA · UNDERGRADUATE BUSINESS PROGRAM</a:t>
            </a:r>
            <a:endParaRPr lang="en-US" sz="1200" noProof="1"/>
          </a:p>
        </p:txBody>
      </p:sp>
      <p:sp>
        <p:nvSpPr>
          <p:cNvPr id="4" name="cover-title"/>
          <p:cNvSpPr txBox="1"/>
          <p:nvPr/>
        </p:nvSpPr>
        <p:spPr>
          <a:xfrm>
            <a:off x="711200" y="1320800"/>
            <a:ext cx="10769600" cy="1397000"/>
          </a:xfrm>
          <a:prstGeom prst="rect">
            <a:avLst/>
          </a:prstGeom>
          <a:noFill/>
          <a:ln>
            <a:noFill/>
          </a:ln>
        </p:spPr>
        <p:txBody>
          <a:bodyPr lIns="0" rIns="0" tIns="0" bIns="0" wrap="square" rtlCol="0"/>
          <a:lstStyle/>
          <a:p>
            <a:pPr>
              <a:lnSpc>
                <a:spcPct val="108000"/>
              </a:lnSpc>
            </a:pPr>
            <a:r>
              <a:rPr lang="en-US" sz="4600" noProof="1">
                <a:solidFill>
                  <a:srgbClr val="FFFFFF"/>
                </a:solidFill>
                <a:latin typeface="Unna"/>
                <a:ea typeface="Unna"/>
              </a:rPr>
              <a:t>Future of Commerce</a:t>
            </a:r>
            <a:endParaRPr lang="en-US" sz="4600" noProof="1"/>
          </a:p>
        </p:txBody>
      </p:sp>
      <p:sp>
        <p:nvSpPr>
          <p:cNvPr id="5" name="cover-sub"/>
          <p:cNvSpPr txBox="1"/>
          <p:nvPr/>
        </p:nvSpPr>
        <p:spPr>
          <a:xfrm>
            <a:off x="711200" y="2641600"/>
            <a:ext cx="10769600" cy="381000"/>
          </a:xfrm>
          <a:prstGeom prst="rect">
            <a:avLst/>
          </a:prstGeom>
          <a:noFill/>
          <a:ln>
            <a:noFill/>
          </a:ln>
        </p:spPr>
        <p:txBody>
          <a:bodyPr lIns="0" rIns="0" tIns="0" bIns="0" wrap="square" rtlCol="0"/>
          <a:lstStyle/>
          <a:p>
            <a:pPr>
              <a:lnSpc>
                <a:spcPct val="120000"/>
              </a:lnSpc>
            </a:pPr>
            <a:r>
              <a:rPr lang="en-US" sz="1600" noProof="1">
                <a:solidFill>
                  <a:srgbClr val="F6E7DE"/>
                </a:solidFill>
                <a:latin typeface="Quattrocento Sans"/>
                <a:ea typeface="Quattrocento Sans"/>
              </a:rPr>
              <a:t>Week 1 · From Storefronts to AI Agents</a:t>
            </a:r>
            <a:endParaRPr lang="en-US" sz="1600" noProof="1"/>
          </a:p>
        </p:txBody>
      </p:sp>
      <p:sp>
        <p:nvSpPr>
          <p:cNvPr id="6" name="cover-rule"/>
          <p:cNvSpPr/>
          <p:nvPr/>
        </p:nvSpPr>
        <p:spPr>
          <a:xfrm>
            <a:off x="711200" y="3200400"/>
            <a:ext cx="1524000" cy="25400"/>
          </a:xfrm>
          <a:prstGeom prst="rect">
            <a:avLst/>
          </a:prstGeom>
          <a:solidFill>
            <a:srgbClr val="BC4B26"/>
          </a:solidFill>
          <a:ln>
            <a:noFill/>
          </a:ln>
        </p:spPr>
      </p:sp>
      <p:sp>
        <p:nvSpPr>
          <p:cNvPr id="7" name="cover-sessions"/>
          <p:cNvSpPr txBox="1"/>
          <p:nvPr/>
        </p:nvSpPr>
        <p:spPr>
          <a:xfrm>
            <a:off x="711200" y="3454400"/>
            <a:ext cx="10769600" cy="1143000"/>
          </a:xfrm>
          <a:prstGeom prst="rect">
            <a:avLst/>
          </a:prstGeom>
          <a:noFill/>
          <a:ln>
            <a:noFill/>
          </a:ln>
        </p:spPr>
        <p:txBody>
          <a:bodyPr lIns="0" rIns="0" tIns="0" bIns="0" wrap="square" rtlCol="0"/>
          <a:lstStyle/>
          <a:p>
            <a:pPr>
              <a:lnSpc>
                <a:spcPct val="160000"/>
              </a:lnSpc>
            </a:pPr>
            <a:r>
              <a:rPr lang="en-US" sz="1350" noProof="1" b="1">
                <a:solidFill>
                  <a:srgbClr val="F6E7DE"/>
                </a:solidFill>
                <a:latin typeface="Quattrocento Sans"/>
                <a:ea typeface="Quattrocento Sans"/>
              </a:rPr>
              <a:t>Session A</a:t>
            </a:r>
            <a:r>
              <a:rPr lang="en-US" sz="1350" noProof="1">
                <a:solidFill>
                  <a:srgbClr val="FFFFFF"/>
                </a:solidFill>
                <a:latin typeface="Quattrocento Sans"/>
                <a:ea typeface="Quattrocento Sans"/>
              </a:rPr>
              <a:t> — Course launch: why commerce is being rebuilt, and how this course runs</a:t>
            </a:r>
            <a:endParaRPr lang="en-US" sz="1350" noProof="1"/>
          </a:p>
          <a:p>
            <a:pPr>
              <a:lnSpc>
                <a:spcPct val="160000"/>
              </a:lnSpc>
            </a:pPr>
            <a:r>
              <a:rPr lang="en-US" sz="1350" noProof="1" b="1">
                <a:solidFill>
                  <a:srgbClr val="F6E7DE"/>
                </a:solidFill>
                <a:latin typeface="Quattrocento Sans"/>
                <a:ea typeface="Quattrocento Sans"/>
              </a:rPr>
              <a:t>Session B</a:t>
            </a:r>
            <a:r>
              <a:rPr lang="en-US" sz="1350" noProof="1">
                <a:solidFill>
                  <a:srgbClr val="FFFFFF"/>
                </a:solidFill>
                <a:latin typeface="Quattrocento Sans"/>
                <a:ea typeface="Quattrocento Sans"/>
              </a:rPr>
              <a:t> — Topic 1: The evolution of digital commerce, from the corner store to the AI agent</a:t>
            </a:r>
            <a:endParaRPr lang="en-US" sz="1350" noProof="1"/>
          </a:p>
        </p:txBody>
      </p:sp>
      <p:sp>
        <p:nvSpPr>
          <p:cNvPr id="8" name="cover-instructor"/>
          <p:cNvSpPr txBox="1"/>
          <p:nvPr/>
        </p:nvSpPr>
        <p:spPr>
          <a:xfrm>
            <a:off x="711200" y="5969000"/>
            <a:ext cx="10769600" cy="203200"/>
          </a:xfrm>
          <a:prstGeom prst="rect">
            <a:avLst/>
          </a:prstGeom>
          <a:noFill/>
          <a:ln>
            <a:noFill/>
          </a:ln>
        </p:spPr>
        <p:txBody>
          <a:bodyPr lIns="0" rIns="0" tIns="0" bIns="0" wrap="square" rtlCol="0"/>
          <a:lstStyle/>
          <a:p>
            <a:pPr>
              <a:lnSpc>
                <a:spcPct val="120000"/>
              </a:lnSpc>
            </a:pPr>
            <a:r>
              <a:rPr lang="en-US" sz="1100" noProof="1">
                <a:solidFill>
                  <a:srgbClr val="D9D2C4"/>
                </a:solidFill>
                <a:latin typeface="Quattrocento Sans"/>
                <a:ea typeface="Quattrocento Sans"/>
              </a:rPr>
              <a:t>Instructor: [Name] · [Email] · Office hours: [Day, time]</a:t>
            </a:r>
            <a:endParaRPr lang="en-US" sz="1100" noProof="1"/>
          </a:p>
        </p:txBody>
      </p:sp>
      <p:sp>
        <p:nvSpPr>
          <p:cNvPr id="9" name="cover-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D9D2C4"/>
                </a:solidFill>
                <a:latin typeface="Quattrocento Sans"/>
                <a:ea typeface="Quattrocento Sans"/>
              </a:rPr>
              <a:t>Future of Commerce · BBA</a:t>
            </a:r>
            <a:endParaRPr lang="en-US" sz="950" noProof="1"/>
          </a:p>
        </p:txBody>
      </p:sp>
      <p:sp>
        <p:nvSpPr>
          <p:cNvPr id="10" name="cover-foot-right"/>
          <p:cNvSpPr txBox="1"/>
          <p:nvPr/>
        </p:nvSpPr>
        <p:spPr>
          <a:xfrm>
            <a:off x="8128000" y="6527800"/>
            <a:ext cx="3352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Week 1 · Course Launch &amp; Topic 1</a:t>
            </a:r>
            <a:endParaRPr lang="en-US" sz="950" noProof="1"/>
          </a:p>
        </p:txBody>
      </p:sp>
      <p:sp>
        <p:nvSpPr>
          <p:cNvPr id="11" name="cover-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1</a:t>
            </a:r>
            <a:endParaRPr lang="en-US" sz="950" noProof="1"/>
          </a:p>
        </p:txBody>
      </p:sp>
    </p:spTree>
  </p:cSld>
  <p:clrMapOvr>
    <a:masterClrMapping/>
  </p:clrMapOvr>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0E3B34"/>
        </a:solidFill>
      </p:bgPr>
    </p:bg>
    <p:spTree>
      <p:nvGrpSpPr>
        <p:cNvPr id="1" name=""/>
        <p:cNvGrpSpPr/>
        <p:nvPr/>
      </p:nvGrpSpPr>
      <p:grpSpPr>
        <a:xfrm>
          <a:off x="0" y="0"/>
          <a:ext cx="0" cy="0"/>
          <a:chOff x="0" y="0"/>
          <a:chExt cx="0" cy="0"/>
        </a:xfrm>
      </p:grpSpPr>
      <p:sp>
        <p:nvSpPr>
          <p:cNvPr id="2" name="div-num"/>
          <p:cNvSpPr txBox="1"/>
          <p:nvPr/>
        </p:nvSpPr>
        <p:spPr>
          <a:xfrm>
            <a:off x="6604000" y="508000"/>
            <a:ext cx="4876800" cy="2032000"/>
          </a:xfrm>
          <a:prstGeom prst="rect">
            <a:avLst/>
          </a:prstGeom>
          <a:noFill/>
          <a:ln>
            <a:noFill/>
          </a:ln>
        </p:spPr>
        <p:txBody>
          <a:bodyPr lIns="0" rIns="0" tIns="0" bIns="0" wrap="none" rtlCol="0" anchor="t"/>
          <a:lstStyle/>
          <a:p>
            <a:pPr algn="r">
              <a:lnSpc>
                <a:spcPct val="120000"/>
              </a:lnSpc>
            </a:pPr>
            <a:r>
              <a:rPr lang="en-US" sz="12000" noProof="1">
                <a:solidFill>
                  <a:srgbClr val="FFFFFF">
                    <a:alpha val="20000"/>
                  </a:srgbClr>
                </a:solidFill>
                <a:latin typeface="Unna"/>
                <a:ea typeface="Unna"/>
              </a:rPr>
              <a:t>A</a:t>
            </a:r>
            <a:endParaRPr lang="en-US" sz="12000" noProof="1"/>
          </a:p>
        </p:txBody>
      </p:sp>
      <p:sp>
        <p:nvSpPr>
          <p:cNvPr id="3" name="div-kicker"/>
          <p:cNvSpPr txBox="1"/>
          <p:nvPr/>
        </p:nvSpPr>
        <p:spPr>
          <a:xfrm>
            <a:off x="711200" y="13970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F6E7DE"/>
                </a:solidFill>
                <a:latin typeface="Quattrocento Sans"/>
                <a:ea typeface="Quattrocento Sans"/>
              </a:rPr>
              <a:t>SESSION A · WEEK 1</a:t>
            </a:r>
            <a:endParaRPr lang="en-US" sz="1200" noProof="1"/>
          </a:p>
        </p:txBody>
      </p:sp>
      <p:sp>
        <p:nvSpPr>
          <p:cNvPr id="4" name="div-title"/>
          <p:cNvSpPr txBox="1"/>
          <p:nvPr/>
        </p:nvSpPr>
        <p:spPr>
          <a:xfrm>
            <a:off x="711200" y="1727200"/>
            <a:ext cx="9144000" cy="711200"/>
          </a:xfrm>
          <a:prstGeom prst="rect">
            <a:avLst/>
          </a:prstGeom>
          <a:noFill/>
          <a:ln>
            <a:noFill/>
          </a:ln>
        </p:spPr>
        <p:txBody>
          <a:bodyPr lIns="0" rIns="0" tIns="0" bIns="0" wrap="square" rtlCol="0"/>
          <a:lstStyle/>
          <a:p>
            <a:pPr>
              <a:lnSpc>
                <a:spcPct val="120000"/>
              </a:lnSpc>
            </a:pPr>
            <a:r>
              <a:rPr lang="en-US" sz="4000" noProof="1">
                <a:solidFill>
                  <a:srgbClr val="FFFFFF"/>
                </a:solidFill>
                <a:latin typeface="Unna"/>
                <a:ea typeface="Unna"/>
              </a:rPr>
              <a:t>Course Launch</a:t>
            </a:r>
            <a:endParaRPr lang="en-US" sz="4000" noProof="1"/>
          </a:p>
        </p:txBody>
      </p:sp>
      <p:sp>
        <p:nvSpPr>
          <p:cNvPr id="5" name="div-rule"/>
          <p:cNvSpPr/>
          <p:nvPr/>
        </p:nvSpPr>
        <p:spPr>
          <a:xfrm>
            <a:off x="711200" y="2616200"/>
            <a:ext cx="1270000" cy="25400"/>
          </a:xfrm>
          <a:prstGeom prst="rect">
            <a:avLst/>
          </a:prstGeom>
          <a:solidFill>
            <a:srgbClr val="BC4B26"/>
          </a:solidFill>
          <a:ln>
            <a:noFill/>
          </a:ln>
        </p:spPr>
      </p:sp>
      <p:sp>
        <p:nvSpPr>
          <p:cNvPr id="6" name="div-agenda"/>
          <p:cNvSpPr txBox="1"/>
          <p:nvPr/>
        </p:nvSpPr>
        <p:spPr>
          <a:xfrm>
            <a:off x="711200" y="2921000"/>
            <a:ext cx="8128000" cy="2159000"/>
          </a:xfrm>
          <a:prstGeom prst="rect">
            <a:avLst/>
          </a:prstGeom>
          <a:noFill/>
          <a:ln>
            <a:noFill/>
          </a:ln>
        </p:spPr>
        <p:txBody>
          <a:bodyPr lIns="0" rIns="0" tIns="0" bIns="0" wrap="square" rtlCol="0"/>
          <a:lstStyle/>
          <a:p>
            <a:pPr>
              <a:lnSpc>
                <a:spcPct val="190000"/>
              </a:lnSpc>
            </a:pPr>
            <a:r>
              <a:rPr lang="en-US" sz="1400" noProof="1">
                <a:solidFill>
                  <a:srgbClr val="FFFFFF"/>
                </a:solidFill>
                <a:latin typeface="Quattrocento Sans"/>
                <a:ea typeface="Quattrocento Sans"/>
              </a:rPr>
              <a:t>1 · Why this course exists — commerce is being rebuilt</a:t>
            </a:r>
            <a:endParaRPr lang="en-US" sz="1400" noProof="1"/>
          </a:p>
          <a:p>
            <a:pPr>
              <a:lnSpc>
                <a:spcPct val="190000"/>
              </a:lnSpc>
            </a:pPr>
            <a:r>
              <a:rPr lang="en-US" sz="1400" noProof="1">
                <a:solidFill>
                  <a:srgbClr val="FFFFFF"/>
                </a:solidFill>
                <a:latin typeface="Quattrocento Sans"/>
                <a:ea typeface="Quattrocento Sans"/>
              </a:rPr>
              <a:t>2 · Your journey: 15 topics, 14 weeks, two milestones</a:t>
            </a:r>
            <a:endParaRPr lang="en-US" sz="1400" noProof="1"/>
          </a:p>
          <a:p>
            <a:pPr>
              <a:lnSpc>
                <a:spcPct val="190000"/>
              </a:lnSpc>
            </a:pPr>
            <a:r>
              <a:rPr lang="en-US" sz="1400" noProof="1">
                <a:solidFill>
                  <a:srgbClr val="FFFFFF"/>
                </a:solidFill>
                <a:latin typeface="Quattrocento Sans"/>
                <a:ea typeface="Quattrocento Sans"/>
              </a:rPr>
              <a:t>3 · How the course runs and how you are assessed</a:t>
            </a:r>
            <a:endParaRPr lang="en-US" sz="1400" noProof="1"/>
          </a:p>
          <a:p>
            <a:pPr>
              <a:lnSpc>
                <a:spcPct val="190000"/>
              </a:lnSpc>
            </a:pPr>
            <a:r>
              <a:rPr lang="en-US" sz="1400" noProof="1">
                <a:solidFill>
                  <a:srgbClr val="FFFFFF"/>
                </a:solidFill>
                <a:latin typeface="Quattrocento Sans"/>
                <a:ea typeface="Quattrocento Sans"/>
              </a:rPr>
              <a:t>4 · Icebreaker: map your last purchase</a:t>
            </a:r>
            <a:endParaRPr lang="en-US" sz="1400" noProof="1"/>
          </a:p>
        </p:txBody>
      </p:sp>
      <p:sp>
        <p:nvSpPr>
          <p:cNvPr id="7" name="div-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D9D2C4"/>
                </a:solidFill>
                <a:latin typeface="Quattrocento Sans"/>
                <a:ea typeface="Quattrocento Sans"/>
              </a:rPr>
              <a:t>Future of Commerce · BBA</a:t>
            </a:r>
            <a:endParaRPr lang="en-US" sz="950" noProof="1"/>
          </a:p>
        </p:txBody>
      </p:sp>
      <p:sp>
        <p:nvSpPr>
          <p:cNvPr id="8" name="div-foot-right"/>
          <p:cNvSpPr txBox="1"/>
          <p:nvPr/>
        </p:nvSpPr>
        <p:spPr>
          <a:xfrm>
            <a:off x="8128000" y="6527800"/>
            <a:ext cx="3352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Week 1 · Session A · Course Launch</a:t>
            </a:r>
            <a:endParaRPr lang="en-US" sz="950" noProof="1"/>
          </a:p>
        </p:txBody>
      </p:sp>
      <p:sp>
        <p:nvSpPr>
          <p:cNvPr id="9" name="div-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2</a:t>
            </a:r>
            <a:endParaRPr lang="en-US" sz="950" noProof="1"/>
          </a:p>
        </p:txBody>
      </p:sp>
    </p:spTree>
  </p:cSld>
  <p:clrMapOvr>
    <a:masterClrMapping/>
  </p:clrMapOvr>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WHY THIS COURSE EXISTS</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Commerce is being rebuilt — three numbers prove it</a:t>
            </a:r>
            <a:endParaRPr lang="en-US" sz="2600" noProof="1"/>
          </a:p>
        </p:txBody>
      </p:sp>
      <p:sp>
        <p:nvSpPr>
          <p:cNvPr id="4" name="num1-big"/>
          <p:cNvSpPr txBox="1"/>
          <p:nvPr/>
        </p:nvSpPr>
        <p:spPr>
          <a:xfrm>
            <a:off x="711200" y="1651000"/>
            <a:ext cx="3429000" cy="711200"/>
          </a:xfrm>
          <a:prstGeom prst="rect">
            <a:avLst/>
          </a:prstGeom>
          <a:noFill/>
          <a:ln>
            <a:noFill/>
          </a:ln>
        </p:spPr>
        <p:txBody>
          <a:bodyPr lIns="0" rIns="0" tIns="0" bIns="0" wrap="none" rtlCol="0"/>
          <a:lstStyle/>
          <a:p>
            <a:pPr>
              <a:lnSpc>
                <a:spcPct val="120000"/>
              </a:lnSpc>
            </a:pPr>
            <a:r>
              <a:rPr lang="en-US" sz="4400" noProof="1">
                <a:solidFill>
                  <a:srgbClr val="BC4B26"/>
                </a:solidFill>
                <a:latin typeface="Unna"/>
                <a:ea typeface="Unna"/>
              </a:rPr>
              <a:t>$6.86T</a:t>
            </a:r>
            <a:endParaRPr lang="en-US" sz="4400" noProof="1"/>
          </a:p>
        </p:txBody>
      </p:sp>
      <p:sp>
        <p:nvSpPr>
          <p:cNvPr id="5" name="num1-label"/>
          <p:cNvSpPr txBox="1"/>
          <p:nvPr/>
        </p:nvSpPr>
        <p:spPr>
          <a:xfrm>
            <a:off x="711200" y="2438400"/>
            <a:ext cx="3429000" cy="762000"/>
          </a:xfrm>
          <a:prstGeom prst="rect">
            <a:avLst/>
          </a:prstGeom>
          <a:noFill/>
          <a:ln>
            <a:noFill/>
          </a:ln>
        </p:spPr>
        <p:txBody>
          <a:bodyPr lIns="0" rIns="0" tIns="0" bIns="0" wrap="square" rtlCol="0"/>
          <a:lstStyle/>
          <a:p>
            <a:pPr>
              <a:lnSpc>
                <a:spcPct val="140000"/>
              </a:lnSpc>
            </a:pPr>
            <a:r>
              <a:rPr lang="en-US" sz="1250" noProof="1">
                <a:solidFill>
                  <a:srgbClr val="23272E"/>
                </a:solidFill>
                <a:latin typeface="Quattrocento Sans"/>
                <a:ea typeface="Quattrocento Sans"/>
              </a:rPr>
              <a:t>Global retail e-commerce sales, 2025 — roughly $1 in every $5 of retail now transacts online</a:t>
            </a:r>
            <a:endParaRPr lang="en-US" sz="1250" noProof="1"/>
          </a:p>
        </p:txBody>
      </p:sp>
      <p:sp>
        <p:nvSpPr>
          <p:cNvPr id="6" name="num1-src"/>
          <p:cNvSpPr txBox="1"/>
          <p:nvPr/>
        </p:nvSpPr>
        <p:spPr>
          <a:xfrm>
            <a:off x="711200" y="3276600"/>
            <a:ext cx="3429000" cy="355600"/>
          </a:xfrm>
          <a:prstGeom prst="rect">
            <a:avLst/>
          </a:prstGeom>
          <a:noFill/>
          <a:ln>
            <a:noFill/>
          </a:ln>
        </p:spPr>
        <p:txBody>
          <a:bodyPr lIns="0" rIns="0" tIns="0" bIns="0" wrap="square" rtlCol="0"/>
          <a:lstStyle/>
          <a:p>
            <a:pPr>
              <a:lnSpc>
                <a:spcPct val="130000"/>
              </a:lnSpc>
            </a:pPr>
            <a:r>
              <a:rPr lang="en-US" sz="1000" noProof="1">
                <a:solidFill>
                  <a:srgbClr val="9A9284"/>
                </a:solidFill>
                <a:latin typeface="Quattrocento Sans"/>
                <a:ea typeface="Quattrocento Sans"/>
              </a:rPr>
              <a:t>Source: </a:t>
            </a:r>
            <a:r>
              <a:rPr lang="en-US" sz="1000" noProof="1" u="sng">
                <a:solidFill>
                  <a:srgbClr val="0563C1"/>
                </a:solidFill>
                <a:latin typeface="Quattrocento Sans"/>
                <a:ea typeface="Quattrocento Sans"/>
                <a:hlinkClick r:id="rId2"/>
              </a:rPr>
              <a:t>eMarketer, 2025</a:t>
            </a:r>
            <a:endParaRPr lang="en-US" sz="1000" noProof="1"/>
          </a:p>
        </p:txBody>
      </p:sp>
      <p:sp>
        <p:nvSpPr>
          <p:cNvPr id="7" name="num2-big"/>
          <p:cNvSpPr txBox="1"/>
          <p:nvPr/>
        </p:nvSpPr>
        <p:spPr>
          <a:xfrm>
            <a:off x="4381500" y="1651000"/>
            <a:ext cx="3429000" cy="711200"/>
          </a:xfrm>
          <a:prstGeom prst="rect">
            <a:avLst/>
          </a:prstGeom>
          <a:noFill/>
          <a:ln>
            <a:noFill/>
          </a:ln>
        </p:spPr>
        <p:txBody>
          <a:bodyPr lIns="0" rIns="0" tIns="0" bIns="0" wrap="none" rtlCol="0"/>
          <a:lstStyle/>
          <a:p>
            <a:pPr>
              <a:lnSpc>
                <a:spcPct val="120000"/>
              </a:lnSpc>
            </a:pPr>
            <a:r>
              <a:rPr lang="en-US" sz="4400" noProof="1">
                <a:solidFill>
                  <a:srgbClr val="BC4B26"/>
                </a:solidFill>
                <a:latin typeface="Unna"/>
                <a:ea typeface="Unna"/>
              </a:rPr>
              <a:t>2.77B</a:t>
            </a:r>
            <a:endParaRPr lang="en-US" sz="4400" noProof="1"/>
          </a:p>
        </p:txBody>
      </p:sp>
      <p:sp>
        <p:nvSpPr>
          <p:cNvPr id="8" name="num2-label"/>
          <p:cNvSpPr txBox="1"/>
          <p:nvPr/>
        </p:nvSpPr>
        <p:spPr>
          <a:xfrm>
            <a:off x="4381500" y="2438400"/>
            <a:ext cx="3429000" cy="762000"/>
          </a:xfrm>
          <a:prstGeom prst="rect">
            <a:avLst/>
          </a:prstGeom>
          <a:noFill/>
          <a:ln>
            <a:noFill/>
          </a:ln>
        </p:spPr>
        <p:txBody>
          <a:bodyPr lIns="0" rIns="0" tIns="0" bIns="0" wrap="square" rtlCol="0"/>
          <a:lstStyle/>
          <a:p>
            <a:pPr>
              <a:lnSpc>
                <a:spcPct val="140000"/>
              </a:lnSpc>
            </a:pPr>
            <a:r>
              <a:rPr lang="en-US" sz="1250" noProof="1">
                <a:solidFill>
                  <a:srgbClr val="23272E"/>
                </a:solidFill>
                <a:latin typeface="Quattrocento Sans"/>
                <a:ea typeface="Quattrocento Sans"/>
              </a:rPr>
              <a:t>Online shoppers worldwide in 2025 — about one in three people on Earth</a:t>
            </a:r>
            <a:endParaRPr lang="en-US" sz="1250" noProof="1"/>
          </a:p>
        </p:txBody>
      </p:sp>
      <p:sp>
        <p:nvSpPr>
          <p:cNvPr id="9" name="num2-src"/>
          <p:cNvSpPr txBox="1"/>
          <p:nvPr/>
        </p:nvSpPr>
        <p:spPr>
          <a:xfrm>
            <a:off x="4381500" y="3276600"/>
            <a:ext cx="3429000" cy="355600"/>
          </a:xfrm>
          <a:prstGeom prst="rect">
            <a:avLst/>
          </a:prstGeom>
          <a:noFill/>
          <a:ln>
            <a:noFill/>
          </a:ln>
        </p:spPr>
        <p:txBody>
          <a:bodyPr lIns="0" rIns="0" tIns="0" bIns="0" wrap="square" rtlCol="0"/>
          <a:lstStyle/>
          <a:p>
            <a:pPr>
              <a:lnSpc>
                <a:spcPct val="130000"/>
              </a:lnSpc>
            </a:pPr>
            <a:r>
              <a:rPr lang="en-US" sz="1000" noProof="1">
                <a:solidFill>
                  <a:srgbClr val="9A9284"/>
                </a:solidFill>
                <a:latin typeface="Quattrocento Sans"/>
                <a:ea typeface="Quattrocento Sans"/>
              </a:rPr>
              <a:t>Source: </a:t>
            </a:r>
            <a:r>
              <a:rPr lang="en-US" sz="1000" noProof="1" u="sng">
                <a:solidFill>
                  <a:srgbClr val="0563C1"/>
                </a:solidFill>
                <a:latin typeface="Quattrocento Sans"/>
                <a:ea typeface="Quattrocento Sans"/>
                <a:hlinkClick r:id="rId3"/>
              </a:rPr>
              <a:t>Statista, 2025</a:t>
            </a:r>
            <a:endParaRPr lang="en-US" sz="1000" noProof="1"/>
          </a:p>
        </p:txBody>
      </p:sp>
      <p:sp>
        <p:nvSpPr>
          <p:cNvPr id="10" name="num3-big"/>
          <p:cNvSpPr txBox="1"/>
          <p:nvPr/>
        </p:nvSpPr>
        <p:spPr>
          <a:xfrm>
            <a:off x="8051800" y="1651000"/>
            <a:ext cx="3429000" cy="711200"/>
          </a:xfrm>
          <a:prstGeom prst="rect">
            <a:avLst/>
          </a:prstGeom>
          <a:noFill/>
          <a:ln>
            <a:noFill/>
          </a:ln>
        </p:spPr>
        <p:txBody>
          <a:bodyPr lIns="0" rIns="0" tIns="0" bIns="0" wrap="none" rtlCol="0"/>
          <a:lstStyle/>
          <a:p>
            <a:pPr>
              <a:lnSpc>
                <a:spcPct val="120000"/>
              </a:lnSpc>
            </a:pPr>
            <a:r>
              <a:rPr lang="en-US" sz="4400" noProof="1">
                <a:solidFill>
                  <a:srgbClr val="BC4B26"/>
                </a:solidFill>
                <a:latin typeface="Unna"/>
                <a:ea typeface="Unna"/>
              </a:rPr>
              <a:t>+1,324%</a:t>
            </a:r>
            <a:endParaRPr lang="en-US" sz="4400" noProof="1"/>
          </a:p>
        </p:txBody>
      </p:sp>
      <p:sp>
        <p:nvSpPr>
          <p:cNvPr id="11" name="num3-label"/>
          <p:cNvSpPr txBox="1"/>
          <p:nvPr/>
        </p:nvSpPr>
        <p:spPr>
          <a:xfrm>
            <a:off x="8051800" y="2438400"/>
            <a:ext cx="3429000" cy="762000"/>
          </a:xfrm>
          <a:prstGeom prst="rect">
            <a:avLst/>
          </a:prstGeom>
          <a:noFill/>
          <a:ln>
            <a:noFill/>
          </a:ln>
        </p:spPr>
        <p:txBody>
          <a:bodyPr lIns="0" rIns="0" tIns="0" bIns="0" wrap="square" rtlCol="0"/>
          <a:lstStyle/>
          <a:p>
            <a:pPr>
              <a:lnSpc>
                <a:spcPct val="140000"/>
              </a:lnSpc>
            </a:pPr>
            <a:r>
              <a:rPr lang="en-US" sz="1250" noProof="1">
                <a:solidFill>
                  <a:srgbClr val="23272E"/>
                </a:solidFill>
                <a:latin typeface="Quattrocento Sans"/>
                <a:ea typeface="Quattrocento Sans"/>
              </a:rPr>
              <a:t>Growth in AI-referred traffic to US retail sites between Oct 2024 and May 2026</a:t>
            </a:r>
            <a:endParaRPr lang="en-US" sz="1250" noProof="1"/>
          </a:p>
        </p:txBody>
      </p:sp>
      <p:sp>
        <p:nvSpPr>
          <p:cNvPr id="12" name="num3-src"/>
          <p:cNvSpPr txBox="1"/>
          <p:nvPr/>
        </p:nvSpPr>
        <p:spPr>
          <a:xfrm>
            <a:off x="8051800" y="3276600"/>
            <a:ext cx="3429000" cy="355600"/>
          </a:xfrm>
          <a:prstGeom prst="rect">
            <a:avLst/>
          </a:prstGeom>
          <a:noFill/>
          <a:ln>
            <a:noFill/>
          </a:ln>
        </p:spPr>
        <p:txBody>
          <a:bodyPr lIns="0" rIns="0" tIns="0" bIns="0" wrap="square" rtlCol="0"/>
          <a:lstStyle/>
          <a:p>
            <a:pPr>
              <a:lnSpc>
                <a:spcPct val="130000"/>
              </a:lnSpc>
            </a:pPr>
            <a:r>
              <a:rPr lang="en-US" sz="1000" noProof="1">
                <a:solidFill>
                  <a:srgbClr val="9A9284"/>
                </a:solidFill>
                <a:latin typeface="Quattrocento Sans"/>
                <a:ea typeface="Quattrocento Sans"/>
              </a:rPr>
              <a:t>Source: </a:t>
            </a:r>
            <a:r>
              <a:rPr lang="en-US" sz="1000" noProof="1" u="sng">
                <a:solidFill>
                  <a:srgbClr val="0563C1"/>
                </a:solidFill>
                <a:latin typeface="Quattrocento Sans"/>
                <a:ea typeface="Quattrocento Sans"/>
                <a:hlinkClick r:id="rId4"/>
              </a:rPr>
              <a:t>Adobe Analytics via Digital Commerce 360, 2026</a:t>
            </a:r>
            <a:endParaRPr lang="en-US" sz="1000" noProof="1"/>
          </a:p>
        </p:txBody>
      </p:sp>
      <p:sp>
        <p:nvSpPr>
          <p:cNvPr id="13" name="mid-rule"/>
          <p:cNvSpPr/>
          <p:nvPr/>
        </p:nvSpPr>
        <p:spPr>
          <a:xfrm>
            <a:off x="711200" y="3911600"/>
            <a:ext cx="10769600" cy="12700"/>
          </a:xfrm>
          <a:prstGeom prst="rect">
            <a:avLst/>
          </a:prstGeom>
          <a:solidFill>
            <a:srgbClr val="D9D2C4"/>
          </a:solidFill>
          <a:ln>
            <a:noFill/>
          </a:ln>
        </p:spPr>
      </p:sp>
      <p:sp>
        <p:nvSpPr>
          <p:cNvPr id="14" name="so-what-head"/>
          <p:cNvSpPr txBox="1"/>
          <p:nvPr/>
        </p:nvSpPr>
        <p:spPr>
          <a:xfrm>
            <a:off x="711200" y="4114800"/>
            <a:ext cx="10769600" cy="279400"/>
          </a:xfrm>
          <a:prstGeom prst="rect">
            <a:avLst/>
          </a:prstGeom>
          <a:noFill/>
          <a:ln>
            <a:noFill/>
          </a:ln>
        </p:spPr>
        <p:txBody>
          <a:bodyPr lIns="0" rIns="0" tIns="0" bIns="0" wrap="square" rtlCol="0"/>
          <a:lstStyle/>
          <a:p>
            <a:pPr>
              <a:lnSpc>
                <a:spcPct val="120000"/>
              </a:lnSpc>
            </a:pPr>
            <a:r>
              <a:rPr lang="en-US" sz="1700" noProof="1">
                <a:solidFill>
                  <a:srgbClr val="175E54"/>
                </a:solidFill>
                <a:latin typeface="Unna"/>
                <a:ea typeface="Unna"/>
              </a:rPr>
              <a:t>Why these three numbers belong on one slide</a:t>
            </a:r>
            <a:endParaRPr lang="en-US" sz="1700" noProof="1"/>
          </a:p>
        </p:txBody>
      </p:sp>
      <p:sp>
        <p:nvSpPr>
          <p:cNvPr id="15" name="so-what-body"/>
          <p:cNvSpPr txBox="1"/>
          <p:nvPr/>
        </p:nvSpPr>
        <p:spPr>
          <a:xfrm>
            <a:off x="711200" y="4470400"/>
            <a:ext cx="10769600" cy="12700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Scale</a:t>
            </a:r>
            <a:r>
              <a:rPr lang="en-US" sz="1300" noProof="1">
                <a:solidFill>
                  <a:srgbClr val="23272E"/>
                </a:solidFill>
                <a:latin typeface="Quattrocento Sans"/>
                <a:ea typeface="Quattrocento Sans"/>
              </a:rPr>
              <a:t> — e-commerce is no niche channel; it is a multi-trillion-dollar layer of the world economy that every business student will touch, whatever industry they enter.</a:t>
            </a:r>
            <a:endParaRPr lang="en-US" sz="1300" noProof="1"/>
          </a:p>
          <a:p>
            <a:pPr>
              <a:lnSpc>
                <a:spcPct val="145000"/>
              </a:lnSpc>
              <a:spcBef>
                <a:spcPts val="600"/>
              </a:spcBef>
            </a:pPr>
            <a:r>
              <a:rPr lang="en-US" sz="1300" noProof="1" b="1">
                <a:solidFill>
                  <a:srgbClr val="23272E"/>
                </a:solidFill>
                <a:latin typeface="Quattrocento Sans"/>
                <a:ea typeface="Quattrocento Sans"/>
              </a:rPr>
              <a:t>People</a:t>
            </a:r>
            <a:r>
              <a:rPr lang="en-US" sz="1300" noProof="1">
                <a:solidFill>
                  <a:srgbClr val="23272E"/>
                </a:solidFill>
                <a:latin typeface="Quattrocento Sans"/>
                <a:ea typeface="Quattrocento Sans"/>
              </a:rPr>
              <a:t> — your future customers already shop online as a default behaviour, not an experiment.</a:t>
            </a:r>
            <a:endParaRPr lang="en-US" sz="1300" noProof="1"/>
          </a:p>
          <a:p>
            <a:pPr>
              <a:lnSpc>
                <a:spcPct val="145000"/>
              </a:lnSpc>
              <a:spcBef>
                <a:spcPts val="600"/>
              </a:spcBef>
            </a:pPr>
            <a:r>
              <a:rPr lang="en-US" sz="1300" noProof="1" b="1">
                <a:solidFill>
                  <a:srgbClr val="23272E"/>
                </a:solidFill>
                <a:latin typeface="Quattrocento Sans"/>
                <a:ea typeface="Quattrocento Sans"/>
              </a:rPr>
              <a:t>Speed</a:t>
            </a:r>
            <a:r>
              <a:rPr lang="en-US" sz="1300" noProof="1">
                <a:solidFill>
                  <a:srgbClr val="23272E"/>
                </a:solidFill>
                <a:latin typeface="Quattrocento Sans"/>
                <a:ea typeface="Quattrocento Sans"/>
              </a:rPr>
              <a:t> — the newest interface (AI agents) is growing faster than any channel before it; the playbook is being written now, by people with your training.</a:t>
            </a:r>
            <a:endParaRPr lang="en-US" sz="1300" noProof="1"/>
          </a:p>
        </p:txBody>
      </p:sp>
      <p:sp>
        <p:nvSpPr>
          <p:cNvPr id="16" name="literacy-note"/>
          <p:cNvSpPr txBox="1"/>
          <p:nvPr/>
        </p:nvSpPr>
        <p:spPr>
          <a:xfrm>
            <a:off x="711200" y="5842000"/>
            <a:ext cx="10769600" cy="406400"/>
          </a:xfrm>
          <a:prstGeom prst="rect">
            <a:avLst/>
          </a:prstGeom>
          <a:noFill/>
          <a:ln>
            <a:noFill/>
          </a:ln>
        </p:spPr>
        <p:txBody>
          <a:bodyPr lIns="0" rIns="0" tIns="0" bIns="0" wrap="square" rtlCol="0"/>
          <a:lstStyle/>
          <a:p>
            <a:pPr>
              <a:lnSpc>
                <a:spcPct val="135000"/>
              </a:lnSpc>
            </a:pPr>
            <a:r>
              <a:rPr lang="en-US" sz="1100" noProof="1" b="1">
                <a:solidFill>
                  <a:srgbClr val="6E675C"/>
                </a:solidFill>
                <a:latin typeface="Quattrocento Sans"/>
                <a:ea typeface="Quattrocento Sans"/>
              </a:rPr>
              <a:t>Data-literacy note:</a:t>
            </a:r>
            <a:r>
              <a:rPr lang="en-US" sz="1100" noProof="1">
                <a:solidFill>
                  <a:srgbClr val="6E675C"/>
                </a:solidFill>
                <a:latin typeface="Quattrocento Sans"/>
                <a:ea typeface="Quattrocento Sans"/>
              </a:rPr>
              <a:t> research firms publish different totals for the same year (eMarketer's public series show $6.42T–$6.86T for 2025) because scope and methodology differ. This course teaches you to always ask: whose number, whose definition?</a:t>
            </a:r>
            <a:endParaRPr lang="en-US" sz="1100" noProof="1"/>
          </a:p>
        </p:txBody>
      </p:sp>
      <p:sp>
        <p:nvSpPr>
          <p:cNvPr id="17" name="foot-rule"/>
          <p:cNvSpPr/>
          <p:nvPr/>
        </p:nvSpPr>
        <p:spPr>
          <a:xfrm>
            <a:off x="711200" y="6451600"/>
            <a:ext cx="10769600" cy="12700"/>
          </a:xfrm>
          <a:prstGeom prst="rect">
            <a:avLst/>
          </a:prstGeom>
          <a:solidFill>
            <a:srgbClr val="D9D2C4"/>
          </a:solidFill>
          <a:ln>
            <a:noFill/>
          </a:ln>
        </p:spPr>
      </p:sp>
      <p:sp>
        <p:nvSpPr>
          <p:cNvPr id="18"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9"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20"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a:t>
            </a:r>
            <a:endParaRPr lang="en-US" sz="950" noProof="1"/>
          </a:p>
        </p:txBody>
      </p:sp>
    </p:spTree>
  </p:cSld>
  <p:clrMapOvr>
    <a:masterClrMapping/>
  </p:clrMapOvr>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THE COURSE JOURNEY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Fifteen topics, fourteen weeks, one arc — you are here</a:t>
            </a:r>
            <a:endParaRPr lang="en-US" sz="2600" noProof="1"/>
          </a:p>
        </p:txBody>
      </p:sp>
      <p:sp>
        <p:nvSpPr>
          <p:cNvPr id="4" name="stage1"/>
          <p:cNvSpPr/>
          <p:nvPr/>
        </p:nvSpPr>
        <p:spPr>
          <a:xfrm>
            <a:off x="711200" y="1498600"/>
            <a:ext cx="3327400" cy="965200"/>
          </a:xfrm>
          <a:prstGeom prst="homePlate">
            <a:avLst/>
          </a:prstGeom>
          <a:solidFill>
            <a:srgbClr val="175E54"/>
          </a:solidFill>
          <a:ln>
            <a:noFill/>
          </a:ln>
        </p:spPr>
      </p:sp>
      <p:sp>
        <p:nvSpPr>
          <p:cNvPr id="5" name="stage1-text"/>
          <p:cNvSpPr txBox="1"/>
          <p:nvPr/>
        </p:nvSpPr>
        <p:spPr>
          <a:xfrm>
            <a:off x="889000" y="1625600"/>
            <a:ext cx="2794000" cy="711200"/>
          </a:xfrm>
          <a:prstGeom prst="rect">
            <a:avLst/>
          </a:prstGeom>
          <a:noFill/>
          <a:ln>
            <a:noFill/>
          </a:ln>
        </p:spPr>
        <p:txBody>
          <a:bodyPr lIns="0" rIns="0" tIns="0" bIns="0" wrap="square" rtlCol="0"/>
          <a:lstStyle/>
          <a:p>
            <a:pPr>
              <a:lnSpc>
                <a:spcPct val="135000"/>
              </a:lnSpc>
            </a:pPr>
            <a:r>
              <a:rPr lang="en-US" sz="1250" noProof="1" b="1">
                <a:solidFill>
                  <a:srgbClr val="FFFFFF"/>
                </a:solidFill>
                <a:latin typeface="Quattrocento Sans"/>
                <a:ea typeface="Quattrocento Sans"/>
              </a:rPr>
              <a:t>FOUNDATIONS</a:t>
            </a:r>
            <a:endParaRPr lang="en-US" sz="1250" noProof="1"/>
          </a:p>
          <a:p>
            <a:pPr>
              <a:lnSpc>
                <a:spcPct val="135000"/>
              </a:lnSpc>
            </a:pPr>
            <a:r>
              <a:rPr lang="en-US" sz="1250" noProof="1">
                <a:solidFill>
                  <a:srgbClr val="FFFFFF"/>
                </a:solidFill>
                <a:latin typeface="Quattrocento Sans"/>
                <a:ea typeface="Quattrocento Sans"/>
              </a:rPr>
              <a:t>Weeks 1–7 · Topics 1–9</a:t>
            </a:r>
            <a:endParaRPr lang="en-US" sz="1250" noProof="1"/>
          </a:p>
        </p:txBody>
      </p:sp>
      <p:sp>
        <p:nvSpPr>
          <p:cNvPr id="6" name="stage2"/>
          <p:cNvSpPr/>
          <p:nvPr/>
        </p:nvSpPr>
        <p:spPr>
          <a:xfrm>
            <a:off x="4432300" y="1498600"/>
            <a:ext cx="3327400" cy="965200"/>
          </a:xfrm>
          <a:prstGeom prst="homePlate">
            <a:avLst/>
          </a:prstGeom>
          <a:solidFill>
            <a:srgbClr val="E2ECE8"/>
          </a:solidFill>
          <a:ln>
            <a:noFill/>
          </a:ln>
        </p:spPr>
      </p:sp>
      <p:sp>
        <p:nvSpPr>
          <p:cNvPr id="7" name="stage2-text"/>
          <p:cNvSpPr txBox="1"/>
          <p:nvPr/>
        </p:nvSpPr>
        <p:spPr>
          <a:xfrm>
            <a:off x="4787900" y="1625600"/>
            <a:ext cx="2794000" cy="711200"/>
          </a:xfrm>
          <a:prstGeom prst="rect">
            <a:avLst/>
          </a:prstGeom>
          <a:noFill/>
          <a:ln>
            <a:noFill/>
          </a:ln>
        </p:spPr>
        <p:txBody>
          <a:bodyPr lIns="0" rIns="0" tIns="0" bIns="0" wrap="square" rtlCol="0"/>
          <a:lstStyle/>
          <a:p>
            <a:pPr>
              <a:lnSpc>
                <a:spcPct val="135000"/>
              </a:lnSpc>
            </a:pPr>
            <a:r>
              <a:rPr lang="en-US" sz="1250" noProof="1" b="1">
                <a:solidFill>
                  <a:srgbClr val="175E54"/>
                </a:solidFill>
                <a:latin typeface="Quattrocento Sans"/>
                <a:ea typeface="Quattrocento Sans"/>
              </a:rPr>
              <a:t>DEEPENING</a:t>
            </a:r>
            <a:endParaRPr lang="en-US" sz="1250" noProof="1"/>
          </a:p>
          <a:p>
            <a:pPr>
              <a:lnSpc>
                <a:spcPct val="135000"/>
              </a:lnSpc>
            </a:pPr>
            <a:r>
              <a:rPr lang="en-US" sz="1250" noProof="1">
                <a:solidFill>
                  <a:srgbClr val="175E54"/>
                </a:solidFill>
                <a:latin typeface="Quattrocento Sans"/>
                <a:ea typeface="Quattrocento Sans"/>
              </a:rPr>
              <a:t>Weeks 8–13 · Topics 10–15</a:t>
            </a:r>
            <a:endParaRPr lang="en-US" sz="1250" noProof="1"/>
          </a:p>
        </p:txBody>
      </p:sp>
      <p:sp>
        <p:nvSpPr>
          <p:cNvPr id="8" name="stage3"/>
          <p:cNvSpPr/>
          <p:nvPr/>
        </p:nvSpPr>
        <p:spPr>
          <a:xfrm>
            <a:off x="8153400" y="1498600"/>
            <a:ext cx="3327400" cy="965200"/>
          </a:xfrm>
          <a:prstGeom prst="homePlate">
            <a:avLst/>
          </a:prstGeom>
          <a:solidFill>
            <a:srgbClr val="F6E7DE"/>
          </a:solidFill>
          <a:ln>
            <a:noFill/>
          </a:ln>
        </p:spPr>
      </p:sp>
      <p:sp>
        <p:nvSpPr>
          <p:cNvPr id="9" name="stage3-text"/>
          <p:cNvSpPr txBox="1"/>
          <p:nvPr/>
        </p:nvSpPr>
        <p:spPr>
          <a:xfrm>
            <a:off x="8509000" y="1625600"/>
            <a:ext cx="2794000" cy="711200"/>
          </a:xfrm>
          <a:prstGeom prst="rect">
            <a:avLst/>
          </a:prstGeom>
          <a:noFill/>
          <a:ln>
            <a:noFill/>
          </a:ln>
        </p:spPr>
        <p:txBody>
          <a:bodyPr lIns="0" rIns="0" tIns="0" bIns="0" wrap="square" rtlCol="0"/>
          <a:lstStyle/>
          <a:p>
            <a:pPr>
              <a:lnSpc>
                <a:spcPct val="135000"/>
              </a:lnSpc>
            </a:pPr>
            <a:r>
              <a:rPr lang="en-US" sz="1250" noProof="1" b="1">
                <a:solidFill>
                  <a:srgbClr val="BC4B26"/>
                </a:solidFill>
                <a:latin typeface="Quattrocento Sans"/>
                <a:ea typeface="Quattrocento Sans"/>
              </a:rPr>
              <a:t>CAPSTONE</a:t>
            </a:r>
            <a:endParaRPr lang="en-US" sz="1250" noProof="1"/>
          </a:p>
          <a:p>
            <a:pPr>
              <a:lnSpc>
                <a:spcPct val="135000"/>
              </a:lnSpc>
            </a:pPr>
            <a:r>
              <a:rPr lang="en-US" sz="1250" noProof="1">
                <a:solidFill>
                  <a:srgbClr val="BC4B26"/>
                </a:solidFill>
                <a:latin typeface="Quattrocento Sans"/>
                <a:ea typeface="Quattrocento Sans"/>
              </a:rPr>
              <a:t>Week 14 · Team presentations</a:t>
            </a:r>
            <a:endParaRPr lang="en-US" sz="1250" noProof="1"/>
          </a:p>
        </p:txBody>
      </p:sp>
      <p:sp>
        <p:nvSpPr>
          <p:cNvPr id="10" name="col1-head"/>
          <p:cNvSpPr txBox="1"/>
          <p:nvPr/>
        </p:nvSpPr>
        <p:spPr>
          <a:xfrm>
            <a:off x="711200" y="2717800"/>
            <a:ext cx="3327400" cy="254000"/>
          </a:xfrm>
          <a:prstGeom prst="rect">
            <a:avLst/>
          </a:prstGeom>
          <a:noFill/>
          <a:ln>
            <a:noFill/>
          </a:ln>
        </p:spPr>
        <p:txBody>
          <a:bodyPr lIns="0" rIns="0" tIns="0" bIns="0" wrap="square" rtlCol="0"/>
          <a:lstStyle/>
          <a:p>
            <a:pPr>
              <a:lnSpc>
                <a:spcPct val="120000"/>
              </a:lnSpc>
            </a:pPr>
            <a:r>
              <a:rPr lang="en-US" sz="1200" noProof="1" b="1">
                <a:solidFill>
                  <a:srgbClr val="175E54"/>
                </a:solidFill>
                <a:latin typeface="Quattrocento Sans"/>
                <a:ea typeface="Quattrocento Sans"/>
              </a:rPr>
              <a:t>What the first half covers</a:t>
            </a:r>
            <a:endParaRPr lang="en-US" sz="1200" noProof="1"/>
          </a:p>
        </p:txBody>
      </p:sp>
      <p:sp>
        <p:nvSpPr>
          <p:cNvPr id="11" name="col1-body"/>
          <p:cNvSpPr txBox="1"/>
          <p:nvPr/>
        </p:nvSpPr>
        <p:spPr>
          <a:xfrm>
            <a:off x="711200" y="3022600"/>
            <a:ext cx="3327400" cy="2159000"/>
          </a:xfrm>
          <a:prstGeom prst="rect">
            <a:avLst/>
          </a:prstGeom>
          <a:noFill/>
          <a:ln>
            <a:noFill/>
          </a:ln>
        </p:spPr>
        <p:txBody>
          <a:bodyPr lIns="0" rIns="0" tIns="0" bIns="0" wrap="square" rtlCol="0"/>
          <a:lstStyle/>
          <a:p>
            <a:pPr>
              <a:lnSpc>
                <a:spcPct val="150000"/>
              </a:lnSpc>
              <a:spcBef>
                <a:spcPts val="10"/>
              </a:spcBef>
              <a:buChar char="•"/>
            </a:pPr>
            <a:r>
              <a:rPr lang="en-US" sz="1200" noProof="1">
                <a:solidFill>
                  <a:srgbClr val="23272E"/>
                </a:solidFill>
                <a:latin typeface="Quattrocento Sans"/>
                <a:ea typeface="Quattrocento Sans"/>
              </a:rPr>
              <a:t>How commerce evolved and where AI agents fit (Topics 1–3)</a:t>
            </a:r>
            <a:endParaRPr lang="en-US" sz="1200" noProof="1"/>
          </a:p>
          <a:p>
            <a:pPr>
              <a:lnSpc>
                <a:spcPct val="150000"/>
              </a:lnSpc>
              <a:spcBef>
                <a:spcPts val="10"/>
              </a:spcBef>
              <a:buChar char="•"/>
            </a:pPr>
            <a:r>
              <a:rPr lang="en-US" sz="1200" noProof="1">
                <a:solidFill>
                  <a:srgbClr val="23272E"/>
                </a:solidFill>
                <a:latin typeface="Quattrocento Sans"/>
                <a:ea typeface="Quattrocento Sans"/>
              </a:rPr>
              <a:t>Digital consumer behaviour and personalisation</a:t>
            </a:r>
            <a:endParaRPr lang="en-US" sz="1200" noProof="1"/>
          </a:p>
          <a:p>
            <a:pPr>
              <a:lnSpc>
                <a:spcPct val="150000"/>
              </a:lnSpc>
              <a:spcBef>
                <a:spcPts val="10"/>
              </a:spcBef>
              <a:buChar char="•"/>
            </a:pPr>
            <a:r>
              <a:rPr lang="en-US" sz="1200" noProof="1">
                <a:solidFill>
                  <a:srgbClr val="23272E"/>
                </a:solidFill>
                <a:latin typeface="Quattrocento Sans"/>
                <a:ea typeface="Quattrocento Sans"/>
              </a:rPr>
              <a:t>Channels, platforms, growth and strategy topics</a:t>
            </a:r>
            <a:endParaRPr lang="en-US" sz="1200" noProof="1"/>
          </a:p>
        </p:txBody>
      </p:sp>
      <p:sp>
        <p:nvSpPr>
          <p:cNvPr id="12" name="col1-milestone"/>
          <p:cNvSpPr txBox="1"/>
          <p:nvPr/>
        </p:nvSpPr>
        <p:spPr>
          <a:xfrm>
            <a:off x="711200" y="5283200"/>
            <a:ext cx="3327400" cy="762000"/>
          </a:xfrm>
          <a:prstGeom prst="rect">
            <a:avLst/>
          </a:prstGeom>
          <a:noFill/>
          <a:ln>
            <a:noFill/>
          </a:ln>
        </p:spPr>
        <p:txBody>
          <a:bodyPr lIns="0" rIns="0" tIns="0" bIns="0" wrap="square" rtlCol="0"/>
          <a:lstStyle/>
          <a:p>
            <a:pPr>
              <a:lnSpc>
                <a:spcPct val="140000"/>
              </a:lnSpc>
            </a:pPr>
            <a:r>
              <a:rPr lang="en-US" sz="1200" noProof="1" b="1">
                <a:solidFill>
                  <a:srgbClr val="BC4B26"/>
                </a:solidFill>
                <a:latin typeface="Quattrocento Sans"/>
                <a:ea typeface="Quattrocento Sans"/>
              </a:rPr>
              <a:t>Milestone — Week 7:</a:t>
            </a:r>
            <a:r>
              <a:rPr lang="en-US" sz="1200" noProof="1">
                <a:solidFill>
                  <a:srgbClr val="BC4B26"/>
                </a:solidFill>
                <a:latin typeface="Quattrocento Sans"/>
                <a:ea typeface="Quattrocento Sans"/>
              </a:rPr>
              <a:t> team presentations, Slots 1–2 (brief in the Week 7 deck)</a:t>
            </a:r>
            <a:endParaRPr lang="en-US" sz="1200" noProof="1"/>
          </a:p>
        </p:txBody>
      </p:sp>
      <p:sp>
        <p:nvSpPr>
          <p:cNvPr id="13" name="col2-head"/>
          <p:cNvSpPr txBox="1"/>
          <p:nvPr/>
        </p:nvSpPr>
        <p:spPr>
          <a:xfrm>
            <a:off x="4432300" y="2717800"/>
            <a:ext cx="3327400" cy="254000"/>
          </a:xfrm>
          <a:prstGeom prst="rect">
            <a:avLst/>
          </a:prstGeom>
          <a:noFill/>
          <a:ln>
            <a:noFill/>
          </a:ln>
        </p:spPr>
        <p:txBody>
          <a:bodyPr lIns="0" rIns="0" tIns="0" bIns="0" wrap="square" rtlCol="0"/>
          <a:lstStyle/>
          <a:p>
            <a:pPr>
              <a:lnSpc>
                <a:spcPct val="120000"/>
              </a:lnSpc>
            </a:pPr>
            <a:r>
              <a:rPr lang="en-US" sz="1200" noProof="1" b="1">
                <a:solidFill>
                  <a:srgbClr val="175E54"/>
                </a:solidFill>
                <a:latin typeface="Quattrocento Sans"/>
                <a:ea typeface="Quattrocento Sans"/>
              </a:rPr>
              <a:t>What the second half covers</a:t>
            </a:r>
            <a:endParaRPr lang="en-US" sz="1200" noProof="1"/>
          </a:p>
        </p:txBody>
      </p:sp>
      <p:sp>
        <p:nvSpPr>
          <p:cNvPr id="14" name="col2-body"/>
          <p:cNvSpPr txBox="1"/>
          <p:nvPr/>
        </p:nvSpPr>
        <p:spPr>
          <a:xfrm>
            <a:off x="4432300" y="3022600"/>
            <a:ext cx="3327400" cy="2159000"/>
          </a:xfrm>
          <a:prstGeom prst="rect">
            <a:avLst/>
          </a:prstGeom>
          <a:noFill/>
          <a:ln>
            <a:noFill/>
          </a:ln>
        </p:spPr>
        <p:txBody>
          <a:bodyPr lIns="0" rIns="0" tIns="0" bIns="0" wrap="square" rtlCol="0"/>
          <a:lstStyle/>
          <a:p>
            <a:pPr>
              <a:lnSpc>
                <a:spcPct val="150000"/>
              </a:lnSpc>
              <a:spcBef>
                <a:spcPts val="10"/>
              </a:spcBef>
              <a:buChar char="•"/>
            </a:pPr>
            <a:r>
              <a:rPr lang="en-US" sz="1200" noProof="1">
                <a:solidFill>
                  <a:srgbClr val="23272E"/>
                </a:solidFill>
                <a:latin typeface="Quattrocento Sans"/>
                <a:ea typeface="Quattrocento Sans"/>
              </a:rPr>
              <a:t>Advanced topics: loyalty, operations, emerging commerce models</a:t>
            </a:r>
            <a:endParaRPr lang="en-US" sz="1200" noProof="1"/>
          </a:p>
          <a:p>
            <a:pPr>
              <a:lnSpc>
                <a:spcPct val="150000"/>
              </a:lnSpc>
              <a:spcBef>
                <a:spcPts val="10"/>
              </a:spcBef>
              <a:buChar char="•"/>
            </a:pPr>
            <a:r>
              <a:rPr lang="en-US" sz="1200" noProof="1">
                <a:solidFill>
                  <a:srgbClr val="23272E"/>
                </a:solidFill>
                <a:latin typeface="Quattrocento Sans"/>
                <a:ea typeface="Quattrocento Sans"/>
              </a:rPr>
              <a:t>Each topic follows the same loop: concept → framework → evidence → case</a:t>
            </a:r>
            <a:endParaRPr lang="en-US" sz="1200" noProof="1"/>
          </a:p>
          <a:p>
            <a:pPr>
              <a:lnSpc>
                <a:spcPct val="150000"/>
              </a:lnSpc>
              <a:spcBef>
                <a:spcPts val="10"/>
              </a:spcBef>
              <a:buChar char="•"/>
            </a:pPr>
            <a:r>
              <a:rPr lang="en-US" sz="1200" noProof="1">
                <a:solidFill>
                  <a:srgbClr val="23272E"/>
                </a:solidFill>
                <a:latin typeface="Quattrocento Sans"/>
                <a:ea typeface="Quattrocento Sans"/>
              </a:rPr>
              <a:t>Capstone teams form and scope their project</a:t>
            </a:r>
            <a:endParaRPr lang="en-US" sz="1200" noProof="1"/>
          </a:p>
        </p:txBody>
      </p:sp>
      <p:sp>
        <p:nvSpPr>
          <p:cNvPr id="15" name="col2-milestone"/>
          <p:cNvSpPr txBox="1"/>
          <p:nvPr/>
        </p:nvSpPr>
        <p:spPr>
          <a:xfrm>
            <a:off x="4432300" y="5283200"/>
            <a:ext cx="3327400" cy="762000"/>
          </a:xfrm>
          <a:prstGeom prst="rect">
            <a:avLst/>
          </a:prstGeom>
          <a:noFill/>
          <a:ln>
            <a:noFill/>
          </a:ln>
        </p:spPr>
        <p:txBody>
          <a:bodyPr lIns="0" rIns="0" tIns="0" bIns="0" wrap="square" rtlCol="0"/>
          <a:lstStyle/>
          <a:p>
            <a:pPr>
              <a:lnSpc>
                <a:spcPct val="140000"/>
              </a:lnSpc>
            </a:pPr>
            <a:r>
              <a:rPr lang="en-US" sz="1200" noProof="1" b="1">
                <a:solidFill>
                  <a:srgbClr val="6E675C"/>
                </a:solidFill>
                <a:latin typeface="Quattrocento Sans"/>
                <a:ea typeface="Quattrocento Sans"/>
              </a:rPr>
              <a:t>Along the way:</a:t>
            </a:r>
            <a:r>
              <a:rPr lang="en-US" sz="1200" noProof="1">
                <a:solidFill>
                  <a:srgbClr val="6E675C"/>
                </a:solidFill>
                <a:latin typeface="Quattrocento Sans"/>
                <a:ea typeface="Quattrocento Sans"/>
              </a:rPr>
              <a:t> discussion questions and team activities every session build your case muscles</a:t>
            </a:r>
            <a:endParaRPr lang="en-US" sz="1200" noProof="1"/>
          </a:p>
        </p:txBody>
      </p:sp>
      <p:sp>
        <p:nvSpPr>
          <p:cNvPr id="16" name="col3-head"/>
          <p:cNvSpPr txBox="1"/>
          <p:nvPr/>
        </p:nvSpPr>
        <p:spPr>
          <a:xfrm>
            <a:off x="8153400" y="2717800"/>
            <a:ext cx="3327400" cy="254000"/>
          </a:xfrm>
          <a:prstGeom prst="rect">
            <a:avLst/>
          </a:prstGeom>
          <a:noFill/>
          <a:ln>
            <a:noFill/>
          </a:ln>
        </p:spPr>
        <p:txBody>
          <a:bodyPr lIns="0" rIns="0" tIns="0" bIns="0" wrap="square" rtlCol="0"/>
          <a:lstStyle/>
          <a:p>
            <a:pPr>
              <a:lnSpc>
                <a:spcPct val="120000"/>
              </a:lnSpc>
            </a:pPr>
            <a:r>
              <a:rPr lang="en-US" sz="1200" noProof="1" b="1">
                <a:solidFill>
                  <a:srgbClr val="175E54"/>
                </a:solidFill>
                <a:latin typeface="Quattrocento Sans"/>
                <a:ea typeface="Quattrocento Sans"/>
              </a:rPr>
              <a:t>How it ends</a:t>
            </a:r>
            <a:endParaRPr lang="en-US" sz="1200" noProof="1"/>
          </a:p>
        </p:txBody>
      </p:sp>
      <p:sp>
        <p:nvSpPr>
          <p:cNvPr id="17" name="col3-body"/>
          <p:cNvSpPr txBox="1"/>
          <p:nvPr/>
        </p:nvSpPr>
        <p:spPr>
          <a:xfrm>
            <a:off x="8153400" y="3022600"/>
            <a:ext cx="3327400" cy="2159000"/>
          </a:xfrm>
          <a:prstGeom prst="rect">
            <a:avLst/>
          </a:prstGeom>
          <a:noFill/>
          <a:ln>
            <a:noFill/>
          </a:ln>
        </p:spPr>
        <p:txBody>
          <a:bodyPr lIns="0" rIns="0" tIns="0" bIns="0" wrap="square" rtlCol="0"/>
          <a:lstStyle/>
          <a:p>
            <a:pPr>
              <a:lnSpc>
                <a:spcPct val="150000"/>
              </a:lnSpc>
              <a:spcBef>
                <a:spcPts val="10"/>
              </a:spcBef>
              <a:buChar char="•"/>
            </a:pPr>
            <a:r>
              <a:rPr lang="en-US" sz="1200" noProof="1">
                <a:solidFill>
                  <a:srgbClr val="23272E"/>
                </a:solidFill>
                <a:latin typeface="Quattrocento Sans"/>
                <a:ea typeface="Quattrocento Sans"/>
              </a:rPr>
              <a:t>Week 14: capstone presentations to the class</a:t>
            </a:r>
            <a:endParaRPr lang="en-US" sz="1200" noProof="1"/>
          </a:p>
          <a:p>
            <a:pPr>
              <a:lnSpc>
                <a:spcPct val="150000"/>
              </a:lnSpc>
              <a:spcBef>
                <a:spcPts val="10"/>
              </a:spcBef>
              <a:buChar char="•"/>
            </a:pPr>
            <a:r>
              <a:rPr lang="en-US" sz="1200" noProof="1">
                <a:solidFill>
                  <a:srgbClr val="23272E"/>
                </a:solidFill>
                <a:latin typeface="Quattrocento Sans"/>
                <a:ea typeface="Quattrocento Sans"/>
              </a:rPr>
              <a:t>Teams apply the full toolkit to one real commerce challenge</a:t>
            </a:r>
            <a:endParaRPr lang="en-US" sz="1200" noProof="1"/>
          </a:p>
          <a:p>
            <a:pPr>
              <a:lnSpc>
                <a:spcPct val="150000"/>
              </a:lnSpc>
              <a:spcBef>
                <a:spcPts val="10"/>
              </a:spcBef>
              <a:buChar char="•"/>
            </a:pPr>
            <a:r>
              <a:rPr lang="en-US" sz="1200" noProof="1">
                <a:solidFill>
                  <a:srgbClr val="23272E"/>
                </a:solidFill>
                <a:latin typeface="Quattrocento Sans"/>
                <a:ea typeface="Quattrocento Sans"/>
              </a:rPr>
              <a:t>Course synthesis: the commerce landscape of 2030</a:t>
            </a:r>
            <a:endParaRPr lang="en-US" sz="1200" noProof="1"/>
          </a:p>
        </p:txBody>
      </p:sp>
      <p:sp>
        <p:nvSpPr>
          <p:cNvPr id="18" name="col3-milestone"/>
          <p:cNvSpPr txBox="1"/>
          <p:nvPr/>
        </p:nvSpPr>
        <p:spPr>
          <a:xfrm>
            <a:off x="8153400" y="5283200"/>
            <a:ext cx="3327400" cy="762000"/>
          </a:xfrm>
          <a:prstGeom prst="rect">
            <a:avLst/>
          </a:prstGeom>
          <a:noFill/>
          <a:ln>
            <a:noFill/>
          </a:ln>
        </p:spPr>
        <p:txBody>
          <a:bodyPr lIns="0" rIns="0" tIns="0" bIns="0" wrap="square" rtlCol="0"/>
          <a:lstStyle/>
          <a:p>
            <a:pPr>
              <a:lnSpc>
                <a:spcPct val="140000"/>
              </a:lnSpc>
            </a:pPr>
            <a:r>
              <a:rPr lang="en-US" sz="1200" noProof="1" b="1">
                <a:solidFill>
                  <a:srgbClr val="6E675C"/>
                </a:solidFill>
                <a:latin typeface="Quattrocento Sans"/>
                <a:ea typeface="Quattrocento Sans"/>
              </a:rPr>
              <a:t>Today:</a:t>
            </a:r>
            <a:r>
              <a:rPr lang="en-US" sz="1200" noProof="1">
                <a:solidFill>
                  <a:srgbClr val="6E675C"/>
                </a:solidFill>
                <a:latin typeface="Quattrocento Sans"/>
                <a:ea typeface="Quattrocento Sans"/>
              </a:rPr>
              <a:t> Session A launches the course; Session B opens Topic 1</a:t>
            </a:r>
            <a:endParaRPr lang="en-US" sz="1200" noProof="1"/>
          </a:p>
        </p:txBody>
      </p:sp>
      <p:sp>
        <p:nvSpPr>
          <p:cNvPr id="19" name="foot-rule"/>
          <p:cNvSpPr/>
          <p:nvPr/>
        </p:nvSpPr>
        <p:spPr>
          <a:xfrm>
            <a:off x="711200" y="6451600"/>
            <a:ext cx="10769600" cy="12700"/>
          </a:xfrm>
          <a:prstGeom prst="rect">
            <a:avLst/>
          </a:prstGeom>
          <a:solidFill>
            <a:srgbClr val="D9D2C4"/>
          </a:solidFill>
          <a:ln>
            <a:noFill/>
          </a:ln>
        </p:spPr>
      </p:sp>
      <p:sp>
        <p:nvSpPr>
          <p:cNvPr id="20"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21"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22"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4</a:t>
            </a:r>
            <a:endParaRPr lang="en-US" sz="950" noProof="1"/>
          </a:p>
        </p:txBody>
      </p:sp>
    </p:spTree>
  </p:cSld>
  <p:clrMapOvr>
    <a:masterClrMapping/>
  </p:clrMapOvr>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LEARNING OUTCOMES</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By Week 7, you will be able to do four things</a:t>
            </a:r>
            <a:endParaRPr lang="en-US" sz="2600" noProof="1"/>
          </a:p>
        </p:txBody>
      </p:sp>
      <p:sp>
        <p:nvSpPr>
          <p:cNvPr id="4" name="obj1-icon"/>
          <p:cNvSpPr/>
          <p:nvPr>
            <p:extLst>
              <p:ext uri="{F5677B7D-0D2A-4D9B-9A5C-6D8D7D0E5A5D}">
                <pptd:icon encoding="base64url">eyJpY29uTmFtZSI6ImZhczpjaGFydC1saW5lIn0</pptd:icon>
              </p:ext>
            </p:extLst>
          </p:nvPr>
        </p:nvSpPr>
        <p:spPr>
          <a:xfrm>
            <a:off x="711200" y="1549400"/>
            <a:ext cx="304800" cy="304800"/>
          </a:xfrm>
          <a:custGeom>
            <a:avLst/>
            <a:gdLst/>
            <a:ahLst/>
            <a:cxnLst/>
            <a:rect l="l" t="t" r="r" b="b"/>
            <a:pathLst>
              <a:path w="512" h="512">
                <a:moveTo>
                  <a:pt x="64" y="64"/>
                </a:moveTo>
                <a:cubicBezTo>
                  <a:pt x="64" y="46"/>
                  <a:pt x="50" y="32"/>
                  <a:pt x="32" y="32"/>
                </a:cubicBezTo>
                <a:cubicBezTo>
                  <a:pt x="14" y="32"/>
                  <a:pt x="0" y="46"/>
                  <a:pt x="0" y="64"/>
                </a:cubicBezTo>
                <a:lnTo>
                  <a:pt x="0" y="400"/>
                </a:lnTo>
                <a:cubicBezTo>
                  <a:pt x="0" y="444"/>
                  <a:pt x="36" y="480"/>
                  <a:pt x="80" y="480"/>
                </a:cubicBezTo>
                <a:lnTo>
                  <a:pt x="480" y="480"/>
                </a:lnTo>
                <a:cubicBezTo>
                  <a:pt x="498" y="480"/>
                  <a:pt x="512" y="466"/>
                  <a:pt x="512" y="448"/>
                </a:cubicBezTo>
                <a:cubicBezTo>
                  <a:pt x="512" y="430"/>
                  <a:pt x="498" y="416"/>
                  <a:pt x="480" y="416"/>
                </a:cubicBezTo>
                <a:lnTo>
                  <a:pt x="80" y="416"/>
                </a:lnTo>
                <a:cubicBezTo>
                  <a:pt x="71" y="416"/>
                  <a:pt x="64" y="409"/>
                  <a:pt x="64" y="400"/>
                </a:cubicBezTo>
                <a:lnTo>
                  <a:pt x="64" y="64"/>
                </a:lnTo>
                <a:close/>
                <a:moveTo>
                  <a:pt x="471" y="151"/>
                </a:moveTo>
                <a:cubicBezTo>
                  <a:pt x="483" y="138"/>
                  <a:pt x="483" y="118"/>
                  <a:pt x="471" y="105"/>
                </a:cubicBezTo>
                <a:cubicBezTo>
                  <a:pt x="458" y="93"/>
                  <a:pt x="438" y="93"/>
                  <a:pt x="425" y="105"/>
                </a:cubicBezTo>
                <a:lnTo>
                  <a:pt x="320" y="211"/>
                </a:lnTo>
                <a:lnTo>
                  <a:pt x="263" y="153"/>
                </a:lnTo>
                <a:cubicBezTo>
                  <a:pt x="250" y="141"/>
                  <a:pt x="230" y="141"/>
                  <a:pt x="217" y="153"/>
                </a:cubicBezTo>
                <a:lnTo>
                  <a:pt x="121" y="249"/>
                </a:lnTo>
                <a:cubicBezTo>
                  <a:pt x="109" y="262"/>
                  <a:pt x="109" y="282"/>
                  <a:pt x="121" y="295"/>
                </a:cubicBezTo>
                <a:cubicBezTo>
                  <a:pt x="134" y="307"/>
                  <a:pt x="154" y="307"/>
                  <a:pt x="167" y="295"/>
                </a:cubicBezTo>
                <a:lnTo>
                  <a:pt x="240" y="221"/>
                </a:lnTo>
                <a:lnTo>
                  <a:pt x="297" y="279"/>
                </a:lnTo>
                <a:cubicBezTo>
                  <a:pt x="310" y="291"/>
                  <a:pt x="330" y="291"/>
                  <a:pt x="343" y="279"/>
                </a:cubicBezTo>
                <a:lnTo>
                  <a:pt x="471" y="151"/>
                </a:lnTo>
                <a:close/>
              </a:path>
            </a:pathLst>
          </a:custGeom>
          <a:solidFill>
            <a:srgbClr val="175E54"/>
          </a:solidFill>
          <a:ln>
            <a:noFill/>
          </a:ln>
        </p:spPr>
      </p:sp>
      <p:sp>
        <p:nvSpPr>
          <p:cNvPr id="5" name="obj1-head"/>
          <p:cNvSpPr txBox="1"/>
          <p:nvPr/>
        </p:nvSpPr>
        <p:spPr>
          <a:xfrm>
            <a:off x="1219200" y="15240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Quantify the market</a:t>
            </a:r>
            <a:endParaRPr lang="en-US" sz="1450" noProof="1"/>
          </a:p>
        </p:txBody>
      </p:sp>
      <p:sp>
        <p:nvSpPr>
          <p:cNvPr id="6" name="obj1-body"/>
          <p:cNvSpPr txBox="1"/>
          <p:nvPr/>
        </p:nvSpPr>
        <p:spPr>
          <a:xfrm>
            <a:off x="1219200" y="1828800"/>
            <a:ext cx="10261600" cy="5080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Size the global e-commerce market — value, growth rate, share of retail — using at least two independent sources, and explain why research firms' estimates differ.</a:t>
            </a:r>
            <a:endParaRPr lang="en-US" sz="1250" noProof="1"/>
          </a:p>
        </p:txBody>
      </p:sp>
      <p:sp>
        <p:nvSpPr>
          <p:cNvPr id="7" name="obj2-icon"/>
          <p:cNvSpPr/>
          <p:nvPr>
            <p:extLst>
              <p:ext uri="{F5677B7D-0D2A-4D9B-9A5C-6D8D7D0E5A5D}">
                <pptd:icon encoding="base64url">eyJpY29uTmFtZSI6ImZhczpnbG9iZSJ9</pptd:icon>
              </p:ext>
            </p:extLst>
          </p:nvPr>
        </p:nvSpPr>
        <p:spPr>
          <a:xfrm>
            <a:off x="711200" y="2692400"/>
            <a:ext cx="304800" cy="304800"/>
          </a:xfrm>
          <a:custGeom>
            <a:avLst/>
            <a:gdLst/>
            <a:ahLst/>
            <a:cxnLst/>
            <a:rect l="l" t="t" r="r" b="b"/>
            <a:pathLst>
              <a:path w="512" h="512">
                <a:moveTo>
                  <a:pt x="352" y="280"/>
                </a:moveTo>
                <a:lnTo>
                  <a:pt x="161" y="280"/>
                </a:lnTo>
                <a:cubicBezTo>
                  <a:pt x="164" y="345"/>
                  <a:pt x="178" y="404"/>
                  <a:pt x="198" y="447"/>
                </a:cubicBezTo>
                <a:cubicBezTo>
                  <a:pt x="210" y="472"/>
                  <a:pt x="222" y="489"/>
                  <a:pt x="234" y="500"/>
                </a:cubicBezTo>
                <a:cubicBezTo>
                  <a:pt x="245" y="510"/>
                  <a:pt x="252" y="512"/>
                  <a:pt x="256" y="512"/>
                </a:cubicBezTo>
                <a:cubicBezTo>
                  <a:pt x="260" y="512"/>
                  <a:pt x="268" y="510"/>
                  <a:pt x="279" y="500"/>
                </a:cubicBezTo>
                <a:cubicBezTo>
                  <a:pt x="291" y="489"/>
                  <a:pt x="303" y="472"/>
                  <a:pt x="314" y="447"/>
                </a:cubicBezTo>
                <a:cubicBezTo>
                  <a:pt x="335" y="404"/>
                  <a:pt x="349" y="345"/>
                  <a:pt x="352" y="280"/>
                </a:cubicBezTo>
                <a:close/>
              </a:path>
              <a:path w="512" h="512">
                <a:moveTo>
                  <a:pt x="161" y="232"/>
                </a:moveTo>
                <a:lnTo>
                  <a:pt x="352" y="232"/>
                </a:lnTo>
                <a:cubicBezTo>
                  <a:pt x="349" y="168"/>
                  <a:pt x="335" y="108"/>
                  <a:pt x="314" y="65"/>
                </a:cubicBezTo>
                <a:cubicBezTo>
                  <a:pt x="303" y="40"/>
                  <a:pt x="291" y="23"/>
                  <a:pt x="279" y="12"/>
                </a:cubicBezTo>
                <a:cubicBezTo>
                  <a:pt x="268" y="2"/>
                  <a:pt x="260" y="0"/>
                  <a:pt x="256" y="0"/>
                </a:cubicBezTo>
                <a:cubicBezTo>
                  <a:pt x="252" y="0"/>
                  <a:pt x="245" y="2"/>
                  <a:pt x="233" y="12"/>
                </a:cubicBezTo>
                <a:cubicBezTo>
                  <a:pt x="222" y="23"/>
                  <a:pt x="210" y="40"/>
                  <a:pt x="198" y="65"/>
                </a:cubicBezTo>
                <a:cubicBezTo>
                  <a:pt x="178" y="108"/>
                  <a:pt x="164" y="168"/>
                  <a:pt x="161" y="232"/>
                </a:cubicBezTo>
                <a:close/>
              </a:path>
              <a:path w="512" h="512">
                <a:moveTo>
                  <a:pt x="113" y="232"/>
                </a:moveTo>
                <a:cubicBezTo>
                  <a:pt x="116" y="146"/>
                  <a:pt x="139" y="67"/>
                  <a:pt x="171" y="15"/>
                </a:cubicBezTo>
                <a:cubicBezTo>
                  <a:pt x="79" y="47"/>
                  <a:pt x="11" y="131"/>
                  <a:pt x="2" y="232"/>
                </a:cubicBezTo>
                <a:lnTo>
                  <a:pt x="113" y="232"/>
                </a:lnTo>
                <a:close/>
              </a:path>
              <a:path w="512" h="512">
                <a:moveTo>
                  <a:pt x="2" y="280"/>
                </a:moveTo>
                <a:cubicBezTo>
                  <a:pt x="11" y="381"/>
                  <a:pt x="79" y="465"/>
                  <a:pt x="171" y="497"/>
                </a:cubicBezTo>
                <a:cubicBezTo>
                  <a:pt x="139" y="445"/>
                  <a:pt x="116" y="366"/>
                  <a:pt x="113" y="280"/>
                </a:cubicBezTo>
                <a:lnTo>
                  <a:pt x="2" y="280"/>
                </a:lnTo>
                <a:close/>
              </a:path>
              <a:path w="512" h="512">
                <a:moveTo>
                  <a:pt x="400" y="280"/>
                </a:moveTo>
                <a:cubicBezTo>
                  <a:pt x="396" y="366"/>
                  <a:pt x="374" y="445"/>
                  <a:pt x="342" y="497"/>
                </a:cubicBezTo>
                <a:cubicBezTo>
                  <a:pt x="434" y="465"/>
                  <a:pt x="502" y="381"/>
                  <a:pt x="511" y="280"/>
                </a:cubicBezTo>
                <a:lnTo>
                  <a:pt x="400" y="280"/>
                </a:lnTo>
                <a:close/>
              </a:path>
              <a:path w="512" h="512">
                <a:moveTo>
                  <a:pt x="511" y="232"/>
                </a:moveTo>
                <a:cubicBezTo>
                  <a:pt x="502" y="131"/>
                  <a:pt x="434" y="47"/>
                  <a:pt x="342" y="15"/>
                </a:cubicBezTo>
                <a:cubicBezTo>
                  <a:pt x="374" y="67"/>
                  <a:pt x="396" y="146"/>
                  <a:pt x="400" y="232"/>
                </a:cubicBezTo>
                <a:lnTo>
                  <a:pt x="511" y="232"/>
                </a:lnTo>
                <a:close/>
              </a:path>
            </a:pathLst>
          </a:custGeom>
          <a:solidFill>
            <a:srgbClr val="175E54"/>
          </a:solidFill>
          <a:ln>
            <a:noFill/>
          </a:ln>
        </p:spPr>
      </p:sp>
      <p:sp>
        <p:nvSpPr>
          <p:cNvPr id="8" name="obj2-head"/>
          <p:cNvSpPr txBox="1"/>
          <p:nvPr/>
        </p:nvSpPr>
        <p:spPr>
          <a:xfrm>
            <a:off x="1219200" y="26670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Compare regions</a:t>
            </a:r>
            <a:endParaRPr lang="en-US" sz="1450" noProof="1"/>
          </a:p>
        </p:txBody>
      </p:sp>
      <p:sp>
        <p:nvSpPr>
          <p:cNvPr id="9" name="obj2-body"/>
          <p:cNvSpPr txBox="1"/>
          <p:nvPr/>
        </p:nvSpPr>
        <p:spPr>
          <a:xfrm>
            <a:off x="1219200" y="2971800"/>
            <a:ext cx="10261600" cy="5080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Contrast e-commerce maturity across the US, China, India and Europe using penetration, growth and payment-infrastructure metrics — "same industry, four different games."</a:t>
            </a:r>
            <a:endParaRPr lang="en-US" sz="1250" noProof="1"/>
          </a:p>
        </p:txBody>
      </p:sp>
      <p:sp>
        <p:nvSpPr>
          <p:cNvPr id="10" name="obj3-icon"/>
          <p:cNvSpPr/>
          <p:nvPr>
            <p:extLst>
              <p:ext uri="{F5677B7D-0D2A-4D9B-9A5C-6D8D7D0E5A5D}">
                <pptd:icon encoding="base64url">eyJpY29uTmFtZSI6ImZhczphcnJvdy10cmVuZC11cCJ9</pptd:icon>
              </p:ext>
            </p:extLst>
          </p:nvPr>
        </p:nvSpPr>
        <p:spPr>
          <a:xfrm>
            <a:off x="711200" y="3835400"/>
            <a:ext cx="304800" cy="304800"/>
          </a:xfrm>
          <a:custGeom>
            <a:avLst/>
            <a:gdLst/>
            <a:ahLst/>
            <a:cxnLst/>
            <a:rect l="l" t="t" r="r" b="b"/>
            <a:pathLst>
              <a:path w="576" h="512">
                <a:moveTo>
                  <a:pt x="384" y="160"/>
                </a:moveTo>
                <a:cubicBezTo>
                  <a:pt x="366" y="160"/>
                  <a:pt x="352" y="146"/>
                  <a:pt x="352" y="128"/>
                </a:cubicBezTo>
                <a:cubicBezTo>
                  <a:pt x="352" y="110"/>
                  <a:pt x="366" y="96"/>
                  <a:pt x="384" y="96"/>
                </a:cubicBezTo>
                <a:lnTo>
                  <a:pt x="544" y="96"/>
                </a:lnTo>
                <a:cubicBezTo>
                  <a:pt x="562" y="96"/>
                  <a:pt x="576" y="110"/>
                  <a:pt x="576" y="128"/>
                </a:cubicBezTo>
                <a:lnTo>
                  <a:pt x="576" y="288"/>
                </a:lnTo>
                <a:cubicBezTo>
                  <a:pt x="576" y="306"/>
                  <a:pt x="562" y="320"/>
                  <a:pt x="544" y="320"/>
                </a:cubicBezTo>
                <a:cubicBezTo>
                  <a:pt x="526" y="320"/>
                  <a:pt x="512" y="306"/>
                  <a:pt x="512" y="288"/>
                </a:cubicBezTo>
                <a:lnTo>
                  <a:pt x="512" y="205"/>
                </a:lnTo>
                <a:lnTo>
                  <a:pt x="343" y="375"/>
                </a:lnTo>
                <a:cubicBezTo>
                  <a:pt x="330" y="387"/>
                  <a:pt x="310" y="387"/>
                  <a:pt x="297" y="375"/>
                </a:cubicBezTo>
                <a:lnTo>
                  <a:pt x="192" y="269"/>
                </a:lnTo>
                <a:lnTo>
                  <a:pt x="55" y="407"/>
                </a:lnTo>
                <a:cubicBezTo>
                  <a:pt x="42" y="419"/>
                  <a:pt x="22" y="419"/>
                  <a:pt x="9" y="407"/>
                </a:cubicBezTo>
                <a:cubicBezTo>
                  <a:pt x="-3" y="394"/>
                  <a:pt x="-3" y="374"/>
                  <a:pt x="9" y="361"/>
                </a:cubicBezTo>
                <a:lnTo>
                  <a:pt x="169" y="201"/>
                </a:lnTo>
                <a:cubicBezTo>
                  <a:pt x="182" y="189"/>
                  <a:pt x="202" y="189"/>
                  <a:pt x="215" y="201"/>
                </a:cubicBezTo>
                <a:lnTo>
                  <a:pt x="320" y="307"/>
                </a:lnTo>
                <a:lnTo>
                  <a:pt x="467" y="160"/>
                </a:lnTo>
                <a:lnTo>
                  <a:pt x="384" y="160"/>
                </a:lnTo>
                <a:close/>
              </a:path>
            </a:pathLst>
          </a:custGeom>
          <a:solidFill>
            <a:srgbClr val="175E54"/>
          </a:solidFill>
          <a:ln>
            <a:noFill/>
          </a:ln>
        </p:spPr>
      </p:sp>
      <p:sp>
        <p:nvSpPr>
          <p:cNvPr id="11" name="obj3-head"/>
          <p:cNvSpPr txBox="1"/>
          <p:nvPr/>
        </p:nvSpPr>
        <p:spPr>
          <a:xfrm>
            <a:off x="1219200" y="38100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Identify the live trends</a:t>
            </a:r>
            <a:endParaRPr lang="en-US" sz="1450" noProof="1"/>
          </a:p>
        </p:txBody>
      </p:sp>
      <p:sp>
        <p:nvSpPr>
          <p:cNvPr id="12" name="obj3-body"/>
          <p:cNvSpPr txBox="1"/>
          <p:nvPr/>
        </p:nvSpPr>
        <p:spPr>
          <a:xfrm>
            <a:off x="1219200" y="4114800"/>
            <a:ext cx="10261600" cy="5080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Name the three dominant 2024–2026 trends — agentic/AI commerce, social commerce, mobile-first behaviour — and support each with one hard, citable statistic.</a:t>
            </a:r>
            <a:endParaRPr lang="en-US" sz="1250" noProof="1"/>
          </a:p>
        </p:txBody>
      </p:sp>
      <p:sp>
        <p:nvSpPr>
          <p:cNvPr id="13" name="obj4-icon"/>
          <p:cNvSpPr/>
          <p:nvPr>
            <p:extLst>
              <p:ext uri="{F5677B7D-0D2A-4D9B-9A5C-6D8D7D0E5A5D}">
                <pptd:icon encoding="base64url">eyJpY29uTmFtZSI6ImZhczpicmllZmNhc2UifQ</pptd:icon>
              </p:ext>
            </p:extLst>
          </p:nvPr>
        </p:nvSpPr>
        <p:spPr>
          <a:xfrm>
            <a:off x="711200" y="4978400"/>
            <a:ext cx="304800" cy="304800"/>
          </a:xfrm>
          <a:custGeom>
            <a:avLst/>
            <a:gdLst/>
            <a:ahLst/>
            <a:cxnLst/>
            <a:rect l="l" t="t" r="r" b="b"/>
            <a:pathLst>
              <a:path w="512" h="512">
                <a:moveTo>
                  <a:pt x="144" y="56"/>
                </a:moveTo>
                <a:lnTo>
                  <a:pt x="144" y="96"/>
                </a:lnTo>
                <a:lnTo>
                  <a:pt x="64" y="96"/>
                </a:lnTo>
                <a:cubicBezTo>
                  <a:pt x="29" y="96"/>
                  <a:pt x="0" y="125"/>
                  <a:pt x="0" y="160"/>
                </a:cubicBezTo>
                <a:lnTo>
                  <a:pt x="0" y="256"/>
                </a:lnTo>
                <a:lnTo>
                  <a:pt x="512" y="256"/>
                </a:lnTo>
                <a:lnTo>
                  <a:pt x="512" y="160"/>
                </a:lnTo>
                <a:cubicBezTo>
                  <a:pt x="512" y="125"/>
                  <a:pt x="483" y="96"/>
                  <a:pt x="448" y="96"/>
                </a:cubicBezTo>
                <a:lnTo>
                  <a:pt x="368" y="96"/>
                </a:lnTo>
                <a:lnTo>
                  <a:pt x="368" y="56"/>
                </a:lnTo>
                <a:cubicBezTo>
                  <a:pt x="368" y="25"/>
                  <a:pt x="343" y="0"/>
                  <a:pt x="312" y="0"/>
                </a:cubicBezTo>
                <a:lnTo>
                  <a:pt x="200" y="0"/>
                </a:lnTo>
                <a:cubicBezTo>
                  <a:pt x="169" y="0"/>
                  <a:pt x="144" y="25"/>
                  <a:pt x="144" y="56"/>
                </a:cubicBezTo>
                <a:close/>
                <a:moveTo>
                  <a:pt x="200" y="48"/>
                </a:moveTo>
                <a:lnTo>
                  <a:pt x="312" y="48"/>
                </a:lnTo>
                <a:cubicBezTo>
                  <a:pt x="316" y="48"/>
                  <a:pt x="320" y="52"/>
                  <a:pt x="320" y="56"/>
                </a:cubicBezTo>
                <a:lnTo>
                  <a:pt x="320" y="96"/>
                </a:lnTo>
                <a:lnTo>
                  <a:pt x="192" y="96"/>
                </a:lnTo>
                <a:lnTo>
                  <a:pt x="192" y="56"/>
                </a:lnTo>
                <a:cubicBezTo>
                  <a:pt x="192" y="52"/>
                  <a:pt x="196" y="48"/>
                  <a:pt x="200" y="48"/>
                </a:cubicBezTo>
                <a:close/>
              </a:path>
              <a:path w="512" h="512">
                <a:moveTo>
                  <a:pt x="512" y="304"/>
                </a:moveTo>
                <a:lnTo>
                  <a:pt x="320" y="304"/>
                </a:lnTo>
                <a:lnTo>
                  <a:pt x="320" y="320"/>
                </a:lnTo>
                <a:cubicBezTo>
                  <a:pt x="320" y="338"/>
                  <a:pt x="306" y="352"/>
                  <a:pt x="288" y="352"/>
                </a:cubicBezTo>
                <a:lnTo>
                  <a:pt x="224" y="352"/>
                </a:lnTo>
                <a:cubicBezTo>
                  <a:pt x="206" y="352"/>
                  <a:pt x="192" y="338"/>
                  <a:pt x="192" y="320"/>
                </a:cubicBezTo>
                <a:lnTo>
                  <a:pt x="192" y="304"/>
                </a:lnTo>
                <a:lnTo>
                  <a:pt x="0" y="304"/>
                </a:lnTo>
                <a:lnTo>
                  <a:pt x="0" y="416"/>
                </a:lnTo>
                <a:cubicBezTo>
                  <a:pt x="0" y="451"/>
                  <a:pt x="29" y="480"/>
                  <a:pt x="64" y="480"/>
                </a:cubicBezTo>
                <a:lnTo>
                  <a:pt x="448" y="480"/>
                </a:lnTo>
                <a:cubicBezTo>
                  <a:pt x="483" y="480"/>
                  <a:pt x="512" y="451"/>
                  <a:pt x="512" y="416"/>
                </a:cubicBezTo>
                <a:lnTo>
                  <a:pt x="512" y="304"/>
                </a:lnTo>
                <a:close/>
              </a:path>
            </a:pathLst>
          </a:custGeom>
          <a:solidFill>
            <a:srgbClr val="175E54"/>
          </a:solidFill>
          <a:ln>
            <a:noFill/>
          </a:ln>
        </p:spPr>
      </p:sp>
      <p:sp>
        <p:nvSpPr>
          <p:cNvPr id="14" name="obj4-head"/>
          <p:cNvSpPr txBox="1"/>
          <p:nvPr/>
        </p:nvSpPr>
        <p:spPr>
          <a:xfrm>
            <a:off x="1219200" y="49530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Read the job market</a:t>
            </a:r>
            <a:endParaRPr lang="en-US" sz="1450" noProof="1"/>
          </a:p>
        </p:txBody>
      </p:sp>
      <p:sp>
        <p:nvSpPr>
          <p:cNvPr id="15" name="obj4-body"/>
          <p:cNvSpPr txBox="1"/>
          <p:nvPr/>
        </p:nvSpPr>
        <p:spPr>
          <a:xfrm>
            <a:off x="1219200" y="5257800"/>
            <a:ext cx="10261600" cy="5080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Explain how digital commerce is reshaping business careers, citing labour-market evidence rather than anecdote.</a:t>
            </a:r>
            <a:endParaRPr lang="en-US" sz="1250" noProof="1"/>
          </a:p>
        </p:txBody>
      </p:sp>
      <p:sp>
        <p:nvSpPr>
          <p:cNvPr id="16" name="obj-note"/>
          <p:cNvSpPr txBox="1"/>
          <p:nvPr/>
        </p:nvSpPr>
        <p:spPr>
          <a:xfrm>
            <a:off x="711200" y="5867400"/>
            <a:ext cx="10769600" cy="381000"/>
          </a:xfrm>
          <a:prstGeom prst="rect">
            <a:avLst/>
          </a:prstGeom>
          <a:noFill/>
          <a:ln>
            <a:noFill/>
          </a:ln>
        </p:spPr>
        <p:txBody>
          <a:bodyPr lIns="0" rIns="0" tIns="0" bIns="0" wrap="square" rtlCol="0"/>
          <a:lstStyle/>
          <a:p>
            <a:pPr>
              <a:lnSpc>
                <a:spcPct val="135000"/>
              </a:lnSpc>
            </a:pPr>
            <a:r>
              <a:rPr lang="en-US" sz="1100" noProof="1">
                <a:solidFill>
                  <a:srgbClr val="6E675C"/>
                </a:solidFill>
                <a:latin typeface="Quattrocento Sans"/>
                <a:ea typeface="Quattrocento Sans"/>
              </a:rPr>
              <a:t>Objectives adapted from the course research brief (Section 0.1). Each maps directly to a discussion question or activity you will complete this week.</a:t>
            </a:r>
            <a:endParaRPr lang="en-US" sz="1100" noProof="1"/>
          </a:p>
        </p:txBody>
      </p:sp>
      <p:sp>
        <p:nvSpPr>
          <p:cNvPr id="17" name="foot-rule"/>
          <p:cNvSpPr/>
          <p:nvPr/>
        </p:nvSpPr>
        <p:spPr>
          <a:xfrm>
            <a:off x="711200" y="6451600"/>
            <a:ext cx="10769600" cy="12700"/>
          </a:xfrm>
          <a:prstGeom prst="rect">
            <a:avLst/>
          </a:prstGeom>
          <a:solidFill>
            <a:srgbClr val="D9D2C4"/>
          </a:solidFill>
          <a:ln>
            <a:noFill/>
          </a:ln>
        </p:spPr>
      </p:sp>
      <p:sp>
        <p:nvSpPr>
          <p:cNvPr id="18"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9"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20"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5</a:t>
            </a:r>
            <a:endParaRPr lang="en-US" sz="950" noProof="1"/>
          </a:p>
        </p:txBody>
      </p:sp>
    </p:spTree>
  </p:cSld>
  <p:clrMapOvr>
    <a:masterClrMapping/>
  </p:clrMapOvr>
</p:sld>
</file>

<file path=ppt/slides/slide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HOW THE COURSE RUNS</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Two sessions a week: first the idea, then the proof</a:t>
            </a:r>
            <a:endParaRPr lang="en-US" sz="2600" noProof="1"/>
          </a:p>
        </p:txBody>
      </p:sp>
      <p:sp>
        <p:nvSpPr>
          <p:cNvPr id="4" name="left-head-icon"/>
          <p:cNvSpPr/>
          <p:nvPr>
            <p:extLst>
              <p:ext uri="{F5677B7D-0D2A-4D9B-9A5C-6D8D7D0E5A5D}">
                <pptd:icon encoding="base64url">eyJpY29uTmFtZSI6ImZhczpsaWdodGJ1bGIifQ</pptd:icon>
              </p:ext>
            </p:extLst>
          </p:nvPr>
        </p:nvSpPr>
        <p:spPr>
          <a:xfrm>
            <a:off x="711200" y="1473200"/>
            <a:ext cx="279400" cy="279400"/>
          </a:xfrm>
          <a:custGeom>
            <a:avLst/>
            <a:gdLst/>
            <a:ahLst/>
            <a:cxnLst/>
            <a:rect l="l" t="t" r="r" b="b"/>
            <a:pathLst>
              <a:path w="384" h="512">
                <a:moveTo>
                  <a:pt x="293" y="384"/>
                </a:moveTo>
                <a:cubicBezTo>
                  <a:pt x="300" y="362"/>
                  <a:pt x="315" y="342"/>
                  <a:pt x="331" y="324"/>
                </a:cubicBezTo>
                <a:cubicBezTo>
                  <a:pt x="364" y="290"/>
                  <a:pt x="384" y="243"/>
                  <a:pt x="384" y="192"/>
                </a:cubicBezTo>
                <a:cubicBezTo>
                  <a:pt x="384" y="86"/>
                  <a:pt x="298" y="0"/>
                  <a:pt x="192" y="0"/>
                </a:cubicBezTo>
                <a:cubicBezTo>
                  <a:pt x="86" y="0"/>
                  <a:pt x="0" y="86"/>
                  <a:pt x="0" y="192"/>
                </a:cubicBezTo>
                <a:cubicBezTo>
                  <a:pt x="0" y="243"/>
                  <a:pt x="20" y="290"/>
                  <a:pt x="53" y="324"/>
                </a:cubicBezTo>
                <a:cubicBezTo>
                  <a:pt x="69" y="342"/>
                  <a:pt x="84" y="362"/>
                  <a:pt x="91" y="384"/>
                </a:cubicBezTo>
                <a:lnTo>
                  <a:pt x="293" y="384"/>
                </a:lnTo>
                <a:close/>
                <a:moveTo>
                  <a:pt x="184" y="112"/>
                </a:moveTo>
                <a:cubicBezTo>
                  <a:pt x="144" y="112"/>
                  <a:pt x="112" y="144"/>
                  <a:pt x="112" y="184"/>
                </a:cubicBezTo>
                <a:cubicBezTo>
                  <a:pt x="112" y="197"/>
                  <a:pt x="101" y="208"/>
                  <a:pt x="88" y="208"/>
                </a:cubicBezTo>
                <a:cubicBezTo>
                  <a:pt x="75" y="208"/>
                  <a:pt x="64" y="197"/>
                  <a:pt x="64" y="184"/>
                </a:cubicBezTo>
                <a:cubicBezTo>
                  <a:pt x="64" y="118"/>
                  <a:pt x="118" y="64"/>
                  <a:pt x="184" y="64"/>
                </a:cubicBezTo>
                <a:cubicBezTo>
                  <a:pt x="197" y="64"/>
                  <a:pt x="208" y="75"/>
                  <a:pt x="208" y="88"/>
                </a:cubicBezTo>
                <a:cubicBezTo>
                  <a:pt x="208" y="101"/>
                  <a:pt x="197" y="112"/>
                  <a:pt x="184" y="112"/>
                </a:cubicBezTo>
                <a:close/>
              </a:path>
              <a:path w="384" h="512">
                <a:moveTo>
                  <a:pt x="288" y="432"/>
                </a:moveTo>
                <a:lnTo>
                  <a:pt x="96" y="432"/>
                </a:lnTo>
                <a:lnTo>
                  <a:pt x="96" y="448"/>
                </a:lnTo>
                <a:cubicBezTo>
                  <a:pt x="96" y="492"/>
                  <a:pt x="132" y="528"/>
                  <a:pt x="176" y="528"/>
                </a:cubicBezTo>
                <a:lnTo>
                  <a:pt x="208" y="528"/>
                </a:lnTo>
                <a:cubicBezTo>
                  <a:pt x="252" y="528"/>
                  <a:pt x="288" y="492"/>
                  <a:pt x="288" y="448"/>
                </a:cubicBezTo>
                <a:lnTo>
                  <a:pt x="288" y="432"/>
                </a:lnTo>
                <a:close/>
              </a:path>
            </a:pathLst>
          </a:custGeom>
          <a:solidFill>
            <a:srgbClr val="175E54"/>
          </a:solidFill>
          <a:ln>
            <a:noFill/>
          </a:ln>
        </p:spPr>
      </p:sp>
      <p:sp>
        <p:nvSpPr>
          <p:cNvPr id="5" name="left-head"/>
          <p:cNvSpPr txBox="1"/>
          <p:nvPr/>
        </p:nvSpPr>
        <p:spPr>
          <a:xfrm>
            <a:off x="1143000" y="1447800"/>
            <a:ext cx="4826000" cy="330200"/>
          </a:xfrm>
          <a:prstGeom prst="rect">
            <a:avLst/>
          </a:prstGeom>
          <a:noFill/>
          <a:ln>
            <a:noFill/>
          </a:ln>
        </p:spPr>
        <p:txBody>
          <a:bodyPr lIns="0" rIns="0" tIns="0" bIns="0" wrap="square" rtlCol="0"/>
          <a:lstStyle/>
          <a:p>
            <a:pPr>
              <a:lnSpc>
                <a:spcPct val="120000"/>
              </a:lnSpc>
            </a:pPr>
            <a:r>
              <a:rPr lang="en-US" sz="1900" noProof="1">
                <a:solidFill>
                  <a:srgbClr val="175E54"/>
                </a:solidFill>
                <a:latin typeface="Unna"/>
                <a:ea typeface="Unna"/>
              </a:rPr>
              <a:t>Session 1 — Introduction</a:t>
            </a:r>
            <a:endParaRPr lang="en-US" sz="1900" noProof="1"/>
          </a:p>
        </p:txBody>
      </p:sp>
      <p:sp>
        <p:nvSpPr>
          <p:cNvPr id="6" name="left-body"/>
          <p:cNvSpPr txBox="1"/>
          <p:nvPr/>
        </p:nvSpPr>
        <p:spPr>
          <a:xfrm>
            <a:off x="711200" y="1930400"/>
            <a:ext cx="5080000" cy="2794000"/>
          </a:xfrm>
          <a:prstGeom prst="rect">
            <a:avLst/>
          </a:prstGeom>
          <a:noFill/>
          <a:ln>
            <a:noFill/>
          </a:ln>
        </p:spPr>
        <p:txBody>
          <a:bodyPr lIns="0" rIns="0" tIns="0" bIns="0" wrap="square" rtlCol="0"/>
          <a:lstStyle/>
          <a:p>
            <a:pPr>
              <a:lnSpc>
                <a:spcPct val="150000"/>
              </a:lnSpc>
              <a:spcBef>
                <a:spcPts val="10"/>
              </a:spcBef>
              <a:buChar char="•"/>
            </a:pPr>
            <a:r>
              <a:rPr lang="en-US" sz="1250" noProof="1" b="1">
                <a:solidFill>
                  <a:srgbClr val="23272E"/>
                </a:solidFill>
                <a:latin typeface="Quattrocento Sans"/>
                <a:ea typeface="Quattrocento Sans"/>
              </a:rPr>
              <a:t>Orient:</a:t>
            </a:r>
            <a:r>
              <a:rPr lang="en-US" sz="1250" noProof="1">
                <a:solidFill>
                  <a:srgbClr val="23272E"/>
                </a:solidFill>
                <a:latin typeface="Quattrocento Sans"/>
                <a:ea typeface="Quattrocento Sans"/>
              </a:rPr>
              <a:t> why this topic matters now — the key question of the week</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Concepts:</a:t>
            </a:r>
            <a:r>
              <a:rPr lang="en-US" sz="1250" noProof="1">
                <a:solidFill>
                  <a:srgbClr val="23272E"/>
                </a:solidFill>
                <a:latin typeface="Quattrocento Sans"/>
                <a:ea typeface="Quattrocento Sans"/>
              </a:rPr>
              <a:t> definitions, boundaries, vocabulary you can use precisely</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Framework &amp; theory:</a:t>
            </a:r>
            <a:r>
              <a:rPr lang="en-US" sz="1250" noProof="1">
                <a:solidFill>
                  <a:srgbClr val="23272E"/>
                </a:solidFill>
                <a:latin typeface="Quattrocento Sans"/>
                <a:ea typeface="Quattrocento Sans"/>
              </a:rPr>
              <a:t> one named model you can apply, with its author and evidence</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Data:</a:t>
            </a:r>
            <a:r>
              <a:rPr lang="en-US" sz="1250" noProof="1">
                <a:solidFill>
                  <a:srgbClr val="23272E"/>
                </a:solidFill>
                <a:latin typeface="Quattrocento Sans"/>
                <a:ea typeface="Quattrocento Sans"/>
              </a:rPr>
              <a:t> sourced charts and market numbers</a:t>
            </a:r>
            <a:endParaRPr lang="en-US" sz="1250" noProof="1"/>
          </a:p>
        </p:txBody>
      </p:sp>
      <p:sp>
        <p:nvSpPr>
          <p:cNvPr id="7" name="divider-v"/>
          <p:cNvSpPr/>
          <p:nvPr/>
        </p:nvSpPr>
        <p:spPr>
          <a:xfrm>
            <a:off x="6070600" y="1473200"/>
            <a:ext cx="12700" cy="3302000"/>
          </a:xfrm>
          <a:prstGeom prst="rect">
            <a:avLst/>
          </a:prstGeom>
          <a:solidFill>
            <a:srgbClr val="D9D2C4"/>
          </a:solidFill>
          <a:ln>
            <a:noFill/>
          </a:ln>
        </p:spPr>
      </p:sp>
      <p:sp>
        <p:nvSpPr>
          <p:cNvPr id="8" name="right-head-icon"/>
          <p:cNvSpPr/>
          <p:nvPr>
            <p:extLst>
              <p:ext uri="{F5677B7D-0D2A-4D9B-9A5C-6D8D7D0E5A5D}">
                <pptd:icon encoding="base64url">eyJpY29uTmFtZSI6ImZhczptYWduaWZ5aW5nLWdsYXNzLWNoYXJ0In0</pptd:icon>
              </p:ext>
            </p:extLst>
          </p:nvPr>
        </p:nvSpPr>
        <p:spPr>
          <a:xfrm>
            <a:off x="6400800" y="1473200"/>
            <a:ext cx="279400" cy="279400"/>
          </a:xfrm>
          <a:custGeom>
            <a:avLst/>
            <a:gdLst/>
            <a:ahLst/>
            <a:cxnLst/>
            <a:rect l="l" t="t" r="r" b="b"/>
            <a:pathLst>
              <a:path w="512" h="512">
                <a:moveTo>
                  <a:pt x="416" y="208"/>
                </a:moveTo>
                <a:cubicBezTo>
                  <a:pt x="416" y="254"/>
                  <a:pt x="401" y="296"/>
                  <a:pt x="376" y="331"/>
                </a:cubicBezTo>
                <a:lnTo>
                  <a:pt x="503" y="457"/>
                </a:lnTo>
                <a:cubicBezTo>
                  <a:pt x="515" y="470"/>
                  <a:pt x="515" y="490"/>
                  <a:pt x="503" y="503"/>
                </a:cubicBezTo>
                <a:cubicBezTo>
                  <a:pt x="490" y="515"/>
                  <a:pt x="470" y="515"/>
                  <a:pt x="457" y="503"/>
                </a:cubicBezTo>
                <a:lnTo>
                  <a:pt x="331" y="376"/>
                </a:lnTo>
                <a:cubicBezTo>
                  <a:pt x="296" y="401"/>
                  <a:pt x="254" y="416"/>
                  <a:pt x="208" y="416"/>
                </a:cubicBezTo>
                <a:cubicBezTo>
                  <a:pt x="93" y="416"/>
                  <a:pt x="0" y="323"/>
                  <a:pt x="0" y="208"/>
                </a:cubicBezTo>
                <a:cubicBezTo>
                  <a:pt x="0" y="93"/>
                  <a:pt x="93" y="0"/>
                  <a:pt x="208" y="0"/>
                </a:cubicBezTo>
                <a:cubicBezTo>
                  <a:pt x="323" y="0"/>
                  <a:pt x="416" y="93"/>
                  <a:pt x="416" y="208"/>
                </a:cubicBezTo>
                <a:close/>
                <a:moveTo>
                  <a:pt x="104" y="216"/>
                </a:moveTo>
                <a:lnTo>
                  <a:pt x="104" y="280"/>
                </a:lnTo>
                <a:cubicBezTo>
                  <a:pt x="104" y="293"/>
                  <a:pt x="115" y="304"/>
                  <a:pt x="128" y="304"/>
                </a:cubicBezTo>
                <a:cubicBezTo>
                  <a:pt x="141" y="304"/>
                  <a:pt x="152" y="293"/>
                  <a:pt x="152" y="280"/>
                </a:cubicBezTo>
                <a:lnTo>
                  <a:pt x="152" y="216"/>
                </a:lnTo>
                <a:cubicBezTo>
                  <a:pt x="152" y="203"/>
                  <a:pt x="141" y="192"/>
                  <a:pt x="128" y="192"/>
                </a:cubicBezTo>
                <a:cubicBezTo>
                  <a:pt x="115" y="192"/>
                  <a:pt x="104" y="203"/>
                  <a:pt x="104" y="216"/>
                </a:cubicBezTo>
                <a:close/>
                <a:moveTo>
                  <a:pt x="184" y="120"/>
                </a:moveTo>
                <a:lnTo>
                  <a:pt x="184" y="280"/>
                </a:lnTo>
                <a:cubicBezTo>
                  <a:pt x="184" y="293"/>
                  <a:pt x="195" y="304"/>
                  <a:pt x="208" y="304"/>
                </a:cubicBezTo>
                <a:cubicBezTo>
                  <a:pt x="221" y="304"/>
                  <a:pt x="232" y="293"/>
                  <a:pt x="232" y="280"/>
                </a:cubicBezTo>
                <a:lnTo>
                  <a:pt x="232" y="120"/>
                </a:lnTo>
                <a:cubicBezTo>
                  <a:pt x="232" y="107"/>
                  <a:pt x="221" y="96"/>
                  <a:pt x="208" y="96"/>
                </a:cubicBezTo>
                <a:cubicBezTo>
                  <a:pt x="195" y="96"/>
                  <a:pt x="184" y="107"/>
                  <a:pt x="184" y="120"/>
                </a:cubicBezTo>
                <a:close/>
                <a:moveTo>
                  <a:pt x="264" y="184"/>
                </a:moveTo>
                <a:lnTo>
                  <a:pt x="264" y="280"/>
                </a:lnTo>
                <a:cubicBezTo>
                  <a:pt x="264" y="293"/>
                  <a:pt x="275" y="304"/>
                  <a:pt x="288" y="304"/>
                </a:cubicBezTo>
                <a:cubicBezTo>
                  <a:pt x="301" y="304"/>
                  <a:pt x="312" y="293"/>
                  <a:pt x="312" y="280"/>
                </a:cubicBezTo>
                <a:lnTo>
                  <a:pt x="312" y="184"/>
                </a:lnTo>
                <a:cubicBezTo>
                  <a:pt x="312" y="171"/>
                  <a:pt x="301" y="160"/>
                  <a:pt x="288" y="160"/>
                </a:cubicBezTo>
                <a:cubicBezTo>
                  <a:pt x="275" y="160"/>
                  <a:pt x="264" y="171"/>
                  <a:pt x="264" y="184"/>
                </a:cubicBezTo>
                <a:close/>
              </a:path>
            </a:pathLst>
          </a:custGeom>
          <a:solidFill>
            <a:srgbClr val="BC4B26"/>
          </a:solidFill>
          <a:ln>
            <a:noFill/>
          </a:ln>
        </p:spPr>
      </p:sp>
      <p:sp>
        <p:nvSpPr>
          <p:cNvPr id="9" name="right-head"/>
          <p:cNvSpPr txBox="1"/>
          <p:nvPr/>
        </p:nvSpPr>
        <p:spPr>
          <a:xfrm>
            <a:off x="6832600" y="1447800"/>
            <a:ext cx="4648200" cy="330200"/>
          </a:xfrm>
          <a:prstGeom prst="rect">
            <a:avLst/>
          </a:prstGeom>
          <a:noFill/>
          <a:ln>
            <a:noFill/>
          </a:ln>
        </p:spPr>
        <p:txBody>
          <a:bodyPr lIns="0" rIns="0" tIns="0" bIns="0" wrap="square" rtlCol="0"/>
          <a:lstStyle/>
          <a:p>
            <a:pPr>
              <a:lnSpc>
                <a:spcPct val="120000"/>
              </a:lnSpc>
            </a:pPr>
            <a:r>
              <a:rPr lang="en-US" sz="1900" noProof="1">
                <a:solidFill>
                  <a:srgbClr val="BC4B26"/>
                </a:solidFill>
                <a:latin typeface="Unna"/>
                <a:ea typeface="Unna"/>
              </a:rPr>
              <a:t>Session 2 — Case study</a:t>
            </a:r>
            <a:endParaRPr lang="en-US" sz="1900" noProof="1"/>
          </a:p>
        </p:txBody>
      </p:sp>
      <p:sp>
        <p:nvSpPr>
          <p:cNvPr id="10" name="right-body"/>
          <p:cNvSpPr txBox="1"/>
          <p:nvPr/>
        </p:nvSpPr>
        <p:spPr>
          <a:xfrm>
            <a:off x="6400800" y="1930400"/>
            <a:ext cx="5080000" cy="2794000"/>
          </a:xfrm>
          <a:prstGeom prst="rect">
            <a:avLst/>
          </a:prstGeom>
          <a:noFill/>
          <a:ln>
            <a:noFill/>
          </a:ln>
        </p:spPr>
        <p:txBody>
          <a:bodyPr lIns="0" rIns="0" tIns="0" bIns="0" wrap="square" rtlCol="0"/>
          <a:lstStyle/>
          <a:p>
            <a:pPr>
              <a:lnSpc>
                <a:spcPct val="150000"/>
              </a:lnSpc>
              <a:spcBef>
                <a:spcPts val="10"/>
              </a:spcBef>
              <a:buChar char="•"/>
            </a:pPr>
            <a:r>
              <a:rPr lang="en-US" sz="1250" noProof="1" b="1">
                <a:solidFill>
                  <a:srgbClr val="23272E"/>
                </a:solidFill>
                <a:latin typeface="Quattrocento Sans"/>
                <a:ea typeface="Quattrocento Sans"/>
              </a:rPr>
              <a:t>Case arc:</a:t>
            </a:r>
            <a:r>
              <a:rPr lang="en-US" sz="1250" noProof="1">
                <a:solidFill>
                  <a:srgbClr val="23272E"/>
                </a:solidFill>
                <a:latin typeface="Quattrocento Sans"/>
                <a:ea typeface="Quattrocento Sans"/>
              </a:rPr>
              <a:t> a real company, told as context → strategy → mechanics → results → lessons</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Application:</a:t>
            </a:r>
            <a:r>
              <a:rPr lang="en-US" sz="1250" noProof="1">
                <a:solidFill>
                  <a:srgbClr val="23272E"/>
                </a:solidFill>
                <a:latin typeface="Quattrocento Sans"/>
                <a:ea typeface="Quattrocento Sans"/>
              </a:rPr>
              <a:t> use the week's framework on the case, not just admire it</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Discussion &amp; activity:</a:t>
            </a:r>
            <a:r>
              <a:rPr lang="en-US" sz="1250" noProof="1">
                <a:solidFill>
                  <a:srgbClr val="23272E"/>
                </a:solidFill>
                <a:latin typeface="Quattrocento Sans"/>
                <a:ea typeface="Quattrocento Sans"/>
              </a:rPr>
              <a:t> structured questions and a timed team task</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Bridge:</a:t>
            </a:r>
            <a:r>
              <a:rPr lang="en-US" sz="1250" noProof="1">
                <a:solidFill>
                  <a:srgbClr val="23272E"/>
                </a:solidFill>
                <a:latin typeface="Quattrocento Sans"/>
                <a:ea typeface="Quattrocento Sans"/>
              </a:rPr>
              <a:t> summary plus a teaser into next week</a:t>
            </a:r>
            <a:endParaRPr lang="en-US" sz="1250" noProof="1"/>
          </a:p>
        </p:txBody>
      </p:sp>
      <p:sp>
        <p:nvSpPr>
          <p:cNvPr id="11" name="rule-h"/>
          <p:cNvSpPr/>
          <p:nvPr/>
        </p:nvSpPr>
        <p:spPr>
          <a:xfrm>
            <a:off x="711200" y="5029200"/>
            <a:ext cx="10769600" cy="12700"/>
          </a:xfrm>
          <a:prstGeom prst="rect">
            <a:avLst/>
          </a:prstGeom>
          <a:solidFill>
            <a:srgbClr val="D9D2C4"/>
          </a:solidFill>
          <a:ln>
            <a:noFill/>
          </a:ln>
        </p:spPr>
      </p:sp>
      <p:sp>
        <p:nvSpPr>
          <p:cNvPr id="12" name="rhythm-head"/>
          <p:cNvSpPr txBox="1"/>
          <p:nvPr/>
        </p:nvSpPr>
        <p:spPr>
          <a:xfrm>
            <a:off x="711200" y="5207000"/>
            <a:ext cx="10769600" cy="254000"/>
          </a:xfrm>
          <a:prstGeom prst="rect">
            <a:avLst/>
          </a:prstGeom>
          <a:noFill/>
          <a:ln>
            <a:noFill/>
          </a:ln>
        </p:spPr>
        <p:txBody>
          <a:bodyPr lIns="0" rIns="0" tIns="0" bIns="0" wrap="square" rtlCol="0"/>
          <a:lstStyle/>
          <a:p>
            <a:pPr>
              <a:lnSpc>
                <a:spcPct val="120000"/>
              </a:lnSpc>
            </a:pPr>
            <a:r>
              <a:rPr lang="en-US" sz="1250" noProof="1" b="1">
                <a:solidFill>
                  <a:srgbClr val="175E54"/>
                </a:solidFill>
                <a:latin typeface="Quattrocento Sans"/>
                <a:ea typeface="Quattrocento Sans"/>
              </a:rPr>
              <a:t>What you do between sessions</a:t>
            </a:r>
            <a:endParaRPr lang="en-US" sz="1250" noProof="1"/>
          </a:p>
        </p:txBody>
      </p:sp>
      <p:sp>
        <p:nvSpPr>
          <p:cNvPr id="13" name="rhythm-body"/>
          <p:cNvSpPr txBox="1"/>
          <p:nvPr/>
        </p:nvSpPr>
        <p:spPr>
          <a:xfrm>
            <a:off x="711200" y="5511800"/>
            <a:ext cx="10769600" cy="736600"/>
          </a:xfrm>
          <a:prstGeom prst="rect">
            <a:avLst/>
          </a:prstGeom>
          <a:noFill/>
          <a:ln>
            <a:noFill/>
          </a:ln>
        </p:spPr>
        <p:txBody>
          <a:bodyPr lIns="0" rIns="0" tIns="0" bIns="0" wrap="square" rtlCol="0"/>
          <a:lstStyle/>
          <a:p>
            <a:pPr>
              <a:lnSpc>
                <a:spcPct val="150000"/>
              </a:lnSpc>
            </a:pPr>
            <a:r>
              <a:rPr lang="en-US" sz="1250" noProof="1">
                <a:solidFill>
                  <a:srgbClr val="23272E"/>
                </a:solidFill>
                <a:latin typeface="Quattrocento Sans"/>
                <a:ea typeface="Quattrocento Sans"/>
              </a:rPr>
              <a:t>Slides double as self-study material: every page carries its takeaway, exhibit and source. Re-read the deck, bring one question to the case session, and keep a running glossary — it becomes your revision sheet for Week 7 and the capstone.</a:t>
            </a:r>
            <a:endParaRPr lang="en-US" sz="1250" noProof="1"/>
          </a:p>
        </p:txBody>
      </p:sp>
      <p:sp>
        <p:nvSpPr>
          <p:cNvPr id="14" name="foot-rule"/>
          <p:cNvSpPr/>
          <p:nvPr/>
        </p:nvSpPr>
        <p:spPr>
          <a:xfrm>
            <a:off x="711200" y="6451600"/>
            <a:ext cx="10769600" cy="12700"/>
          </a:xfrm>
          <a:prstGeom prst="rect">
            <a:avLst/>
          </a:prstGeom>
          <a:solidFill>
            <a:srgbClr val="D9D2C4"/>
          </a:solidFill>
          <a:ln>
            <a:noFill/>
          </a:ln>
        </p:spPr>
      </p:sp>
      <p:sp>
        <p:nvSpPr>
          <p:cNvPr id="15"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6"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17"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6</a:t>
            </a:r>
            <a:endParaRPr lang="en-US" sz="950" noProof="1"/>
          </a:p>
        </p:txBody>
      </p:sp>
    </p:spTree>
  </p:cSld>
  <p:clrMapOvr>
    <a:masterClrMapping/>
  </p:clrMapOvr>
</p:sld>
</file>

<file path=ppt/slides/slide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ASSESSMENT</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Two milestones carry your grade: Week 7 and Week 14</a:t>
            </a:r>
            <a:endParaRPr lang="en-US" sz="2600" noProof="1"/>
          </a:p>
        </p:txBody>
      </p:sp>
      <p:sp>
        <p:nvSpPr>
          <p:cNvPr id="4" name="m1-icon"/>
          <p:cNvSpPr/>
          <p:nvPr>
            <p:extLst>
              <p:ext uri="{F5677B7D-0D2A-4D9B-9A5C-6D8D7D0E5A5D}">
                <pptd:icon encoding="base64url">eyJpY29uTmFtZSI6ImZhczpwZW9wbGUtZ3JvdXAifQ</pptd:icon>
              </p:ext>
            </p:extLst>
          </p:nvPr>
        </p:nvSpPr>
        <p:spPr>
          <a:xfrm>
            <a:off x="711200" y="1473200"/>
            <a:ext cx="304800" cy="304800"/>
          </a:xfrm>
          <a:custGeom>
            <a:avLst/>
            <a:gdLst/>
            <a:ahLst/>
            <a:cxnLst/>
            <a:rect l="l" t="t" r="r" b="b"/>
            <a:pathLst>
              <a:path w="512" h="512">
                <a:moveTo>
                  <a:pt x="256" y="0"/>
                </a:moveTo>
                <a:cubicBezTo>
                  <a:pt x="291" y="0"/>
                  <a:pt x="320" y="29"/>
                  <a:pt x="320" y="64"/>
                </a:cubicBezTo>
                <a:cubicBezTo>
                  <a:pt x="320" y="99"/>
                  <a:pt x="291" y="128"/>
                  <a:pt x="256" y="128"/>
                </a:cubicBezTo>
                <a:cubicBezTo>
                  <a:pt x="221" y="128"/>
                  <a:pt x="192" y="99"/>
                  <a:pt x="192" y="64"/>
                </a:cubicBezTo>
                <a:cubicBezTo>
                  <a:pt x="192" y="29"/>
                  <a:pt x="221" y="0"/>
                  <a:pt x="256" y="0"/>
                </a:cubicBezTo>
                <a:close/>
              </a:path>
              <a:path w="512" h="512">
                <a:moveTo>
                  <a:pt x="352" y="312"/>
                </a:moveTo>
                <a:cubicBezTo>
                  <a:pt x="352" y="337"/>
                  <a:pt x="339" y="359"/>
                  <a:pt x="320" y="372"/>
                </a:cubicBezTo>
                <a:lnTo>
                  <a:pt x="320" y="464"/>
                </a:lnTo>
                <a:cubicBezTo>
                  <a:pt x="320" y="491"/>
                  <a:pt x="299" y="512"/>
                  <a:pt x="272" y="512"/>
                </a:cubicBezTo>
                <a:lnTo>
                  <a:pt x="240" y="512"/>
                </a:lnTo>
                <a:cubicBezTo>
                  <a:pt x="214" y="512"/>
                  <a:pt x="192" y="491"/>
                  <a:pt x="192" y="464"/>
                </a:cubicBezTo>
                <a:lnTo>
                  <a:pt x="192" y="372"/>
                </a:lnTo>
                <a:cubicBezTo>
                  <a:pt x="173" y="359"/>
                  <a:pt x="160" y="337"/>
                  <a:pt x="160" y="312"/>
                </a:cubicBezTo>
                <a:lnTo>
                  <a:pt x="160" y="272"/>
                </a:lnTo>
                <a:cubicBezTo>
                  <a:pt x="160" y="219"/>
                  <a:pt x="203" y="176"/>
                  <a:pt x="256" y="176"/>
                </a:cubicBezTo>
                <a:cubicBezTo>
                  <a:pt x="309" y="176"/>
                  <a:pt x="352" y="219"/>
                  <a:pt x="352" y="272"/>
                </a:cubicBezTo>
                <a:lnTo>
                  <a:pt x="352" y="312"/>
                </a:lnTo>
                <a:close/>
              </a:path>
              <a:path w="512" h="512">
                <a:moveTo>
                  <a:pt x="96" y="32"/>
                </a:moveTo>
                <a:cubicBezTo>
                  <a:pt x="127" y="32"/>
                  <a:pt x="152" y="57"/>
                  <a:pt x="152" y="88"/>
                </a:cubicBezTo>
                <a:cubicBezTo>
                  <a:pt x="152" y="119"/>
                  <a:pt x="127" y="144"/>
                  <a:pt x="96" y="144"/>
                </a:cubicBezTo>
                <a:cubicBezTo>
                  <a:pt x="65" y="144"/>
                  <a:pt x="40" y="119"/>
                  <a:pt x="40" y="88"/>
                </a:cubicBezTo>
                <a:cubicBezTo>
                  <a:pt x="40" y="57"/>
                  <a:pt x="65" y="32"/>
                  <a:pt x="96" y="32"/>
                </a:cubicBezTo>
                <a:close/>
              </a:path>
              <a:path w="512" h="512">
                <a:moveTo>
                  <a:pt x="112" y="272"/>
                </a:moveTo>
                <a:lnTo>
                  <a:pt x="112" y="304"/>
                </a:lnTo>
                <a:cubicBezTo>
                  <a:pt x="112" y="337"/>
                  <a:pt x="124" y="366"/>
                  <a:pt x="144" y="389"/>
                </a:cubicBezTo>
                <a:lnTo>
                  <a:pt x="144" y="464"/>
                </a:lnTo>
                <a:cubicBezTo>
                  <a:pt x="144" y="465"/>
                  <a:pt x="144" y="467"/>
                  <a:pt x="144" y="468"/>
                </a:cubicBezTo>
                <a:cubicBezTo>
                  <a:pt x="136" y="475"/>
                  <a:pt x="124" y="480"/>
                  <a:pt x="112" y="480"/>
                </a:cubicBezTo>
                <a:lnTo>
                  <a:pt x="80" y="480"/>
                </a:lnTo>
                <a:cubicBezTo>
                  <a:pt x="54" y="480"/>
                  <a:pt x="32" y="459"/>
                  <a:pt x="32" y="432"/>
                </a:cubicBezTo>
                <a:lnTo>
                  <a:pt x="32" y="375"/>
                </a:lnTo>
                <a:cubicBezTo>
                  <a:pt x="13" y="364"/>
                  <a:pt x="0" y="344"/>
                  <a:pt x="0" y="320"/>
                </a:cubicBezTo>
                <a:lnTo>
                  <a:pt x="0" y="288"/>
                </a:lnTo>
                <a:cubicBezTo>
                  <a:pt x="0" y="235"/>
                  <a:pt x="43" y="192"/>
                  <a:pt x="96" y="192"/>
                </a:cubicBezTo>
                <a:cubicBezTo>
                  <a:pt x="109" y="192"/>
                  <a:pt x="121" y="195"/>
                  <a:pt x="132" y="199"/>
                </a:cubicBezTo>
                <a:cubicBezTo>
                  <a:pt x="119" y="220"/>
                  <a:pt x="112" y="245"/>
                  <a:pt x="112" y="272"/>
                </a:cubicBezTo>
                <a:close/>
              </a:path>
              <a:path w="512" h="512">
                <a:moveTo>
                  <a:pt x="368" y="464"/>
                </a:moveTo>
                <a:lnTo>
                  <a:pt x="368" y="389"/>
                </a:lnTo>
                <a:cubicBezTo>
                  <a:pt x="388" y="366"/>
                  <a:pt x="400" y="337"/>
                  <a:pt x="400" y="304"/>
                </a:cubicBezTo>
                <a:lnTo>
                  <a:pt x="400" y="272"/>
                </a:lnTo>
                <a:cubicBezTo>
                  <a:pt x="400" y="245"/>
                  <a:pt x="393" y="220"/>
                  <a:pt x="380" y="199"/>
                </a:cubicBezTo>
                <a:cubicBezTo>
                  <a:pt x="391" y="194"/>
                  <a:pt x="403" y="192"/>
                  <a:pt x="416" y="192"/>
                </a:cubicBezTo>
                <a:cubicBezTo>
                  <a:pt x="469" y="192"/>
                  <a:pt x="512" y="235"/>
                  <a:pt x="512" y="288"/>
                </a:cubicBezTo>
                <a:lnTo>
                  <a:pt x="512" y="320"/>
                </a:lnTo>
                <a:cubicBezTo>
                  <a:pt x="512" y="344"/>
                  <a:pt x="499" y="364"/>
                  <a:pt x="480" y="375"/>
                </a:cubicBezTo>
                <a:lnTo>
                  <a:pt x="480" y="432"/>
                </a:lnTo>
                <a:cubicBezTo>
                  <a:pt x="480" y="459"/>
                  <a:pt x="459" y="480"/>
                  <a:pt x="432" y="480"/>
                </a:cubicBezTo>
                <a:lnTo>
                  <a:pt x="400" y="480"/>
                </a:lnTo>
                <a:cubicBezTo>
                  <a:pt x="388" y="480"/>
                  <a:pt x="376" y="475"/>
                  <a:pt x="368" y="468"/>
                </a:cubicBezTo>
                <a:cubicBezTo>
                  <a:pt x="368" y="467"/>
                  <a:pt x="368" y="465"/>
                  <a:pt x="368" y="464"/>
                </a:cubicBezTo>
                <a:close/>
              </a:path>
              <a:path w="512" h="512">
                <a:moveTo>
                  <a:pt x="416" y="32"/>
                </a:moveTo>
                <a:cubicBezTo>
                  <a:pt x="447" y="32"/>
                  <a:pt x="472" y="57"/>
                  <a:pt x="472" y="88"/>
                </a:cubicBezTo>
                <a:cubicBezTo>
                  <a:pt x="472" y="119"/>
                  <a:pt x="447" y="144"/>
                  <a:pt x="416" y="144"/>
                </a:cubicBezTo>
                <a:cubicBezTo>
                  <a:pt x="385" y="144"/>
                  <a:pt x="360" y="119"/>
                  <a:pt x="360" y="88"/>
                </a:cubicBezTo>
                <a:cubicBezTo>
                  <a:pt x="360" y="57"/>
                  <a:pt x="385" y="32"/>
                  <a:pt x="416" y="32"/>
                </a:cubicBezTo>
                <a:close/>
              </a:path>
            </a:pathLst>
          </a:custGeom>
          <a:solidFill>
            <a:srgbClr val="175E54"/>
          </a:solidFill>
          <a:ln>
            <a:noFill/>
          </a:ln>
        </p:spPr>
      </p:sp>
      <p:sp>
        <p:nvSpPr>
          <p:cNvPr id="5" name="m1-head"/>
          <p:cNvSpPr txBox="1"/>
          <p:nvPr/>
        </p:nvSpPr>
        <p:spPr>
          <a:xfrm>
            <a:off x="1193800" y="1447800"/>
            <a:ext cx="4953000" cy="304800"/>
          </a:xfrm>
          <a:prstGeom prst="rect">
            <a:avLst/>
          </a:prstGeom>
          <a:noFill/>
          <a:ln>
            <a:noFill/>
          </a:ln>
        </p:spPr>
        <p:txBody>
          <a:bodyPr lIns="0" rIns="0" tIns="0" bIns="0" wrap="square" rtlCol="0"/>
          <a:lstStyle/>
          <a:p>
            <a:pPr>
              <a:lnSpc>
                <a:spcPct val="120000"/>
              </a:lnSpc>
            </a:pPr>
            <a:r>
              <a:rPr lang="en-US" sz="1900" noProof="1">
                <a:solidFill>
                  <a:srgbClr val="175E54"/>
                </a:solidFill>
                <a:latin typeface="Unna"/>
                <a:ea typeface="Unna"/>
              </a:rPr>
              <a:t>Team presentations — Week 7</a:t>
            </a:r>
            <a:endParaRPr lang="en-US" sz="1900" noProof="1"/>
          </a:p>
        </p:txBody>
      </p:sp>
      <p:sp>
        <p:nvSpPr>
          <p:cNvPr id="6" name="m1-body"/>
          <p:cNvSpPr txBox="1"/>
          <p:nvPr/>
        </p:nvSpPr>
        <p:spPr>
          <a:xfrm>
            <a:off x="711200" y="1879600"/>
            <a:ext cx="5080000" cy="1905000"/>
          </a:xfrm>
          <a:prstGeom prst="rect">
            <a:avLst/>
          </a:prstGeom>
          <a:noFill/>
          <a:ln>
            <a:noFill/>
          </a:ln>
        </p:spPr>
        <p:txBody>
          <a:bodyPr lIns="0" rIns="0" tIns="0" bIns="0" wrap="square" rtlCol="0"/>
          <a:lstStyle/>
          <a:p>
            <a:pPr>
              <a:lnSpc>
                <a:spcPct val="150000"/>
              </a:lnSpc>
              <a:spcBef>
                <a:spcPts val="10"/>
              </a:spcBef>
              <a:buChar char="•"/>
            </a:pPr>
            <a:r>
              <a:rPr lang="en-US" sz="1250" noProof="1">
                <a:solidFill>
                  <a:srgbClr val="23272E"/>
                </a:solidFill>
                <a:latin typeface="Quattrocento Sans"/>
                <a:ea typeface="Quattrocento Sans"/>
              </a:rPr>
              <a:t>Teams present in </a:t>
            </a:r>
            <a:r>
              <a:rPr lang="en-US" sz="1250" noProof="1" b="1">
                <a:solidFill>
                  <a:srgbClr val="23272E"/>
                </a:solidFill>
                <a:latin typeface="Quattrocento Sans"/>
                <a:ea typeface="Quattrocento Sans"/>
              </a:rPr>
              <a:t>Slots 1–2 of Week 7</a:t>
            </a:r>
            <a:r>
              <a:rPr lang="en-US" sz="1250" noProof="1">
                <a:solidFill>
                  <a:srgbClr val="23272E"/>
                </a:solidFill>
                <a:latin typeface="Quattrocento Sans"/>
                <a:ea typeface="Quattrocento Sans"/>
              </a:rPr>
              <a:t>, covering the first half of the course</a:t>
            </a:r>
            <a:endParaRPr lang="en-US" sz="1250" noProof="1"/>
          </a:p>
          <a:p>
            <a:pPr>
              <a:lnSpc>
                <a:spcPct val="150000"/>
              </a:lnSpc>
              <a:spcBef>
                <a:spcPts val="10"/>
              </a:spcBef>
              <a:buChar char="•"/>
            </a:pPr>
            <a:r>
              <a:rPr lang="en-US" sz="1250" noProof="1">
                <a:solidFill>
                  <a:srgbClr val="23272E"/>
                </a:solidFill>
                <a:latin typeface="Quattrocento Sans"/>
                <a:ea typeface="Quattrocento Sans"/>
              </a:rPr>
              <a:t>Expectation: apply a named framework to a real company, with sourced evidence — not a summary of slides</a:t>
            </a:r>
            <a:endParaRPr lang="en-US" sz="1250" noProof="1"/>
          </a:p>
          <a:p>
            <a:pPr>
              <a:lnSpc>
                <a:spcPct val="150000"/>
              </a:lnSpc>
              <a:spcBef>
                <a:spcPts val="10"/>
              </a:spcBef>
              <a:buChar char="•"/>
            </a:pPr>
            <a:r>
              <a:rPr lang="en-US" sz="1250" noProof="1">
                <a:solidFill>
                  <a:srgbClr val="23272E"/>
                </a:solidFill>
                <a:latin typeface="Quattrocento Sans"/>
                <a:ea typeface="Quattrocento Sans"/>
              </a:rPr>
              <a:t>Every activity and discussion from Weeks 1–6 is practice for this</a:t>
            </a:r>
            <a:endParaRPr lang="en-US" sz="1250" noProof="1"/>
          </a:p>
        </p:txBody>
      </p:sp>
      <p:sp>
        <p:nvSpPr>
          <p:cNvPr id="7" name="m1-note"/>
          <p:cNvSpPr txBox="1"/>
          <p:nvPr/>
        </p:nvSpPr>
        <p:spPr>
          <a:xfrm>
            <a:off x="711200" y="3886200"/>
            <a:ext cx="5080000" cy="508000"/>
          </a:xfrm>
          <a:prstGeom prst="rect">
            <a:avLst/>
          </a:prstGeom>
          <a:noFill/>
          <a:ln>
            <a:noFill/>
          </a:ln>
        </p:spPr>
        <p:txBody>
          <a:bodyPr lIns="0" rIns="0" tIns="0" bIns="0" wrap="square" rtlCol="0"/>
          <a:lstStyle/>
          <a:p>
            <a:pPr>
              <a:lnSpc>
                <a:spcPct val="140000"/>
              </a:lnSpc>
            </a:pPr>
            <a:r>
              <a:rPr lang="en-US" sz="1150" noProof="1">
                <a:solidFill>
                  <a:srgbClr val="6E675C"/>
                </a:solidFill>
                <a:latin typeface="Quattrocento Sans"/>
                <a:ea typeface="Quattrocento Sans"/>
              </a:rPr>
              <a:t>Full brief, team formation and grading rubric arrive in the </a:t>
            </a:r>
            <a:r>
              <a:rPr lang="en-US" sz="1150" noProof="1" b="1">
                <a:solidFill>
                  <a:srgbClr val="6E675C"/>
                </a:solidFill>
                <a:latin typeface="Quattrocento Sans"/>
                <a:ea typeface="Quattrocento Sans"/>
              </a:rPr>
              <a:t>Week 7 deck</a:t>
            </a:r>
            <a:r>
              <a:rPr lang="en-US" sz="1150" noProof="1">
                <a:solidFill>
                  <a:srgbClr val="6E675C"/>
                </a:solidFill>
                <a:latin typeface="Quattrocento Sans"/>
                <a:ea typeface="Quattrocento Sans"/>
              </a:rPr>
              <a:t>.</a:t>
            </a:r>
            <a:endParaRPr lang="en-US" sz="1150" noProof="1"/>
          </a:p>
        </p:txBody>
      </p:sp>
      <p:sp>
        <p:nvSpPr>
          <p:cNvPr id="8" name="divider-v"/>
          <p:cNvSpPr/>
          <p:nvPr/>
        </p:nvSpPr>
        <p:spPr>
          <a:xfrm>
            <a:off x="6070600" y="1473200"/>
            <a:ext cx="12700" cy="3175000"/>
          </a:xfrm>
          <a:prstGeom prst="rect">
            <a:avLst/>
          </a:prstGeom>
          <a:solidFill>
            <a:srgbClr val="D9D2C4"/>
          </a:solidFill>
          <a:ln>
            <a:noFill/>
          </a:ln>
        </p:spPr>
      </p:sp>
      <p:sp>
        <p:nvSpPr>
          <p:cNvPr id="9" name="m2-icon"/>
          <p:cNvSpPr/>
          <p:nvPr>
            <p:extLst>
              <p:ext uri="{F5677B7D-0D2A-4D9B-9A5C-6D8D7D0E5A5D}">
                <pptd:icon encoding="base64url">eyJpY29uTmFtZSI6ImZhczp0cm9waHkifQ</pptd:icon>
              </p:ext>
            </p:extLst>
          </p:nvPr>
        </p:nvSpPr>
        <p:spPr>
          <a:xfrm>
            <a:off x="6400800" y="1473200"/>
            <a:ext cx="304800" cy="304800"/>
          </a:xfrm>
          <a:custGeom>
            <a:avLst/>
            <a:gdLst/>
            <a:ahLst/>
            <a:cxnLst/>
            <a:rect l="l" t="t" r="r" b="b"/>
            <a:pathLst>
              <a:path w="512" h="512">
                <a:moveTo>
                  <a:pt x="144" y="0"/>
                </a:moveTo>
                <a:lnTo>
                  <a:pt x="368" y="0"/>
                </a:lnTo>
                <a:cubicBezTo>
                  <a:pt x="395" y="0"/>
                  <a:pt x="416" y="22"/>
                  <a:pt x="415" y="48"/>
                </a:cubicBezTo>
                <a:cubicBezTo>
                  <a:pt x="415" y="54"/>
                  <a:pt x="415" y="59"/>
                  <a:pt x="415" y="64"/>
                </a:cubicBezTo>
                <a:lnTo>
                  <a:pt x="464" y="64"/>
                </a:lnTo>
                <a:cubicBezTo>
                  <a:pt x="490" y="64"/>
                  <a:pt x="513" y="86"/>
                  <a:pt x="511" y="114"/>
                </a:cubicBezTo>
                <a:cubicBezTo>
                  <a:pt x="504" y="218"/>
                  <a:pt x="451" y="275"/>
                  <a:pt x="393" y="304"/>
                </a:cubicBezTo>
                <a:cubicBezTo>
                  <a:pt x="378" y="313"/>
                  <a:pt x="362" y="319"/>
                  <a:pt x="346" y="323"/>
                </a:cubicBezTo>
                <a:cubicBezTo>
                  <a:pt x="326" y="352"/>
                  <a:pt x="305" y="367"/>
                  <a:pt x="288" y="375"/>
                </a:cubicBezTo>
                <a:lnTo>
                  <a:pt x="288" y="448"/>
                </a:lnTo>
                <a:lnTo>
                  <a:pt x="352" y="448"/>
                </a:lnTo>
                <a:cubicBezTo>
                  <a:pt x="370" y="448"/>
                  <a:pt x="384" y="462"/>
                  <a:pt x="384" y="480"/>
                </a:cubicBezTo>
                <a:cubicBezTo>
                  <a:pt x="384" y="498"/>
                  <a:pt x="370" y="512"/>
                  <a:pt x="352" y="512"/>
                </a:cubicBezTo>
                <a:lnTo>
                  <a:pt x="160" y="512"/>
                </a:lnTo>
                <a:cubicBezTo>
                  <a:pt x="143" y="512"/>
                  <a:pt x="128" y="498"/>
                  <a:pt x="128" y="480"/>
                </a:cubicBezTo>
                <a:cubicBezTo>
                  <a:pt x="128" y="462"/>
                  <a:pt x="143" y="448"/>
                  <a:pt x="160" y="448"/>
                </a:cubicBezTo>
                <a:lnTo>
                  <a:pt x="224" y="448"/>
                </a:lnTo>
                <a:lnTo>
                  <a:pt x="224" y="375"/>
                </a:lnTo>
                <a:cubicBezTo>
                  <a:pt x="208" y="367"/>
                  <a:pt x="188" y="353"/>
                  <a:pt x="169" y="327"/>
                </a:cubicBezTo>
                <a:cubicBezTo>
                  <a:pt x="151" y="322"/>
                  <a:pt x="131" y="314"/>
                  <a:pt x="111" y="303"/>
                </a:cubicBezTo>
                <a:cubicBezTo>
                  <a:pt x="57" y="273"/>
                  <a:pt x="8" y="216"/>
                  <a:pt x="1" y="114"/>
                </a:cubicBezTo>
                <a:cubicBezTo>
                  <a:pt x="-1" y="85"/>
                  <a:pt x="22" y="64"/>
                  <a:pt x="48" y="64"/>
                </a:cubicBezTo>
                <a:lnTo>
                  <a:pt x="98" y="64"/>
                </a:lnTo>
                <a:cubicBezTo>
                  <a:pt x="98" y="59"/>
                  <a:pt x="97" y="53"/>
                  <a:pt x="97" y="48"/>
                </a:cubicBezTo>
                <a:cubicBezTo>
                  <a:pt x="96" y="22"/>
                  <a:pt x="118" y="0"/>
                  <a:pt x="144" y="0"/>
                </a:cubicBezTo>
                <a:close/>
                <a:moveTo>
                  <a:pt x="102" y="112"/>
                </a:moveTo>
                <a:lnTo>
                  <a:pt x="49" y="112"/>
                </a:lnTo>
                <a:cubicBezTo>
                  <a:pt x="55" y="197"/>
                  <a:pt x="94" y="239"/>
                  <a:pt x="134" y="262"/>
                </a:cubicBezTo>
                <a:cubicBezTo>
                  <a:pt x="120" y="224"/>
                  <a:pt x="108" y="176"/>
                  <a:pt x="102" y="112"/>
                </a:cubicBezTo>
                <a:close/>
                <a:moveTo>
                  <a:pt x="380" y="257"/>
                </a:moveTo>
                <a:cubicBezTo>
                  <a:pt x="421" y="233"/>
                  <a:pt x="457" y="191"/>
                  <a:pt x="463" y="112"/>
                </a:cubicBezTo>
                <a:lnTo>
                  <a:pt x="411" y="112"/>
                </a:lnTo>
                <a:cubicBezTo>
                  <a:pt x="405" y="173"/>
                  <a:pt x="394" y="220"/>
                  <a:pt x="380" y="257"/>
                </a:cubicBezTo>
                <a:close/>
              </a:path>
            </a:pathLst>
          </a:custGeom>
          <a:solidFill>
            <a:srgbClr val="BC4B26"/>
          </a:solidFill>
          <a:ln>
            <a:noFill/>
          </a:ln>
        </p:spPr>
      </p:sp>
      <p:sp>
        <p:nvSpPr>
          <p:cNvPr id="10" name="m2-head"/>
          <p:cNvSpPr txBox="1"/>
          <p:nvPr/>
        </p:nvSpPr>
        <p:spPr>
          <a:xfrm>
            <a:off x="6883400" y="1447800"/>
            <a:ext cx="4597400" cy="304800"/>
          </a:xfrm>
          <a:prstGeom prst="rect">
            <a:avLst/>
          </a:prstGeom>
          <a:noFill/>
          <a:ln>
            <a:noFill/>
          </a:ln>
        </p:spPr>
        <p:txBody>
          <a:bodyPr lIns="0" rIns="0" tIns="0" bIns="0" wrap="square" rtlCol="0"/>
          <a:lstStyle/>
          <a:p>
            <a:pPr>
              <a:lnSpc>
                <a:spcPct val="120000"/>
              </a:lnSpc>
            </a:pPr>
            <a:r>
              <a:rPr lang="en-US" sz="1900" noProof="1">
                <a:solidFill>
                  <a:srgbClr val="BC4B26"/>
                </a:solidFill>
                <a:latin typeface="Unna"/>
                <a:ea typeface="Unna"/>
              </a:rPr>
              <a:t>Capstone — Week 14</a:t>
            </a:r>
            <a:endParaRPr lang="en-US" sz="1900" noProof="1"/>
          </a:p>
        </p:txBody>
      </p:sp>
      <p:sp>
        <p:nvSpPr>
          <p:cNvPr id="11" name="m2-body"/>
          <p:cNvSpPr txBox="1"/>
          <p:nvPr/>
        </p:nvSpPr>
        <p:spPr>
          <a:xfrm>
            <a:off x="6400800" y="1879600"/>
            <a:ext cx="5080000" cy="1905000"/>
          </a:xfrm>
          <a:prstGeom prst="rect">
            <a:avLst/>
          </a:prstGeom>
          <a:noFill/>
          <a:ln>
            <a:noFill/>
          </a:ln>
        </p:spPr>
        <p:txBody>
          <a:bodyPr lIns="0" rIns="0" tIns="0" bIns="0" wrap="square" rtlCol="0"/>
          <a:lstStyle/>
          <a:p>
            <a:pPr>
              <a:lnSpc>
                <a:spcPct val="150000"/>
              </a:lnSpc>
              <a:spcBef>
                <a:spcPts val="10"/>
              </a:spcBef>
              <a:buChar char="•"/>
            </a:pPr>
            <a:r>
              <a:rPr lang="en-US" sz="1250" noProof="1">
                <a:solidFill>
                  <a:srgbClr val="23272E"/>
                </a:solidFill>
                <a:latin typeface="Quattrocento Sans"/>
                <a:ea typeface="Quattrocento Sans"/>
              </a:rPr>
              <a:t>A team project applying the </a:t>
            </a:r>
            <a:r>
              <a:rPr lang="en-US" sz="1250" noProof="1" b="1">
                <a:solidFill>
                  <a:srgbClr val="23272E"/>
                </a:solidFill>
                <a:latin typeface="Quattrocento Sans"/>
                <a:ea typeface="Quattrocento Sans"/>
              </a:rPr>
              <a:t>full course toolkit</a:t>
            </a:r>
            <a:r>
              <a:rPr lang="en-US" sz="1250" noProof="1">
                <a:solidFill>
                  <a:srgbClr val="23272E"/>
                </a:solidFill>
                <a:latin typeface="Quattrocento Sans"/>
                <a:ea typeface="Quattrocento Sans"/>
              </a:rPr>
              <a:t> to one real commerce challenge</a:t>
            </a:r>
            <a:endParaRPr lang="en-US" sz="1250" noProof="1"/>
          </a:p>
          <a:p>
            <a:pPr>
              <a:lnSpc>
                <a:spcPct val="150000"/>
              </a:lnSpc>
              <a:spcBef>
                <a:spcPts val="10"/>
              </a:spcBef>
              <a:buChar char="•"/>
            </a:pPr>
            <a:r>
              <a:rPr lang="en-US" sz="1250" noProof="1">
                <a:solidFill>
                  <a:srgbClr val="23272E"/>
                </a:solidFill>
                <a:latin typeface="Quattrocento Sans"/>
                <a:ea typeface="Quattrocento Sans"/>
              </a:rPr>
              <a:t>Scoped during Weeks 8–13 with instructor checkpoints</a:t>
            </a:r>
            <a:endParaRPr lang="en-US" sz="1250" noProof="1"/>
          </a:p>
          <a:p>
            <a:pPr>
              <a:lnSpc>
                <a:spcPct val="150000"/>
              </a:lnSpc>
              <a:spcBef>
                <a:spcPts val="10"/>
              </a:spcBef>
              <a:buChar char="•"/>
            </a:pPr>
            <a:r>
              <a:rPr lang="en-US" sz="1250" noProof="1">
                <a:solidFill>
                  <a:srgbClr val="23272E"/>
                </a:solidFill>
                <a:latin typeface="Quattrocento Sans"/>
                <a:ea typeface="Quattrocento Sans"/>
              </a:rPr>
              <a:t>Presented in Week 14; rewards evidence quality and honest sourcing over flashy claims</a:t>
            </a:r>
            <a:endParaRPr lang="en-US" sz="1250" noProof="1"/>
          </a:p>
        </p:txBody>
      </p:sp>
      <p:sp>
        <p:nvSpPr>
          <p:cNvPr id="12" name="m2-note"/>
          <p:cNvSpPr txBox="1"/>
          <p:nvPr/>
        </p:nvSpPr>
        <p:spPr>
          <a:xfrm>
            <a:off x="6400800" y="3886200"/>
            <a:ext cx="5080000" cy="508000"/>
          </a:xfrm>
          <a:prstGeom prst="rect">
            <a:avLst/>
          </a:prstGeom>
          <a:noFill/>
          <a:ln>
            <a:noFill/>
          </a:ln>
        </p:spPr>
        <p:txBody>
          <a:bodyPr lIns="0" rIns="0" tIns="0" bIns="0" wrap="square" rtlCol="0"/>
          <a:lstStyle/>
          <a:p>
            <a:pPr>
              <a:lnSpc>
                <a:spcPct val="140000"/>
              </a:lnSpc>
            </a:pPr>
            <a:r>
              <a:rPr lang="en-US" sz="1150" noProof="1">
                <a:solidFill>
                  <a:srgbClr val="6E675C"/>
                </a:solidFill>
                <a:latin typeface="Quattrocento Sans"/>
                <a:ea typeface="Quattrocento Sans"/>
              </a:rPr>
              <a:t>Start collecting candidate companies now — your Week 1 activities already generate them.</a:t>
            </a:r>
            <a:endParaRPr lang="en-US" sz="1150" noProof="1"/>
          </a:p>
        </p:txBody>
      </p:sp>
      <p:sp>
        <p:nvSpPr>
          <p:cNvPr id="13" name="rule-h"/>
          <p:cNvSpPr/>
          <p:nvPr/>
        </p:nvSpPr>
        <p:spPr>
          <a:xfrm>
            <a:off x="711200" y="4826000"/>
            <a:ext cx="10769600" cy="12700"/>
          </a:xfrm>
          <a:prstGeom prst="rect">
            <a:avLst/>
          </a:prstGeom>
          <a:solidFill>
            <a:srgbClr val="D9D2C4"/>
          </a:solidFill>
          <a:ln>
            <a:noFill/>
          </a:ln>
        </p:spPr>
      </p:sp>
      <p:sp>
        <p:nvSpPr>
          <p:cNvPr id="14" name="expect-head"/>
          <p:cNvSpPr txBox="1"/>
          <p:nvPr/>
        </p:nvSpPr>
        <p:spPr>
          <a:xfrm>
            <a:off x="711200" y="5003800"/>
            <a:ext cx="10769600" cy="254000"/>
          </a:xfrm>
          <a:prstGeom prst="rect">
            <a:avLst/>
          </a:prstGeom>
          <a:noFill/>
          <a:ln>
            <a:noFill/>
          </a:ln>
        </p:spPr>
        <p:txBody>
          <a:bodyPr lIns="0" rIns="0" tIns="0" bIns="0" wrap="square" rtlCol="0"/>
          <a:lstStyle/>
          <a:p>
            <a:pPr>
              <a:lnSpc>
                <a:spcPct val="120000"/>
              </a:lnSpc>
            </a:pPr>
            <a:r>
              <a:rPr lang="en-US" sz="1250" noProof="1" b="1">
                <a:solidFill>
                  <a:srgbClr val="175E54"/>
                </a:solidFill>
                <a:latin typeface="Quattrocento Sans"/>
                <a:ea typeface="Quattrocento Sans"/>
              </a:rPr>
              <a:t>What good work looks like in this course</a:t>
            </a:r>
            <a:endParaRPr lang="en-US" sz="1250" noProof="1"/>
          </a:p>
        </p:txBody>
      </p:sp>
      <p:sp>
        <p:nvSpPr>
          <p:cNvPr id="15" name="expect-body"/>
          <p:cNvSpPr txBox="1"/>
          <p:nvPr/>
        </p:nvSpPr>
        <p:spPr>
          <a:xfrm>
            <a:off x="711200" y="5308600"/>
            <a:ext cx="10769600" cy="939800"/>
          </a:xfrm>
          <a:prstGeom prst="rect">
            <a:avLst/>
          </a:prstGeom>
          <a:noFill/>
          <a:ln>
            <a:noFill/>
          </a:ln>
        </p:spPr>
        <p:txBody>
          <a:bodyPr lIns="0" rIns="0" tIns="0" bIns="0" wrap="square" rtlCol="0"/>
          <a:lstStyle/>
          <a:p>
            <a:pPr>
              <a:lnSpc>
                <a:spcPct val="150000"/>
              </a:lnSpc>
            </a:pPr>
            <a:r>
              <a:rPr lang="en-US" sz="1250" noProof="1">
                <a:solidFill>
                  <a:srgbClr val="23272E"/>
                </a:solidFill>
                <a:latin typeface="Quattrocento Sans"/>
                <a:ea typeface="Quattrocento Sans"/>
              </a:rPr>
              <a:t>Every claim carries a source; forecasts are labelled as forecasts; conflicting estimates are acknowledged, not hidden. You will see this standard modelled on every slide — look at the source lines at the bottom of each exhibit. We grade the same habit we teach.</a:t>
            </a:r>
            <a:endParaRPr lang="en-US" sz="1250" noProof="1"/>
          </a:p>
        </p:txBody>
      </p:sp>
      <p:sp>
        <p:nvSpPr>
          <p:cNvPr id="16" name="foot-rule"/>
          <p:cNvSpPr/>
          <p:nvPr/>
        </p:nvSpPr>
        <p:spPr>
          <a:xfrm>
            <a:off x="711200" y="6451600"/>
            <a:ext cx="10769600" cy="12700"/>
          </a:xfrm>
          <a:prstGeom prst="rect">
            <a:avLst/>
          </a:prstGeom>
          <a:solidFill>
            <a:srgbClr val="D9D2C4"/>
          </a:solidFill>
          <a:ln>
            <a:noFill/>
          </a:ln>
        </p:spPr>
      </p:sp>
      <p:sp>
        <p:nvSpPr>
          <p:cNvPr id="17"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8"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19"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7</a:t>
            </a:r>
            <a:endParaRPr lang="en-US" sz="950" noProof="1"/>
          </a:p>
        </p:txBody>
      </p:sp>
    </p:spTree>
  </p:cSld>
  <p:clrMapOvr>
    <a:masterClrMapping/>
  </p:clrMapOvr>
</p:sld>
</file>

<file path=ppt/slides/slide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ICEBREAKER ACTIVITY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Map your last purchase — you are the first case study</a:t>
            </a:r>
            <a:endParaRPr lang="en-US" sz="2600" noProof="1"/>
          </a:p>
        </p:txBody>
      </p:sp>
      <p:sp>
        <p:nvSpPr>
          <p:cNvPr id="4" name="activity-zone"/>
          <p:cNvSpPr/>
          <p:nvPr/>
        </p:nvSpPr>
        <p:spPr>
          <a:xfrm>
            <a:off x="711200" y="1397000"/>
            <a:ext cx="7112000" cy="4826000"/>
          </a:xfrm>
          <a:prstGeom prst="rect">
            <a:avLst/>
          </a:prstGeom>
          <a:solidFill>
            <a:srgbClr val="F6E7DE"/>
          </a:solidFill>
          <a:ln>
            <a:noFill/>
          </a:ln>
        </p:spPr>
      </p:sp>
      <p:sp>
        <p:nvSpPr>
          <p:cNvPr id="5" name="task-head"/>
          <p:cNvSpPr txBox="1"/>
          <p:nvPr/>
        </p:nvSpPr>
        <p:spPr>
          <a:xfrm>
            <a:off x="1016000" y="1600200"/>
            <a:ext cx="6502400" cy="279400"/>
          </a:xfrm>
          <a:prstGeom prst="rect">
            <a:avLst/>
          </a:prstGeom>
          <a:noFill/>
          <a:ln>
            <a:noFill/>
          </a:ln>
        </p:spPr>
        <p:txBody>
          <a:bodyPr lIns="0" rIns="0" tIns="0" bIns="0" wrap="square" rtlCol="0"/>
          <a:lstStyle/>
          <a:p>
            <a:pPr>
              <a:lnSpc>
                <a:spcPct val="120000"/>
              </a:lnSpc>
            </a:pPr>
            <a:r>
              <a:rPr lang="en-US" sz="1350" noProof="1" b="1">
                <a:solidFill>
                  <a:srgbClr val="BC4B26"/>
                </a:solidFill>
                <a:latin typeface="Quattrocento Sans"/>
                <a:ea typeface="Quattrocento Sans"/>
              </a:rPr>
              <a:t>THE TASK · Practice scenario — work solo, then in pairs</a:t>
            </a:r>
            <a:endParaRPr lang="en-US" sz="1350" noProof="1"/>
          </a:p>
        </p:txBody>
      </p:sp>
      <p:sp>
        <p:nvSpPr>
          <p:cNvPr id="6" name="task-steps"/>
          <p:cNvSpPr txBox="1"/>
          <p:nvPr/>
        </p:nvSpPr>
        <p:spPr>
          <a:xfrm>
            <a:off x="1016000" y="1981200"/>
            <a:ext cx="6502400" cy="2794000"/>
          </a:xfrm>
          <a:prstGeom prst="rect">
            <a:avLst/>
          </a:prstGeom>
          <a:noFill/>
          <a:ln>
            <a:noFill/>
          </a:ln>
        </p:spPr>
        <p:txBody>
          <a:bodyPr lIns="0" rIns="0" tIns="0" bIns="0" wrap="square" rtlCol="0"/>
          <a:lstStyle/>
          <a:p>
            <a:pPr>
              <a:lnSpc>
                <a:spcPct val="155000"/>
              </a:lnSpc>
              <a:spcBef>
                <a:spcPts val="10"/>
              </a:spcBef>
              <a:buAutoNum type="arabicPeriod"/>
            </a:pPr>
            <a:r>
              <a:rPr lang="en-US" sz="1250" noProof="1" b="1">
                <a:solidFill>
                  <a:srgbClr val="23272E"/>
                </a:solidFill>
                <a:latin typeface="Quattrocento Sans"/>
                <a:ea typeface="Quattrocento Sans"/>
              </a:rPr>
              <a:t>Recall</a:t>
            </a:r>
            <a:r>
              <a:rPr lang="en-US" sz="1250" noProof="1">
                <a:solidFill>
                  <a:srgbClr val="23272E"/>
                </a:solidFill>
                <a:latin typeface="Quattrocento Sans"/>
                <a:ea typeface="Quattrocento Sans"/>
              </a:rPr>
              <a:t> the last thing you bought (any price, any category).</a:t>
            </a:r>
            <a:endParaRPr lang="en-US" sz="1250" noProof="1"/>
          </a:p>
          <a:p>
            <a:pPr>
              <a:lnSpc>
                <a:spcPct val="155000"/>
              </a:lnSpc>
              <a:spcBef>
                <a:spcPts val="10"/>
              </a:spcBef>
              <a:buAutoNum type="arabicPeriod"/>
            </a:pPr>
            <a:r>
              <a:rPr lang="en-US" sz="1250" noProof="1" b="1">
                <a:solidFill>
                  <a:srgbClr val="23272E"/>
                </a:solidFill>
                <a:latin typeface="Quattrocento Sans"/>
                <a:ea typeface="Quattrocento Sans"/>
              </a:rPr>
              <a:t>Trace the path backwards:</a:t>
            </a:r>
            <a:r>
              <a:rPr lang="en-US" sz="1250" noProof="1">
                <a:solidFill>
                  <a:srgbClr val="23272E"/>
                </a:solidFill>
                <a:latin typeface="Quattrocento Sans"/>
                <a:ea typeface="Quattrocento Sans"/>
              </a:rPr>
              <a:t> where did you first become aware of it? What did you search, watch, or ask? Where did you compare options? Where did you pay?</a:t>
            </a:r>
            <a:endParaRPr lang="en-US" sz="1250" noProof="1"/>
          </a:p>
          <a:p>
            <a:pPr>
              <a:lnSpc>
                <a:spcPct val="155000"/>
              </a:lnSpc>
              <a:spcBef>
                <a:spcPts val="10"/>
              </a:spcBef>
              <a:buAutoNum type="arabicPeriod"/>
            </a:pPr>
            <a:r>
              <a:rPr lang="en-US" sz="1250" noProof="1" b="1">
                <a:solidFill>
                  <a:srgbClr val="23272E"/>
                </a:solidFill>
                <a:latin typeface="Quattrocento Sans"/>
                <a:ea typeface="Quattrocento Sans"/>
              </a:rPr>
              <a:t>Tag every touchpoint</a:t>
            </a:r>
            <a:r>
              <a:rPr lang="en-US" sz="1250" noProof="1">
                <a:solidFill>
                  <a:srgbClr val="23272E"/>
                </a:solidFill>
                <a:latin typeface="Quattrocento Sans"/>
                <a:ea typeface="Quattrocento Sans"/>
              </a:rPr>
              <a:t> with its channel: physical store · website · mobile app · social platform · voice assistant · AI assistant.</a:t>
            </a:r>
            <a:endParaRPr lang="en-US" sz="1250" noProof="1"/>
          </a:p>
          <a:p>
            <a:pPr>
              <a:lnSpc>
                <a:spcPct val="155000"/>
              </a:lnSpc>
              <a:spcBef>
                <a:spcPts val="10"/>
              </a:spcBef>
              <a:buAutoNum type="arabicPeriod"/>
            </a:pPr>
            <a:r>
              <a:rPr lang="en-US" sz="1250" noProof="1" b="1">
                <a:solidFill>
                  <a:srgbClr val="23272E"/>
                </a:solidFill>
                <a:latin typeface="Quattrocento Sans"/>
                <a:ea typeface="Quattrocento Sans"/>
              </a:rPr>
              <a:t>Pair up</a:t>
            </a:r>
            <a:r>
              <a:rPr lang="en-US" sz="1250" noProof="1">
                <a:solidFill>
                  <a:srgbClr val="23272E"/>
                </a:solidFill>
                <a:latin typeface="Quattrocento Sans"/>
                <a:ea typeface="Quattrocento Sans"/>
              </a:rPr>
              <a:t> and compare maps: what was the same, what differed?</a:t>
            </a:r>
            <a:endParaRPr lang="en-US" sz="1250" noProof="1"/>
          </a:p>
        </p:txBody>
      </p:sp>
      <p:sp>
        <p:nvSpPr>
          <p:cNvPr id="7" name="task-criteria"/>
          <p:cNvSpPr txBox="1"/>
          <p:nvPr/>
        </p:nvSpPr>
        <p:spPr>
          <a:xfrm>
            <a:off x="1016000" y="4927600"/>
            <a:ext cx="6502400" cy="1092200"/>
          </a:xfrm>
          <a:prstGeom prst="rect">
            <a:avLst/>
          </a:prstGeom>
          <a:noFill/>
          <a:ln>
            <a:noFill/>
          </a:ln>
        </p:spPr>
        <p:txBody>
          <a:bodyPr lIns="0" rIns="0" tIns="0" bIns="0" wrap="square" rtlCol="0"/>
          <a:lstStyle/>
          <a:p>
            <a:pPr>
              <a:lnSpc>
                <a:spcPct val="150000"/>
              </a:lnSpc>
            </a:pPr>
            <a:r>
              <a:rPr lang="en-US" sz="1200" noProof="1" b="1">
                <a:solidFill>
                  <a:srgbClr val="23272E"/>
                </a:solidFill>
                <a:latin typeface="Quattrocento Sans"/>
                <a:ea typeface="Quattrocento Sans"/>
              </a:rPr>
              <a:t>Done when:</a:t>
            </a:r>
            <a:r>
              <a:rPr lang="en-US" sz="1200" noProof="1">
                <a:solidFill>
                  <a:srgbClr val="23272E"/>
                </a:solidFill>
                <a:latin typeface="Quattrocento Sans"/>
                <a:ea typeface="Quattrocento Sans"/>
              </a:rPr>
              <a:t> you have one end-to-end path map with every touchpoint channel-tagged, and one sentence on what almost stopped the purchase.</a:t>
            </a:r>
            <a:endParaRPr lang="en-US" sz="1200" noProof="1"/>
          </a:p>
          <a:p>
            <a:pPr>
              <a:lnSpc>
                <a:spcPct val="150000"/>
              </a:lnSpc>
              <a:spcBef>
                <a:spcPts val="600"/>
              </a:spcBef>
            </a:pPr>
            <a:r>
              <a:rPr lang="en-US" sz="1200" noProof="1" b="1">
                <a:solidFill>
                  <a:srgbClr val="23272E"/>
                </a:solidFill>
                <a:latin typeface="Quattrocento Sans"/>
                <a:ea typeface="Quattrocento Sans"/>
              </a:rPr>
              <a:t>Timing:</a:t>
            </a:r>
            <a:r>
              <a:rPr lang="en-US" sz="1200" noProof="1">
                <a:solidFill>
                  <a:srgbClr val="23272E"/>
                </a:solidFill>
                <a:latin typeface="Quattrocento Sans"/>
                <a:ea typeface="Quattrocento Sans"/>
              </a:rPr>
              <a:t> 6 min solo · 6 min pairs · 6 min debrief.</a:t>
            </a:r>
            <a:endParaRPr lang="en-US" sz="1200" noProof="1"/>
          </a:p>
        </p:txBody>
      </p:sp>
      <p:sp>
        <p:nvSpPr>
          <p:cNvPr id="8" name="debrief-head"/>
          <p:cNvSpPr txBox="1"/>
          <p:nvPr/>
        </p:nvSpPr>
        <p:spPr>
          <a:xfrm>
            <a:off x="8128000" y="1397000"/>
            <a:ext cx="3352800" cy="508000"/>
          </a:xfrm>
          <a:prstGeom prst="rect">
            <a:avLst/>
          </a:prstGeom>
          <a:noFill/>
          <a:ln>
            <a:noFill/>
          </a:ln>
        </p:spPr>
        <p:txBody>
          <a:bodyPr lIns="0" rIns="0" tIns="0" bIns="0" wrap="square" rtlCol="0"/>
          <a:lstStyle/>
          <a:p>
            <a:pPr>
              <a:lnSpc>
                <a:spcPct val="120000"/>
              </a:lnSpc>
            </a:pPr>
            <a:r>
              <a:rPr lang="en-US" sz="1700" noProof="1">
                <a:solidFill>
                  <a:srgbClr val="175E54"/>
                </a:solidFill>
                <a:latin typeface="Unna"/>
                <a:ea typeface="Unna"/>
              </a:rPr>
              <a:t>Debrief questions</a:t>
            </a:r>
            <a:endParaRPr lang="en-US" sz="1700" noProof="1"/>
          </a:p>
        </p:txBody>
      </p:sp>
      <p:sp>
        <p:nvSpPr>
          <p:cNvPr id="9" name="debrief-body"/>
          <p:cNvSpPr txBox="1"/>
          <p:nvPr/>
        </p:nvSpPr>
        <p:spPr>
          <a:xfrm>
            <a:off x="8128000" y="1955800"/>
            <a:ext cx="3352800" cy="2540000"/>
          </a:xfrm>
          <a:prstGeom prst="rect">
            <a:avLst/>
          </a:prstGeom>
          <a:noFill/>
          <a:ln>
            <a:noFill/>
          </a:ln>
        </p:spPr>
        <p:txBody>
          <a:bodyPr lIns="0" rIns="0" tIns="0" bIns="0" wrap="square" rtlCol="0"/>
          <a:lstStyle/>
          <a:p>
            <a:pPr>
              <a:lnSpc>
                <a:spcPct val="155000"/>
              </a:lnSpc>
              <a:spcBef>
                <a:spcPts val="10"/>
              </a:spcBef>
              <a:buChar char="•"/>
            </a:pPr>
            <a:r>
              <a:rPr lang="en-US" sz="1200" noProof="1">
                <a:solidFill>
                  <a:srgbClr val="23272E"/>
                </a:solidFill>
                <a:latin typeface="Quattrocento Sans"/>
                <a:ea typeface="Quattrocento Sans"/>
              </a:rPr>
              <a:t>How many channels did one purchase touch?</a:t>
            </a:r>
            <a:endParaRPr lang="en-US" sz="1200" noProof="1"/>
          </a:p>
          <a:p>
            <a:pPr>
              <a:lnSpc>
                <a:spcPct val="155000"/>
              </a:lnSpc>
              <a:spcBef>
                <a:spcPts val="10"/>
              </a:spcBef>
              <a:buChar char="•"/>
            </a:pPr>
            <a:r>
              <a:rPr lang="en-US" sz="1200" noProof="1">
                <a:solidFill>
                  <a:srgbClr val="23272E"/>
                </a:solidFill>
                <a:latin typeface="Quattrocento Sans"/>
                <a:ea typeface="Quattrocento Sans"/>
              </a:rPr>
              <a:t>Did anyone's path stay inside a single channel?</a:t>
            </a:r>
            <a:endParaRPr lang="en-US" sz="1200" noProof="1"/>
          </a:p>
          <a:p>
            <a:pPr>
              <a:lnSpc>
                <a:spcPct val="155000"/>
              </a:lnSpc>
              <a:spcBef>
                <a:spcPts val="10"/>
              </a:spcBef>
              <a:buChar char="•"/>
            </a:pPr>
            <a:r>
              <a:rPr lang="en-US" sz="1200" noProof="1">
                <a:solidFill>
                  <a:srgbClr val="23272E"/>
                </a:solidFill>
                <a:latin typeface="Quattrocento Sans"/>
                <a:ea typeface="Quattrocento Sans"/>
              </a:rPr>
              <a:t>Which step felt like "the old world" of commerce?</a:t>
            </a:r>
            <a:endParaRPr lang="en-US" sz="1200" noProof="1"/>
          </a:p>
          <a:p>
            <a:pPr>
              <a:lnSpc>
                <a:spcPct val="155000"/>
              </a:lnSpc>
              <a:spcBef>
                <a:spcPts val="10"/>
              </a:spcBef>
              <a:buChar char="•"/>
            </a:pPr>
            <a:r>
              <a:rPr lang="en-US" sz="1200" noProof="1">
                <a:solidFill>
                  <a:srgbClr val="23272E"/>
                </a:solidFill>
                <a:latin typeface="Quattrocento Sans"/>
                <a:ea typeface="Quattrocento Sans"/>
              </a:rPr>
              <a:t>Where did your phone beat your feet?</a:t>
            </a:r>
            <a:endParaRPr lang="en-US" sz="1200" noProof="1"/>
          </a:p>
        </p:txBody>
      </p:sp>
      <p:sp>
        <p:nvSpPr>
          <p:cNvPr id="10" name="debrief-note"/>
          <p:cNvSpPr txBox="1"/>
          <p:nvPr/>
        </p:nvSpPr>
        <p:spPr>
          <a:xfrm>
            <a:off x="8128000" y="4622800"/>
            <a:ext cx="3352800" cy="1600200"/>
          </a:xfrm>
          <a:prstGeom prst="rect">
            <a:avLst/>
          </a:prstGeom>
          <a:noFill/>
          <a:ln>
            <a:noFill/>
          </a:ln>
        </p:spPr>
        <p:txBody>
          <a:bodyPr lIns="0" rIns="0" tIns="0" bIns="0" wrap="square" rtlCol="0"/>
          <a:lstStyle/>
          <a:p>
            <a:pPr>
              <a:lnSpc>
                <a:spcPct val="145000"/>
              </a:lnSpc>
            </a:pPr>
            <a:r>
              <a:rPr lang="en-US" sz="1100" noProof="1">
                <a:solidFill>
                  <a:srgbClr val="6E675C"/>
                </a:solidFill>
                <a:latin typeface="Quattrocento Sans"/>
                <a:ea typeface="Quattrocento Sans"/>
              </a:rPr>
              <a:t>Keep your map. In Session B we formalise what you just drew as the </a:t>
            </a:r>
            <a:r>
              <a:rPr lang="en-US" sz="1100" noProof="1" b="1">
                <a:solidFill>
                  <a:srgbClr val="6E675C"/>
                </a:solidFill>
                <a:latin typeface="Quattrocento Sans"/>
                <a:ea typeface="Quattrocento Sans"/>
              </a:rPr>
              <a:t>retail evolution continuum</a:t>
            </a:r>
            <a:r>
              <a:rPr lang="en-US" sz="1100" noProof="1">
                <a:solidFill>
                  <a:srgbClr val="6E675C"/>
                </a:solidFill>
                <a:latin typeface="Quattrocento Sans"/>
                <a:ea typeface="Quattrocento Sans"/>
              </a:rPr>
              <a:t> — and in Week 2 as the </a:t>
            </a:r>
            <a:r>
              <a:rPr lang="en-US" sz="1100" noProof="1" b="1">
                <a:solidFill>
                  <a:srgbClr val="6E675C"/>
                </a:solidFill>
                <a:latin typeface="Quattrocento Sans"/>
                <a:ea typeface="Quattrocento Sans"/>
              </a:rPr>
              <a:t>path-to-purchase</a:t>
            </a:r>
            <a:r>
              <a:rPr lang="en-US" sz="1100" noProof="1">
                <a:solidFill>
                  <a:srgbClr val="6E675C"/>
                </a:solidFill>
                <a:latin typeface="Quattrocento Sans"/>
                <a:ea typeface="Quattrocento Sans"/>
              </a:rPr>
              <a:t>.</a:t>
            </a:r>
            <a:endParaRPr lang="en-US" sz="1100" noProof="1"/>
          </a:p>
        </p:txBody>
      </p:sp>
      <p:sp>
        <p:nvSpPr>
          <p:cNvPr id="11" name="foot-rule"/>
          <p:cNvSpPr/>
          <p:nvPr/>
        </p:nvSpPr>
        <p:spPr>
          <a:xfrm>
            <a:off x="711200" y="6451600"/>
            <a:ext cx="10769600" cy="12700"/>
          </a:xfrm>
          <a:prstGeom prst="rect">
            <a:avLst/>
          </a:prstGeom>
          <a:solidFill>
            <a:srgbClr val="D9D2C4"/>
          </a:solidFill>
          <a:ln>
            <a:noFill/>
          </a:ln>
        </p:spPr>
      </p:sp>
      <p:sp>
        <p:nvSpPr>
          <p:cNvPr id="12"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3"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14"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8</a:t>
            </a:r>
            <a:endParaRPr lang="en-US" sz="950" noProof="1"/>
          </a:p>
        </p:txBody>
      </p:sp>
    </p:spTree>
  </p:cSld>
  <p:clrMapOvr>
    <a:masterClrMapping/>
  </p:clrMapOvr>
</p:sld>
</file>

<file path=ppt/slides/slide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THE COMMERCE LANDSCAPE 2026</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Six interfaces compete for the same wallet — none has died</a:t>
            </a:r>
            <a:endParaRPr lang="en-US" sz="2600" noProof="1"/>
          </a:p>
        </p:txBody>
      </p:sp>
      <p:sp>
        <p:nvSpPr>
          <p:cNvPr id="4" name="ch1-icon"/>
          <p:cNvSpPr/>
          <p:nvPr>
            <p:extLst>
              <p:ext uri="{F5677B7D-0D2A-4D9B-9A5C-6D8D7D0E5A5D}">
                <pptd:icon encoding="base64url">eyJpY29uTmFtZSI6ImZhczpzdG9yZSJ9</pptd:icon>
              </p:ext>
            </p:extLst>
          </p:nvPr>
        </p:nvSpPr>
        <p:spPr>
          <a:xfrm>
            <a:off x="711200" y="1651000"/>
            <a:ext cx="330200" cy="330200"/>
          </a:xfrm>
          <a:custGeom>
            <a:avLst/>
            <a:gdLst/>
            <a:ahLst/>
            <a:cxnLst/>
            <a:rect l="l" t="t" r="r" b="b"/>
            <a:pathLst>
              <a:path w="512" h="512">
                <a:moveTo>
                  <a:pt x="31" y="72"/>
                </a:moveTo>
                <a:cubicBezTo>
                  <a:pt x="38" y="48"/>
                  <a:pt x="60" y="32"/>
                  <a:pt x="84" y="32"/>
                </a:cubicBezTo>
                <a:lnTo>
                  <a:pt x="428" y="32"/>
                </a:lnTo>
                <a:cubicBezTo>
                  <a:pt x="453" y="32"/>
                  <a:pt x="475" y="48"/>
                  <a:pt x="482" y="72"/>
                </a:cubicBezTo>
                <a:lnTo>
                  <a:pt x="506" y="153"/>
                </a:lnTo>
                <a:cubicBezTo>
                  <a:pt x="518" y="196"/>
                  <a:pt x="485" y="240"/>
                  <a:pt x="440" y="240"/>
                </a:cubicBezTo>
                <a:cubicBezTo>
                  <a:pt x="414" y="240"/>
                  <a:pt x="391" y="225"/>
                  <a:pt x="379" y="203"/>
                </a:cubicBezTo>
                <a:cubicBezTo>
                  <a:pt x="368" y="225"/>
                  <a:pt x="345" y="240"/>
                  <a:pt x="318" y="240"/>
                </a:cubicBezTo>
                <a:cubicBezTo>
                  <a:pt x="291" y="240"/>
                  <a:pt x="268" y="225"/>
                  <a:pt x="257" y="203"/>
                </a:cubicBezTo>
                <a:cubicBezTo>
                  <a:pt x="245" y="225"/>
                  <a:pt x="222" y="240"/>
                  <a:pt x="195" y="240"/>
                </a:cubicBezTo>
                <a:cubicBezTo>
                  <a:pt x="168" y="240"/>
                  <a:pt x="145" y="225"/>
                  <a:pt x="134" y="203"/>
                </a:cubicBezTo>
                <a:cubicBezTo>
                  <a:pt x="122" y="225"/>
                  <a:pt x="99" y="240"/>
                  <a:pt x="73" y="240"/>
                </a:cubicBezTo>
                <a:cubicBezTo>
                  <a:pt x="27" y="240"/>
                  <a:pt x="-5" y="196"/>
                  <a:pt x="7" y="153"/>
                </a:cubicBezTo>
                <a:lnTo>
                  <a:pt x="31" y="72"/>
                </a:lnTo>
                <a:close/>
                <a:moveTo>
                  <a:pt x="96" y="352"/>
                </a:moveTo>
                <a:lnTo>
                  <a:pt x="416" y="352"/>
                </a:lnTo>
                <a:lnTo>
                  <a:pt x="416" y="286"/>
                </a:lnTo>
                <a:cubicBezTo>
                  <a:pt x="424" y="287"/>
                  <a:pt x="432" y="288"/>
                  <a:pt x="440" y="288"/>
                </a:cubicBezTo>
                <a:cubicBezTo>
                  <a:pt x="454" y="288"/>
                  <a:pt x="468" y="285"/>
                  <a:pt x="480" y="281"/>
                </a:cubicBezTo>
                <a:lnTo>
                  <a:pt x="480" y="432"/>
                </a:lnTo>
                <a:cubicBezTo>
                  <a:pt x="480" y="459"/>
                  <a:pt x="459" y="480"/>
                  <a:pt x="432" y="480"/>
                </a:cubicBezTo>
                <a:lnTo>
                  <a:pt x="80" y="480"/>
                </a:lnTo>
                <a:cubicBezTo>
                  <a:pt x="54" y="480"/>
                  <a:pt x="32" y="459"/>
                  <a:pt x="32" y="432"/>
                </a:cubicBezTo>
                <a:lnTo>
                  <a:pt x="32" y="281"/>
                </a:lnTo>
                <a:cubicBezTo>
                  <a:pt x="45" y="285"/>
                  <a:pt x="58" y="288"/>
                  <a:pt x="73" y="288"/>
                </a:cubicBezTo>
                <a:cubicBezTo>
                  <a:pt x="81" y="288"/>
                  <a:pt x="89" y="287"/>
                  <a:pt x="96" y="286"/>
                </a:cubicBezTo>
                <a:lnTo>
                  <a:pt x="96" y="352"/>
                </a:lnTo>
                <a:close/>
              </a:path>
            </a:pathLst>
          </a:custGeom>
          <a:solidFill>
            <a:srgbClr val="175E54"/>
          </a:solidFill>
          <a:ln>
            <a:noFill/>
          </a:ln>
        </p:spPr>
      </p:sp>
      <p:sp>
        <p:nvSpPr>
          <p:cNvPr id="5" name="ch1-name"/>
          <p:cNvSpPr txBox="1"/>
          <p:nvPr/>
        </p:nvSpPr>
        <p:spPr>
          <a:xfrm>
            <a:off x="711200" y="2082800"/>
            <a:ext cx="1676400" cy="431800"/>
          </a:xfrm>
          <a:prstGeom prst="rect">
            <a:avLst/>
          </a:prstGeom>
          <a:noFill/>
          <a:ln>
            <a:noFill/>
          </a:ln>
        </p:spPr>
        <p:txBody>
          <a:bodyPr lIns="0" rIns="0" tIns="0" bIns="0" wrap="square" rtlCol="0"/>
          <a:lstStyle/>
          <a:p>
            <a:pPr>
              <a:lnSpc>
                <a:spcPct val="130000"/>
              </a:lnSpc>
            </a:pPr>
            <a:r>
              <a:rPr lang="en-US" sz="1200" noProof="1" b="1">
                <a:solidFill>
                  <a:srgbClr val="23272E"/>
                </a:solidFill>
                <a:latin typeface="Quattrocento Sans"/>
                <a:ea typeface="Quattrocento Sans"/>
              </a:rPr>
              <a:t>Physical store</a:t>
            </a:r>
            <a:endParaRPr lang="en-US" sz="1200" noProof="1"/>
          </a:p>
        </p:txBody>
      </p:sp>
      <p:sp>
        <p:nvSpPr>
          <p:cNvPr id="6" name="ch1-stat"/>
          <p:cNvSpPr txBox="1"/>
          <p:nvPr/>
        </p:nvSpPr>
        <p:spPr>
          <a:xfrm>
            <a:off x="711200" y="2514600"/>
            <a:ext cx="1676400" cy="355600"/>
          </a:xfrm>
          <a:prstGeom prst="rect">
            <a:avLst/>
          </a:prstGeom>
          <a:noFill/>
          <a:ln>
            <a:noFill/>
          </a:ln>
        </p:spPr>
        <p:txBody>
          <a:bodyPr lIns="0" rIns="0" tIns="0" bIns="0" wrap="none" rtlCol="0"/>
          <a:lstStyle/>
          <a:p>
            <a:pPr>
              <a:lnSpc>
                <a:spcPct val="120000"/>
              </a:lnSpc>
            </a:pPr>
            <a:r>
              <a:rPr lang="en-US" sz="2000" noProof="1">
                <a:solidFill>
                  <a:srgbClr val="BC4B26"/>
                </a:solidFill>
                <a:latin typeface="Unna"/>
                <a:ea typeface="Unna"/>
              </a:rPr>
              <a:t>~80%</a:t>
            </a:r>
            <a:endParaRPr lang="en-US" sz="2000" noProof="1"/>
          </a:p>
        </p:txBody>
      </p:sp>
      <p:sp>
        <p:nvSpPr>
          <p:cNvPr id="7" name="ch1-desc"/>
          <p:cNvSpPr txBox="1"/>
          <p:nvPr/>
        </p:nvSpPr>
        <p:spPr>
          <a:xfrm>
            <a:off x="711200" y="2870200"/>
            <a:ext cx="1676400" cy="1143000"/>
          </a:xfrm>
          <a:prstGeom prst="rect">
            <a:avLst/>
          </a:prstGeom>
          <a:noFill/>
          <a:ln>
            <a:noFill/>
          </a:ln>
        </p:spPr>
        <p:txBody>
          <a:bodyPr lIns="0" rIns="0" tIns="0" bIns="0" wrap="square" rtlCol="0"/>
          <a:lstStyle/>
          <a:p>
            <a:pPr>
              <a:lnSpc>
                <a:spcPct val="140000"/>
              </a:lnSpc>
            </a:pPr>
            <a:r>
              <a:rPr lang="en-US" sz="1050" noProof="1">
                <a:solidFill>
                  <a:srgbClr val="6E675C"/>
                </a:solidFill>
                <a:latin typeface="Quattrocento Sans"/>
                <a:ea typeface="Quattrocento Sans"/>
              </a:rPr>
              <a:t>of global retail still happens in person — the incumbent interface</a:t>
            </a:r>
            <a:endParaRPr lang="en-US" sz="1050" noProof="1"/>
          </a:p>
        </p:txBody>
      </p:sp>
      <p:sp>
        <p:nvSpPr>
          <p:cNvPr id="8" name="ch2-icon"/>
          <p:cNvSpPr/>
          <p:nvPr>
            <p:extLst>
              <p:ext uri="{F5677B7D-0D2A-4D9B-9A5C-6D8D7D0E5A5D}">
                <pptd:icon encoding="base64url">eyJpY29uTmFtZSI6ImZhczpkZXNrdG9wIn0</pptd:icon>
              </p:ext>
            </p:extLst>
          </p:nvPr>
        </p:nvSpPr>
        <p:spPr>
          <a:xfrm>
            <a:off x="2514600" y="1651000"/>
            <a:ext cx="330200" cy="330200"/>
          </a:xfrm>
          <a:custGeom>
            <a:avLst/>
            <a:gdLst/>
            <a:ahLst/>
            <a:cxnLst/>
            <a:rect l="l" t="t" r="r" b="b"/>
            <a:pathLst>
              <a:path w="512" h="512">
                <a:moveTo>
                  <a:pt x="64" y="32"/>
                </a:moveTo>
                <a:cubicBezTo>
                  <a:pt x="29" y="32"/>
                  <a:pt x="0" y="61"/>
                  <a:pt x="0" y="96"/>
                </a:cubicBezTo>
                <a:lnTo>
                  <a:pt x="0" y="352"/>
                </a:lnTo>
                <a:cubicBezTo>
                  <a:pt x="0" y="387"/>
                  <a:pt x="29" y="416"/>
                  <a:pt x="64" y="416"/>
                </a:cubicBezTo>
                <a:lnTo>
                  <a:pt x="208" y="416"/>
                </a:lnTo>
                <a:lnTo>
                  <a:pt x="192" y="464"/>
                </a:lnTo>
                <a:lnTo>
                  <a:pt x="120" y="464"/>
                </a:lnTo>
                <a:cubicBezTo>
                  <a:pt x="107" y="464"/>
                  <a:pt x="96" y="475"/>
                  <a:pt x="96" y="488"/>
                </a:cubicBezTo>
                <a:cubicBezTo>
                  <a:pt x="96" y="501"/>
                  <a:pt x="107" y="512"/>
                  <a:pt x="120" y="512"/>
                </a:cubicBezTo>
                <a:lnTo>
                  <a:pt x="392" y="512"/>
                </a:lnTo>
                <a:cubicBezTo>
                  <a:pt x="405" y="512"/>
                  <a:pt x="416" y="501"/>
                  <a:pt x="416" y="488"/>
                </a:cubicBezTo>
                <a:cubicBezTo>
                  <a:pt x="416" y="475"/>
                  <a:pt x="405" y="464"/>
                  <a:pt x="392" y="464"/>
                </a:cubicBezTo>
                <a:lnTo>
                  <a:pt x="320" y="464"/>
                </a:lnTo>
                <a:lnTo>
                  <a:pt x="304" y="416"/>
                </a:lnTo>
                <a:lnTo>
                  <a:pt x="448" y="416"/>
                </a:lnTo>
                <a:cubicBezTo>
                  <a:pt x="483" y="416"/>
                  <a:pt x="512" y="387"/>
                  <a:pt x="512" y="352"/>
                </a:cubicBezTo>
                <a:lnTo>
                  <a:pt x="512" y="96"/>
                </a:lnTo>
                <a:cubicBezTo>
                  <a:pt x="512" y="61"/>
                  <a:pt x="483" y="32"/>
                  <a:pt x="448" y="32"/>
                </a:cubicBezTo>
                <a:lnTo>
                  <a:pt x="64" y="32"/>
                </a:lnTo>
                <a:close/>
                <a:moveTo>
                  <a:pt x="96" y="96"/>
                </a:moveTo>
                <a:lnTo>
                  <a:pt x="416" y="96"/>
                </a:lnTo>
                <a:cubicBezTo>
                  <a:pt x="434" y="96"/>
                  <a:pt x="448" y="110"/>
                  <a:pt x="448" y="128"/>
                </a:cubicBezTo>
                <a:lnTo>
                  <a:pt x="448" y="288"/>
                </a:lnTo>
                <a:cubicBezTo>
                  <a:pt x="448" y="306"/>
                  <a:pt x="434" y="320"/>
                  <a:pt x="416" y="320"/>
                </a:cubicBezTo>
                <a:lnTo>
                  <a:pt x="96" y="320"/>
                </a:lnTo>
                <a:cubicBezTo>
                  <a:pt x="78" y="320"/>
                  <a:pt x="64" y="306"/>
                  <a:pt x="64" y="288"/>
                </a:cubicBezTo>
                <a:lnTo>
                  <a:pt x="64" y="128"/>
                </a:lnTo>
                <a:cubicBezTo>
                  <a:pt x="64" y="110"/>
                  <a:pt x="78" y="96"/>
                  <a:pt x="96" y="96"/>
                </a:cubicBezTo>
                <a:close/>
              </a:path>
            </a:pathLst>
          </a:custGeom>
          <a:solidFill>
            <a:srgbClr val="175E54"/>
          </a:solidFill>
          <a:ln>
            <a:noFill/>
          </a:ln>
        </p:spPr>
      </p:sp>
      <p:sp>
        <p:nvSpPr>
          <p:cNvPr id="9" name="ch2-name"/>
          <p:cNvSpPr txBox="1"/>
          <p:nvPr/>
        </p:nvSpPr>
        <p:spPr>
          <a:xfrm>
            <a:off x="2514600" y="2082800"/>
            <a:ext cx="1676400" cy="431800"/>
          </a:xfrm>
          <a:prstGeom prst="rect">
            <a:avLst/>
          </a:prstGeom>
          <a:noFill/>
          <a:ln>
            <a:noFill/>
          </a:ln>
        </p:spPr>
        <p:txBody>
          <a:bodyPr lIns="0" rIns="0" tIns="0" bIns="0" wrap="square" rtlCol="0"/>
          <a:lstStyle/>
          <a:p>
            <a:pPr>
              <a:lnSpc>
                <a:spcPct val="130000"/>
              </a:lnSpc>
            </a:pPr>
            <a:r>
              <a:rPr lang="en-US" sz="1200" noProof="1" b="1">
                <a:solidFill>
                  <a:srgbClr val="23272E"/>
                </a:solidFill>
                <a:latin typeface="Quattrocento Sans"/>
                <a:ea typeface="Quattrocento Sans"/>
              </a:rPr>
              <a:t>Desktop web</a:t>
            </a:r>
            <a:endParaRPr lang="en-US" sz="1200" noProof="1"/>
          </a:p>
        </p:txBody>
      </p:sp>
      <p:sp>
        <p:nvSpPr>
          <p:cNvPr id="10" name="ch2-stat"/>
          <p:cNvSpPr txBox="1"/>
          <p:nvPr/>
        </p:nvSpPr>
        <p:spPr>
          <a:xfrm>
            <a:off x="2514600" y="2514600"/>
            <a:ext cx="1676400" cy="355600"/>
          </a:xfrm>
          <a:prstGeom prst="rect">
            <a:avLst/>
          </a:prstGeom>
          <a:noFill/>
          <a:ln>
            <a:noFill/>
          </a:ln>
        </p:spPr>
        <p:txBody>
          <a:bodyPr lIns="0" rIns="0" tIns="0" bIns="0" wrap="none" rtlCol="0"/>
          <a:lstStyle/>
          <a:p>
            <a:pPr>
              <a:lnSpc>
                <a:spcPct val="120000"/>
              </a:lnSpc>
            </a:pPr>
            <a:r>
              <a:rPr lang="en-US" sz="2000" noProof="1">
                <a:solidFill>
                  <a:srgbClr val="BC4B26"/>
                </a:solidFill>
                <a:latin typeface="Unna"/>
                <a:ea typeface="Unna"/>
              </a:rPr>
              <a:t>1994</a:t>
            </a:r>
            <a:endParaRPr lang="en-US" sz="2000" noProof="1"/>
          </a:p>
        </p:txBody>
      </p:sp>
      <p:sp>
        <p:nvSpPr>
          <p:cNvPr id="11" name="ch2-desc"/>
          <p:cNvSpPr txBox="1"/>
          <p:nvPr/>
        </p:nvSpPr>
        <p:spPr>
          <a:xfrm>
            <a:off x="2514600" y="2870200"/>
            <a:ext cx="1676400" cy="1143000"/>
          </a:xfrm>
          <a:prstGeom prst="rect">
            <a:avLst/>
          </a:prstGeom>
          <a:noFill/>
          <a:ln>
            <a:noFill/>
          </a:ln>
        </p:spPr>
        <p:txBody>
          <a:bodyPr lIns="0" rIns="0" tIns="0" bIns="0" wrap="square" rtlCol="0"/>
          <a:lstStyle/>
          <a:p>
            <a:pPr>
              <a:lnSpc>
                <a:spcPct val="140000"/>
              </a:lnSpc>
            </a:pPr>
            <a:r>
              <a:rPr lang="en-US" sz="1050" noProof="1">
                <a:solidFill>
                  <a:srgbClr val="6E675C"/>
                </a:solidFill>
                <a:latin typeface="Quattrocento Sans"/>
                <a:ea typeface="Quattrocento Sans"/>
              </a:rPr>
              <a:t>the original e-commerce interface; still where big considered purchases close</a:t>
            </a:r>
            <a:endParaRPr lang="en-US" sz="1050" noProof="1"/>
          </a:p>
        </p:txBody>
      </p:sp>
      <p:sp>
        <p:nvSpPr>
          <p:cNvPr id="12" name="ch3-icon"/>
          <p:cNvSpPr/>
          <p:nvPr>
            <p:extLst>
              <p:ext uri="{F5677B7D-0D2A-4D9B-9A5C-6D8D7D0E5A5D}">
                <pptd:icon encoding="base64url">eyJpY29uTmFtZSI6ImZhczptb2JpbGUtc2NyZWVuIn0</pptd:icon>
              </p:ext>
            </p:extLst>
          </p:nvPr>
        </p:nvSpPr>
        <p:spPr>
          <a:xfrm>
            <a:off x="4318000" y="1651000"/>
            <a:ext cx="330200" cy="330200"/>
          </a:xfrm>
          <a:custGeom>
            <a:avLst/>
            <a:gdLst/>
            <a:ahLst/>
            <a:cxnLst/>
            <a:rect l="l" t="t" r="r" b="b"/>
            <a:pathLst>
              <a:path w="384" h="512">
                <a:moveTo>
                  <a:pt x="16" y="64"/>
                </a:moveTo>
                <a:cubicBezTo>
                  <a:pt x="16" y="29"/>
                  <a:pt x="45" y="0"/>
                  <a:pt x="80" y="0"/>
                </a:cubicBezTo>
                <a:lnTo>
                  <a:pt x="304" y="0"/>
                </a:lnTo>
                <a:cubicBezTo>
                  <a:pt x="339" y="0"/>
                  <a:pt x="368" y="29"/>
                  <a:pt x="368" y="64"/>
                </a:cubicBezTo>
                <a:lnTo>
                  <a:pt x="368" y="448"/>
                </a:lnTo>
                <a:cubicBezTo>
                  <a:pt x="368" y="483"/>
                  <a:pt x="339" y="512"/>
                  <a:pt x="304" y="512"/>
                </a:cubicBezTo>
                <a:lnTo>
                  <a:pt x="80" y="512"/>
                </a:lnTo>
                <a:cubicBezTo>
                  <a:pt x="45" y="512"/>
                  <a:pt x="16" y="483"/>
                  <a:pt x="16" y="448"/>
                </a:cubicBezTo>
                <a:lnTo>
                  <a:pt x="16" y="64"/>
                </a:lnTo>
                <a:close/>
                <a:moveTo>
                  <a:pt x="128" y="440"/>
                </a:moveTo>
                <a:cubicBezTo>
                  <a:pt x="128" y="453"/>
                  <a:pt x="139" y="464"/>
                  <a:pt x="152" y="464"/>
                </a:cubicBezTo>
                <a:lnTo>
                  <a:pt x="232" y="464"/>
                </a:lnTo>
                <a:cubicBezTo>
                  <a:pt x="245" y="464"/>
                  <a:pt x="256" y="453"/>
                  <a:pt x="256" y="440"/>
                </a:cubicBezTo>
                <a:cubicBezTo>
                  <a:pt x="256" y="427"/>
                  <a:pt x="245" y="416"/>
                  <a:pt x="232" y="416"/>
                </a:cubicBezTo>
                <a:lnTo>
                  <a:pt x="152" y="416"/>
                </a:lnTo>
                <a:cubicBezTo>
                  <a:pt x="139" y="416"/>
                  <a:pt x="128" y="427"/>
                  <a:pt x="128" y="440"/>
                </a:cubicBezTo>
                <a:close/>
                <a:moveTo>
                  <a:pt x="304" y="64"/>
                </a:moveTo>
                <a:lnTo>
                  <a:pt x="80" y="64"/>
                </a:lnTo>
                <a:lnTo>
                  <a:pt x="80" y="368"/>
                </a:lnTo>
                <a:lnTo>
                  <a:pt x="304" y="368"/>
                </a:lnTo>
                <a:lnTo>
                  <a:pt x="304" y="64"/>
                </a:lnTo>
                <a:close/>
              </a:path>
            </a:pathLst>
          </a:custGeom>
          <a:solidFill>
            <a:srgbClr val="175E54"/>
          </a:solidFill>
          <a:ln>
            <a:noFill/>
          </a:ln>
        </p:spPr>
      </p:sp>
      <p:sp>
        <p:nvSpPr>
          <p:cNvPr id="13" name="ch3-name"/>
          <p:cNvSpPr txBox="1"/>
          <p:nvPr/>
        </p:nvSpPr>
        <p:spPr>
          <a:xfrm>
            <a:off x="4318000" y="2082800"/>
            <a:ext cx="1676400" cy="431800"/>
          </a:xfrm>
          <a:prstGeom prst="rect">
            <a:avLst/>
          </a:prstGeom>
          <a:noFill/>
          <a:ln>
            <a:noFill/>
          </a:ln>
        </p:spPr>
        <p:txBody>
          <a:bodyPr lIns="0" rIns="0" tIns="0" bIns="0" wrap="square" rtlCol="0"/>
          <a:lstStyle/>
          <a:p>
            <a:pPr>
              <a:lnSpc>
                <a:spcPct val="130000"/>
              </a:lnSpc>
            </a:pPr>
            <a:r>
              <a:rPr lang="en-US" sz="1200" noProof="1" b="1">
                <a:solidFill>
                  <a:srgbClr val="23272E"/>
                </a:solidFill>
                <a:latin typeface="Quattrocento Sans"/>
                <a:ea typeface="Quattrocento Sans"/>
              </a:rPr>
              <a:t>Mobile app &amp; web</a:t>
            </a:r>
            <a:endParaRPr lang="en-US" sz="1200" noProof="1"/>
          </a:p>
        </p:txBody>
      </p:sp>
      <p:sp>
        <p:nvSpPr>
          <p:cNvPr id="14" name="ch3-stat"/>
          <p:cNvSpPr txBox="1"/>
          <p:nvPr/>
        </p:nvSpPr>
        <p:spPr>
          <a:xfrm>
            <a:off x="4318000" y="2514600"/>
            <a:ext cx="1676400" cy="355600"/>
          </a:xfrm>
          <a:prstGeom prst="rect">
            <a:avLst/>
          </a:prstGeom>
          <a:noFill/>
          <a:ln>
            <a:noFill/>
          </a:ln>
        </p:spPr>
        <p:txBody>
          <a:bodyPr lIns="0" rIns="0" tIns="0" bIns="0" wrap="none" rtlCol="0"/>
          <a:lstStyle/>
          <a:p>
            <a:pPr>
              <a:lnSpc>
                <a:spcPct val="120000"/>
              </a:lnSpc>
            </a:pPr>
            <a:r>
              <a:rPr lang="en-US" sz="2000" noProof="1">
                <a:solidFill>
                  <a:srgbClr val="BC4B26"/>
                </a:solidFill>
                <a:latin typeface="Unna"/>
                <a:ea typeface="Unna"/>
              </a:rPr>
              <a:t>57–59%</a:t>
            </a:r>
            <a:endParaRPr lang="en-US" sz="2000" noProof="1"/>
          </a:p>
        </p:txBody>
      </p:sp>
      <p:sp>
        <p:nvSpPr>
          <p:cNvPr id="15" name="ch3-desc"/>
          <p:cNvSpPr txBox="1"/>
          <p:nvPr/>
        </p:nvSpPr>
        <p:spPr>
          <a:xfrm>
            <a:off x="4318000" y="2870200"/>
            <a:ext cx="1676400" cy="1143000"/>
          </a:xfrm>
          <a:prstGeom prst="rect">
            <a:avLst/>
          </a:prstGeom>
          <a:noFill/>
          <a:ln>
            <a:noFill/>
          </a:ln>
        </p:spPr>
        <p:txBody>
          <a:bodyPr lIns="0" rIns="0" tIns="0" bIns="0" wrap="square" rtlCol="0"/>
          <a:lstStyle/>
          <a:p>
            <a:pPr>
              <a:lnSpc>
                <a:spcPct val="140000"/>
              </a:lnSpc>
            </a:pPr>
            <a:r>
              <a:rPr lang="en-US" sz="1050" noProof="1">
                <a:solidFill>
                  <a:srgbClr val="6E675C"/>
                </a:solidFill>
                <a:latin typeface="Quattrocento Sans"/>
                <a:ea typeface="Quattrocento Sans"/>
              </a:rPr>
              <a:t>of global e-commerce sales are transacted on phones — the default device</a:t>
            </a:r>
            <a:endParaRPr lang="en-US" sz="1050" noProof="1"/>
          </a:p>
        </p:txBody>
      </p:sp>
      <p:sp>
        <p:nvSpPr>
          <p:cNvPr id="16" name="ch4-icon"/>
          <p:cNvSpPr/>
          <p:nvPr>
            <p:extLst>
              <p:ext uri="{F5677B7D-0D2A-4D9B-9A5C-6D8D7D0E5A5D}">
                <pptd:icon encoding="base64url">eyJpY29uTmFtZSI6ImZhczpoYXNodGFnIn0</pptd:icon>
              </p:ext>
            </p:extLst>
          </p:nvPr>
        </p:nvSpPr>
        <p:spPr>
          <a:xfrm>
            <a:off x="6121400" y="1651000"/>
            <a:ext cx="330200" cy="330200"/>
          </a:xfrm>
          <a:custGeom>
            <a:avLst/>
            <a:gdLst/>
            <a:ahLst/>
            <a:cxnLst/>
            <a:rect l="l" t="t" r="r" b="b"/>
            <a:pathLst>
              <a:path w="512" h="512">
                <a:moveTo>
                  <a:pt x="215" y="1"/>
                </a:moveTo>
                <a:cubicBezTo>
                  <a:pt x="232" y="4"/>
                  <a:pt x="243" y="21"/>
                  <a:pt x="239" y="39"/>
                </a:cubicBezTo>
                <a:lnTo>
                  <a:pt x="220" y="128"/>
                </a:lnTo>
                <a:lnTo>
                  <a:pt x="347" y="128"/>
                </a:lnTo>
                <a:lnTo>
                  <a:pt x="369" y="25"/>
                </a:lnTo>
                <a:cubicBezTo>
                  <a:pt x="372" y="8"/>
                  <a:pt x="389" y="-3"/>
                  <a:pt x="407" y="1"/>
                </a:cubicBezTo>
                <a:cubicBezTo>
                  <a:pt x="424" y="4"/>
                  <a:pt x="435" y="21"/>
                  <a:pt x="431" y="39"/>
                </a:cubicBezTo>
                <a:lnTo>
                  <a:pt x="412" y="128"/>
                </a:lnTo>
                <a:lnTo>
                  <a:pt x="480" y="128"/>
                </a:lnTo>
                <a:cubicBezTo>
                  <a:pt x="498" y="128"/>
                  <a:pt x="512" y="142"/>
                  <a:pt x="512" y="160"/>
                </a:cubicBezTo>
                <a:cubicBezTo>
                  <a:pt x="512" y="178"/>
                  <a:pt x="498" y="192"/>
                  <a:pt x="480" y="192"/>
                </a:cubicBezTo>
                <a:lnTo>
                  <a:pt x="398" y="192"/>
                </a:lnTo>
                <a:lnTo>
                  <a:pt x="371" y="320"/>
                </a:lnTo>
                <a:lnTo>
                  <a:pt x="439" y="320"/>
                </a:lnTo>
                <a:cubicBezTo>
                  <a:pt x="457" y="320"/>
                  <a:pt x="471" y="334"/>
                  <a:pt x="471" y="352"/>
                </a:cubicBezTo>
                <a:cubicBezTo>
                  <a:pt x="471" y="370"/>
                  <a:pt x="457" y="384"/>
                  <a:pt x="439" y="384"/>
                </a:cubicBezTo>
                <a:lnTo>
                  <a:pt x="357" y="384"/>
                </a:lnTo>
                <a:lnTo>
                  <a:pt x="335" y="487"/>
                </a:lnTo>
                <a:cubicBezTo>
                  <a:pt x="332" y="504"/>
                  <a:pt x="315" y="515"/>
                  <a:pt x="297" y="511"/>
                </a:cubicBezTo>
                <a:cubicBezTo>
                  <a:pt x="280" y="508"/>
                  <a:pt x="269" y="491"/>
                  <a:pt x="273" y="473"/>
                </a:cubicBezTo>
                <a:lnTo>
                  <a:pt x="292" y="384"/>
                </a:lnTo>
                <a:lnTo>
                  <a:pt x="165" y="384"/>
                </a:lnTo>
                <a:lnTo>
                  <a:pt x="143" y="487"/>
                </a:lnTo>
                <a:cubicBezTo>
                  <a:pt x="140" y="504"/>
                  <a:pt x="123" y="515"/>
                  <a:pt x="105" y="511"/>
                </a:cubicBezTo>
                <a:cubicBezTo>
                  <a:pt x="88" y="508"/>
                  <a:pt x="77" y="491"/>
                  <a:pt x="81" y="473"/>
                </a:cubicBezTo>
                <a:lnTo>
                  <a:pt x="100" y="384"/>
                </a:lnTo>
                <a:lnTo>
                  <a:pt x="32" y="384"/>
                </a:lnTo>
                <a:cubicBezTo>
                  <a:pt x="14" y="384"/>
                  <a:pt x="0" y="370"/>
                  <a:pt x="0" y="352"/>
                </a:cubicBezTo>
                <a:cubicBezTo>
                  <a:pt x="0" y="334"/>
                  <a:pt x="14" y="320"/>
                  <a:pt x="32" y="320"/>
                </a:cubicBezTo>
                <a:lnTo>
                  <a:pt x="114" y="320"/>
                </a:lnTo>
                <a:lnTo>
                  <a:pt x="141" y="192"/>
                </a:lnTo>
                <a:lnTo>
                  <a:pt x="73" y="192"/>
                </a:lnTo>
                <a:cubicBezTo>
                  <a:pt x="56" y="192"/>
                  <a:pt x="41" y="178"/>
                  <a:pt x="41" y="160"/>
                </a:cubicBezTo>
                <a:cubicBezTo>
                  <a:pt x="41" y="142"/>
                  <a:pt x="56" y="128"/>
                  <a:pt x="73" y="128"/>
                </a:cubicBezTo>
                <a:lnTo>
                  <a:pt x="155" y="128"/>
                </a:lnTo>
                <a:lnTo>
                  <a:pt x="177" y="25"/>
                </a:lnTo>
                <a:cubicBezTo>
                  <a:pt x="180" y="8"/>
                  <a:pt x="197" y="-3"/>
                  <a:pt x="215" y="1"/>
                </a:cubicBezTo>
                <a:close/>
                <a:moveTo>
                  <a:pt x="206" y="192"/>
                </a:moveTo>
                <a:lnTo>
                  <a:pt x="179" y="320"/>
                </a:lnTo>
                <a:lnTo>
                  <a:pt x="306" y="320"/>
                </a:lnTo>
                <a:lnTo>
                  <a:pt x="333" y="192"/>
                </a:lnTo>
                <a:lnTo>
                  <a:pt x="206" y="192"/>
                </a:lnTo>
                <a:close/>
              </a:path>
            </a:pathLst>
          </a:custGeom>
          <a:solidFill>
            <a:srgbClr val="175E54"/>
          </a:solidFill>
          <a:ln>
            <a:noFill/>
          </a:ln>
        </p:spPr>
      </p:sp>
      <p:sp>
        <p:nvSpPr>
          <p:cNvPr id="17" name="ch4-name"/>
          <p:cNvSpPr txBox="1"/>
          <p:nvPr/>
        </p:nvSpPr>
        <p:spPr>
          <a:xfrm>
            <a:off x="6121400" y="2082800"/>
            <a:ext cx="1676400" cy="431800"/>
          </a:xfrm>
          <a:prstGeom prst="rect">
            <a:avLst/>
          </a:prstGeom>
          <a:noFill/>
          <a:ln>
            <a:noFill/>
          </a:ln>
        </p:spPr>
        <p:txBody>
          <a:bodyPr lIns="0" rIns="0" tIns="0" bIns="0" wrap="square" rtlCol="0"/>
          <a:lstStyle/>
          <a:p>
            <a:pPr>
              <a:lnSpc>
                <a:spcPct val="130000"/>
              </a:lnSpc>
            </a:pPr>
            <a:r>
              <a:rPr lang="en-US" sz="1200" noProof="1" b="1">
                <a:solidFill>
                  <a:srgbClr val="23272E"/>
                </a:solidFill>
                <a:latin typeface="Quattrocento Sans"/>
                <a:ea typeface="Quattrocento Sans"/>
              </a:rPr>
              <a:t>Social platforms</a:t>
            </a:r>
            <a:endParaRPr lang="en-US" sz="1200" noProof="1"/>
          </a:p>
        </p:txBody>
      </p:sp>
      <p:sp>
        <p:nvSpPr>
          <p:cNvPr id="18" name="ch4-stat"/>
          <p:cNvSpPr txBox="1"/>
          <p:nvPr/>
        </p:nvSpPr>
        <p:spPr>
          <a:xfrm>
            <a:off x="6121400" y="2514600"/>
            <a:ext cx="1676400" cy="355600"/>
          </a:xfrm>
          <a:prstGeom prst="rect">
            <a:avLst/>
          </a:prstGeom>
          <a:noFill/>
          <a:ln>
            <a:noFill/>
          </a:ln>
        </p:spPr>
        <p:txBody>
          <a:bodyPr lIns="0" rIns="0" tIns="0" bIns="0" wrap="none" rtlCol="0"/>
          <a:lstStyle/>
          <a:p>
            <a:pPr>
              <a:lnSpc>
                <a:spcPct val="120000"/>
              </a:lnSpc>
            </a:pPr>
            <a:r>
              <a:rPr lang="en-US" sz="2000" noProof="1">
                <a:solidFill>
                  <a:srgbClr val="BC4B26"/>
                </a:solidFill>
                <a:latin typeface="Unna"/>
                <a:ea typeface="Unna"/>
              </a:rPr>
              <a:t>$1.6T</a:t>
            </a:r>
            <a:endParaRPr lang="en-US" sz="2000" noProof="1"/>
          </a:p>
        </p:txBody>
      </p:sp>
      <p:sp>
        <p:nvSpPr>
          <p:cNvPr id="19" name="ch4-desc"/>
          <p:cNvSpPr txBox="1"/>
          <p:nvPr/>
        </p:nvSpPr>
        <p:spPr>
          <a:xfrm>
            <a:off x="6121400" y="2870200"/>
            <a:ext cx="1676400" cy="1143000"/>
          </a:xfrm>
          <a:prstGeom prst="rect">
            <a:avLst/>
          </a:prstGeom>
          <a:noFill/>
          <a:ln>
            <a:noFill/>
          </a:ln>
        </p:spPr>
        <p:txBody>
          <a:bodyPr lIns="0" rIns="0" tIns="0" bIns="0" wrap="square" rtlCol="0"/>
          <a:lstStyle/>
          <a:p>
            <a:pPr>
              <a:lnSpc>
                <a:spcPct val="140000"/>
              </a:lnSpc>
            </a:pPr>
            <a:r>
              <a:rPr lang="en-US" sz="1050" noProof="1">
                <a:solidFill>
                  <a:srgbClr val="6E675C"/>
                </a:solidFill>
                <a:latin typeface="Quattrocento Sans"/>
                <a:ea typeface="Quattrocento Sans"/>
              </a:rPr>
              <a:t>global social-commerce market in 2025 — discovery and checkout in one app</a:t>
            </a:r>
            <a:endParaRPr lang="en-US" sz="1050" noProof="1"/>
          </a:p>
        </p:txBody>
      </p:sp>
      <p:sp>
        <p:nvSpPr>
          <p:cNvPr id="20" name="ch5-icon"/>
          <p:cNvSpPr/>
          <p:nvPr>
            <p:extLst>
              <p:ext uri="{F5677B7D-0D2A-4D9B-9A5C-6D8D7D0E5A5D}">
                <pptd:icon encoding="base64url">eyJpY29uTmFtZSI6ImZhczptaWNyb3Bob25lIn0</pptd:icon>
              </p:ext>
            </p:extLst>
          </p:nvPr>
        </p:nvSpPr>
        <p:spPr>
          <a:xfrm>
            <a:off x="7924800" y="1651000"/>
            <a:ext cx="330200" cy="330200"/>
          </a:xfrm>
          <a:custGeom>
            <a:avLst/>
            <a:gdLst/>
            <a:ahLst/>
            <a:cxnLst/>
            <a:rect l="l" t="t" r="r" b="b"/>
            <a:pathLst>
              <a:path w="384" h="512">
                <a:moveTo>
                  <a:pt x="192" y="0"/>
                </a:moveTo>
                <a:cubicBezTo>
                  <a:pt x="139" y="0"/>
                  <a:pt x="96" y="43"/>
                  <a:pt x="96" y="96"/>
                </a:cubicBezTo>
                <a:lnTo>
                  <a:pt x="96" y="224"/>
                </a:lnTo>
                <a:cubicBezTo>
                  <a:pt x="96" y="277"/>
                  <a:pt x="139" y="320"/>
                  <a:pt x="192" y="320"/>
                </a:cubicBezTo>
                <a:cubicBezTo>
                  <a:pt x="245" y="320"/>
                  <a:pt x="288" y="277"/>
                  <a:pt x="288" y="224"/>
                </a:cubicBezTo>
                <a:lnTo>
                  <a:pt x="288" y="96"/>
                </a:lnTo>
                <a:cubicBezTo>
                  <a:pt x="288" y="43"/>
                  <a:pt x="245" y="0"/>
                  <a:pt x="192" y="0"/>
                </a:cubicBezTo>
                <a:close/>
                <a:moveTo>
                  <a:pt x="48" y="184"/>
                </a:moveTo>
                <a:cubicBezTo>
                  <a:pt x="48" y="171"/>
                  <a:pt x="37" y="160"/>
                  <a:pt x="24" y="160"/>
                </a:cubicBezTo>
                <a:cubicBezTo>
                  <a:pt x="11" y="160"/>
                  <a:pt x="0" y="171"/>
                  <a:pt x="0" y="184"/>
                </a:cubicBezTo>
                <a:lnTo>
                  <a:pt x="0" y="224"/>
                </a:lnTo>
                <a:cubicBezTo>
                  <a:pt x="0" y="322"/>
                  <a:pt x="73" y="403"/>
                  <a:pt x="168" y="415"/>
                </a:cubicBezTo>
                <a:lnTo>
                  <a:pt x="168" y="464"/>
                </a:lnTo>
                <a:lnTo>
                  <a:pt x="120" y="464"/>
                </a:lnTo>
                <a:cubicBezTo>
                  <a:pt x="107" y="464"/>
                  <a:pt x="96" y="475"/>
                  <a:pt x="96" y="488"/>
                </a:cubicBezTo>
                <a:cubicBezTo>
                  <a:pt x="96" y="501"/>
                  <a:pt x="107" y="512"/>
                  <a:pt x="120" y="512"/>
                </a:cubicBezTo>
                <a:lnTo>
                  <a:pt x="264" y="512"/>
                </a:lnTo>
                <a:cubicBezTo>
                  <a:pt x="277" y="512"/>
                  <a:pt x="288" y="501"/>
                  <a:pt x="288" y="488"/>
                </a:cubicBezTo>
                <a:cubicBezTo>
                  <a:pt x="288" y="475"/>
                  <a:pt x="277" y="464"/>
                  <a:pt x="264" y="464"/>
                </a:cubicBezTo>
                <a:lnTo>
                  <a:pt x="216" y="464"/>
                </a:lnTo>
                <a:lnTo>
                  <a:pt x="216" y="415"/>
                </a:lnTo>
                <a:cubicBezTo>
                  <a:pt x="311" y="403"/>
                  <a:pt x="384" y="322"/>
                  <a:pt x="384" y="224"/>
                </a:cubicBezTo>
                <a:lnTo>
                  <a:pt x="384" y="184"/>
                </a:lnTo>
                <a:cubicBezTo>
                  <a:pt x="384" y="171"/>
                  <a:pt x="373" y="160"/>
                  <a:pt x="360" y="160"/>
                </a:cubicBezTo>
                <a:cubicBezTo>
                  <a:pt x="347" y="160"/>
                  <a:pt x="336" y="171"/>
                  <a:pt x="336" y="184"/>
                </a:cubicBezTo>
                <a:lnTo>
                  <a:pt x="336" y="224"/>
                </a:lnTo>
                <a:cubicBezTo>
                  <a:pt x="336" y="304"/>
                  <a:pt x="272" y="368"/>
                  <a:pt x="192" y="368"/>
                </a:cubicBezTo>
                <a:cubicBezTo>
                  <a:pt x="113" y="368"/>
                  <a:pt x="48" y="304"/>
                  <a:pt x="48" y="224"/>
                </a:cubicBezTo>
                <a:lnTo>
                  <a:pt x="48" y="184"/>
                </a:lnTo>
                <a:close/>
              </a:path>
            </a:pathLst>
          </a:custGeom>
          <a:solidFill>
            <a:srgbClr val="175E54"/>
          </a:solidFill>
          <a:ln>
            <a:noFill/>
          </a:ln>
        </p:spPr>
      </p:sp>
      <p:sp>
        <p:nvSpPr>
          <p:cNvPr id="21" name="ch5-name"/>
          <p:cNvSpPr txBox="1"/>
          <p:nvPr/>
        </p:nvSpPr>
        <p:spPr>
          <a:xfrm>
            <a:off x="7924800" y="2082800"/>
            <a:ext cx="1676400" cy="431800"/>
          </a:xfrm>
          <a:prstGeom prst="rect">
            <a:avLst/>
          </a:prstGeom>
          <a:noFill/>
          <a:ln>
            <a:noFill/>
          </a:ln>
        </p:spPr>
        <p:txBody>
          <a:bodyPr lIns="0" rIns="0" tIns="0" bIns="0" wrap="square" rtlCol="0"/>
          <a:lstStyle/>
          <a:p>
            <a:pPr>
              <a:lnSpc>
                <a:spcPct val="130000"/>
              </a:lnSpc>
            </a:pPr>
            <a:r>
              <a:rPr lang="en-US" sz="1200" noProof="1" b="1">
                <a:solidFill>
                  <a:srgbClr val="23272E"/>
                </a:solidFill>
                <a:latin typeface="Quattrocento Sans"/>
                <a:ea typeface="Quattrocento Sans"/>
              </a:rPr>
              <a:t>Voice assistants</a:t>
            </a:r>
            <a:endParaRPr lang="en-US" sz="1200" noProof="1"/>
          </a:p>
        </p:txBody>
      </p:sp>
      <p:sp>
        <p:nvSpPr>
          <p:cNvPr id="22" name="ch5-stat"/>
          <p:cNvSpPr txBox="1"/>
          <p:nvPr/>
        </p:nvSpPr>
        <p:spPr>
          <a:xfrm>
            <a:off x="7924800" y="2514600"/>
            <a:ext cx="1676400" cy="355600"/>
          </a:xfrm>
          <a:prstGeom prst="rect">
            <a:avLst/>
          </a:prstGeom>
          <a:noFill/>
          <a:ln>
            <a:noFill/>
          </a:ln>
        </p:spPr>
        <p:txBody>
          <a:bodyPr lIns="0" rIns="0" tIns="0" bIns="0" wrap="none" rtlCol="0"/>
          <a:lstStyle/>
          <a:p>
            <a:pPr>
              <a:lnSpc>
                <a:spcPct val="120000"/>
              </a:lnSpc>
            </a:pPr>
            <a:r>
              <a:rPr lang="en-US" sz="2000" noProof="1">
                <a:solidFill>
                  <a:srgbClr val="BC4B26"/>
                </a:solidFill>
                <a:latin typeface="Unna"/>
                <a:ea typeface="Unna"/>
              </a:rPr>
              <a:t>$150B</a:t>
            </a:r>
            <a:endParaRPr lang="en-US" sz="2000" noProof="1"/>
          </a:p>
        </p:txBody>
      </p:sp>
      <p:sp>
        <p:nvSpPr>
          <p:cNvPr id="23" name="ch5-desc"/>
          <p:cNvSpPr txBox="1"/>
          <p:nvPr/>
        </p:nvSpPr>
        <p:spPr>
          <a:xfrm>
            <a:off x="7924800" y="2870200"/>
            <a:ext cx="1676400" cy="1143000"/>
          </a:xfrm>
          <a:prstGeom prst="rect">
            <a:avLst/>
          </a:prstGeom>
          <a:noFill/>
          <a:ln>
            <a:noFill/>
          </a:ln>
        </p:spPr>
        <p:txBody>
          <a:bodyPr lIns="0" rIns="0" tIns="0" bIns="0" wrap="square" rtlCol="0"/>
          <a:lstStyle/>
          <a:p>
            <a:pPr>
              <a:lnSpc>
                <a:spcPct val="140000"/>
              </a:lnSpc>
            </a:pPr>
            <a:r>
              <a:rPr lang="en-US" sz="1050" noProof="1">
                <a:solidFill>
                  <a:srgbClr val="6E675C"/>
                </a:solidFill>
                <a:latin typeface="Quattrocento Sans"/>
                <a:ea typeface="Quattrocento Sans"/>
              </a:rPr>
              <a:t>voice-commerce market estimate for 2025 — small, but growing ~26%/yr</a:t>
            </a:r>
            <a:endParaRPr lang="en-US" sz="1050" noProof="1"/>
          </a:p>
        </p:txBody>
      </p:sp>
      <p:sp>
        <p:nvSpPr>
          <p:cNvPr id="24" name="ch6-icon"/>
          <p:cNvSpPr/>
          <p:nvPr>
            <p:extLst>
              <p:ext uri="{F5677B7D-0D2A-4D9B-9A5C-6D8D7D0E5A5D}">
                <pptd:icon encoding="base64url">eyJpY29uTmFtZSI6ImZhczpyb2JvdCJ9</pptd:icon>
              </p:ext>
            </p:extLst>
          </p:nvPr>
        </p:nvSpPr>
        <p:spPr>
          <a:xfrm>
            <a:off x="9728200" y="1651000"/>
            <a:ext cx="330200" cy="330200"/>
          </a:xfrm>
          <a:custGeom>
            <a:avLst/>
            <a:gdLst/>
            <a:ahLst/>
            <a:cxnLst/>
            <a:rect l="l" t="t" r="r" b="b"/>
            <a:pathLst>
              <a:path w="640" h="512">
                <a:moveTo>
                  <a:pt x="352" y="0"/>
                </a:moveTo>
                <a:cubicBezTo>
                  <a:pt x="352" y="-18"/>
                  <a:pt x="338" y="-32"/>
                  <a:pt x="320" y="-32"/>
                </a:cubicBezTo>
                <a:cubicBezTo>
                  <a:pt x="302" y="-32"/>
                  <a:pt x="288" y="-18"/>
                  <a:pt x="288" y="0"/>
                </a:cubicBezTo>
                <a:lnTo>
                  <a:pt x="288" y="64"/>
                </a:lnTo>
                <a:lnTo>
                  <a:pt x="192" y="64"/>
                </a:lnTo>
                <a:cubicBezTo>
                  <a:pt x="139" y="64"/>
                  <a:pt x="96" y="107"/>
                  <a:pt x="96" y="160"/>
                </a:cubicBezTo>
                <a:lnTo>
                  <a:pt x="96" y="384"/>
                </a:lnTo>
                <a:cubicBezTo>
                  <a:pt x="96" y="437"/>
                  <a:pt x="139" y="480"/>
                  <a:pt x="192" y="480"/>
                </a:cubicBezTo>
                <a:lnTo>
                  <a:pt x="448" y="480"/>
                </a:lnTo>
                <a:cubicBezTo>
                  <a:pt x="501" y="480"/>
                  <a:pt x="544" y="437"/>
                  <a:pt x="544" y="384"/>
                </a:cubicBezTo>
                <a:lnTo>
                  <a:pt x="544" y="160"/>
                </a:lnTo>
                <a:cubicBezTo>
                  <a:pt x="544" y="107"/>
                  <a:pt x="501" y="64"/>
                  <a:pt x="448" y="64"/>
                </a:cubicBezTo>
                <a:lnTo>
                  <a:pt x="352" y="64"/>
                </a:lnTo>
                <a:lnTo>
                  <a:pt x="352" y="0"/>
                </a:lnTo>
                <a:close/>
                <a:moveTo>
                  <a:pt x="160" y="368"/>
                </a:moveTo>
                <a:cubicBezTo>
                  <a:pt x="160" y="355"/>
                  <a:pt x="171" y="344"/>
                  <a:pt x="184" y="344"/>
                </a:cubicBezTo>
                <a:lnTo>
                  <a:pt x="216" y="344"/>
                </a:lnTo>
                <a:cubicBezTo>
                  <a:pt x="229" y="344"/>
                  <a:pt x="240" y="355"/>
                  <a:pt x="240" y="368"/>
                </a:cubicBezTo>
                <a:cubicBezTo>
                  <a:pt x="240" y="381"/>
                  <a:pt x="229" y="392"/>
                  <a:pt x="216" y="392"/>
                </a:cubicBezTo>
                <a:lnTo>
                  <a:pt x="184" y="392"/>
                </a:lnTo>
                <a:cubicBezTo>
                  <a:pt x="171" y="392"/>
                  <a:pt x="160" y="381"/>
                  <a:pt x="160" y="368"/>
                </a:cubicBezTo>
                <a:close/>
                <a:moveTo>
                  <a:pt x="280" y="368"/>
                </a:moveTo>
                <a:cubicBezTo>
                  <a:pt x="280" y="355"/>
                  <a:pt x="291" y="344"/>
                  <a:pt x="304" y="344"/>
                </a:cubicBezTo>
                <a:lnTo>
                  <a:pt x="336" y="344"/>
                </a:lnTo>
                <a:cubicBezTo>
                  <a:pt x="349" y="344"/>
                  <a:pt x="360" y="355"/>
                  <a:pt x="360" y="368"/>
                </a:cubicBezTo>
                <a:cubicBezTo>
                  <a:pt x="360" y="381"/>
                  <a:pt x="349" y="392"/>
                  <a:pt x="336" y="392"/>
                </a:cubicBezTo>
                <a:lnTo>
                  <a:pt x="304" y="392"/>
                </a:lnTo>
                <a:cubicBezTo>
                  <a:pt x="291" y="392"/>
                  <a:pt x="280" y="381"/>
                  <a:pt x="280" y="368"/>
                </a:cubicBezTo>
                <a:close/>
                <a:moveTo>
                  <a:pt x="400" y="368"/>
                </a:moveTo>
                <a:cubicBezTo>
                  <a:pt x="400" y="355"/>
                  <a:pt x="411" y="344"/>
                  <a:pt x="424" y="344"/>
                </a:cubicBezTo>
                <a:lnTo>
                  <a:pt x="456" y="344"/>
                </a:lnTo>
                <a:cubicBezTo>
                  <a:pt x="469" y="344"/>
                  <a:pt x="480" y="355"/>
                  <a:pt x="480" y="368"/>
                </a:cubicBezTo>
                <a:cubicBezTo>
                  <a:pt x="480" y="381"/>
                  <a:pt x="469" y="392"/>
                  <a:pt x="456" y="392"/>
                </a:cubicBezTo>
                <a:lnTo>
                  <a:pt x="424" y="392"/>
                </a:lnTo>
                <a:cubicBezTo>
                  <a:pt x="411" y="392"/>
                  <a:pt x="400" y="381"/>
                  <a:pt x="400" y="368"/>
                </a:cubicBezTo>
                <a:close/>
                <a:moveTo>
                  <a:pt x="224" y="176"/>
                </a:moveTo>
                <a:cubicBezTo>
                  <a:pt x="251" y="176"/>
                  <a:pt x="272" y="197"/>
                  <a:pt x="272" y="224"/>
                </a:cubicBezTo>
                <a:cubicBezTo>
                  <a:pt x="272" y="251"/>
                  <a:pt x="251" y="272"/>
                  <a:pt x="224" y="272"/>
                </a:cubicBezTo>
                <a:cubicBezTo>
                  <a:pt x="197" y="272"/>
                  <a:pt x="176" y="251"/>
                  <a:pt x="176" y="224"/>
                </a:cubicBezTo>
                <a:cubicBezTo>
                  <a:pt x="176" y="197"/>
                  <a:pt x="197" y="176"/>
                  <a:pt x="224" y="176"/>
                </a:cubicBezTo>
                <a:close/>
                <a:moveTo>
                  <a:pt x="368" y="224"/>
                </a:moveTo>
                <a:cubicBezTo>
                  <a:pt x="368" y="197"/>
                  <a:pt x="389" y="176"/>
                  <a:pt x="416" y="176"/>
                </a:cubicBezTo>
                <a:cubicBezTo>
                  <a:pt x="443" y="176"/>
                  <a:pt x="464" y="197"/>
                  <a:pt x="464" y="224"/>
                </a:cubicBezTo>
                <a:cubicBezTo>
                  <a:pt x="464" y="251"/>
                  <a:pt x="443" y="272"/>
                  <a:pt x="416" y="272"/>
                </a:cubicBezTo>
                <a:cubicBezTo>
                  <a:pt x="389" y="272"/>
                  <a:pt x="368" y="251"/>
                  <a:pt x="368" y="224"/>
                </a:cubicBezTo>
                <a:close/>
              </a:path>
              <a:path w="640" h="512">
                <a:moveTo>
                  <a:pt x="64" y="224"/>
                </a:moveTo>
                <a:cubicBezTo>
                  <a:pt x="64" y="206"/>
                  <a:pt x="50" y="192"/>
                  <a:pt x="32" y="192"/>
                </a:cubicBezTo>
                <a:cubicBezTo>
                  <a:pt x="14" y="192"/>
                  <a:pt x="0" y="206"/>
                  <a:pt x="0" y="224"/>
                </a:cubicBezTo>
                <a:lnTo>
                  <a:pt x="0" y="320"/>
                </a:lnTo>
                <a:cubicBezTo>
                  <a:pt x="0" y="338"/>
                  <a:pt x="14" y="352"/>
                  <a:pt x="32" y="352"/>
                </a:cubicBezTo>
                <a:cubicBezTo>
                  <a:pt x="50" y="352"/>
                  <a:pt x="64" y="338"/>
                  <a:pt x="64" y="320"/>
                </a:cubicBezTo>
                <a:lnTo>
                  <a:pt x="64" y="224"/>
                </a:lnTo>
                <a:close/>
              </a:path>
              <a:path w="640" h="512">
                <a:moveTo>
                  <a:pt x="608" y="192"/>
                </a:moveTo>
                <a:cubicBezTo>
                  <a:pt x="590" y="192"/>
                  <a:pt x="576" y="206"/>
                  <a:pt x="576" y="224"/>
                </a:cubicBezTo>
                <a:lnTo>
                  <a:pt x="576" y="320"/>
                </a:lnTo>
                <a:cubicBezTo>
                  <a:pt x="576" y="338"/>
                  <a:pt x="590" y="352"/>
                  <a:pt x="608" y="352"/>
                </a:cubicBezTo>
                <a:cubicBezTo>
                  <a:pt x="626" y="352"/>
                  <a:pt x="640" y="338"/>
                  <a:pt x="640" y="320"/>
                </a:cubicBezTo>
                <a:lnTo>
                  <a:pt x="640" y="224"/>
                </a:lnTo>
                <a:cubicBezTo>
                  <a:pt x="640" y="206"/>
                  <a:pt x="626" y="192"/>
                  <a:pt x="608" y="192"/>
                </a:cubicBezTo>
                <a:close/>
              </a:path>
            </a:pathLst>
          </a:custGeom>
          <a:solidFill>
            <a:srgbClr val="BC4B26"/>
          </a:solidFill>
          <a:ln>
            <a:noFill/>
          </a:ln>
        </p:spPr>
      </p:sp>
      <p:sp>
        <p:nvSpPr>
          <p:cNvPr id="25" name="ch6-name"/>
          <p:cNvSpPr txBox="1"/>
          <p:nvPr/>
        </p:nvSpPr>
        <p:spPr>
          <a:xfrm>
            <a:off x="9728200" y="2082800"/>
            <a:ext cx="1752600" cy="431800"/>
          </a:xfrm>
          <a:prstGeom prst="rect">
            <a:avLst/>
          </a:prstGeom>
          <a:noFill/>
          <a:ln>
            <a:noFill/>
          </a:ln>
        </p:spPr>
        <p:txBody>
          <a:bodyPr lIns="0" rIns="0" tIns="0" bIns="0" wrap="square" rtlCol="0"/>
          <a:lstStyle/>
          <a:p>
            <a:pPr>
              <a:lnSpc>
                <a:spcPct val="130000"/>
              </a:lnSpc>
            </a:pPr>
            <a:r>
              <a:rPr lang="en-US" sz="1200" noProof="1" b="1">
                <a:solidFill>
                  <a:srgbClr val="23272E"/>
                </a:solidFill>
                <a:latin typeface="Quattrocento Sans"/>
                <a:ea typeface="Quattrocento Sans"/>
              </a:rPr>
              <a:t>AI agents</a:t>
            </a:r>
            <a:endParaRPr lang="en-US" sz="1200" noProof="1"/>
          </a:p>
        </p:txBody>
      </p:sp>
      <p:sp>
        <p:nvSpPr>
          <p:cNvPr id="26" name="ch6-stat"/>
          <p:cNvSpPr txBox="1"/>
          <p:nvPr/>
        </p:nvSpPr>
        <p:spPr>
          <a:xfrm>
            <a:off x="9728200" y="2514600"/>
            <a:ext cx="1752600" cy="355600"/>
          </a:xfrm>
          <a:prstGeom prst="rect">
            <a:avLst/>
          </a:prstGeom>
          <a:noFill/>
          <a:ln>
            <a:noFill/>
          </a:ln>
        </p:spPr>
        <p:txBody>
          <a:bodyPr lIns="0" rIns="0" tIns="0" bIns="0" wrap="none" rtlCol="0"/>
          <a:lstStyle/>
          <a:p>
            <a:pPr>
              <a:lnSpc>
                <a:spcPct val="120000"/>
              </a:lnSpc>
            </a:pPr>
            <a:r>
              <a:rPr lang="en-US" sz="2000" noProof="1">
                <a:solidFill>
                  <a:srgbClr val="BC4B26"/>
                </a:solidFill>
                <a:latin typeface="Unna"/>
                <a:ea typeface="Unna"/>
              </a:rPr>
              <a:t>39%</a:t>
            </a:r>
            <a:endParaRPr lang="en-US" sz="2000" noProof="1"/>
          </a:p>
        </p:txBody>
      </p:sp>
      <p:sp>
        <p:nvSpPr>
          <p:cNvPr id="27" name="ch6-desc"/>
          <p:cNvSpPr txBox="1"/>
          <p:nvPr/>
        </p:nvSpPr>
        <p:spPr>
          <a:xfrm>
            <a:off x="9728200" y="2870200"/>
            <a:ext cx="1752600" cy="1143000"/>
          </a:xfrm>
          <a:prstGeom prst="rect">
            <a:avLst/>
          </a:prstGeom>
          <a:noFill/>
          <a:ln>
            <a:noFill/>
          </a:ln>
        </p:spPr>
        <p:txBody>
          <a:bodyPr lIns="0" rIns="0" tIns="0" bIns="0" wrap="square" rtlCol="0"/>
          <a:lstStyle/>
          <a:p>
            <a:pPr>
              <a:lnSpc>
                <a:spcPct val="140000"/>
              </a:lnSpc>
            </a:pPr>
            <a:r>
              <a:rPr lang="en-US" sz="1050" noProof="1">
                <a:solidFill>
                  <a:srgbClr val="6E675C"/>
                </a:solidFill>
                <a:latin typeface="Quattrocento Sans"/>
                <a:ea typeface="Quattrocento Sans"/>
              </a:rPr>
              <a:t>of consumers already use AI for product discovery — the newest interface</a:t>
            </a:r>
            <a:endParaRPr lang="en-US" sz="1050" noProof="1"/>
          </a:p>
        </p:txBody>
      </p:sp>
      <p:sp>
        <p:nvSpPr>
          <p:cNvPr id="28" name="mid-rule"/>
          <p:cNvSpPr/>
          <p:nvPr/>
        </p:nvSpPr>
        <p:spPr>
          <a:xfrm>
            <a:off x="711200" y="4267200"/>
            <a:ext cx="10769600" cy="12700"/>
          </a:xfrm>
          <a:prstGeom prst="rect">
            <a:avLst/>
          </a:prstGeom>
          <a:solidFill>
            <a:srgbClr val="D9D2C4"/>
          </a:solidFill>
          <a:ln>
            <a:noFill/>
          </a:ln>
        </p:spPr>
      </p:sp>
      <p:sp>
        <p:nvSpPr>
          <p:cNvPr id="29" name="takeaway"/>
          <p:cNvSpPr txBox="1"/>
          <p:nvPr/>
        </p:nvSpPr>
        <p:spPr>
          <a:xfrm>
            <a:off x="711200" y="4470400"/>
            <a:ext cx="10769600" cy="7620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Read the map as layers, not replacements.</a:t>
            </a:r>
            <a:r>
              <a:rPr lang="en-US" sz="1300" noProof="1">
                <a:solidFill>
                  <a:srgbClr val="23272E"/>
                </a:solidFill>
                <a:latin typeface="Quattrocento Sans"/>
                <a:ea typeface="Quattrocento Sans"/>
              </a:rPr>
              <a:t> Every interface added since 1994 is still in use — the question for any business is not "which channel wins?" but "what mix of interfaces does my customer use, and in what order?" That is the question Topic 1 answers.</a:t>
            </a:r>
            <a:endParaRPr lang="en-US" sz="1300" noProof="1"/>
          </a:p>
        </p:txBody>
      </p:sp>
      <p:sp>
        <p:nvSpPr>
          <p:cNvPr id="30" name="src-line"/>
          <p:cNvSpPr txBox="1"/>
          <p:nvPr/>
        </p:nvSpPr>
        <p:spPr>
          <a:xfrm>
            <a:off x="711200" y="5588000"/>
            <a:ext cx="10769600" cy="508000"/>
          </a:xfrm>
          <a:prstGeom prst="rect">
            <a:avLst/>
          </a:prstGeom>
          <a:noFill/>
          <a:ln>
            <a:noFill/>
          </a:ln>
        </p:spPr>
        <p:txBody>
          <a:bodyPr lIns="0" rIns="0" tIns="0" bIns="0" wrap="square" rtlCol="0"/>
          <a:lstStyle/>
          <a:p>
            <a:pPr>
              <a:lnSpc>
                <a:spcPct val="14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eMarketer, 2025</a:t>
            </a:r>
            <a:r>
              <a:rPr lang="en-US" sz="1000" noProof="1">
                <a:solidFill>
                  <a:srgbClr val="9A9284"/>
                </a:solidFill>
                <a:latin typeface="Quattrocento Sans"/>
                <a:ea typeface="Quattrocento Sans"/>
              </a:rPr>
              <a:t> (retail share) · </a:t>
            </a:r>
            <a:r>
              <a:rPr lang="en-US" sz="1000" noProof="1" u="sng">
                <a:solidFill>
                  <a:srgbClr val="0563C1"/>
                </a:solidFill>
                <a:latin typeface="Quattrocento Sans"/>
                <a:ea typeface="Quattrocento Sans"/>
                <a:hlinkClick r:id="rId3"/>
              </a:rPr>
              <a:t>Statista, 2025</a:t>
            </a:r>
            <a:r>
              <a:rPr lang="en-US" sz="1000" noProof="1">
                <a:solidFill>
                  <a:srgbClr val="9A9284"/>
                </a:solidFill>
                <a:latin typeface="Quattrocento Sans"/>
                <a:ea typeface="Quattrocento Sans"/>
              </a:rPr>
              <a:t> (mobile share) · </a:t>
            </a:r>
            <a:r>
              <a:rPr lang="en-US" sz="1000" noProof="1" u="sng">
                <a:solidFill>
                  <a:srgbClr val="0563C1"/>
                </a:solidFill>
                <a:latin typeface="Quattrocento Sans"/>
                <a:ea typeface="Quattrocento Sans"/>
                <a:hlinkClick r:id="rId4"/>
              </a:rPr>
              <a:t>Mordor Intelligence, 2026</a:t>
            </a:r>
            <a:r>
              <a:rPr lang="en-US" sz="1000" noProof="1">
                <a:solidFill>
                  <a:srgbClr val="9A9284"/>
                </a:solidFill>
                <a:latin typeface="Quattrocento Sans"/>
                <a:ea typeface="Quattrocento Sans"/>
              </a:rPr>
              <a:t> (social) · </a:t>
            </a:r>
            <a:r>
              <a:rPr lang="en-US" sz="1000" noProof="1" u="sng">
                <a:solidFill>
                  <a:srgbClr val="0563C1"/>
                </a:solidFill>
                <a:latin typeface="Quattrocento Sans"/>
                <a:ea typeface="Quattrocento Sans"/>
                <a:hlinkClick r:id="rId5"/>
              </a:rPr>
              <a:t>TBRC, 2026</a:t>
            </a:r>
            <a:r>
              <a:rPr lang="en-US" sz="1000" noProof="1">
                <a:solidFill>
                  <a:srgbClr val="9A9284"/>
                </a:solidFill>
                <a:latin typeface="Quattrocento Sans"/>
                <a:ea typeface="Quattrocento Sans"/>
              </a:rPr>
              <a:t> (voice) · </a:t>
            </a:r>
            <a:r>
              <a:rPr lang="en-US" sz="1000" noProof="1" u="sng">
                <a:solidFill>
                  <a:srgbClr val="0563C1"/>
                </a:solidFill>
                <a:latin typeface="Quattrocento Sans"/>
                <a:ea typeface="Quattrocento Sans"/>
                <a:hlinkClick r:id="rId6"/>
              </a:rPr>
              <a:t>Salesforce, 2025</a:t>
            </a:r>
            <a:r>
              <a:rPr lang="en-US" sz="1000" noProof="1">
                <a:solidFill>
                  <a:srgbClr val="9A9284"/>
                </a:solidFill>
                <a:latin typeface="Quattrocento Sans"/>
                <a:ea typeface="Quattrocento Sans"/>
              </a:rPr>
              <a:t> (AI discovery)</a:t>
            </a:r>
            <a:endParaRPr lang="en-US" sz="1000" noProof="1"/>
          </a:p>
        </p:txBody>
      </p:sp>
      <p:sp>
        <p:nvSpPr>
          <p:cNvPr id="31" name="foot-rule"/>
          <p:cNvSpPr/>
          <p:nvPr/>
        </p:nvSpPr>
        <p:spPr>
          <a:xfrm>
            <a:off x="711200" y="6451600"/>
            <a:ext cx="10769600" cy="12700"/>
          </a:xfrm>
          <a:prstGeom prst="rect">
            <a:avLst/>
          </a:prstGeom>
          <a:solidFill>
            <a:srgbClr val="D9D2C4"/>
          </a:solidFill>
          <a:ln>
            <a:noFill/>
          </a:ln>
        </p:spPr>
      </p:sp>
      <p:sp>
        <p:nvSpPr>
          <p:cNvPr id="32"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33"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34"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9</a:t>
            </a:r>
            <a:endParaRPr lang="en-US" sz="950" noProof="1"/>
          </a:p>
        </p:txBody>
      </p:sp>
    </p:spTree>
  </p:cSld>
  <p:clrMapOvr>
    <a:masterClrMapping/>
  </p:clrMapOvr>
</p:sld>
</file>

<file path=ppt/slides/slide1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KEY NUMBERS</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One-fifth of all retail is now digital — and still climbing</a:t>
            </a:r>
            <a:endParaRPr lang="en-US" sz="2600" noProof="1"/>
          </a:p>
        </p:txBody>
      </p:sp>
      <p:sp>
        <p:nvSpPr>
          <p:cNvPr id="4" name="stat1-big"/>
          <p:cNvSpPr txBox="1"/>
          <p:nvPr/>
        </p:nvSpPr>
        <p:spPr>
          <a:xfrm>
            <a:off x="711200" y="1549400"/>
            <a:ext cx="3810000" cy="558800"/>
          </a:xfrm>
          <a:prstGeom prst="rect">
            <a:avLst/>
          </a:prstGeom>
          <a:noFill/>
          <a:ln>
            <a:noFill/>
          </a:ln>
        </p:spPr>
        <p:txBody>
          <a:bodyPr lIns="0" rIns="0" tIns="0" bIns="0" wrap="none" rtlCol="0"/>
          <a:lstStyle/>
          <a:p>
            <a:pPr>
              <a:lnSpc>
                <a:spcPct val="120000"/>
              </a:lnSpc>
            </a:pPr>
            <a:r>
              <a:rPr lang="en-US" sz="3600" noProof="1">
                <a:solidFill>
                  <a:srgbClr val="BC4B26"/>
                </a:solidFill>
                <a:latin typeface="Unna"/>
                <a:ea typeface="Unna"/>
              </a:rPr>
              <a:t>20.5%</a:t>
            </a:r>
            <a:endParaRPr lang="en-US" sz="3600" noProof="1"/>
          </a:p>
        </p:txBody>
      </p:sp>
      <p:sp>
        <p:nvSpPr>
          <p:cNvPr id="5" name="stat1-label"/>
          <p:cNvSpPr txBox="1"/>
          <p:nvPr/>
        </p:nvSpPr>
        <p:spPr>
          <a:xfrm>
            <a:off x="711200" y="2133600"/>
            <a:ext cx="3810000" cy="635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of total global retail was e-commerce in 2025 — up from 19.9% in 2024, heading to 22.5% by 2028*</a:t>
            </a:r>
            <a:endParaRPr lang="en-US" sz="1200" noProof="1"/>
          </a:p>
        </p:txBody>
      </p:sp>
      <p:sp>
        <p:nvSpPr>
          <p:cNvPr id="6" name="stat2-big"/>
          <p:cNvSpPr txBox="1"/>
          <p:nvPr/>
        </p:nvSpPr>
        <p:spPr>
          <a:xfrm>
            <a:off x="711200" y="3022600"/>
            <a:ext cx="3810000" cy="558800"/>
          </a:xfrm>
          <a:prstGeom prst="rect">
            <a:avLst/>
          </a:prstGeom>
          <a:noFill/>
          <a:ln>
            <a:noFill/>
          </a:ln>
        </p:spPr>
        <p:txBody>
          <a:bodyPr lIns="0" rIns="0" tIns="0" bIns="0" wrap="none" rtlCol="0"/>
          <a:lstStyle/>
          <a:p>
            <a:pPr>
              <a:lnSpc>
                <a:spcPct val="120000"/>
              </a:lnSpc>
            </a:pPr>
            <a:r>
              <a:rPr lang="en-US" sz="3600" noProof="1">
                <a:solidFill>
                  <a:srgbClr val="BC4B26"/>
                </a:solidFill>
                <a:latin typeface="Unna"/>
                <a:ea typeface="Unna"/>
              </a:rPr>
              <a:t>57–59%</a:t>
            </a:r>
            <a:endParaRPr lang="en-US" sz="3600" noProof="1"/>
          </a:p>
        </p:txBody>
      </p:sp>
      <p:sp>
        <p:nvSpPr>
          <p:cNvPr id="7" name="stat2-label"/>
          <p:cNvSpPr txBox="1"/>
          <p:nvPr/>
        </p:nvSpPr>
        <p:spPr>
          <a:xfrm>
            <a:off x="711200" y="3606800"/>
            <a:ext cx="3810000" cy="635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of e-commerce sales happen on mobile devices (≈$4.01T); phones drive ~77% of e-commerce traffic</a:t>
            </a:r>
            <a:endParaRPr lang="en-US" sz="1200" noProof="1"/>
          </a:p>
        </p:txBody>
      </p:sp>
      <p:sp>
        <p:nvSpPr>
          <p:cNvPr id="8" name="stat3-big"/>
          <p:cNvSpPr txBox="1"/>
          <p:nvPr/>
        </p:nvSpPr>
        <p:spPr>
          <a:xfrm>
            <a:off x="711200" y="4495800"/>
            <a:ext cx="3810000" cy="558800"/>
          </a:xfrm>
          <a:prstGeom prst="rect">
            <a:avLst/>
          </a:prstGeom>
          <a:noFill/>
          <a:ln>
            <a:noFill/>
          </a:ln>
        </p:spPr>
        <p:txBody>
          <a:bodyPr lIns="0" rIns="0" tIns="0" bIns="0" wrap="none" rtlCol="0"/>
          <a:lstStyle/>
          <a:p>
            <a:pPr>
              <a:lnSpc>
                <a:spcPct val="120000"/>
              </a:lnSpc>
            </a:pPr>
            <a:r>
              <a:rPr lang="en-US" sz="3600" noProof="1">
                <a:solidFill>
                  <a:srgbClr val="BC4B26"/>
                </a:solidFill>
                <a:latin typeface="Unna"/>
                <a:ea typeface="Unna"/>
              </a:rPr>
              <a:t>$1.6T</a:t>
            </a:r>
            <a:endParaRPr lang="en-US" sz="3600" noProof="1"/>
          </a:p>
        </p:txBody>
      </p:sp>
      <p:sp>
        <p:nvSpPr>
          <p:cNvPr id="9" name="stat3-label"/>
          <p:cNvSpPr txBox="1"/>
          <p:nvPr/>
        </p:nvSpPr>
        <p:spPr>
          <a:xfrm>
            <a:off x="711200" y="5080000"/>
            <a:ext cx="3810000" cy="635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global social-commerce market in 2025; forecasts reach ~$8.5T by 2030* — the fastest-moving channel</a:t>
            </a:r>
            <a:endParaRPr lang="en-US" sz="1200" noProof="1"/>
          </a:p>
        </p:txBody>
      </p:sp>
      <p:graphicFrame>
        <p:nvGraphicFramePr>
          <p:cNvPr id="10" name="chart"/>
          <p:cNvGraphicFramePr/>
          <p:nvPr/>
        </p:nvGraphicFramePr>
        <p:xfrm>
          <a:off x="4978400" y="1473200"/>
          <a:ext cx="6502400" cy="4191000"/>
        </p:xfrm>
        <a:graphic>
          <a:graphicData uri="http://schemas.openxmlformats.org/drawingml/2006/chart">
            <c:chart r:id="rId2"/>
          </a:graphicData>
        </a:graphic>
      </p:graphicFrame>
      <p:sp>
        <p:nvSpPr>
          <p:cNvPr id="11" name="src-line"/>
          <p:cNvSpPr txBox="1"/>
          <p:nvPr/>
        </p:nvSpPr>
        <p:spPr>
          <a:xfrm>
            <a:off x="711200" y="5816600"/>
            <a:ext cx="10769600" cy="457200"/>
          </a:xfrm>
          <a:prstGeom prst="rect">
            <a:avLst/>
          </a:prstGeom>
          <a:noFill/>
          <a:ln>
            <a:noFill/>
          </a:ln>
        </p:spPr>
        <p:txBody>
          <a:bodyPr lIns="0" rIns="0" tIns="0" bIns="0" wrap="square" rtlCol="0"/>
          <a:lstStyle/>
          <a:p>
            <a:pPr>
              <a:lnSpc>
                <a:spcPct val="14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3"/>
              </a:rPr>
              <a:t>eMarketer Worldwide Retail Ecommerce Forecast, 2025</a:t>
            </a:r>
            <a:r>
              <a:rPr lang="en-US" sz="1000" noProof="1">
                <a:solidFill>
                  <a:srgbClr val="9A9284"/>
                </a:solidFill>
                <a:latin typeface="Quattrocento Sans"/>
                <a:ea typeface="Quattrocento Sans"/>
              </a:rPr>
              <a:t> (chart series &amp; retail share) · </a:t>
            </a:r>
            <a:r>
              <a:rPr lang="en-US" sz="1000" noProof="1" u="sng">
                <a:solidFill>
                  <a:srgbClr val="0563C1"/>
                </a:solidFill>
                <a:latin typeface="Quattrocento Sans"/>
                <a:ea typeface="Quattrocento Sans"/>
                <a:hlinkClick r:id="rId4"/>
              </a:rPr>
              <a:t>Statista / Shopify summary, 2025</a:t>
            </a:r>
            <a:r>
              <a:rPr lang="en-US" sz="1000" noProof="1">
                <a:solidFill>
                  <a:srgbClr val="9A9284"/>
                </a:solidFill>
                <a:latin typeface="Quattrocento Sans"/>
                <a:ea typeface="Quattrocento Sans"/>
              </a:rPr>
              <a:t> (mobile) · </a:t>
            </a:r>
            <a:r>
              <a:rPr lang="en-US" sz="1000" noProof="1" u="sng">
                <a:solidFill>
                  <a:srgbClr val="0563C1"/>
                </a:solidFill>
                <a:latin typeface="Quattrocento Sans"/>
                <a:ea typeface="Quattrocento Sans"/>
                <a:hlinkClick r:id="rId5"/>
              </a:rPr>
              <a:t>Grand View Research, 2026</a:t>
            </a:r>
            <a:r>
              <a:rPr lang="en-US" sz="1000" noProof="1">
                <a:solidFill>
                  <a:srgbClr val="9A9284"/>
                </a:solidFill>
                <a:latin typeface="Quattrocento Sans"/>
                <a:ea typeface="Quattrocento Sans"/>
              </a:rPr>
              <a:t> (social commerce). * = forecast.</a:t>
            </a:r>
            <a:endParaRPr lang="en-US" sz="1000" noProof="1"/>
          </a:p>
        </p:txBody>
      </p:sp>
      <p:sp>
        <p:nvSpPr>
          <p:cNvPr id="12" name="foot-rule"/>
          <p:cNvSpPr/>
          <p:nvPr/>
        </p:nvSpPr>
        <p:spPr>
          <a:xfrm>
            <a:off x="711200" y="6451600"/>
            <a:ext cx="10769600" cy="12700"/>
          </a:xfrm>
          <a:prstGeom prst="rect">
            <a:avLst/>
          </a:prstGeom>
          <a:solidFill>
            <a:srgbClr val="D9D2C4"/>
          </a:solidFill>
          <a:ln>
            <a:noFill/>
          </a:ln>
        </p:spPr>
      </p:sp>
      <p:sp>
        <p:nvSpPr>
          <p:cNvPr id="13"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4"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15"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10</a:t>
            </a:r>
            <a:endParaRPr lang="en-US" sz="950" noProof="1"/>
          </a:p>
        </p:txBody>
      </p:sp>
    </p:spTree>
  </p:cSld>
  <p:clrMapOvr>
    <a:masterClrMapping/>
  </p:clrMapOvr>
</p:sld>
</file>

<file path=ppt/slides/slide1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CAREERS IN COMMERCE</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Commerce roles are growing — but not the ones you picture</a:t>
            </a:r>
            <a:endParaRPr lang="en-US" sz="2600" noProof="1"/>
          </a:p>
        </p:txBody>
      </p:sp>
      <p:graphicFrame>
        <p:nvGraphicFramePr>
          <p:cNvPr id="4" name="roles-table"/>
          <p:cNvGraphicFramePr>
            <a:graphicFrameLocks noGrp="1"/>
          </p:cNvGraphicFramePr>
          <p:nvPr/>
        </p:nvGraphicFramePr>
        <p:xfrm>
          <a:off x="711200" y="1397000"/>
          <a:ext cx="7112000" cy="3810000"/>
        </p:xfrm>
        <a:graphic>
          <a:graphicData uri="http://schemas.openxmlformats.org/drawingml/2006/table">
            <a:tbl>
              <a:tblPr/>
              <a:tblGrid>
                <a:gridCol w="2702560"/>
                <a:gridCol w="4409440"/>
              </a:tblGrid>
              <a:tr h="495300">
                <a:tc>
                  <a:txBody>
                    <a:bodyPr wrap="square" rtlCol="0" anchor="ctr"/>
                    <a:lstStyle/>
                    <a:p>
                      <a:pPr algn="l"/>
                      <a:r>
                        <a:rPr lang="en-US" sz="1200" noProof="1" b="1">
                          <a:solidFill>
                            <a:srgbClr val="FFFFFF"/>
                          </a:solidFill>
                          <a:latin typeface="Quattrocento Sans"/>
                          <a:ea typeface="Quattrocento Sans"/>
                        </a:rPr>
                        <a:t>Role this course feeds</a:t>
                      </a:r>
                    </a:p>
                  </a:txBody>
                  <a:tcPr marL="91440" marR="91440" marT="45720" marB="45720" anchor="ctr">
                    <a:lnL>
                      <a:noFill/>
                    </a:lnL>
                    <a:lnR>
                      <a:noFill/>
                    </a:lnR>
                    <a:lnT>
                      <a:noFill/>
                    </a:lnT>
                    <a:lnB w="12700">
                      <a:solidFill>
                        <a:srgbClr val="D9D2C4"/>
                      </a:solidFill>
                    </a:lnB>
                    <a:solidFill>
                      <a:srgbClr val="175E54"/>
                    </a:solidFill>
                  </a:tcPr>
                </a:tc>
                <a:tc>
                  <a:txBody>
                    <a:bodyPr wrap="square" rtlCol="0" anchor="ctr"/>
                    <a:lstStyle/>
                    <a:p>
                      <a:pPr algn="l"/>
                      <a:r>
                        <a:rPr lang="en-US" sz="1200" noProof="1" b="1">
                          <a:solidFill>
                            <a:srgbClr val="FFFFFF"/>
                          </a:solidFill>
                          <a:latin typeface="Quattrocento Sans"/>
                          <a:ea typeface="Quattrocento Sans"/>
                        </a:rPr>
                        <a:t>Core skills you will practise here</a:t>
                      </a:r>
                    </a:p>
                  </a:txBody>
                  <a:tcPr marL="91440" marR="91440" marT="45720" marB="45720" anchor="ctr">
                    <a:lnL>
                      <a:noFill/>
                    </a:lnL>
                    <a:lnR>
                      <a:noFill/>
                    </a:lnR>
                    <a:lnT>
                      <a:noFill/>
                    </a:lnT>
                    <a:lnB w="12700">
                      <a:solidFill>
                        <a:srgbClr val="D9D2C4"/>
                      </a:solidFill>
                    </a:lnB>
                    <a:solidFill>
                      <a:srgbClr val="175E54"/>
                    </a:solidFill>
                  </a:tcPr>
                </a:tc>
              </a:tr>
              <a:tr h="662940">
                <a:tc>
                  <a:txBody>
                    <a:bodyPr wrap="square" rtlCol="0" anchor="ctr"/>
                    <a:lstStyle/>
                    <a:p>
                      <a:pPr algn="l"/>
                      <a:r>
                        <a:rPr lang="en-US" sz="1200" noProof="1">
                          <a:solidFill>
                            <a:srgbClr val="23272E"/>
                          </a:solidFill>
                          <a:latin typeface="Quattrocento Sans"/>
                          <a:ea typeface="Quattrocento Sans"/>
                        </a:rPr>
                        <a:t>E-commerce manager</a:t>
                      </a:r>
                    </a:p>
                  </a:txBody>
                  <a:tcPr marL="91440" marR="91440" marT="45720" marB="45720" anchor="ctr">
                    <a:lnL>
                      <a:noFill/>
                    </a:lnL>
                    <a:lnR>
                      <a:noFill/>
                    </a:lnR>
                    <a:lnT>
                      <a:noFill/>
                    </a:lnT>
                    <a:lnB w="12700">
                      <a:solidFill>
                        <a:srgbClr val="D9D2C4"/>
                      </a:solidFill>
                    </a:lnB>
                    <a:solidFill>
                      <a:srgbClr val="FAF7F2"/>
                    </a:solidFill>
                  </a:tcPr>
                </a:tc>
                <a:tc>
                  <a:txBody>
                    <a:bodyPr wrap="square" rtlCol="0" anchor="ctr"/>
                    <a:lstStyle/>
                    <a:p>
                      <a:pPr algn="l"/>
                      <a:r>
                        <a:rPr lang="en-US" sz="1200" noProof="1">
                          <a:solidFill>
                            <a:srgbClr val="23272E"/>
                          </a:solidFill>
                          <a:latin typeface="Quattrocento Sans"/>
                          <a:ea typeface="Quattrocento Sans"/>
                        </a:rPr>
                        <a:t>Channel mix, platform economics, conversion thinking</a:t>
                      </a:r>
                    </a:p>
                  </a:txBody>
                  <a:tcPr marL="91440" marR="91440" marT="45720" marB="45720" anchor="ctr">
                    <a:lnL>
                      <a:noFill/>
                    </a:lnL>
                    <a:lnR>
                      <a:noFill/>
                    </a:lnR>
                    <a:lnT>
                      <a:noFill/>
                    </a:lnT>
                    <a:lnB w="12700">
                      <a:solidFill>
                        <a:srgbClr val="D9D2C4"/>
                      </a:solidFill>
                    </a:lnB>
                    <a:solidFill>
                      <a:srgbClr val="FAF7F2"/>
                    </a:solidFill>
                  </a:tcPr>
                </a:tc>
              </a:tr>
              <a:tr h="662940">
                <a:tc>
                  <a:txBody>
                    <a:bodyPr wrap="square" rtlCol="0" anchor="ctr"/>
                    <a:lstStyle/>
                    <a:p>
                      <a:pPr algn="l"/>
                      <a:r>
                        <a:rPr lang="en-US" sz="1200" noProof="1">
                          <a:solidFill>
                            <a:srgbClr val="23272E"/>
                          </a:solidFill>
                          <a:latin typeface="Quattrocento Sans"/>
                          <a:ea typeface="Quattrocento Sans"/>
                        </a:rPr>
                        <a:t>Growth marketer</a:t>
                      </a:r>
                    </a:p>
                  </a:txBody>
                  <a:tcPr marL="91440" marR="91440" marT="45720" marB="45720" anchor="ctr">
                    <a:lnL>
                      <a:noFill/>
                    </a:lnL>
                    <a:lnR>
                      <a:noFill/>
                    </a:lnR>
                    <a:lnT>
                      <a:noFill/>
                    </a:lnT>
                    <a:lnB w="12700">
                      <a:solidFill>
                        <a:srgbClr val="D9D2C4"/>
                      </a:solidFill>
                    </a:lnB>
                    <a:solidFill>
                      <a:srgbClr val="F1EDE3"/>
                    </a:solidFill>
                  </a:tcPr>
                </a:tc>
                <a:tc>
                  <a:txBody>
                    <a:bodyPr wrap="square" rtlCol="0" anchor="ctr"/>
                    <a:lstStyle/>
                    <a:p>
                      <a:pPr algn="l"/>
                      <a:r>
                        <a:rPr lang="en-US" sz="1200" noProof="1">
                          <a:solidFill>
                            <a:srgbClr val="23272E"/>
                          </a:solidFill>
                          <a:latin typeface="Quattrocento Sans"/>
                          <a:ea typeface="Quattrocento Sans"/>
                        </a:rPr>
                        <a:t>Funnels, experimentation, unit economics (CAC, AOV)</a:t>
                      </a:r>
                    </a:p>
                  </a:txBody>
                  <a:tcPr marL="91440" marR="91440" marT="45720" marB="45720" anchor="ctr">
                    <a:lnL>
                      <a:noFill/>
                    </a:lnL>
                    <a:lnR>
                      <a:noFill/>
                    </a:lnR>
                    <a:lnT>
                      <a:noFill/>
                    </a:lnT>
                    <a:lnB w="12700">
                      <a:solidFill>
                        <a:srgbClr val="D9D2C4"/>
                      </a:solidFill>
                    </a:lnB>
                    <a:solidFill>
                      <a:srgbClr val="F1EDE3"/>
                    </a:solidFill>
                  </a:tcPr>
                </a:tc>
              </a:tr>
              <a:tr h="662940">
                <a:tc>
                  <a:txBody>
                    <a:bodyPr wrap="square" rtlCol="0" anchor="ctr"/>
                    <a:lstStyle/>
                    <a:p>
                      <a:pPr algn="l"/>
                      <a:r>
                        <a:rPr lang="en-US" sz="1200" noProof="1">
                          <a:solidFill>
                            <a:srgbClr val="23272E"/>
                          </a:solidFill>
                          <a:latin typeface="Quattrocento Sans"/>
                          <a:ea typeface="Quattrocento Sans"/>
                        </a:rPr>
                        <a:t>CRM / lifecycle analyst</a:t>
                      </a:r>
                    </a:p>
                  </a:txBody>
                  <a:tcPr marL="91440" marR="91440" marT="45720" marB="45720" anchor="ctr">
                    <a:lnL>
                      <a:noFill/>
                    </a:lnL>
                    <a:lnR>
                      <a:noFill/>
                    </a:lnR>
                    <a:lnT>
                      <a:noFill/>
                    </a:lnT>
                    <a:lnB w="12700">
                      <a:solidFill>
                        <a:srgbClr val="D9D2C4"/>
                      </a:solidFill>
                    </a:lnB>
                    <a:solidFill>
                      <a:srgbClr val="FAF7F2"/>
                    </a:solidFill>
                  </a:tcPr>
                </a:tc>
                <a:tc>
                  <a:txBody>
                    <a:bodyPr wrap="square" rtlCol="0" anchor="ctr"/>
                    <a:lstStyle/>
                    <a:p>
                      <a:pPr algn="l"/>
                      <a:r>
                        <a:rPr lang="en-US" sz="1200" noProof="1">
                          <a:solidFill>
                            <a:srgbClr val="23272E"/>
                          </a:solidFill>
                          <a:latin typeface="Quattrocento Sans"/>
                          <a:ea typeface="Quattrocento Sans"/>
                        </a:rPr>
                        <a:t>Segmentation, loyalty loops, customer data platforms</a:t>
                      </a:r>
                    </a:p>
                  </a:txBody>
                  <a:tcPr marL="91440" marR="91440" marT="45720" marB="45720" anchor="ctr">
                    <a:lnL>
                      <a:noFill/>
                    </a:lnL>
                    <a:lnR>
                      <a:noFill/>
                    </a:lnR>
                    <a:lnT>
                      <a:noFill/>
                    </a:lnT>
                    <a:lnB w="12700">
                      <a:solidFill>
                        <a:srgbClr val="D9D2C4"/>
                      </a:solidFill>
                    </a:lnB>
                    <a:solidFill>
                      <a:srgbClr val="FAF7F2"/>
                    </a:solidFill>
                  </a:tcPr>
                </a:tc>
              </a:tr>
              <a:tr h="662940">
                <a:tc>
                  <a:txBody>
                    <a:bodyPr wrap="square" rtlCol="0" anchor="ctr"/>
                    <a:lstStyle/>
                    <a:p>
                      <a:pPr algn="l"/>
                      <a:r>
                        <a:rPr lang="en-US" sz="1200" noProof="1">
                          <a:solidFill>
                            <a:srgbClr val="23272E"/>
                          </a:solidFill>
                          <a:latin typeface="Quattrocento Sans"/>
                          <a:ea typeface="Quattrocento Sans"/>
                        </a:rPr>
                        <a:t>CX / journey designer</a:t>
                      </a:r>
                    </a:p>
                  </a:txBody>
                  <a:tcPr marL="91440" marR="91440" marT="45720" marB="45720" anchor="ctr">
                    <a:lnL>
                      <a:noFill/>
                    </a:lnL>
                    <a:lnR>
                      <a:noFill/>
                    </a:lnR>
                    <a:lnT>
                      <a:noFill/>
                    </a:lnT>
                    <a:lnB w="12700">
                      <a:solidFill>
                        <a:srgbClr val="D9D2C4"/>
                      </a:solidFill>
                    </a:lnB>
                    <a:solidFill>
                      <a:srgbClr val="F1EDE3"/>
                    </a:solidFill>
                  </a:tcPr>
                </a:tc>
                <a:tc>
                  <a:txBody>
                    <a:bodyPr wrap="square" rtlCol="0" anchor="ctr"/>
                    <a:lstStyle/>
                    <a:p>
                      <a:pPr algn="l"/>
                      <a:r>
                        <a:rPr lang="en-US" sz="1200" noProof="1">
                          <a:solidFill>
                            <a:srgbClr val="23272E"/>
                          </a:solidFill>
                          <a:latin typeface="Quattrocento Sans"/>
                          <a:ea typeface="Quattrocento Sans"/>
                        </a:rPr>
                        <a:t>Decision points, micro-moments, friction removal</a:t>
                      </a:r>
                    </a:p>
                  </a:txBody>
                  <a:tcPr marL="91440" marR="91440" marT="45720" marB="45720" anchor="ctr">
                    <a:lnL>
                      <a:noFill/>
                    </a:lnL>
                    <a:lnR>
                      <a:noFill/>
                    </a:lnR>
                    <a:lnT>
                      <a:noFill/>
                    </a:lnT>
                    <a:lnB w="12700">
                      <a:solidFill>
                        <a:srgbClr val="D9D2C4"/>
                      </a:solidFill>
                    </a:lnB>
                    <a:solidFill>
                      <a:srgbClr val="F1EDE3"/>
                    </a:solidFill>
                  </a:tcPr>
                </a:tc>
              </a:tr>
              <a:tr h="662940">
                <a:tc>
                  <a:txBody>
                    <a:bodyPr wrap="square" rtlCol="0" anchor="ctr"/>
                    <a:lstStyle/>
                    <a:p>
                      <a:pPr algn="l"/>
                      <a:r>
                        <a:rPr lang="en-US" sz="1200" noProof="1">
                          <a:solidFill>
                            <a:srgbClr val="23272E"/>
                          </a:solidFill>
                          <a:latin typeface="Quattrocento Sans"/>
                          <a:ea typeface="Quattrocento Sans"/>
                        </a:rPr>
                        <a:t>AI commerce specialist</a:t>
                      </a:r>
                    </a:p>
                  </a:txBody>
                  <a:tcPr marL="91440" marR="91440" marT="45720" marB="45720" anchor="ctr">
                    <a:lnL>
                      <a:noFill/>
                    </a:lnL>
                    <a:lnR>
                      <a:noFill/>
                    </a:lnR>
                    <a:lnT>
                      <a:noFill/>
                    </a:lnT>
                    <a:lnB w="12700">
                      <a:solidFill>
                        <a:srgbClr val="D9D2C4"/>
                      </a:solidFill>
                    </a:lnB>
                    <a:solidFill>
                      <a:srgbClr val="FAF7F2"/>
                    </a:solidFill>
                  </a:tcPr>
                </a:tc>
                <a:tc>
                  <a:txBody>
                    <a:bodyPr wrap="square" rtlCol="0" anchor="ctr"/>
                    <a:lstStyle/>
                    <a:p>
                      <a:pPr algn="l"/>
                      <a:r>
                        <a:rPr lang="en-US" sz="1200" noProof="1">
                          <a:solidFill>
                            <a:srgbClr val="23272E"/>
                          </a:solidFill>
                          <a:latin typeface="Quattrocento Sans"/>
                          <a:ea typeface="Quattrocento Sans"/>
                        </a:rPr>
                        <a:t>Agentic interfaces, AEO, personalisation strategy</a:t>
                      </a:r>
                    </a:p>
                  </a:txBody>
                  <a:tcPr marL="91440" marR="91440" marT="45720" marB="45720" anchor="ctr">
                    <a:lnL>
                      <a:noFill/>
                    </a:lnL>
                    <a:lnR>
                      <a:noFill/>
                    </a:lnR>
                    <a:lnT>
                      <a:noFill/>
                    </a:lnT>
                    <a:lnB w="12700">
                      <a:solidFill>
                        <a:srgbClr val="D9D2C4"/>
                      </a:solidFill>
                    </a:lnB>
                    <a:solidFill>
                      <a:srgbClr val="FAF7F2"/>
                    </a:solidFill>
                  </a:tcPr>
                </a:tc>
              </a:tr>
            </a:tbl>
          </a:graphicData>
        </a:graphic>
      </p:graphicFrame>
      <p:sp>
        <p:nvSpPr>
          <p:cNvPr id="5" name="evidence-icon"/>
          <p:cNvSpPr/>
          <p:nvPr>
            <p:extLst>
              <p:ext uri="{F5677B7D-0D2A-4D9B-9A5C-6D8D7D0E5A5D}">
                <pptd:icon encoding="base64url">eyJpY29uTmFtZSI6ImZhczphcnJvdy10cmVuZC11cCJ9</pptd:icon>
              </p:ext>
            </p:extLst>
          </p:nvPr>
        </p:nvSpPr>
        <p:spPr>
          <a:xfrm>
            <a:off x="8229600" y="1473200"/>
            <a:ext cx="304800" cy="304800"/>
          </a:xfrm>
          <a:custGeom>
            <a:avLst/>
            <a:gdLst/>
            <a:ahLst/>
            <a:cxnLst/>
            <a:rect l="l" t="t" r="r" b="b"/>
            <a:pathLst>
              <a:path w="576" h="512">
                <a:moveTo>
                  <a:pt x="384" y="160"/>
                </a:moveTo>
                <a:cubicBezTo>
                  <a:pt x="366" y="160"/>
                  <a:pt x="352" y="146"/>
                  <a:pt x="352" y="128"/>
                </a:cubicBezTo>
                <a:cubicBezTo>
                  <a:pt x="352" y="110"/>
                  <a:pt x="366" y="96"/>
                  <a:pt x="384" y="96"/>
                </a:cubicBezTo>
                <a:lnTo>
                  <a:pt x="544" y="96"/>
                </a:lnTo>
                <a:cubicBezTo>
                  <a:pt x="562" y="96"/>
                  <a:pt x="576" y="110"/>
                  <a:pt x="576" y="128"/>
                </a:cubicBezTo>
                <a:lnTo>
                  <a:pt x="576" y="288"/>
                </a:lnTo>
                <a:cubicBezTo>
                  <a:pt x="576" y="306"/>
                  <a:pt x="562" y="320"/>
                  <a:pt x="544" y="320"/>
                </a:cubicBezTo>
                <a:cubicBezTo>
                  <a:pt x="526" y="320"/>
                  <a:pt x="512" y="306"/>
                  <a:pt x="512" y="288"/>
                </a:cubicBezTo>
                <a:lnTo>
                  <a:pt x="512" y="205"/>
                </a:lnTo>
                <a:lnTo>
                  <a:pt x="343" y="375"/>
                </a:lnTo>
                <a:cubicBezTo>
                  <a:pt x="330" y="387"/>
                  <a:pt x="310" y="387"/>
                  <a:pt x="297" y="375"/>
                </a:cubicBezTo>
                <a:lnTo>
                  <a:pt x="192" y="269"/>
                </a:lnTo>
                <a:lnTo>
                  <a:pt x="55" y="407"/>
                </a:lnTo>
                <a:cubicBezTo>
                  <a:pt x="42" y="419"/>
                  <a:pt x="22" y="419"/>
                  <a:pt x="9" y="407"/>
                </a:cubicBezTo>
                <a:cubicBezTo>
                  <a:pt x="-3" y="394"/>
                  <a:pt x="-3" y="374"/>
                  <a:pt x="9" y="361"/>
                </a:cubicBezTo>
                <a:lnTo>
                  <a:pt x="169" y="201"/>
                </a:lnTo>
                <a:cubicBezTo>
                  <a:pt x="182" y="189"/>
                  <a:pt x="202" y="189"/>
                  <a:pt x="215" y="201"/>
                </a:cubicBezTo>
                <a:lnTo>
                  <a:pt x="320" y="307"/>
                </a:lnTo>
                <a:lnTo>
                  <a:pt x="467" y="160"/>
                </a:lnTo>
                <a:lnTo>
                  <a:pt x="384" y="160"/>
                </a:lnTo>
                <a:close/>
              </a:path>
            </a:pathLst>
          </a:custGeom>
          <a:solidFill>
            <a:srgbClr val="BC4B26"/>
          </a:solidFill>
          <a:ln>
            <a:noFill/>
          </a:ln>
        </p:spPr>
      </p:sp>
      <p:sp>
        <p:nvSpPr>
          <p:cNvPr id="6" name="evidence-head"/>
          <p:cNvSpPr txBox="1"/>
          <p:nvPr/>
        </p:nvSpPr>
        <p:spPr>
          <a:xfrm>
            <a:off x="8686800" y="1447800"/>
            <a:ext cx="2794000" cy="304800"/>
          </a:xfrm>
          <a:prstGeom prst="rect">
            <a:avLst/>
          </a:prstGeom>
          <a:noFill/>
          <a:ln>
            <a:noFill/>
          </a:ln>
        </p:spPr>
        <p:txBody>
          <a:bodyPr lIns="0" rIns="0" tIns="0" bIns="0" wrap="square" rtlCol="0"/>
          <a:lstStyle/>
          <a:p>
            <a:pPr>
              <a:lnSpc>
                <a:spcPct val="120000"/>
              </a:lnSpc>
            </a:pPr>
            <a:r>
              <a:rPr lang="en-US" sz="1800" noProof="1">
                <a:solidFill>
                  <a:srgbClr val="175E54"/>
                </a:solidFill>
                <a:latin typeface="Unna"/>
                <a:ea typeface="Unna"/>
              </a:rPr>
              <a:t>The labour-market signal</a:t>
            </a:r>
            <a:endParaRPr lang="en-US" sz="1800" noProof="1"/>
          </a:p>
        </p:txBody>
      </p:sp>
      <p:sp>
        <p:nvSpPr>
          <p:cNvPr id="7" name="evidence-body"/>
          <p:cNvSpPr txBox="1"/>
          <p:nvPr/>
        </p:nvSpPr>
        <p:spPr>
          <a:xfrm>
            <a:off x="8229600" y="1879600"/>
            <a:ext cx="3251200" cy="3048000"/>
          </a:xfrm>
          <a:prstGeom prst="rect">
            <a:avLst/>
          </a:prstGeom>
          <a:noFill/>
          <a:ln>
            <a:noFill/>
          </a:ln>
        </p:spPr>
        <p:txBody>
          <a:bodyPr lIns="0" rIns="0" tIns="0" bIns="0" wrap="square" rtlCol="0"/>
          <a:lstStyle/>
          <a:p>
            <a:pPr>
              <a:lnSpc>
                <a:spcPct val="155000"/>
              </a:lnSpc>
            </a:pPr>
            <a:r>
              <a:rPr lang="en-US" sz="2200" noProof="1">
                <a:solidFill>
                  <a:srgbClr val="BC4B26"/>
                </a:solidFill>
                <a:latin typeface="Unna"/>
                <a:ea typeface="Unna"/>
              </a:rPr>
              <a:t>86%</a:t>
            </a:r>
            <a:r>
              <a:rPr lang="en-US" sz="1200" noProof="1">
                <a:solidFill>
                  <a:srgbClr val="23272E"/>
                </a:solidFill>
                <a:latin typeface="Quattrocento Sans"/>
                <a:ea typeface="Quattrocento Sans"/>
              </a:rPr>
              <a:t> of employers expect AI and information-processing technology to transform their business by 2030.</a:t>
            </a:r>
            <a:endParaRPr lang="en-US" sz="1200" noProof="1"/>
          </a:p>
          <a:p>
            <a:pPr>
              <a:lnSpc>
                <a:spcPct val="155000"/>
              </a:lnSpc>
              <a:spcBef>
                <a:spcPts val="1000"/>
              </a:spcBef>
            </a:pPr>
            <a:r>
              <a:rPr lang="en-US" sz="1200" noProof="1">
                <a:solidFill>
                  <a:srgbClr val="23272E"/>
                </a:solidFill>
                <a:latin typeface="Quattrocento Sans"/>
                <a:ea typeface="Quattrocento Sans"/>
              </a:rPr>
              <a:t>The three fastest-growing jobs globally: big-data specialists, fintech engineers, AI/ML specialists.</a:t>
            </a:r>
            <a:endParaRPr lang="en-US" sz="1200" noProof="1"/>
          </a:p>
          <a:p>
            <a:pPr>
              <a:lnSpc>
                <a:spcPct val="155000"/>
              </a:lnSpc>
              <a:spcBef>
                <a:spcPts val="1000"/>
              </a:spcBef>
            </a:pPr>
            <a:r>
              <a:rPr lang="en-US" sz="1200" noProof="1">
                <a:solidFill>
                  <a:srgbClr val="23272E"/>
                </a:solidFill>
                <a:latin typeface="Quattrocento Sans"/>
                <a:ea typeface="Quattrocento Sans"/>
              </a:rPr>
              <a:t>Retail work is bifurcating: cashier and sales-floor roles shrink while logistics, e-commerce, analytics and digital-marketing roles grow.</a:t>
            </a:r>
            <a:endParaRPr lang="en-US" sz="1200" noProof="1"/>
          </a:p>
        </p:txBody>
      </p:sp>
      <p:sp>
        <p:nvSpPr>
          <p:cNvPr id="8" name="evidence-note"/>
          <p:cNvSpPr txBox="1"/>
          <p:nvPr/>
        </p:nvSpPr>
        <p:spPr>
          <a:xfrm>
            <a:off x="8229600" y="5029200"/>
            <a:ext cx="3251200" cy="1219200"/>
          </a:xfrm>
          <a:prstGeom prst="rect">
            <a:avLst/>
          </a:prstGeom>
          <a:noFill/>
          <a:ln>
            <a:noFill/>
          </a:ln>
        </p:spPr>
        <p:txBody>
          <a:bodyPr lIns="0" rIns="0" tIns="0" bIns="0" wrap="square" rtlCol="0"/>
          <a:lstStyle/>
          <a:p>
            <a:pPr>
              <a:lnSpc>
                <a:spcPct val="140000"/>
              </a:lnSpc>
            </a:pPr>
            <a:r>
              <a:rPr lang="en-US" sz="1100" noProof="1">
                <a:solidFill>
                  <a:srgbClr val="6E675C"/>
                </a:solidFill>
                <a:latin typeface="Quattrocento Sans"/>
                <a:ea typeface="Quattrocento Sans"/>
              </a:rPr>
              <a:t>Teaching angle: the new commerce graduate competes on "prompt-to-shelf" skills — merchandising + data + AI orchestration — not on any single channel's mechanics.</a:t>
            </a:r>
            <a:endParaRPr lang="en-US" sz="1100" noProof="1"/>
          </a:p>
        </p:txBody>
      </p:sp>
      <p:sp>
        <p:nvSpPr>
          <p:cNvPr id="9" name="src-line"/>
          <p:cNvSpPr txBox="1"/>
          <p:nvPr/>
        </p:nvSpPr>
        <p:spPr>
          <a:xfrm>
            <a:off x="711200" y="5740400"/>
            <a:ext cx="10769600" cy="457200"/>
          </a:xfrm>
          <a:prstGeom prst="rect">
            <a:avLst/>
          </a:prstGeom>
          <a:noFill/>
          <a:ln>
            <a:noFill/>
          </a:ln>
        </p:spPr>
        <p:txBody>
          <a:bodyPr lIns="0" rIns="0" tIns="0" bIns="0" wrap="square" rtlCol="0"/>
          <a:lstStyle/>
          <a:p>
            <a:pPr>
              <a:lnSpc>
                <a:spcPct val="14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World Economic Forum, Future of Jobs Report 2025</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3"/>
              </a:rPr>
              <a:t>WEF Future of Jobs 2025 industry analysis</a:t>
            </a:r>
            <a:r>
              <a:rPr lang="en-US" sz="1000" noProof="1">
                <a:solidFill>
                  <a:srgbClr val="9A9284"/>
                </a:solidFill>
                <a:latin typeface="Quattrocento Sans"/>
                <a:ea typeface="Quattrocento Sans"/>
              </a:rPr>
              <a:t>.</a:t>
            </a:r>
            <a:endParaRPr lang="en-US" sz="1000" noProof="1"/>
          </a:p>
        </p:txBody>
      </p:sp>
      <p:sp>
        <p:nvSpPr>
          <p:cNvPr id="10" name="foot-rule"/>
          <p:cNvSpPr/>
          <p:nvPr/>
        </p:nvSpPr>
        <p:spPr>
          <a:xfrm>
            <a:off x="711200" y="6451600"/>
            <a:ext cx="10769600" cy="12700"/>
          </a:xfrm>
          <a:prstGeom prst="rect">
            <a:avLst/>
          </a:prstGeom>
          <a:solidFill>
            <a:srgbClr val="D9D2C4"/>
          </a:solidFill>
          <a:ln>
            <a:noFill/>
          </a:ln>
        </p:spPr>
      </p:sp>
      <p:sp>
        <p:nvSpPr>
          <p:cNvPr id="11"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2"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13"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11</a:t>
            </a:r>
            <a:endParaRPr lang="en-US" sz="950" noProof="1"/>
          </a:p>
        </p:txBody>
      </p:sp>
    </p:spTree>
  </p:cSld>
  <p:clrMapOvr>
    <a:masterClrMapping/>
  </p:clrMapOvr>
</p:sld>
</file>

<file path=ppt/slides/slide1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SESSION A · WRAP-UP</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Session A in three lines — and the question that starts Topic 1</a:t>
            </a:r>
            <a:endParaRPr lang="en-US" sz="2600" noProof="1"/>
          </a:p>
        </p:txBody>
      </p:sp>
      <p:sp>
        <p:nvSpPr>
          <p:cNvPr id="4" name="t1-num"/>
          <p:cNvSpPr txBox="1"/>
          <p:nvPr/>
        </p:nvSpPr>
        <p:spPr>
          <a:xfrm>
            <a:off x="711200" y="1473200"/>
            <a:ext cx="508000" cy="431800"/>
          </a:xfrm>
          <a:prstGeom prst="rect">
            <a:avLst/>
          </a:prstGeom>
          <a:noFill/>
          <a:ln>
            <a:noFill/>
          </a:ln>
        </p:spPr>
        <p:txBody>
          <a:bodyPr lIns="0" rIns="0" tIns="0" bIns="0" wrap="none" rtlCol="0"/>
          <a:lstStyle/>
          <a:p>
            <a:pPr>
              <a:lnSpc>
                <a:spcPct val="120000"/>
              </a:lnSpc>
            </a:pPr>
            <a:r>
              <a:rPr lang="en-US" sz="2600" noProof="1">
                <a:solidFill>
                  <a:srgbClr val="BC4B26"/>
                </a:solidFill>
                <a:latin typeface="Unna"/>
                <a:ea typeface="Unna"/>
              </a:rPr>
              <a:t>1</a:t>
            </a:r>
            <a:endParaRPr lang="en-US" sz="2600" noProof="1"/>
          </a:p>
        </p:txBody>
      </p:sp>
      <p:sp>
        <p:nvSpPr>
          <p:cNvPr id="5" name="t1-body"/>
          <p:cNvSpPr txBox="1"/>
          <p:nvPr/>
        </p:nvSpPr>
        <p:spPr>
          <a:xfrm>
            <a:off x="1320800" y="1473200"/>
            <a:ext cx="10160000" cy="787400"/>
          </a:xfrm>
          <a:prstGeom prst="rect">
            <a:avLst/>
          </a:prstGeom>
          <a:noFill/>
          <a:ln>
            <a:noFill/>
          </a:ln>
        </p:spPr>
        <p:txBody>
          <a:bodyPr lIns="0" rIns="0" tIns="0" bIns="0" wrap="square" rtlCol="0"/>
          <a:lstStyle/>
          <a:p>
            <a:pPr>
              <a:lnSpc>
                <a:spcPct val="150000"/>
              </a:lnSpc>
            </a:pPr>
            <a:r>
              <a:rPr lang="en-US" sz="1300" noProof="1" b="1">
                <a:solidFill>
                  <a:srgbClr val="23272E"/>
                </a:solidFill>
                <a:latin typeface="Quattrocento Sans"/>
                <a:ea typeface="Quattrocento Sans"/>
              </a:rPr>
              <a:t>Commerce is huge, digital and still growing.</a:t>
            </a:r>
            <a:r>
              <a:rPr lang="en-US" sz="1300" noProof="1">
                <a:solidFill>
                  <a:srgbClr val="23272E"/>
                </a:solidFill>
                <a:latin typeface="Quattrocento Sans"/>
                <a:ea typeface="Quattrocento Sans"/>
              </a:rPr>
              <a:t> ~$6.9T of e-commerce, 2.77B online shoppers, one-fifth of world retail — the numbers justify the course on their own.</a:t>
            </a:r>
            <a:endParaRPr lang="en-US" sz="1300" noProof="1"/>
          </a:p>
        </p:txBody>
      </p:sp>
      <p:sp>
        <p:nvSpPr>
          <p:cNvPr id="6" name="t1-rule"/>
          <p:cNvSpPr/>
          <p:nvPr/>
        </p:nvSpPr>
        <p:spPr>
          <a:xfrm>
            <a:off x="1320800" y="2336800"/>
            <a:ext cx="10160000" cy="12700"/>
          </a:xfrm>
          <a:prstGeom prst="rect">
            <a:avLst/>
          </a:prstGeom>
          <a:solidFill>
            <a:srgbClr val="D9D2C4"/>
          </a:solidFill>
          <a:ln>
            <a:noFill/>
          </a:ln>
        </p:spPr>
      </p:sp>
      <p:sp>
        <p:nvSpPr>
          <p:cNvPr id="7" name="t2-num"/>
          <p:cNvSpPr txBox="1"/>
          <p:nvPr/>
        </p:nvSpPr>
        <p:spPr>
          <a:xfrm>
            <a:off x="711200" y="2489200"/>
            <a:ext cx="508000" cy="431800"/>
          </a:xfrm>
          <a:prstGeom prst="rect">
            <a:avLst/>
          </a:prstGeom>
          <a:noFill/>
          <a:ln>
            <a:noFill/>
          </a:ln>
        </p:spPr>
        <p:txBody>
          <a:bodyPr lIns="0" rIns="0" tIns="0" bIns="0" wrap="none" rtlCol="0"/>
          <a:lstStyle/>
          <a:p>
            <a:pPr>
              <a:lnSpc>
                <a:spcPct val="120000"/>
              </a:lnSpc>
            </a:pPr>
            <a:r>
              <a:rPr lang="en-US" sz="2600" noProof="1">
                <a:solidFill>
                  <a:srgbClr val="BC4B26"/>
                </a:solidFill>
                <a:latin typeface="Unna"/>
                <a:ea typeface="Unna"/>
              </a:rPr>
              <a:t>2</a:t>
            </a:r>
            <a:endParaRPr lang="en-US" sz="2600" noProof="1"/>
          </a:p>
        </p:txBody>
      </p:sp>
      <p:sp>
        <p:nvSpPr>
          <p:cNvPr id="8" name="t2-body"/>
          <p:cNvSpPr txBox="1"/>
          <p:nvPr/>
        </p:nvSpPr>
        <p:spPr>
          <a:xfrm>
            <a:off x="1320800" y="2489200"/>
            <a:ext cx="10160000" cy="787400"/>
          </a:xfrm>
          <a:prstGeom prst="rect">
            <a:avLst/>
          </a:prstGeom>
          <a:noFill/>
          <a:ln>
            <a:noFill/>
          </a:ln>
        </p:spPr>
        <p:txBody>
          <a:bodyPr lIns="0" rIns="0" tIns="0" bIns="0" wrap="square" rtlCol="0"/>
          <a:lstStyle/>
          <a:p>
            <a:pPr>
              <a:lnSpc>
                <a:spcPct val="150000"/>
              </a:lnSpc>
            </a:pPr>
            <a:r>
              <a:rPr lang="en-US" sz="1300" noProof="1" b="1">
                <a:solidFill>
                  <a:srgbClr val="23272E"/>
                </a:solidFill>
                <a:latin typeface="Quattrocento Sans"/>
                <a:ea typeface="Quattrocento Sans"/>
              </a:rPr>
              <a:t>Channels layer; they don't replace.</a:t>
            </a:r>
            <a:r>
              <a:rPr lang="en-US" sz="1300" noProof="1">
                <a:solidFill>
                  <a:srgbClr val="23272E"/>
                </a:solidFill>
                <a:latin typeface="Quattrocento Sans"/>
                <a:ea typeface="Quattrocento Sans"/>
              </a:rPr>
              <a:t> Six interfaces — store, web, app, social, voice, AI agent — coexist in 2026. Strategy is about the mix, not the winner.</a:t>
            </a:r>
            <a:endParaRPr lang="en-US" sz="1300" noProof="1"/>
          </a:p>
        </p:txBody>
      </p:sp>
      <p:sp>
        <p:nvSpPr>
          <p:cNvPr id="9" name="t2-rule"/>
          <p:cNvSpPr/>
          <p:nvPr/>
        </p:nvSpPr>
        <p:spPr>
          <a:xfrm>
            <a:off x="1320800" y="3352800"/>
            <a:ext cx="10160000" cy="12700"/>
          </a:xfrm>
          <a:prstGeom prst="rect">
            <a:avLst/>
          </a:prstGeom>
          <a:solidFill>
            <a:srgbClr val="D9D2C4"/>
          </a:solidFill>
          <a:ln>
            <a:noFill/>
          </a:ln>
        </p:spPr>
      </p:sp>
      <p:sp>
        <p:nvSpPr>
          <p:cNvPr id="10" name="t3-num"/>
          <p:cNvSpPr txBox="1"/>
          <p:nvPr/>
        </p:nvSpPr>
        <p:spPr>
          <a:xfrm>
            <a:off x="711200" y="3505200"/>
            <a:ext cx="508000" cy="431800"/>
          </a:xfrm>
          <a:prstGeom prst="rect">
            <a:avLst/>
          </a:prstGeom>
          <a:noFill/>
          <a:ln>
            <a:noFill/>
          </a:ln>
        </p:spPr>
        <p:txBody>
          <a:bodyPr lIns="0" rIns="0" tIns="0" bIns="0" wrap="none" rtlCol="0"/>
          <a:lstStyle/>
          <a:p>
            <a:pPr>
              <a:lnSpc>
                <a:spcPct val="120000"/>
              </a:lnSpc>
            </a:pPr>
            <a:r>
              <a:rPr lang="en-US" sz="2600" noProof="1">
                <a:solidFill>
                  <a:srgbClr val="BC4B26"/>
                </a:solidFill>
                <a:latin typeface="Unna"/>
                <a:ea typeface="Unna"/>
              </a:rPr>
              <a:t>3</a:t>
            </a:r>
            <a:endParaRPr lang="en-US" sz="2600" noProof="1"/>
          </a:p>
        </p:txBody>
      </p:sp>
      <p:sp>
        <p:nvSpPr>
          <p:cNvPr id="11" name="t3-body"/>
          <p:cNvSpPr txBox="1"/>
          <p:nvPr/>
        </p:nvSpPr>
        <p:spPr>
          <a:xfrm>
            <a:off x="1320800" y="3505200"/>
            <a:ext cx="10160000" cy="787400"/>
          </a:xfrm>
          <a:prstGeom prst="rect">
            <a:avLst/>
          </a:prstGeom>
          <a:noFill/>
          <a:ln>
            <a:noFill/>
          </a:ln>
        </p:spPr>
        <p:txBody>
          <a:bodyPr lIns="0" rIns="0" tIns="0" bIns="0" wrap="square" rtlCol="0"/>
          <a:lstStyle/>
          <a:p>
            <a:pPr>
              <a:lnSpc>
                <a:spcPct val="150000"/>
              </a:lnSpc>
            </a:pPr>
            <a:r>
              <a:rPr lang="en-US" sz="1300" noProof="1" b="1">
                <a:solidFill>
                  <a:srgbClr val="23272E"/>
                </a:solidFill>
                <a:latin typeface="Quattrocento Sans"/>
                <a:ea typeface="Quattrocento Sans"/>
              </a:rPr>
              <a:t>This course trains judgement, not trivia.</a:t>
            </a:r>
            <a:r>
              <a:rPr lang="en-US" sz="1300" noProof="1">
                <a:solidFill>
                  <a:srgbClr val="23272E"/>
                </a:solidFill>
                <a:latin typeface="Quattrocento Sans"/>
                <a:ea typeface="Quattrocento Sans"/>
              </a:rPr>
              <a:t> Frameworks with names, evidence with sources, two milestones (Week 7 presentations, Week 14 capstone) to prove you can use them.</a:t>
            </a:r>
            <a:endParaRPr lang="en-US" sz="1300" noProof="1"/>
          </a:p>
        </p:txBody>
      </p:sp>
      <p:sp>
        <p:nvSpPr>
          <p:cNvPr id="12" name="bridge-zone"/>
          <p:cNvSpPr/>
          <p:nvPr/>
        </p:nvSpPr>
        <p:spPr>
          <a:xfrm>
            <a:off x="711200" y="4572000"/>
            <a:ext cx="10769600" cy="1498600"/>
          </a:xfrm>
          <a:prstGeom prst="rect">
            <a:avLst/>
          </a:prstGeom>
          <a:solidFill>
            <a:srgbClr val="0E3B34"/>
          </a:solidFill>
          <a:ln>
            <a:noFill/>
          </a:ln>
        </p:spPr>
      </p:sp>
      <p:sp>
        <p:nvSpPr>
          <p:cNvPr id="13" name="bridge-kicker"/>
          <p:cNvSpPr txBox="1"/>
          <p:nvPr/>
        </p:nvSpPr>
        <p:spPr>
          <a:xfrm>
            <a:off x="1066800" y="4800600"/>
            <a:ext cx="10058400" cy="203200"/>
          </a:xfrm>
          <a:prstGeom prst="rect">
            <a:avLst/>
          </a:prstGeom>
          <a:noFill/>
          <a:ln>
            <a:noFill/>
          </a:ln>
        </p:spPr>
        <p:txBody>
          <a:bodyPr lIns="0" rIns="0" tIns="0" bIns="0" wrap="square" rtlCol="0"/>
          <a:lstStyle/>
          <a:p>
            <a:pPr>
              <a:lnSpc>
                <a:spcPct val="120000"/>
              </a:lnSpc>
            </a:pPr>
            <a:r>
              <a:rPr lang="en-US" sz="1100" noProof="1" b="1" spc="200" kern="0">
                <a:solidFill>
                  <a:srgbClr val="F6E7DE"/>
                </a:solidFill>
                <a:latin typeface="Quattrocento Sans"/>
                <a:ea typeface="Quattrocento Sans"/>
              </a:rPr>
              <a:t>BRIDGE TO SESSION B</a:t>
            </a:r>
            <a:endParaRPr lang="en-US" sz="1100" noProof="1"/>
          </a:p>
        </p:txBody>
      </p:sp>
      <p:sp>
        <p:nvSpPr>
          <p:cNvPr id="14" name="bridge-text"/>
          <p:cNvSpPr txBox="1"/>
          <p:nvPr/>
        </p:nvSpPr>
        <p:spPr>
          <a:xfrm>
            <a:off x="1066800" y="5080000"/>
            <a:ext cx="10058400" cy="787400"/>
          </a:xfrm>
          <a:prstGeom prst="rect">
            <a:avLst/>
          </a:prstGeom>
          <a:noFill/>
          <a:ln>
            <a:noFill/>
          </a:ln>
        </p:spPr>
        <p:txBody>
          <a:bodyPr lIns="0" rIns="0" tIns="0" bIns="0" wrap="square" rtlCol="0"/>
          <a:lstStyle/>
          <a:p>
            <a:pPr>
              <a:lnSpc>
                <a:spcPct val="135000"/>
              </a:lnSpc>
            </a:pPr>
            <a:r>
              <a:rPr lang="en-US" sz="1900" noProof="1">
                <a:solidFill>
                  <a:srgbClr val="FFFFFF"/>
                </a:solidFill>
                <a:latin typeface="Unna"/>
                <a:ea typeface="Unna"/>
              </a:rPr>
              <a:t>So how did we get here — and how did buying shoes change from a Saturday trip to a conversation with an AI? Thirty years, five eras, one continuum. That's Topic 1.</a:t>
            </a:r>
            <a:endParaRPr lang="en-US" sz="1900" noProof="1"/>
          </a:p>
        </p:txBody>
      </p:sp>
      <p:sp>
        <p:nvSpPr>
          <p:cNvPr id="15" name="foot-rule"/>
          <p:cNvSpPr/>
          <p:nvPr/>
        </p:nvSpPr>
        <p:spPr>
          <a:xfrm>
            <a:off x="711200" y="6451600"/>
            <a:ext cx="10769600" cy="12700"/>
          </a:xfrm>
          <a:prstGeom prst="rect">
            <a:avLst/>
          </a:prstGeom>
          <a:solidFill>
            <a:srgbClr val="D9D2C4"/>
          </a:solidFill>
          <a:ln>
            <a:noFill/>
          </a:ln>
        </p:spPr>
      </p:sp>
      <p:sp>
        <p:nvSpPr>
          <p:cNvPr id="16"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7"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A · Course Launch</a:t>
            </a:r>
            <a:endParaRPr lang="en-US" sz="950" noProof="1"/>
          </a:p>
        </p:txBody>
      </p:sp>
      <p:sp>
        <p:nvSpPr>
          <p:cNvPr id="18"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12</a:t>
            </a:r>
            <a:endParaRPr lang="en-US" sz="950" noProof="1"/>
          </a:p>
        </p:txBody>
      </p:sp>
    </p:spTree>
  </p:cSld>
  <p:clrMapOvr>
    <a:masterClrMapping/>
  </p:clrMapOvr>
</p:sld>
</file>

<file path=ppt/slides/slide1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0E3B34"/>
        </a:solidFill>
      </p:bgPr>
    </p:bg>
    <p:spTree>
      <p:nvGrpSpPr>
        <p:cNvPr id="1" name=""/>
        <p:cNvGrpSpPr/>
        <p:nvPr/>
      </p:nvGrpSpPr>
      <p:grpSpPr>
        <a:xfrm>
          <a:off x="0" y="0"/>
          <a:ext cx="0" cy="0"/>
          <a:chOff x="0" y="0"/>
          <a:chExt cx="0" cy="0"/>
        </a:xfrm>
      </p:grpSpPr>
      <p:sp>
        <p:nvSpPr>
          <p:cNvPr id="2" name="div-num"/>
          <p:cNvSpPr txBox="1"/>
          <p:nvPr/>
        </p:nvSpPr>
        <p:spPr>
          <a:xfrm>
            <a:off x="6604000" y="508000"/>
            <a:ext cx="4876800" cy="2032000"/>
          </a:xfrm>
          <a:prstGeom prst="rect">
            <a:avLst/>
          </a:prstGeom>
          <a:noFill/>
          <a:ln>
            <a:noFill/>
          </a:ln>
        </p:spPr>
        <p:txBody>
          <a:bodyPr lIns="0" rIns="0" tIns="0" bIns="0" wrap="none" rtlCol="0" anchor="t"/>
          <a:lstStyle/>
          <a:p>
            <a:pPr algn="r">
              <a:lnSpc>
                <a:spcPct val="120000"/>
              </a:lnSpc>
            </a:pPr>
            <a:r>
              <a:rPr lang="en-US" sz="12000" noProof="1">
                <a:solidFill>
                  <a:srgbClr val="FFFFFF">
                    <a:alpha val="20000"/>
                  </a:srgbClr>
                </a:solidFill>
                <a:latin typeface="Unna"/>
                <a:ea typeface="Unna"/>
              </a:rPr>
              <a:t>1</a:t>
            </a:r>
            <a:endParaRPr lang="en-US" sz="12000" noProof="1"/>
          </a:p>
        </p:txBody>
      </p:sp>
      <p:sp>
        <p:nvSpPr>
          <p:cNvPr id="3" name="div-kicker"/>
          <p:cNvSpPr txBox="1"/>
          <p:nvPr/>
        </p:nvSpPr>
        <p:spPr>
          <a:xfrm>
            <a:off x="711200" y="13970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F6E7DE"/>
                </a:solidFill>
                <a:latin typeface="Quattrocento Sans"/>
                <a:ea typeface="Quattrocento Sans"/>
              </a:rPr>
              <a:t>SESSION B · TOPIC 1</a:t>
            </a:r>
            <a:endParaRPr lang="en-US" sz="1200" noProof="1"/>
          </a:p>
        </p:txBody>
      </p:sp>
      <p:sp>
        <p:nvSpPr>
          <p:cNvPr id="4" name="div-title"/>
          <p:cNvSpPr txBox="1"/>
          <p:nvPr/>
        </p:nvSpPr>
        <p:spPr>
          <a:xfrm>
            <a:off x="711200" y="1727200"/>
            <a:ext cx="9652000" cy="711200"/>
          </a:xfrm>
          <a:prstGeom prst="rect">
            <a:avLst/>
          </a:prstGeom>
          <a:noFill/>
          <a:ln>
            <a:noFill/>
          </a:ln>
        </p:spPr>
        <p:txBody>
          <a:bodyPr lIns="0" rIns="0" tIns="0" bIns="0" wrap="square" rtlCol="0"/>
          <a:lstStyle/>
          <a:p>
            <a:pPr>
              <a:lnSpc>
                <a:spcPct val="120000"/>
              </a:lnSpc>
            </a:pPr>
            <a:r>
              <a:rPr lang="en-US" sz="4000" noProof="1">
                <a:solidFill>
                  <a:srgbClr val="FFFFFF"/>
                </a:solidFill>
                <a:latin typeface="Unna"/>
                <a:ea typeface="Unna"/>
              </a:rPr>
              <a:t>The Evolution of Digital Commerce</a:t>
            </a:r>
            <a:endParaRPr lang="en-US" sz="4000" noProof="1"/>
          </a:p>
        </p:txBody>
      </p:sp>
      <p:sp>
        <p:nvSpPr>
          <p:cNvPr id="5" name="div-rule"/>
          <p:cNvSpPr/>
          <p:nvPr/>
        </p:nvSpPr>
        <p:spPr>
          <a:xfrm>
            <a:off x="711200" y="2616200"/>
            <a:ext cx="1270000" cy="25400"/>
          </a:xfrm>
          <a:prstGeom prst="rect">
            <a:avLst/>
          </a:prstGeom>
          <a:solidFill>
            <a:srgbClr val="BC4B26"/>
          </a:solidFill>
          <a:ln>
            <a:noFill/>
          </a:ln>
        </p:spPr>
      </p:sp>
      <p:sp>
        <p:nvSpPr>
          <p:cNvPr id="6" name="div-agenda"/>
          <p:cNvSpPr txBox="1"/>
          <p:nvPr/>
        </p:nvSpPr>
        <p:spPr>
          <a:xfrm>
            <a:off x="711200" y="2921000"/>
            <a:ext cx="8890000" cy="2159000"/>
          </a:xfrm>
          <a:prstGeom prst="rect">
            <a:avLst/>
          </a:prstGeom>
          <a:noFill/>
          <a:ln>
            <a:noFill/>
          </a:ln>
        </p:spPr>
        <p:txBody>
          <a:bodyPr lIns="0" rIns="0" tIns="0" bIns="0" wrap="square" rtlCol="0"/>
          <a:lstStyle/>
          <a:p>
            <a:pPr>
              <a:lnSpc>
                <a:spcPct val="190000"/>
              </a:lnSpc>
            </a:pPr>
            <a:r>
              <a:rPr lang="en-US" sz="1400" noProof="1">
                <a:solidFill>
                  <a:srgbClr val="FFFFFF"/>
                </a:solidFill>
                <a:latin typeface="Quattrocento Sans"/>
                <a:ea typeface="Quattrocento Sans"/>
              </a:rPr>
              <a:t>1 · From Videotex to AI agents: a 30-year timeline in five eras</a:t>
            </a:r>
            <a:endParaRPr lang="en-US" sz="1400" noProof="1"/>
          </a:p>
          <a:p>
            <a:pPr>
              <a:lnSpc>
                <a:spcPct val="190000"/>
              </a:lnSpc>
            </a:pPr>
            <a:r>
              <a:rPr lang="en-US" sz="1400" noProof="1">
                <a:solidFill>
                  <a:srgbClr val="FFFFFF"/>
                </a:solidFill>
                <a:latin typeface="Quattrocento Sans"/>
                <a:ea typeface="Quattrocento Sans"/>
              </a:rPr>
              <a:t>2 · Framework: the retail evolution continuum — channels layer, not replace</a:t>
            </a:r>
            <a:endParaRPr lang="en-US" sz="1400" noProof="1"/>
          </a:p>
          <a:p>
            <a:pPr>
              <a:lnSpc>
                <a:spcPct val="190000"/>
              </a:lnSpc>
            </a:pPr>
            <a:r>
              <a:rPr lang="en-US" sz="1400" noProof="1">
                <a:solidFill>
                  <a:srgbClr val="FFFFFF"/>
                </a:solidFill>
                <a:latin typeface="Quattrocento Sans"/>
                <a:ea typeface="Quattrocento Sans"/>
              </a:rPr>
              <a:t>3 · Theory: Rogers' Diffusion of Innovation and the S-curve</a:t>
            </a:r>
            <a:endParaRPr lang="en-US" sz="1400" noProof="1"/>
          </a:p>
          <a:p>
            <a:pPr>
              <a:lnSpc>
                <a:spcPct val="190000"/>
              </a:lnSpc>
            </a:pPr>
            <a:r>
              <a:rPr lang="en-US" sz="1400" noProof="1">
                <a:solidFill>
                  <a:srgbClr val="FFFFFF"/>
                </a:solidFill>
                <a:latin typeface="Quattrocento Sans"/>
                <a:ea typeface="Quattrocento Sans"/>
              </a:rPr>
              <a:t>4 · Evidence, strategy, and the companies that crossed eras</a:t>
            </a:r>
            <a:endParaRPr lang="en-US" sz="1400" noProof="1"/>
          </a:p>
        </p:txBody>
      </p:sp>
      <p:sp>
        <p:nvSpPr>
          <p:cNvPr id="7" name="div-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D9D2C4"/>
                </a:solidFill>
                <a:latin typeface="Quattrocento Sans"/>
                <a:ea typeface="Quattrocento Sans"/>
              </a:rPr>
              <a:t>Future of Commerce · BBA</a:t>
            </a:r>
            <a:endParaRPr lang="en-US" sz="950" noProof="1"/>
          </a:p>
        </p:txBody>
      </p:sp>
      <p:sp>
        <p:nvSpPr>
          <p:cNvPr id="8" name="div-foot-right"/>
          <p:cNvSpPr txBox="1"/>
          <p:nvPr/>
        </p:nvSpPr>
        <p:spPr>
          <a:xfrm>
            <a:off x="8128000" y="6527800"/>
            <a:ext cx="3352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Week 1 · Session B · Topic 1</a:t>
            </a:r>
            <a:endParaRPr lang="en-US" sz="950" noProof="1"/>
          </a:p>
        </p:txBody>
      </p:sp>
      <p:sp>
        <p:nvSpPr>
          <p:cNvPr id="9" name="div-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13</a:t>
            </a:r>
            <a:endParaRPr lang="en-US" sz="950" noProof="1"/>
          </a:p>
        </p:txBody>
      </p:sp>
    </p:spTree>
  </p:cSld>
  <p:clrMapOvr>
    <a:masterClrMapping/>
  </p:clrMapOvr>
</p:sld>
</file>

<file path=ppt/slides/slide1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LEARNING OBJECTIVES</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Four things you will be able to do after this session</a:t>
            </a:r>
            <a:endParaRPr lang="en-US" sz="2600" noProof="1"/>
          </a:p>
        </p:txBody>
      </p:sp>
      <p:sp>
        <p:nvSpPr>
          <p:cNvPr id="4" name="obj1-icon"/>
          <p:cNvSpPr/>
          <p:nvPr>
            <p:extLst>
              <p:ext uri="{F5677B7D-0D2A-4D9B-9A5C-6D8D7D0E5A5D}">
                <pptd:icon encoding="base64url">eyJpY29uTmFtZSI6ImZhczpsYXllci1ncm91cCJ9</pptd:icon>
              </p:ext>
            </p:extLst>
          </p:nvPr>
        </p:nvSpPr>
        <p:spPr>
          <a:xfrm>
            <a:off x="711200" y="1549400"/>
            <a:ext cx="304800" cy="304800"/>
          </a:xfrm>
          <a:custGeom>
            <a:avLst/>
            <a:gdLst/>
            <a:ahLst/>
            <a:cxnLst/>
            <a:rect l="l" t="t" r="r" b="b"/>
            <a:pathLst>
              <a:path w="512" h="512">
                <a:moveTo>
                  <a:pt x="233" y="5"/>
                </a:moveTo>
                <a:cubicBezTo>
                  <a:pt x="247" y="-2"/>
                  <a:pt x="265" y="-2"/>
                  <a:pt x="280" y="5"/>
                </a:cubicBezTo>
                <a:lnTo>
                  <a:pt x="498" y="106"/>
                </a:lnTo>
                <a:cubicBezTo>
                  <a:pt x="507" y="110"/>
                  <a:pt x="512" y="119"/>
                  <a:pt x="512" y="128"/>
                </a:cubicBezTo>
                <a:cubicBezTo>
                  <a:pt x="512" y="137"/>
                  <a:pt x="507" y="146"/>
                  <a:pt x="498" y="150"/>
                </a:cubicBezTo>
                <a:lnTo>
                  <a:pt x="280" y="251"/>
                </a:lnTo>
                <a:cubicBezTo>
                  <a:pt x="265" y="258"/>
                  <a:pt x="247" y="258"/>
                  <a:pt x="233" y="251"/>
                </a:cubicBezTo>
                <a:lnTo>
                  <a:pt x="14" y="150"/>
                </a:lnTo>
                <a:cubicBezTo>
                  <a:pt x="5" y="146"/>
                  <a:pt x="0" y="137"/>
                  <a:pt x="0" y="128"/>
                </a:cubicBezTo>
                <a:cubicBezTo>
                  <a:pt x="0" y="119"/>
                  <a:pt x="5" y="110"/>
                  <a:pt x="14" y="106"/>
                </a:cubicBezTo>
                <a:lnTo>
                  <a:pt x="233" y="5"/>
                </a:lnTo>
                <a:close/>
              </a:path>
              <a:path w="512" h="512">
                <a:moveTo>
                  <a:pt x="48" y="218"/>
                </a:moveTo>
                <a:lnTo>
                  <a:pt x="212" y="294"/>
                </a:lnTo>
                <a:cubicBezTo>
                  <a:pt x="240" y="307"/>
                  <a:pt x="272" y="307"/>
                  <a:pt x="300" y="294"/>
                </a:cubicBezTo>
                <a:lnTo>
                  <a:pt x="464" y="218"/>
                </a:lnTo>
                <a:lnTo>
                  <a:pt x="498" y="234"/>
                </a:lnTo>
                <a:cubicBezTo>
                  <a:pt x="507" y="238"/>
                  <a:pt x="512" y="247"/>
                  <a:pt x="512" y="256"/>
                </a:cubicBezTo>
                <a:cubicBezTo>
                  <a:pt x="512" y="265"/>
                  <a:pt x="507" y="274"/>
                  <a:pt x="498" y="278"/>
                </a:cubicBezTo>
                <a:lnTo>
                  <a:pt x="280" y="379"/>
                </a:lnTo>
                <a:cubicBezTo>
                  <a:pt x="265" y="386"/>
                  <a:pt x="247" y="386"/>
                  <a:pt x="233" y="379"/>
                </a:cubicBezTo>
                <a:lnTo>
                  <a:pt x="14" y="278"/>
                </a:lnTo>
                <a:cubicBezTo>
                  <a:pt x="5" y="274"/>
                  <a:pt x="0" y="265"/>
                  <a:pt x="0" y="256"/>
                </a:cubicBezTo>
                <a:cubicBezTo>
                  <a:pt x="0" y="247"/>
                  <a:pt x="5" y="238"/>
                  <a:pt x="14" y="234"/>
                </a:cubicBezTo>
                <a:lnTo>
                  <a:pt x="48" y="218"/>
                </a:lnTo>
                <a:close/>
              </a:path>
              <a:path w="512" h="512">
                <a:moveTo>
                  <a:pt x="14" y="362"/>
                </a:moveTo>
                <a:lnTo>
                  <a:pt x="48" y="346"/>
                </a:lnTo>
                <a:lnTo>
                  <a:pt x="212" y="422"/>
                </a:lnTo>
                <a:cubicBezTo>
                  <a:pt x="240" y="435"/>
                  <a:pt x="272" y="435"/>
                  <a:pt x="300" y="422"/>
                </a:cubicBezTo>
                <a:lnTo>
                  <a:pt x="464" y="346"/>
                </a:lnTo>
                <a:lnTo>
                  <a:pt x="498" y="362"/>
                </a:lnTo>
                <a:cubicBezTo>
                  <a:pt x="507" y="366"/>
                  <a:pt x="512" y="375"/>
                  <a:pt x="512" y="384"/>
                </a:cubicBezTo>
                <a:cubicBezTo>
                  <a:pt x="512" y="393"/>
                  <a:pt x="507" y="402"/>
                  <a:pt x="498" y="406"/>
                </a:cubicBezTo>
                <a:lnTo>
                  <a:pt x="279" y="507"/>
                </a:lnTo>
                <a:cubicBezTo>
                  <a:pt x="265" y="514"/>
                  <a:pt x="247" y="514"/>
                  <a:pt x="232" y="507"/>
                </a:cubicBezTo>
                <a:lnTo>
                  <a:pt x="14" y="406"/>
                </a:lnTo>
                <a:cubicBezTo>
                  <a:pt x="5" y="402"/>
                  <a:pt x="0" y="393"/>
                  <a:pt x="0" y="384"/>
                </a:cubicBezTo>
                <a:cubicBezTo>
                  <a:pt x="0" y="375"/>
                  <a:pt x="5" y="366"/>
                  <a:pt x="14" y="362"/>
                </a:cubicBezTo>
                <a:close/>
              </a:path>
            </a:pathLst>
          </a:custGeom>
          <a:solidFill>
            <a:srgbClr val="175E54"/>
          </a:solidFill>
          <a:ln>
            <a:noFill/>
          </a:ln>
        </p:spPr>
      </p:sp>
      <p:sp>
        <p:nvSpPr>
          <p:cNvPr id="5" name="obj1-head"/>
          <p:cNvSpPr txBox="1"/>
          <p:nvPr/>
        </p:nvSpPr>
        <p:spPr>
          <a:xfrm>
            <a:off x="1219200" y="15240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Describe the continuum</a:t>
            </a:r>
            <a:endParaRPr lang="en-US" sz="1450" noProof="1"/>
          </a:p>
        </p:txBody>
      </p:sp>
      <p:sp>
        <p:nvSpPr>
          <p:cNvPr id="6" name="obj1-body"/>
          <p:cNvSpPr txBox="1"/>
          <p:nvPr/>
        </p:nvSpPr>
        <p:spPr>
          <a:xfrm>
            <a:off x="1219200" y="1828800"/>
            <a:ext cx="10261600" cy="5334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Walk the retail evolution continuum — brick-and-mortar → e-commerce → m-commerce → social/voice → agentic commerce — and place at least six real companies on it with justification.</a:t>
            </a:r>
            <a:endParaRPr lang="en-US" sz="1250" noProof="1"/>
          </a:p>
        </p:txBody>
      </p:sp>
      <p:sp>
        <p:nvSpPr>
          <p:cNvPr id="7" name="obj2-icon"/>
          <p:cNvSpPr/>
          <p:nvPr>
            <p:extLst>
              <p:ext uri="{F5677B7D-0D2A-4D9B-9A5C-6D8D7D0E5A5D}">
                <pptd:icon encoding="base64url">eyJpY29uTmFtZSI6ImZhczp3YXZlLXNxdWFyZSJ9</pptd:icon>
              </p:ext>
            </p:extLst>
          </p:nvPr>
        </p:nvSpPr>
        <p:spPr>
          <a:xfrm>
            <a:off x="711200" y="2717800"/>
            <a:ext cx="304800" cy="304800"/>
          </a:xfrm>
          <a:custGeom>
            <a:avLst/>
            <a:gdLst/>
            <a:ahLst/>
            <a:cxnLst/>
            <a:rect l="l" t="t" r="r" b="b"/>
            <a:pathLst>
              <a:path w="512" h="512">
                <a:moveTo>
                  <a:pt x="64" y="96"/>
                </a:moveTo>
                <a:cubicBezTo>
                  <a:pt x="64" y="78"/>
                  <a:pt x="78" y="64"/>
                  <a:pt x="96" y="64"/>
                </a:cubicBezTo>
                <a:lnTo>
                  <a:pt x="256" y="64"/>
                </a:lnTo>
                <a:cubicBezTo>
                  <a:pt x="274" y="64"/>
                  <a:pt x="288" y="78"/>
                  <a:pt x="288" y="96"/>
                </a:cubicBezTo>
                <a:lnTo>
                  <a:pt x="288" y="384"/>
                </a:lnTo>
                <a:lnTo>
                  <a:pt x="384" y="384"/>
                </a:lnTo>
                <a:lnTo>
                  <a:pt x="384" y="256"/>
                </a:lnTo>
                <a:cubicBezTo>
                  <a:pt x="384" y="238"/>
                  <a:pt x="398" y="224"/>
                  <a:pt x="416" y="224"/>
                </a:cubicBezTo>
                <a:lnTo>
                  <a:pt x="480" y="224"/>
                </a:lnTo>
                <a:cubicBezTo>
                  <a:pt x="498" y="224"/>
                  <a:pt x="512" y="238"/>
                  <a:pt x="512" y="256"/>
                </a:cubicBezTo>
                <a:cubicBezTo>
                  <a:pt x="512" y="274"/>
                  <a:pt x="498" y="288"/>
                  <a:pt x="480" y="288"/>
                </a:cubicBezTo>
                <a:lnTo>
                  <a:pt x="448" y="288"/>
                </a:lnTo>
                <a:lnTo>
                  <a:pt x="448" y="416"/>
                </a:lnTo>
                <a:cubicBezTo>
                  <a:pt x="448" y="434"/>
                  <a:pt x="434" y="448"/>
                  <a:pt x="416" y="448"/>
                </a:cubicBezTo>
                <a:lnTo>
                  <a:pt x="256" y="448"/>
                </a:lnTo>
                <a:cubicBezTo>
                  <a:pt x="238" y="448"/>
                  <a:pt x="224" y="434"/>
                  <a:pt x="224" y="416"/>
                </a:cubicBezTo>
                <a:lnTo>
                  <a:pt x="224" y="128"/>
                </a:lnTo>
                <a:lnTo>
                  <a:pt x="128" y="128"/>
                </a:lnTo>
                <a:lnTo>
                  <a:pt x="128" y="256"/>
                </a:lnTo>
                <a:cubicBezTo>
                  <a:pt x="128" y="274"/>
                  <a:pt x="114" y="288"/>
                  <a:pt x="96" y="288"/>
                </a:cubicBezTo>
                <a:lnTo>
                  <a:pt x="32" y="288"/>
                </a:lnTo>
                <a:cubicBezTo>
                  <a:pt x="14" y="288"/>
                  <a:pt x="0" y="274"/>
                  <a:pt x="0" y="256"/>
                </a:cubicBezTo>
                <a:cubicBezTo>
                  <a:pt x="0" y="238"/>
                  <a:pt x="14" y="224"/>
                  <a:pt x="32" y="224"/>
                </a:cubicBezTo>
                <a:lnTo>
                  <a:pt x="64" y="224"/>
                </a:lnTo>
                <a:lnTo>
                  <a:pt x="64" y="96"/>
                </a:lnTo>
                <a:close/>
              </a:path>
            </a:pathLst>
          </a:custGeom>
          <a:solidFill>
            <a:srgbClr val="175E54"/>
          </a:solidFill>
          <a:ln>
            <a:noFill/>
          </a:ln>
        </p:spPr>
      </p:sp>
      <p:sp>
        <p:nvSpPr>
          <p:cNvPr id="8" name="obj2-head"/>
          <p:cNvSpPr txBox="1"/>
          <p:nvPr/>
        </p:nvSpPr>
        <p:spPr>
          <a:xfrm>
            <a:off x="1219200" y="26924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Apply Rogers' Diffusion of Innovation</a:t>
            </a:r>
            <a:endParaRPr lang="en-US" sz="1450" noProof="1"/>
          </a:p>
        </p:txBody>
      </p:sp>
      <p:sp>
        <p:nvSpPr>
          <p:cNvPr id="9" name="obj2-body"/>
          <p:cNvSpPr txBox="1"/>
          <p:nvPr/>
        </p:nvSpPr>
        <p:spPr>
          <a:xfrm>
            <a:off x="1219200" y="2997200"/>
            <a:ext cx="10261600" cy="5334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Use the adopter categories and S-curve on a commerce technology of your choice, and defend where it sits on the curve with evidence.</a:t>
            </a:r>
            <a:endParaRPr lang="en-US" sz="1250" noProof="1"/>
          </a:p>
        </p:txBody>
      </p:sp>
      <p:sp>
        <p:nvSpPr>
          <p:cNvPr id="10" name="obj3-icon"/>
          <p:cNvSpPr/>
          <p:nvPr>
            <p:extLst>
              <p:ext uri="{F5677B7D-0D2A-4D9B-9A5C-6D8D7D0E5A5D}">
                <pptd:icon encoding="base64url">eyJpY29uTmFtZSI6ImZhczpib29rLW9wZW4ifQ</pptd:icon>
              </p:ext>
            </p:extLst>
          </p:nvPr>
        </p:nvSpPr>
        <p:spPr>
          <a:xfrm>
            <a:off x="711200" y="3886200"/>
            <a:ext cx="304800" cy="304800"/>
          </a:xfrm>
          <a:custGeom>
            <a:avLst/>
            <a:gdLst/>
            <a:ahLst/>
            <a:cxnLst/>
            <a:rect l="l" t="t" r="r" b="b"/>
            <a:pathLst>
              <a:path w="512" h="512">
                <a:moveTo>
                  <a:pt x="256" y="141"/>
                </a:moveTo>
                <a:lnTo>
                  <a:pt x="256" y="451"/>
                </a:lnTo>
                <a:lnTo>
                  <a:pt x="257" y="450"/>
                </a:lnTo>
                <a:cubicBezTo>
                  <a:pt x="311" y="428"/>
                  <a:pt x="370" y="416"/>
                  <a:pt x="429" y="416"/>
                </a:cubicBezTo>
                <a:lnTo>
                  <a:pt x="448" y="416"/>
                </a:lnTo>
                <a:lnTo>
                  <a:pt x="448" y="96"/>
                </a:lnTo>
                <a:lnTo>
                  <a:pt x="429" y="96"/>
                </a:lnTo>
                <a:cubicBezTo>
                  <a:pt x="387" y="96"/>
                  <a:pt x="345" y="104"/>
                  <a:pt x="306" y="121"/>
                </a:cubicBezTo>
                <a:cubicBezTo>
                  <a:pt x="289" y="128"/>
                  <a:pt x="272" y="135"/>
                  <a:pt x="256" y="141"/>
                </a:cubicBezTo>
                <a:close/>
                <a:moveTo>
                  <a:pt x="231" y="62"/>
                </a:moveTo>
                <a:lnTo>
                  <a:pt x="256" y="72"/>
                </a:lnTo>
                <a:lnTo>
                  <a:pt x="281" y="62"/>
                </a:lnTo>
                <a:cubicBezTo>
                  <a:pt x="328" y="42"/>
                  <a:pt x="378" y="32"/>
                  <a:pt x="429" y="32"/>
                </a:cubicBezTo>
                <a:lnTo>
                  <a:pt x="464" y="32"/>
                </a:lnTo>
                <a:cubicBezTo>
                  <a:pt x="491" y="32"/>
                  <a:pt x="512" y="54"/>
                  <a:pt x="512" y="80"/>
                </a:cubicBezTo>
                <a:lnTo>
                  <a:pt x="512" y="432"/>
                </a:lnTo>
                <a:cubicBezTo>
                  <a:pt x="512" y="459"/>
                  <a:pt x="491" y="480"/>
                  <a:pt x="464" y="480"/>
                </a:cubicBezTo>
                <a:lnTo>
                  <a:pt x="429" y="480"/>
                </a:lnTo>
                <a:cubicBezTo>
                  <a:pt x="378" y="480"/>
                  <a:pt x="328" y="490"/>
                  <a:pt x="281" y="510"/>
                </a:cubicBezTo>
                <a:lnTo>
                  <a:pt x="268" y="515"/>
                </a:lnTo>
                <a:cubicBezTo>
                  <a:pt x="260" y="518"/>
                  <a:pt x="252" y="518"/>
                  <a:pt x="244" y="515"/>
                </a:cubicBezTo>
                <a:lnTo>
                  <a:pt x="231" y="509"/>
                </a:lnTo>
                <a:cubicBezTo>
                  <a:pt x="184" y="490"/>
                  <a:pt x="134" y="480"/>
                  <a:pt x="83" y="480"/>
                </a:cubicBezTo>
                <a:lnTo>
                  <a:pt x="48" y="480"/>
                </a:lnTo>
                <a:cubicBezTo>
                  <a:pt x="22" y="480"/>
                  <a:pt x="0" y="459"/>
                  <a:pt x="0" y="432"/>
                </a:cubicBezTo>
                <a:lnTo>
                  <a:pt x="0" y="80"/>
                </a:lnTo>
                <a:cubicBezTo>
                  <a:pt x="0" y="54"/>
                  <a:pt x="22" y="32"/>
                  <a:pt x="48" y="32"/>
                </a:cubicBezTo>
                <a:lnTo>
                  <a:pt x="83" y="32"/>
                </a:lnTo>
                <a:cubicBezTo>
                  <a:pt x="134" y="32"/>
                  <a:pt x="184" y="42"/>
                  <a:pt x="231" y="62"/>
                </a:cubicBezTo>
                <a:close/>
              </a:path>
            </a:pathLst>
          </a:custGeom>
          <a:solidFill>
            <a:srgbClr val="175E54"/>
          </a:solidFill>
          <a:ln>
            <a:noFill/>
          </a:ln>
        </p:spPr>
      </p:sp>
      <p:sp>
        <p:nvSpPr>
          <p:cNvPr id="11" name="obj3-head"/>
          <p:cNvSpPr txBox="1"/>
          <p:nvPr/>
        </p:nvSpPr>
        <p:spPr>
          <a:xfrm>
            <a:off x="1219200" y="38608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Use the vocabulary precisely</a:t>
            </a:r>
            <a:endParaRPr lang="en-US" sz="1450" noProof="1"/>
          </a:p>
        </p:txBody>
      </p:sp>
      <p:sp>
        <p:nvSpPr>
          <p:cNvPr id="12" name="obj3-body"/>
          <p:cNvSpPr txBox="1"/>
          <p:nvPr/>
        </p:nvSpPr>
        <p:spPr>
          <a:xfrm>
            <a:off x="1219200" y="4165600"/>
            <a:ext cx="10261600" cy="5334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Differentiate e-commerce, m-commerce, social commerce, conversational commerce and agentic commerce — one precise definition and one real example each.</a:t>
            </a:r>
            <a:endParaRPr lang="en-US" sz="1250" noProof="1"/>
          </a:p>
        </p:txBody>
      </p:sp>
      <p:sp>
        <p:nvSpPr>
          <p:cNvPr id="13" name="obj4-icon"/>
          <p:cNvSpPr/>
          <p:nvPr>
            <p:extLst>
              <p:ext uri="{F5677B7D-0D2A-4D9B-9A5C-6D8D7D0E5A5D}">
                <pptd:icon encoding="base64url">eyJpY29uTmFtZSI6ImZhczpjaGVzcyJ9</pptd:icon>
              </p:ext>
            </p:extLst>
          </p:nvPr>
        </p:nvSpPr>
        <p:spPr>
          <a:xfrm>
            <a:off x="711200" y="5054600"/>
            <a:ext cx="304800" cy="304800"/>
          </a:xfrm>
          <a:custGeom>
            <a:avLst/>
            <a:gdLst/>
            <a:ahLst/>
            <a:cxnLst/>
            <a:rect l="l" t="t" r="r" b="b"/>
            <a:pathLst>
              <a:path w="512" h="512">
                <a:moveTo>
                  <a:pt x="168" y="56"/>
                </a:moveTo>
                <a:lnTo>
                  <a:pt x="168" y="96"/>
                </a:lnTo>
                <a:lnTo>
                  <a:pt x="90" y="96"/>
                </a:lnTo>
                <a:cubicBezTo>
                  <a:pt x="76" y="96"/>
                  <a:pt x="64" y="108"/>
                  <a:pt x="64" y="122"/>
                </a:cubicBezTo>
                <a:cubicBezTo>
                  <a:pt x="64" y="126"/>
                  <a:pt x="65" y="130"/>
                  <a:pt x="67" y="134"/>
                </a:cubicBezTo>
                <a:lnTo>
                  <a:pt x="100" y="200"/>
                </a:lnTo>
                <a:cubicBezTo>
                  <a:pt x="89" y="202"/>
                  <a:pt x="80" y="212"/>
                  <a:pt x="80" y="224"/>
                </a:cubicBezTo>
                <a:cubicBezTo>
                  <a:pt x="80" y="237"/>
                  <a:pt x="91" y="248"/>
                  <a:pt x="104" y="248"/>
                </a:cubicBezTo>
                <a:lnTo>
                  <a:pt x="109" y="248"/>
                </a:lnTo>
                <a:lnTo>
                  <a:pt x="96" y="384"/>
                </a:lnTo>
                <a:lnTo>
                  <a:pt x="40" y="454"/>
                </a:lnTo>
                <a:cubicBezTo>
                  <a:pt x="35" y="461"/>
                  <a:pt x="32" y="468"/>
                  <a:pt x="32" y="477"/>
                </a:cubicBezTo>
                <a:cubicBezTo>
                  <a:pt x="32" y="496"/>
                  <a:pt x="48" y="512"/>
                  <a:pt x="67" y="512"/>
                </a:cubicBezTo>
                <a:lnTo>
                  <a:pt x="316" y="512"/>
                </a:lnTo>
                <a:cubicBezTo>
                  <a:pt x="336" y="512"/>
                  <a:pt x="352" y="496"/>
                  <a:pt x="352" y="477"/>
                </a:cubicBezTo>
                <a:cubicBezTo>
                  <a:pt x="352" y="468"/>
                  <a:pt x="349" y="461"/>
                  <a:pt x="344" y="454"/>
                </a:cubicBezTo>
                <a:lnTo>
                  <a:pt x="288" y="384"/>
                </a:lnTo>
                <a:lnTo>
                  <a:pt x="274" y="248"/>
                </a:lnTo>
                <a:lnTo>
                  <a:pt x="280" y="248"/>
                </a:lnTo>
                <a:cubicBezTo>
                  <a:pt x="293" y="248"/>
                  <a:pt x="304" y="237"/>
                  <a:pt x="304" y="224"/>
                </a:cubicBezTo>
                <a:cubicBezTo>
                  <a:pt x="304" y="212"/>
                  <a:pt x="295" y="202"/>
                  <a:pt x="284" y="200"/>
                </a:cubicBezTo>
                <a:lnTo>
                  <a:pt x="317" y="134"/>
                </a:lnTo>
                <a:cubicBezTo>
                  <a:pt x="319" y="130"/>
                  <a:pt x="320" y="126"/>
                  <a:pt x="320" y="122"/>
                </a:cubicBezTo>
                <a:cubicBezTo>
                  <a:pt x="320" y="108"/>
                  <a:pt x="308" y="96"/>
                  <a:pt x="294" y="96"/>
                </a:cubicBezTo>
                <a:lnTo>
                  <a:pt x="216" y="96"/>
                </a:lnTo>
                <a:lnTo>
                  <a:pt x="216" y="56"/>
                </a:lnTo>
                <a:lnTo>
                  <a:pt x="232" y="56"/>
                </a:lnTo>
                <a:cubicBezTo>
                  <a:pt x="245" y="56"/>
                  <a:pt x="256" y="45"/>
                  <a:pt x="256" y="32"/>
                </a:cubicBezTo>
                <a:cubicBezTo>
                  <a:pt x="256" y="19"/>
                  <a:pt x="245" y="8"/>
                  <a:pt x="232" y="8"/>
                </a:cubicBezTo>
                <a:lnTo>
                  <a:pt x="216" y="8"/>
                </a:lnTo>
                <a:lnTo>
                  <a:pt x="216" y="-8"/>
                </a:lnTo>
                <a:cubicBezTo>
                  <a:pt x="216" y="-21"/>
                  <a:pt x="205" y="-32"/>
                  <a:pt x="192" y="-32"/>
                </a:cubicBezTo>
                <a:cubicBezTo>
                  <a:pt x="179" y="-32"/>
                  <a:pt x="168" y="-21"/>
                  <a:pt x="168" y="-8"/>
                </a:cubicBezTo>
                <a:lnTo>
                  <a:pt x="168" y="8"/>
                </a:lnTo>
                <a:lnTo>
                  <a:pt x="152" y="8"/>
                </a:lnTo>
                <a:cubicBezTo>
                  <a:pt x="139" y="8"/>
                  <a:pt x="128" y="19"/>
                  <a:pt x="128" y="32"/>
                </a:cubicBezTo>
                <a:cubicBezTo>
                  <a:pt x="128" y="45"/>
                  <a:pt x="139" y="56"/>
                  <a:pt x="152" y="56"/>
                </a:cubicBezTo>
                <a:lnTo>
                  <a:pt x="168" y="56"/>
                </a:lnTo>
                <a:close/>
                <a:moveTo>
                  <a:pt x="326" y="280"/>
                </a:moveTo>
                <a:lnTo>
                  <a:pt x="334" y="365"/>
                </a:lnTo>
                <a:lnTo>
                  <a:pt x="382" y="424"/>
                </a:lnTo>
                <a:lnTo>
                  <a:pt x="386" y="430"/>
                </a:lnTo>
                <a:cubicBezTo>
                  <a:pt x="395" y="444"/>
                  <a:pt x="400" y="460"/>
                  <a:pt x="400" y="477"/>
                </a:cubicBezTo>
                <a:cubicBezTo>
                  <a:pt x="400" y="489"/>
                  <a:pt x="397" y="501"/>
                  <a:pt x="392" y="512"/>
                </a:cubicBezTo>
                <a:lnTo>
                  <a:pt x="475" y="512"/>
                </a:lnTo>
                <a:cubicBezTo>
                  <a:pt x="496" y="512"/>
                  <a:pt x="512" y="496"/>
                  <a:pt x="512" y="475"/>
                </a:cubicBezTo>
                <a:cubicBezTo>
                  <a:pt x="512" y="468"/>
                  <a:pt x="510" y="461"/>
                  <a:pt x="506" y="455"/>
                </a:cubicBezTo>
                <a:lnTo>
                  <a:pt x="480" y="416"/>
                </a:lnTo>
                <a:lnTo>
                  <a:pt x="480" y="352"/>
                </a:lnTo>
                <a:lnTo>
                  <a:pt x="493" y="339"/>
                </a:lnTo>
                <a:cubicBezTo>
                  <a:pt x="505" y="327"/>
                  <a:pt x="512" y="311"/>
                  <a:pt x="512" y="294"/>
                </a:cubicBezTo>
                <a:lnTo>
                  <a:pt x="512" y="192"/>
                </a:lnTo>
                <a:cubicBezTo>
                  <a:pt x="512" y="174"/>
                  <a:pt x="498" y="160"/>
                  <a:pt x="480" y="160"/>
                </a:cubicBezTo>
                <a:cubicBezTo>
                  <a:pt x="462" y="160"/>
                  <a:pt x="448" y="174"/>
                  <a:pt x="448" y="192"/>
                </a:cubicBezTo>
                <a:lnTo>
                  <a:pt x="448" y="208"/>
                </a:lnTo>
                <a:lnTo>
                  <a:pt x="416" y="208"/>
                </a:lnTo>
                <a:lnTo>
                  <a:pt x="416" y="192"/>
                </a:lnTo>
                <a:cubicBezTo>
                  <a:pt x="416" y="174"/>
                  <a:pt x="402" y="160"/>
                  <a:pt x="384" y="160"/>
                </a:cubicBezTo>
                <a:cubicBezTo>
                  <a:pt x="366" y="160"/>
                  <a:pt x="352" y="174"/>
                  <a:pt x="352" y="192"/>
                </a:cubicBezTo>
                <a:lnTo>
                  <a:pt x="352" y="224"/>
                </a:lnTo>
                <a:cubicBezTo>
                  <a:pt x="352" y="246"/>
                  <a:pt x="342" y="266"/>
                  <a:pt x="326" y="280"/>
                </a:cubicBezTo>
                <a:close/>
              </a:path>
            </a:pathLst>
          </a:custGeom>
          <a:solidFill>
            <a:srgbClr val="175E54"/>
          </a:solidFill>
          <a:ln>
            <a:noFill/>
          </a:ln>
        </p:spPr>
      </p:sp>
      <p:sp>
        <p:nvSpPr>
          <p:cNvPr id="14" name="obj4-head"/>
          <p:cNvSpPr txBox="1"/>
          <p:nvPr/>
        </p:nvSpPr>
        <p:spPr>
          <a:xfrm>
            <a:off x="1219200" y="5029200"/>
            <a:ext cx="10261600" cy="279400"/>
          </a:xfrm>
          <a:prstGeom prst="rect">
            <a:avLst/>
          </a:prstGeom>
          <a:noFill/>
          <a:ln>
            <a:noFill/>
          </a:ln>
        </p:spPr>
        <p:txBody>
          <a:bodyPr lIns="0" rIns="0" tIns="0" bIns="0" wrap="square" rtlCol="0"/>
          <a:lstStyle/>
          <a:p>
            <a:pPr>
              <a:lnSpc>
                <a:spcPct val="120000"/>
              </a:lnSpc>
            </a:pPr>
            <a:r>
              <a:rPr lang="en-US" sz="1450" noProof="1" b="1">
                <a:solidFill>
                  <a:srgbClr val="23272E"/>
                </a:solidFill>
                <a:latin typeface="Quattrocento Sans"/>
                <a:ea typeface="Quattrocento Sans"/>
              </a:rPr>
              <a:t>Evaluate a channel strategy</a:t>
            </a:r>
            <a:endParaRPr lang="en-US" sz="1450" noProof="1"/>
          </a:p>
        </p:txBody>
      </p:sp>
      <p:sp>
        <p:nvSpPr>
          <p:cNvPr id="15" name="obj4-body"/>
          <p:cNvSpPr txBox="1"/>
          <p:nvPr/>
        </p:nvSpPr>
        <p:spPr>
          <a:xfrm>
            <a:off x="1219200" y="5334000"/>
            <a:ext cx="10261600" cy="533400"/>
          </a:xfrm>
          <a:prstGeom prst="rect">
            <a:avLst/>
          </a:prstGeom>
          <a:noFill/>
          <a:ln>
            <a:noFill/>
          </a:ln>
        </p:spPr>
        <p:txBody>
          <a:bodyPr lIns="0" rIns="0" tIns="0" bIns="0" wrap="square" rtlCol="0"/>
          <a:lstStyle/>
          <a:p>
            <a:pPr>
              <a:lnSpc>
                <a:spcPct val="145000"/>
              </a:lnSpc>
            </a:pPr>
            <a:r>
              <a:rPr lang="en-US" sz="1250" noProof="1">
                <a:solidFill>
                  <a:srgbClr val="6E675C"/>
                </a:solidFill>
                <a:latin typeface="Quattrocento Sans"/>
                <a:ea typeface="Quattrocento Sans"/>
              </a:rPr>
              <a:t>Judge a channel-mix evolution plan for a fictional retailer — including a first-mover vs fast-follower argument backed by a real-world analogue.</a:t>
            </a:r>
            <a:endParaRPr lang="en-US" sz="1250" noProof="1"/>
          </a:p>
        </p:txBody>
      </p:sp>
      <p:sp>
        <p:nvSpPr>
          <p:cNvPr id="16" name="foot-rule"/>
          <p:cNvSpPr/>
          <p:nvPr/>
        </p:nvSpPr>
        <p:spPr>
          <a:xfrm>
            <a:off x="711200" y="6451600"/>
            <a:ext cx="10769600" cy="12700"/>
          </a:xfrm>
          <a:prstGeom prst="rect">
            <a:avLst/>
          </a:prstGeom>
          <a:solidFill>
            <a:srgbClr val="D9D2C4"/>
          </a:solidFill>
          <a:ln>
            <a:noFill/>
          </a:ln>
        </p:spPr>
      </p:sp>
      <p:sp>
        <p:nvSpPr>
          <p:cNvPr id="17"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8"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9"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14</a:t>
            </a:r>
            <a:endParaRPr lang="en-US" sz="950" noProof="1"/>
          </a:p>
        </p:txBody>
      </p:sp>
    </p:spTree>
  </p:cSld>
  <p:clrMapOvr>
    <a:masterClrMapping/>
  </p:clrMapOvr>
</p:sld>
</file>

<file path=ppt/slides/slide1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ORIENTATION</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How did your parents buy shoes in 1995 — and how do you?</a:t>
            </a:r>
            <a:endParaRPr lang="en-US" sz="2600" noProof="1"/>
          </a:p>
        </p:txBody>
      </p:sp>
      <p:sp>
        <p:nvSpPr>
          <p:cNvPr id="4" name="left-head"/>
          <p:cNvSpPr txBox="1"/>
          <p:nvPr/>
        </p:nvSpPr>
        <p:spPr>
          <a:xfrm>
            <a:off x="711200" y="1473200"/>
            <a:ext cx="5080000" cy="330200"/>
          </a:xfrm>
          <a:prstGeom prst="rect">
            <a:avLst/>
          </a:prstGeom>
          <a:noFill/>
          <a:ln>
            <a:noFill/>
          </a:ln>
        </p:spPr>
        <p:txBody>
          <a:bodyPr lIns="0" rIns="0" tIns="0" bIns="0" wrap="square" rtlCol="0"/>
          <a:lstStyle/>
          <a:p>
            <a:pPr>
              <a:lnSpc>
                <a:spcPct val="120000"/>
              </a:lnSpc>
            </a:pPr>
            <a:r>
              <a:rPr lang="en-US" sz="1900" noProof="1">
                <a:solidFill>
                  <a:srgbClr val="175E54"/>
                </a:solidFill>
                <a:latin typeface="Unna"/>
                <a:ea typeface="Unna"/>
              </a:rPr>
              <a:t>1995 — the store decides</a:t>
            </a:r>
            <a:endParaRPr lang="en-US" sz="1900" noProof="1"/>
          </a:p>
        </p:txBody>
      </p:sp>
      <p:sp>
        <p:nvSpPr>
          <p:cNvPr id="5" name="left-body"/>
          <p:cNvSpPr txBox="1"/>
          <p:nvPr/>
        </p:nvSpPr>
        <p:spPr>
          <a:xfrm>
            <a:off x="711200" y="1905000"/>
            <a:ext cx="5080000" cy="2921000"/>
          </a:xfrm>
          <a:prstGeom prst="rect">
            <a:avLst/>
          </a:prstGeom>
          <a:noFill/>
          <a:ln>
            <a:noFill/>
          </a:ln>
        </p:spPr>
        <p:txBody>
          <a:bodyPr lIns="0" rIns="0" tIns="0" bIns="0" wrap="square" rtlCol="0"/>
          <a:lstStyle/>
          <a:p>
            <a:pPr>
              <a:lnSpc>
                <a:spcPct val="155000"/>
              </a:lnSpc>
              <a:spcBef>
                <a:spcPts val="10"/>
              </a:spcBef>
              <a:buChar char="•"/>
            </a:pPr>
            <a:r>
              <a:rPr lang="en-US" sz="1250" noProof="1">
                <a:solidFill>
                  <a:srgbClr val="23272E"/>
                </a:solidFill>
                <a:latin typeface="Quattrocento Sans"/>
                <a:ea typeface="Quattrocento Sans"/>
              </a:rPr>
              <a:t>Choice limited to what the </a:t>
            </a:r>
            <a:r>
              <a:rPr lang="en-US" sz="1250" noProof="1" b="1">
                <a:solidFill>
                  <a:srgbClr val="23272E"/>
                </a:solidFill>
                <a:latin typeface="Quattrocento Sans"/>
                <a:ea typeface="Quattrocento Sans"/>
              </a:rPr>
              <a:t>local store stocked</a:t>
            </a:r>
            <a:r>
              <a:rPr lang="en-US" sz="1250" noProof="1">
                <a:solidFill>
                  <a:srgbClr val="23272E"/>
                </a:solidFill>
                <a:latin typeface="Quattrocento Sans"/>
                <a:ea typeface="Quattrocento Sans"/>
              </a:rPr>
              <a:t> — shelf space is the constraint</a:t>
            </a:r>
            <a:endParaRPr lang="en-US" sz="1250" noProof="1"/>
          </a:p>
          <a:p>
            <a:pPr>
              <a:lnSpc>
                <a:spcPct val="155000"/>
              </a:lnSpc>
              <a:spcBef>
                <a:spcPts val="10"/>
              </a:spcBef>
              <a:buChar char="•"/>
            </a:pPr>
            <a:r>
              <a:rPr lang="en-US" sz="1250" noProof="1">
                <a:solidFill>
                  <a:srgbClr val="23272E"/>
                </a:solidFill>
                <a:latin typeface="Quattrocento Sans"/>
                <a:ea typeface="Quattrocento Sans"/>
              </a:rPr>
              <a:t>Discovery via window displays, catalogues, TV ads</a:t>
            </a:r>
            <a:endParaRPr lang="en-US" sz="1250" noProof="1"/>
          </a:p>
          <a:p>
            <a:pPr>
              <a:lnSpc>
                <a:spcPct val="155000"/>
              </a:lnSpc>
              <a:spcBef>
                <a:spcPts val="10"/>
              </a:spcBef>
              <a:buChar char="•"/>
            </a:pPr>
            <a:r>
              <a:rPr lang="en-US" sz="1250" noProof="1">
                <a:solidFill>
                  <a:srgbClr val="23272E"/>
                </a:solidFill>
                <a:latin typeface="Quattrocento Sans"/>
                <a:ea typeface="Quattrocento Sans"/>
              </a:rPr>
              <a:t>Price comparison means </a:t>
            </a:r>
            <a:r>
              <a:rPr lang="en-US" sz="1250" noProof="1" b="1">
                <a:solidFill>
                  <a:srgbClr val="23272E"/>
                </a:solidFill>
                <a:latin typeface="Quattrocento Sans"/>
                <a:ea typeface="Quattrocento Sans"/>
              </a:rPr>
              <a:t>visiting another shop</a:t>
            </a:r>
            <a:endParaRPr lang="en-US" sz="1250" noProof="1"/>
          </a:p>
          <a:p>
            <a:pPr>
              <a:lnSpc>
                <a:spcPct val="155000"/>
              </a:lnSpc>
              <a:spcBef>
                <a:spcPts val="10"/>
              </a:spcBef>
              <a:buChar char="•"/>
            </a:pPr>
            <a:r>
              <a:rPr lang="en-US" sz="1250" noProof="1">
                <a:solidFill>
                  <a:srgbClr val="23272E"/>
                </a:solidFill>
                <a:latin typeface="Quattrocento Sans"/>
                <a:ea typeface="Quattrocento Sans"/>
              </a:rPr>
              <a:t>Pay in cash or card at a till; returns mean another trip</a:t>
            </a:r>
            <a:endParaRPr lang="en-US" sz="1250" noProof="1"/>
          </a:p>
          <a:p>
            <a:pPr>
              <a:lnSpc>
                <a:spcPct val="155000"/>
              </a:lnSpc>
              <a:spcBef>
                <a:spcPts val="10"/>
              </a:spcBef>
              <a:buChar char="•"/>
            </a:pPr>
            <a:r>
              <a:rPr lang="en-US" sz="1250" noProof="1">
                <a:solidFill>
                  <a:srgbClr val="23272E"/>
                </a:solidFill>
                <a:latin typeface="Quattrocento Sans"/>
                <a:ea typeface="Quattrocento Sans"/>
              </a:rPr>
              <a:t>The retailer's advantage: </a:t>
            </a:r>
            <a:r>
              <a:rPr lang="en-US" sz="1250" noProof="1" b="1">
                <a:solidFill>
                  <a:srgbClr val="23272E"/>
                </a:solidFill>
                <a:latin typeface="Quattrocento Sans"/>
                <a:ea typeface="Quattrocento Sans"/>
              </a:rPr>
              <a:t>location</a:t>
            </a:r>
            <a:endParaRPr lang="en-US" sz="1250" noProof="1"/>
          </a:p>
        </p:txBody>
      </p:sp>
      <p:sp>
        <p:nvSpPr>
          <p:cNvPr id="6" name="divider-v"/>
          <p:cNvSpPr/>
          <p:nvPr/>
        </p:nvSpPr>
        <p:spPr>
          <a:xfrm>
            <a:off x="6070600" y="1473200"/>
            <a:ext cx="12700" cy="3810000"/>
          </a:xfrm>
          <a:prstGeom prst="rect">
            <a:avLst/>
          </a:prstGeom>
          <a:solidFill>
            <a:srgbClr val="D9D2C4"/>
          </a:solidFill>
          <a:ln>
            <a:noFill/>
          </a:ln>
        </p:spPr>
      </p:sp>
      <p:sp>
        <p:nvSpPr>
          <p:cNvPr id="7" name="right-head"/>
          <p:cNvSpPr txBox="1"/>
          <p:nvPr/>
        </p:nvSpPr>
        <p:spPr>
          <a:xfrm>
            <a:off x="6400800" y="1473200"/>
            <a:ext cx="5080000" cy="330200"/>
          </a:xfrm>
          <a:prstGeom prst="rect">
            <a:avLst/>
          </a:prstGeom>
          <a:noFill/>
          <a:ln>
            <a:noFill/>
          </a:ln>
        </p:spPr>
        <p:txBody>
          <a:bodyPr lIns="0" rIns="0" tIns="0" bIns="0" wrap="square" rtlCol="0"/>
          <a:lstStyle/>
          <a:p>
            <a:pPr>
              <a:lnSpc>
                <a:spcPct val="120000"/>
              </a:lnSpc>
            </a:pPr>
            <a:r>
              <a:rPr lang="en-US" sz="1900" noProof="1">
                <a:solidFill>
                  <a:srgbClr val="BC4B26"/>
                </a:solidFill>
                <a:latin typeface="Unna"/>
                <a:ea typeface="Unna"/>
              </a:rPr>
              <a:t>Today — the interface decides</a:t>
            </a:r>
            <a:endParaRPr lang="en-US" sz="1900" noProof="1"/>
          </a:p>
        </p:txBody>
      </p:sp>
      <p:sp>
        <p:nvSpPr>
          <p:cNvPr id="8" name="right-body"/>
          <p:cNvSpPr txBox="1"/>
          <p:nvPr/>
        </p:nvSpPr>
        <p:spPr>
          <a:xfrm>
            <a:off x="6400800" y="1905000"/>
            <a:ext cx="5080000" cy="2921000"/>
          </a:xfrm>
          <a:prstGeom prst="rect">
            <a:avLst/>
          </a:prstGeom>
          <a:noFill/>
          <a:ln>
            <a:noFill/>
          </a:ln>
        </p:spPr>
        <p:txBody>
          <a:bodyPr lIns="0" rIns="0" tIns="0" bIns="0" wrap="square" rtlCol="0"/>
          <a:lstStyle/>
          <a:p>
            <a:pPr>
              <a:lnSpc>
                <a:spcPct val="155000"/>
              </a:lnSpc>
              <a:spcBef>
                <a:spcPts val="10"/>
              </a:spcBef>
              <a:buChar char="•"/>
            </a:pPr>
            <a:r>
              <a:rPr lang="en-US" sz="1250" noProof="1">
                <a:solidFill>
                  <a:srgbClr val="23272E"/>
                </a:solidFill>
                <a:latin typeface="Quattrocento Sans"/>
                <a:ea typeface="Quattrocento Sans"/>
              </a:rPr>
              <a:t>Choice is effectively </a:t>
            </a:r>
            <a:r>
              <a:rPr lang="en-US" sz="1250" noProof="1" b="1">
                <a:solidFill>
                  <a:srgbClr val="23272E"/>
                </a:solidFill>
                <a:latin typeface="Quattrocento Sans"/>
                <a:ea typeface="Quattrocento Sans"/>
              </a:rPr>
              <a:t>unlimited</a:t>
            </a:r>
            <a:r>
              <a:rPr lang="en-US" sz="1250" noProof="1">
                <a:solidFill>
                  <a:srgbClr val="23272E"/>
                </a:solidFill>
                <a:latin typeface="Quattrocento Sans"/>
                <a:ea typeface="Quattrocento Sans"/>
              </a:rPr>
              <a:t> — every size, colour and seller on Earth</a:t>
            </a:r>
            <a:endParaRPr lang="en-US" sz="1250" noProof="1"/>
          </a:p>
          <a:p>
            <a:pPr>
              <a:lnSpc>
                <a:spcPct val="155000"/>
              </a:lnSpc>
              <a:spcBef>
                <a:spcPts val="10"/>
              </a:spcBef>
              <a:buChar char="•"/>
            </a:pPr>
            <a:r>
              <a:rPr lang="en-US" sz="1250" noProof="1">
                <a:solidFill>
                  <a:srgbClr val="23272E"/>
                </a:solidFill>
                <a:latin typeface="Quattrocento Sans"/>
                <a:ea typeface="Quattrocento Sans"/>
              </a:rPr>
              <a:t>Discovery via feeds, creators, search — or an AI assistant</a:t>
            </a:r>
            <a:endParaRPr lang="en-US" sz="1250" noProof="1"/>
          </a:p>
          <a:p>
            <a:pPr>
              <a:lnSpc>
                <a:spcPct val="155000"/>
              </a:lnSpc>
              <a:spcBef>
                <a:spcPts val="10"/>
              </a:spcBef>
              <a:buChar char="•"/>
            </a:pPr>
            <a:r>
              <a:rPr lang="en-US" sz="1250" noProof="1">
                <a:solidFill>
                  <a:srgbClr val="23272E"/>
                </a:solidFill>
                <a:latin typeface="Quattrocento Sans"/>
                <a:ea typeface="Quattrocento Sans"/>
              </a:rPr>
              <a:t>Price comparison is </a:t>
            </a:r>
            <a:r>
              <a:rPr lang="en-US" sz="1250" noProof="1" b="1">
                <a:solidFill>
                  <a:srgbClr val="23272E"/>
                </a:solidFill>
                <a:latin typeface="Quattrocento Sans"/>
                <a:ea typeface="Quattrocento Sans"/>
              </a:rPr>
              <a:t>instant and automatic</a:t>
            </a:r>
            <a:endParaRPr lang="en-US" sz="1250" noProof="1"/>
          </a:p>
          <a:p>
            <a:pPr>
              <a:lnSpc>
                <a:spcPct val="155000"/>
              </a:lnSpc>
              <a:spcBef>
                <a:spcPts val="10"/>
              </a:spcBef>
              <a:buChar char="•"/>
            </a:pPr>
            <a:r>
              <a:rPr lang="en-US" sz="1250" noProof="1">
                <a:solidFill>
                  <a:srgbClr val="23272E"/>
                </a:solidFill>
                <a:latin typeface="Quattrocento Sans"/>
                <a:ea typeface="Quattrocento Sans"/>
              </a:rPr>
              <a:t>Pay by wallet, UPI or one tap; returns are collected from your door</a:t>
            </a:r>
            <a:endParaRPr lang="en-US" sz="1250" noProof="1"/>
          </a:p>
          <a:p>
            <a:pPr>
              <a:lnSpc>
                <a:spcPct val="155000"/>
              </a:lnSpc>
              <a:spcBef>
                <a:spcPts val="10"/>
              </a:spcBef>
              <a:buChar char="•"/>
            </a:pPr>
            <a:r>
              <a:rPr lang="en-US" sz="1250" noProof="1">
                <a:solidFill>
                  <a:srgbClr val="23272E"/>
                </a:solidFill>
                <a:latin typeface="Quattrocento Sans"/>
                <a:ea typeface="Quattrocento Sans"/>
              </a:rPr>
              <a:t>The retailer's advantage: </a:t>
            </a:r>
            <a:r>
              <a:rPr lang="en-US" sz="1250" noProof="1" b="1">
                <a:solidFill>
                  <a:srgbClr val="23272E"/>
                </a:solidFill>
                <a:latin typeface="Quattrocento Sans"/>
                <a:ea typeface="Quattrocento Sans"/>
              </a:rPr>
              <a:t>data</a:t>
            </a:r>
            <a:endParaRPr lang="en-US" sz="1250" noProof="1"/>
          </a:p>
        </p:txBody>
      </p:sp>
      <p:sp>
        <p:nvSpPr>
          <p:cNvPr id="9" name="rule-h"/>
          <p:cNvSpPr/>
          <p:nvPr/>
        </p:nvSpPr>
        <p:spPr>
          <a:xfrm>
            <a:off x="711200" y="5181600"/>
            <a:ext cx="10769600" cy="12700"/>
          </a:xfrm>
          <a:prstGeom prst="rect">
            <a:avLst/>
          </a:prstGeom>
          <a:solidFill>
            <a:srgbClr val="D9D2C4"/>
          </a:solidFill>
          <a:ln>
            <a:noFill/>
          </a:ln>
        </p:spPr>
      </p:sp>
      <p:sp>
        <p:nvSpPr>
          <p:cNvPr id="10" name="takeaway"/>
          <p:cNvSpPr txBox="1"/>
          <p:nvPr/>
        </p:nvSpPr>
        <p:spPr>
          <a:xfrm>
            <a:off x="711200" y="5384800"/>
            <a:ext cx="10769600" cy="8128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The judgement criterion:</a:t>
            </a:r>
            <a:r>
              <a:rPr lang="en-US" sz="1300" noProof="1">
                <a:solidFill>
                  <a:srgbClr val="23272E"/>
                </a:solidFill>
                <a:latin typeface="Quattrocento Sans"/>
                <a:ea typeface="Quattrocento Sans"/>
              </a:rPr>
              <a:t> in each era, ask </a:t>
            </a:r>
            <a:r>
              <a:rPr lang="en-US" sz="1300" noProof="1" i="1">
                <a:solidFill>
                  <a:srgbClr val="23272E"/>
                </a:solidFill>
                <a:latin typeface="Quattrocento Sans"/>
                <a:ea typeface="Quattrocento Sans"/>
              </a:rPr>
              <a:t>which constraint on the shopper disappeared</a:t>
            </a:r>
            <a:r>
              <a:rPr lang="en-US" sz="1300" noProof="1">
                <a:solidFill>
                  <a:srgbClr val="23272E"/>
                </a:solidFill>
                <a:latin typeface="Quattrocento Sans"/>
                <a:ea typeface="Quattrocento Sans"/>
              </a:rPr>
              <a:t> — shelf space, then location, then attention, then effort. This session tells that story in five eras, and gives you the framework to predict the sixth.</a:t>
            </a:r>
            <a:endParaRPr lang="en-US" sz="1300" noProof="1"/>
          </a:p>
        </p:txBody>
      </p:sp>
      <p:sp>
        <p:nvSpPr>
          <p:cNvPr id="11" name="foot-rule"/>
          <p:cNvSpPr/>
          <p:nvPr/>
        </p:nvSpPr>
        <p:spPr>
          <a:xfrm>
            <a:off x="711200" y="6451600"/>
            <a:ext cx="10769600" cy="12700"/>
          </a:xfrm>
          <a:prstGeom prst="rect">
            <a:avLst/>
          </a:prstGeom>
          <a:solidFill>
            <a:srgbClr val="D9D2C4"/>
          </a:solidFill>
          <a:ln>
            <a:noFill/>
          </a:ln>
        </p:spPr>
      </p:sp>
      <p:sp>
        <p:nvSpPr>
          <p:cNvPr id="12"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3"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4"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15</a:t>
            </a:r>
            <a:endParaRPr lang="en-US" sz="950" noProof="1"/>
          </a:p>
        </p:txBody>
      </p:sp>
    </p:spTree>
  </p:cSld>
  <p:clrMapOvr>
    <a:masterClrMapping/>
  </p:clrMapOvr>
</p:sld>
</file>

<file path=ppt/slides/slide1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DEFINITION</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What exactly counts as e-commerce?</a:t>
            </a:r>
            <a:endParaRPr lang="en-US" sz="2600" noProof="1"/>
          </a:p>
        </p:txBody>
      </p:sp>
      <p:sp>
        <p:nvSpPr>
          <p:cNvPr id="4" name="def-block"/>
          <p:cNvSpPr/>
          <p:nvPr/>
        </p:nvSpPr>
        <p:spPr>
          <a:xfrm>
            <a:off x="711200" y="1397000"/>
            <a:ext cx="10769600" cy="1219200"/>
          </a:xfrm>
          <a:prstGeom prst="rect">
            <a:avLst/>
          </a:prstGeom>
          <a:solidFill>
            <a:srgbClr val="F3ECDA"/>
          </a:solidFill>
          <a:ln>
            <a:noFill/>
          </a:ln>
        </p:spPr>
      </p:sp>
      <p:sp>
        <p:nvSpPr>
          <p:cNvPr id="5" name="def-label"/>
          <p:cNvSpPr txBox="1"/>
          <p:nvPr/>
        </p:nvSpPr>
        <p:spPr>
          <a:xfrm>
            <a:off x="1016000" y="1549400"/>
            <a:ext cx="3810000" cy="203200"/>
          </a:xfrm>
          <a:prstGeom prst="rect">
            <a:avLst/>
          </a:prstGeom>
          <a:noFill/>
          <a:ln>
            <a:noFill/>
          </a:ln>
        </p:spPr>
        <p:txBody>
          <a:bodyPr lIns="0" rIns="0" tIns="0" bIns="0" wrap="square" rtlCol="0"/>
          <a:lstStyle/>
          <a:p>
            <a:pPr>
              <a:lnSpc>
                <a:spcPct val="120000"/>
              </a:lnSpc>
            </a:pPr>
            <a:r>
              <a:rPr lang="en-US" sz="1100" noProof="1" b="1" spc="200" kern="0">
                <a:solidFill>
                  <a:srgbClr val="C09A3E"/>
                </a:solidFill>
                <a:latin typeface="Quattrocento Sans"/>
                <a:ea typeface="Quattrocento Sans"/>
              </a:rPr>
              <a:t>DEFINITION</a:t>
            </a:r>
            <a:endParaRPr lang="en-US" sz="1100" noProof="1"/>
          </a:p>
        </p:txBody>
      </p:sp>
      <p:sp>
        <p:nvSpPr>
          <p:cNvPr id="6" name="def-text"/>
          <p:cNvSpPr txBox="1"/>
          <p:nvPr/>
        </p:nvSpPr>
        <p:spPr>
          <a:xfrm>
            <a:off x="1016000" y="1803400"/>
            <a:ext cx="10160000" cy="711200"/>
          </a:xfrm>
          <a:prstGeom prst="rect">
            <a:avLst/>
          </a:prstGeom>
          <a:noFill/>
          <a:ln>
            <a:noFill/>
          </a:ln>
        </p:spPr>
        <p:txBody>
          <a:bodyPr lIns="0" rIns="0" tIns="0" bIns="0" wrap="square" rtlCol="0"/>
          <a:lstStyle/>
          <a:p>
            <a:pPr>
              <a:lnSpc>
                <a:spcPct val="140000"/>
              </a:lnSpc>
            </a:pPr>
            <a:r>
              <a:rPr lang="en-US" sz="1550" noProof="1" b="1">
                <a:solidFill>
                  <a:srgbClr val="23272E"/>
                </a:solidFill>
                <a:latin typeface="Unna"/>
                <a:ea typeface="Unna"/>
              </a:rPr>
              <a:t>E-commerce (electronic commerce)</a:t>
            </a:r>
            <a:r>
              <a:rPr lang="en-US" sz="1550" noProof="1">
                <a:solidFill>
                  <a:srgbClr val="23272E"/>
                </a:solidFill>
                <a:latin typeface="Unna"/>
                <a:ea typeface="Unna"/>
              </a:rPr>
              <a:t> is the buying and selling of goods or services, or the transmission of funds or data, over an electronic network — primarily the internet. It spans B2C, B2B, C2C and D2C transactions on any device.</a:t>
            </a:r>
            <a:endParaRPr lang="en-US" sz="1550" noProof="1"/>
          </a:p>
        </p:txBody>
      </p:sp>
      <p:sp>
        <p:nvSpPr>
          <p:cNvPr id="7" name="counts-head"/>
          <p:cNvSpPr txBox="1"/>
          <p:nvPr/>
        </p:nvSpPr>
        <p:spPr>
          <a:xfrm>
            <a:off x="711200" y="2946400"/>
            <a:ext cx="50800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Where the boundary lies — it counts</a:t>
            </a:r>
            <a:endParaRPr lang="en-US" sz="1350" noProof="1"/>
          </a:p>
        </p:txBody>
      </p:sp>
      <p:sp>
        <p:nvSpPr>
          <p:cNvPr id="8" name="counts-body"/>
          <p:cNvSpPr txBox="1"/>
          <p:nvPr/>
        </p:nvSpPr>
        <p:spPr>
          <a:xfrm>
            <a:off x="711200" y="3276600"/>
            <a:ext cx="5080000" cy="1905000"/>
          </a:xfrm>
          <a:prstGeom prst="rect">
            <a:avLst/>
          </a:prstGeom>
          <a:noFill/>
          <a:ln>
            <a:noFill/>
          </a:ln>
        </p:spPr>
        <p:txBody>
          <a:bodyPr lIns="0" rIns="0" tIns="0" bIns="0" wrap="square" rtlCol="0"/>
          <a:lstStyle/>
          <a:p>
            <a:pPr>
              <a:lnSpc>
                <a:spcPct val="155000"/>
              </a:lnSpc>
              <a:spcBef>
                <a:spcPts val="10"/>
              </a:spcBef>
              <a:buChar char="•"/>
            </a:pPr>
            <a:r>
              <a:rPr lang="en-US" sz="1250" noProof="1">
                <a:solidFill>
                  <a:srgbClr val="23272E"/>
                </a:solidFill>
                <a:latin typeface="Quattrocento Sans"/>
                <a:ea typeface="Quattrocento Sans"/>
              </a:rPr>
              <a:t>Buying shoes on a brand's website or app (B2C)</a:t>
            </a:r>
            <a:endParaRPr lang="en-US" sz="1250" noProof="1"/>
          </a:p>
          <a:p>
            <a:pPr>
              <a:lnSpc>
                <a:spcPct val="155000"/>
              </a:lnSpc>
              <a:spcBef>
                <a:spcPts val="10"/>
              </a:spcBef>
              <a:buChar char="•"/>
            </a:pPr>
            <a:r>
              <a:rPr lang="en-US" sz="1250" noProof="1">
                <a:solidFill>
                  <a:srgbClr val="23272E"/>
                </a:solidFill>
                <a:latin typeface="Quattrocento Sans"/>
                <a:ea typeface="Quattrocento Sans"/>
              </a:rPr>
              <a:t>A retailer ordering stock through Alibaba (B2B)</a:t>
            </a:r>
            <a:endParaRPr lang="en-US" sz="1250" noProof="1"/>
          </a:p>
          <a:p>
            <a:pPr>
              <a:lnSpc>
                <a:spcPct val="155000"/>
              </a:lnSpc>
              <a:spcBef>
                <a:spcPts val="10"/>
              </a:spcBef>
              <a:buChar char="•"/>
            </a:pPr>
            <a:r>
              <a:rPr lang="en-US" sz="1250" noProof="1">
                <a:solidFill>
                  <a:srgbClr val="23272E"/>
                </a:solidFill>
                <a:latin typeface="Quattrocento Sans"/>
                <a:ea typeface="Quattrocento Sans"/>
              </a:rPr>
              <a:t>Selling your bike on a marketplace (C2C)</a:t>
            </a:r>
            <a:endParaRPr lang="en-US" sz="1250" noProof="1"/>
          </a:p>
          <a:p>
            <a:pPr>
              <a:lnSpc>
                <a:spcPct val="155000"/>
              </a:lnSpc>
              <a:spcBef>
                <a:spcPts val="10"/>
              </a:spcBef>
              <a:buChar char="•"/>
            </a:pPr>
            <a:r>
              <a:rPr lang="en-US" sz="1250" noProof="1">
                <a:solidFill>
                  <a:srgbClr val="23272E"/>
                </a:solidFill>
                <a:latin typeface="Quattrocento Sans"/>
                <a:ea typeface="Quattrocento Sans"/>
              </a:rPr>
              <a:t>In-app checkout inside TikTok Shop (still e-commerce — newer interface)</a:t>
            </a:r>
            <a:endParaRPr lang="en-US" sz="1250" noProof="1"/>
          </a:p>
        </p:txBody>
      </p:sp>
      <p:sp>
        <p:nvSpPr>
          <p:cNvPr id="9" name="notcounts-head"/>
          <p:cNvSpPr txBox="1"/>
          <p:nvPr/>
        </p:nvSpPr>
        <p:spPr>
          <a:xfrm>
            <a:off x="6400800" y="2946400"/>
            <a:ext cx="5080000" cy="279400"/>
          </a:xfrm>
          <a:prstGeom prst="rect">
            <a:avLst/>
          </a:prstGeom>
          <a:noFill/>
          <a:ln>
            <a:noFill/>
          </a:ln>
        </p:spPr>
        <p:txBody>
          <a:bodyPr lIns="0" rIns="0" tIns="0" bIns="0" wrap="square" rtlCol="0"/>
          <a:lstStyle/>
          <a:p>
            <a:pPr>
              <a:lnSpc>
                <a:spcPct val="120000"/>
              </a:lnSpc>
            </a:pPr>
            <a:r>
              <a:rPr lang="en-US" sz="1350" noProof="1" b="1">
                <a:solidFill>
                  <a:srgbClr val="BC4B26"/>
                </a:solidFill>
                <a:latin typeface="Quattrocento Sans"/>
                <a:ea typeface="Quattrocento Sans"/>
              </a:rPr>
              <a:t>Where the boundary lies — it doesn't</a:t>
            </a:r>
            <a:endParaRPr lang="en-US" sz="1350" noProof="1"/>
          </a:p>
        </p:txBody>
      </p:sp>
      <p:sp>
        <p:nvSpPr>
          <p:cNvPr id="10" name="notcounts-body"/>
          <p:cNvSpPr txBox="1"/>
          <p:nvPr/>
        </p:nvSpPr>
        <p:spPr>
          <a:xfrm>
            <a:off x="6400800" y="3276600"/>
            <a:ext cx="5080000" cy="1905000"/>
          </a:xfrm>
          <a:prstGeom prst="rect">
            <a:avLst/>
          </a:prstGeom>
          <a:noFill/>
          <a:ln>
            <a:noFill/>
          </a:ln>
        </p:spPr>
        <p:txBody>
          <a:bodyPr lIns="0" rIns="0" tIns="0" bIns="0" wrap="square" rtlCol="0"/>
          <a:lstStyle/>
          <a:p>
            <a:pPr>
              <a:lnSpc>
                <a:spcPct val="155000"/>
              </a:lnSpc>
              <a:spcBef>
                <a:spcPts val="10"/>
              </a:spcBef>
              <a:buChar char="•"/>
            </a:pPr>
            <a:r>
              <a:rPr lang="en-US" sz="1250" noProof="1">
                <a:solidFill>
                  <a:srgbClr val="23272E"/>
                </a:solidFill>
                <a:latin typeface="Quattrocento Sans"/>
                <a:ea typeface="Quattrocento Sans"/>
              </a:rPr>
              <a:t>Researching online, paying in store (that's </a:t>
            </a:r>
            <a:r>
              <a:rPr lang="en-US" sz="1250" noProof="1" b="1">
                <a:solidFill>
                  <a:srgbClr val="23272E"/>
                </a:solidFill>
                <a:latin typeface="Quattrocento Sans"/>
                <a:ea typeface="Quattrocento Sans"/>
              </a:rPr>
              <a:t>web-influenced</a:t>
            </a:r>
            <a:r>
              <a:rPr lang="en-US" sz="1250" noProof="1">
                <a:solidFill>
                  <a:srgbClr val="23272E"/>
                </a:solidFill>
                <a:latin typeface="Quattrocento Sans"/>
                <a:ea typeface="Quattrocento Sans"/>
              </a:rPr>
              <a:t> retail)</a:t>
            </a:r>
            <a:endParaRPr lang="en-US" sz="1250" noProof="1"/>
          </a:p>
          <a:p>
            <a:pPr>
              <a:lnSpc>
                <a:spcPct val="155000"/>
              </a:lnSpc>
              <a:spcBef>
                <a:spcPts val="10"/>
              </a:spcBef>
              <a:buChar char="•"/>
            </a:pPr>
            <a:r>
              <a:rPr lang="en-US" sz="1250" noProof="1">
                <a:solidFill>
                  <a:srgbClr val="23272E"/>
                </a:solidFill>
                <a:latin typeface="Quattrocento Sans"/>
                <a:ea typeface="Quattrocento Sans"/>
              </a:rPr>
              <a:t>Digital ads and marketing (they drive commerce; they aren't the transaction)</a:t>
            </a:r>
            <a:endParaRPr lang="en-US" sz="1250" noProof="1"/>
          </a:p>
          <a:p>
            <a:pPr>
              <a:lnSpc>
                <a:spcPct val="155000"/>
              </a:lnSpc>
              <a:spcBef>
                <a:spcPts val="10"/>
              </a:spcBef>
              <a:buChar char="•"/>
            </a:pPr>
            <a:r>
              <a:rPr lang="en-US" sz="1250" noProof="1">
                <a:solidFill>
                  <a:srgbClr val="23272E"/>
                </a:solidFill>
                <a:latin typeface="Quattrocento Sans"/>
                <a:ea typeface="Quattrocento Sans"/>
              </a:rPr>
              <a:t>Pure in-store card payments (electronic payment, but the sale is physical)</a:t>
            </a:r>
            <a:endParaRPr lang="en-US" sz="1250" noProof="1"/>
          </a:p>
        </p:txBody>
      </p:sp>
      <p:sp>
        <p:nvSpPr>
          <p:cNvPr id="11" name="example-rule"/>
          <p:cNvSpPr/>
          <p:nvPr/>
        </p:nvSpPr>
        <p:spPr>
          <a:xfrm>
            <a:off x="711200" y="5384800"/>
            <a:ext cx="10769600" cy="12700"/>
          </a:xfrm>
          <a:prstGeom prst="rect">
            <a:avLst/>
          </a:prstGeom>
          <a:solidFill>
            <a:srgbClr val="D9D2C4"/>
          </a:solidFill>
          <a:ln>
            <a:noFill/>
          </a:ln>
        </p:spPr>
      </p:sp>
      <p:sp>
        <p:nvSpPr>
          <p:cNvPr id="12" name="example"/>
          <p:cNvSpPr txBox="1"/>
          <p:nvPr/>
        </p:nvSpPr>
        <p:spPr>
          <a:xfrm>
            <a:off x="711200" y="5562600"/>
            <a:ext cx="10769600" cy="7112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Intuitive test:</a:t>
            </a:r>
            <a:r>
              <a:rPr lang="en-US" sz="1300" noProof="1">
                <a:solidFill>
                  <a:srgbClr val="23272E"/>
                </a:solidFill>
                <a:latin typeface="Quattrocento Sans"/>
                <a:ea typeface="Quattrocento Sans"/>
              </a:rPr>
              <a:t> follow the money, not the screen. If the </a:t>
            </a:r>
            <a:r>
              <a:rPr lang="en-US" sz="1300" noProof="1" i="1">
                <a:solidFill>
                  <a:srgbClr val="23272E"/>
                </a:solidFill>
                <a:latin typeface="Quattrocento Sans"/>
                <a:ea typeface="Quattrocento Sans"/>
              </a:rPr>
              <a:t>transaction itself</a:t>
            </a:r>
            <a:r>
              <a:rPr lang="en-US" sz="1300" noProof="1">
                <a:solidFill>
                  <a:srgbClr val="23272E"/>
                </a:solidFill>
                <a:latin typeface="Quattrocento Sans"/>
                <a:ea typeface="Quattrocento Sans"/>
              </a:rPr>
              <a:t> — order and payment — is completed over the network, it is e-commerce, whatever device or app carried it.</a:t>
            </a:r>
            <a:endParaRPr lang="en-US" sz="13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16</a:t>
            </a:r>
            <a:endParaRPr lang="en-US" sz="950" noProof="1"/>
          </a:p>
        </p:txBody>
      </p:sp>
    </p:spTree>
  </p:cSld>
  <p:clrMapOvr>
    <a:masterClrMapping/>
  </p:clrMapOvr>
</p:sld>
</file>

<file path=ppt/slides/slide1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TIMELINE, PART 1 OF 2</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1979–2009: from experiments to a trillion-dollar industry</a:t>
            </a:r>
            <a:endParaRPr lang="en-US" sz="2600" noProof="1"/>
          </a:p>
        </p:txBody>
      </p:sp>
      <p:sp>
        <p:nvSpPr>
          <p:cNvPr id="4" name="axis"/>
          <p:cNvSpPr/>
          <p:nvPr/>
        </p:nvSpPr>
        <p:spPr>
          <a:xfrm>
            <a:off x="711200" y="3175000"/>
            <a:ext cx="10769600" cy="25400"/>
          </a:xfrm>
          <a:prstGeom prst="rect">
            <a:avLst/>
          </a:prstGeom>
          <a:solidFill>
            <a:srgbClr val="175E54"/>
          </a:solidFill>
          <a:ln>
            <a:noFill/>
          </a:ln>
        </p:spPr>
      </p:sp>
      <p:sp>
        <p:nvSpPr>
          <p:cNvPr id="5" name="m1-dot"/>
          <p:cNvSpPr/>
          <p:nvPr/>
        </p:nvSpPr>
        <p:spPr>
          <a:xfrm>
            <a:off x="787400" y="3111500"/>
            <a:ext cx="152400" cy="152400"/>
          </a:xfrm>
          <a:prstGeom prst="ellipse">
            <a:avLst/>
          </a:prstGeom>
          <a:solidFill>
            <a:srgbClr val="BC4B26"/>
          </a:solidFill>
          <a:ln>
            <a:noFill/>
          </a:ln>
        </p:spPr>
      </p:sp>
      <p:sp>
        <p:nvSpPr>
          <p:cNvPr id="6" name="m1-year"/>
          <p:cNvSpPr txBox="1"/>
          <p:nvPr/>
        </p:nvSpPr>
        <p:spPr>
          <a:xfrm>
            <a:off x="508000" y="25400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1979</a:t>
            </a:r>
            <a:endParaRPr lang="en-US" sz="1700" noProof="1"/>
          </a:p>
        </p:txBody>
      </p:sp>
      <p:sp>
        <p:nvSpPr>
          <p:cNvPr id="7" name="m1-text"/>
          <p:cNvSpPr txBox="1"/>
          <p:nvPr/>
        </p:nvSpPr>
        <p:spPr>
          <a:xfrm>
            <a:off x="508000" y="1625600"/>
            <a:ext cx="13716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Videotex</a:t>
            </a:r>
            <a:r>
              <a:rPr lang="en-US" sz="1050" noProof="1">
                <a:solidFill>
                  <a:srgbClr val="23272E"/>
                </a:solidFill>
                <a:latin typeface="Quattrocento Sans"/>
                <a:ea typeface="Quattrocento Sans"/>
              </a:rPr>
              <a:t> — Michael Aldrich demos online shopping via modified TV (UK)</a:t>
            </a:r>
            <a:endParaRPr lang="en-US" sz="1050" noProof="1"/>
          </a:p>
        </p:txBody>
      </p:sp>
      <p:sp>
        <p:nvSpPr>
          <p:cNvPr id="8" name="m2-dot"/>
          <p:cNvSpPr/>
          <p:nvPr/>
        </p:nvSpPr>
        <p:spPr>
          <a:xfrm>
            <a:off x="2133600" y="3111500"/>
            <a:ext cx="152400" cy="152400"/>
          </a:xfrm>
          <a:prstGeom prst="ellipse">
            <a:avLst/>
          </a:prstGeom>
          <a:solidFill>
            <a:srgbClr val="BC4B26"/>
          </a:solidFill>
          <a:ln>
            <a:noFill/>
          </a:ln>
        </p:spPr>
      </p:sp>
      <p:sp>
        <p:nvSpPr>
          <p:cNvPr id="9" name="m2-year"/>
          <p:cNvSpPr txBox="1"/>
          <p:nvPr/>
        </p:nvSpPr>
        <p:spPr>
          <a:xfrm>
            <a:off x="1854200" y="33782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1995</a:t>
            </a:r>
            <a:endParaRPr lang="en-US" sz="1700" noProof="1"/>
          </a:p>
        </p:txBody>
      </p:sp>
      <p:sp>
        <p:nvSpPr>
          <p:cNvPr id="10" name="m2-text"/>
          <p:cNvSpPr txBox="1"/>
          <p:nvPr/>
        </p:nvSpPr>
        <p:spPr>
          <a:xfrm>
            <a:off x="1854200" y="3657600"/>
            <a:ext cx="14986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Amazon opens</a:t>
            </a:r>
            <a:r>
              <a:rPr lang="en-US" sz="1050" noProof="1">
                <a:solidFill>
                  <a:srgbClr val="23272E"/>
                </a:solidFill>
                <a:latin typeface="Quattrocento Sans"/>
                <a:ea typeface="Quattrocento Sans"/>
              </a:rPr>
              <a:t> ("Earth's Biggest Bookstore"); </a:t>
            </a:r>
            <a:r>
              <a:rPr lang="en-US" sz="1050" noProof="1" b="1">
                <a:solidFill>
                  <a:srgbClr val="23272E"/>
                </a:solidFill>
                <a:latin typeface="Quattrocento Sans"/>
                <a:ea typeface="Quattrocento Sans"/>
              </a:rPr>
              <a:t>eBay</a:t>
            </a:r>
            <a:r>
              <a:rPr lang="en-US" sz="1050" noProof="1">
                <a:solidFill>
                  <a:srgbClr val="23272E"/>
                </a:solidFill>
                <a:latin typeface="Quattrocento Sans"/>
                <a:ea typeface="Quattrocento Sans"/>
              </a:rPr>
              <a:t> founded — marketplace &amp; catalogue models born</a:t>
            </a:r>
            <a:endParaRPr lang="en-US" sz="1050" noProof="1"/>
          </a:p>
        </p:txBody>
      </p:sp>
      <p:sp>
        <p:nvSpPr>
          <p:cNvPr id="11" name="m3-dot"/>
          <p:cNvSpPr/>
          <p:nvPr/>
        </p:nvSpPr>
        <p:spPr>
          <a:xfrm>
            <a:off x="3657600" y="3111500"/>
            <a:ext cx="152400" cy="152400"/>
          </a:xfrm>
          <a:prstGeom prst="ellipse">
            <a:avLst/>
          </a:prstGeom>
          <a:solidFill>
            <a:srgbClr val="BC4B26"/>
          </a:solidFill>
          <a:ln>
            <a:noFill/>
          </a:ln>
        </p:spPr>
      </p:sp>
      <p:sp>
        <p:nvSpPr>
          <p:cNvPr id="12" name="m3-year"/>
          <p:cNvSpPr txBox="1"/>
          <p:nvPr/>
        </p:nvSpPr>
        <p:spPr>
          <a:xfrm>
            <a:off x="3378200" y="25400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1998</a:t>
            </a:r>
            <a:endParaRPr lang="en-US" sz="1700" noProof="1"/>
          </a:p>
        </p:txBody>
      </p:sp>
      <p:sp>
        <p:nvSpPr>
          <p:cNvPr id="13" name="m3-text"/>
          <p:cNvSpPr txBox="1"/>
          <p:nvPr/>
        </p:nvSpPr>
        <p:spPr>
          <a:xfrm>
            <a:off x="3378200" y="1625600"/>
            <a:ext cx="14224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PayPal founded</a:t>
            </a:r>
            <a:r>
              <a:rPr lang="en-US" sz="1050" noProof="1">
                <a:solidFill>
                  <a:srgbClr val="23272E"/>
                </a:solidFill>
                <a:latin typeface="Quattrocento Sans"/>
                <a:ea typeface="Quattrocento Sans"/>
              </a:rPr>
              <a:t> — digital payments infrastructure arrives</a:t>
            </a:r>
            <a:endParaRPr lang="en-US" sz="1050" noProof="1"/>
          </a:p>
        </p:txBody>
      </p:sp>
      <p:sp>
        <p:nvSpPr>
          <p:cNvPr id="14" name="m4-dot"/>
          <p:cNvSpPr/>
          <p:nvPr/>
        </p:nvSpPr>
        <p:spPr>
          <a:xfrm>
            <a:off x="5130800" y="3111500"/>
            <a:ext cx="152400" cy="152400"/>
          </a:xfrm>
          <a:prstGeom prst="ellipse">
            <a:avLst/>
          </a:prstGeom>
          <a:solidFill>
            <a:srgbClr val="BC4B26"/>
          </a:solidFill>
          <a:ln>
            <a:noFill/>
          </a:ln>
        </p:spPr>
      </p:sp>
      <p:sp>
        <p:nvSpPr>
          <p:cNvPr id="15" name="m4-year"/>
          <p:cNvSpPr txBox="1"/>
          <p:nvPr/>
        </p:nvSpPr>
        <p:spPr>
          <a:xfrm>
            <a:off x="4851400" y="33782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1999</a:t>
            </a:r>
            <a:endParaRPr lang="en-US" sz="1700" noProof="1"/>
          </a:p>
        </p:txBody>
      </p:sp>
      <p:sp>
        <p:nvSpPr>
          <p:cNvPr id="16" name="m4-text"/>
          <p:cNvSpPr txBox="1"/>
          <p:nvPr/>
        </p:nvSpPr>
        <p:spPr>
          <a:xfrm>
            <a:off x="4851400" y="3657600"/>
            <a:ext cx="14478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Alibaba founded</a:t>
            </a:r>
            <a:r>
              <a:rPr lang="en-US" sz="1050" noProof="1">
                <a:solidFill>
                  <a:srgbClr val="23272E"/>
                </a:solidFill>
                <a:latin typeface="Quattrocento Sans"/>
                <a:ea typeface="Quattrocento Sans"/>
              </a:rPr>
              <a:t> — China's e-commerce giant emerges</a:t>
            </a:r>
            <a:endParaRPr lang="en-US" sz="1050" noProof="1"/>
          </a:p>
        </p:txBody>
      </p:sp>
      <p:sp>
        <p:nvSpPr>
          <p:cNvPr id="17" name="m5-dot"/>
          <p:cNvSpPr/>
          <p:nvPr/>
        </p:nvSpPr>
        <p:spPr>
          <a:xfrm>
            <a:off x="6578600" y="3111500"/>
            <a:ext cx="152400" cy="152400"/>
          </a:xfrm>
          <a:prstGeom prst="ellipse">
            <a:avLst/>
          </a:prstGeom>
          <a:solidFill>
            <a:srgbClr val="BC4B26"/>
          </a:solidFill>
          <a:ln>
            <a:noFill/>
          </a:ln>
        </p:spPr>
      </p:sp>
      <p:sp>
        <p:nvSpPr>
          <p:cNvPr id="18" name="m5-year"/>
          <p:cNvSpPr txBox="1"/>
          <p:nvPr/>
        </p:nvSpPr>
        <p:spPr>
          <a:xfrm>
            <a:off x="6299200" y="25400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2005</a:t>
            </a:r>
            <a:endParaRPr lang="en-US" sz="1700" noProof="1"/>
          </a:p>
        </p:txBody>
      </p:sp>
      <p:sp>
        <p:nvSpPr>
          <p:cNvPr id="19" name="m5-text"/>
          <p:cNvSpPr txBox="1"/>
          <p:nvPr/>
        </p:nvSpPr>
        <p:spPr>
          <a:xfrm>
            <a:off x="6299200" y="1625600"/>
            <a:ext cx="14478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Amazon Prime</a:t>
            </a:r>
            <a:r>
              <a:rPr lang="en-US" sz="1050" noProof="1">
                <a:solidFill>
                  <a:srgbClr val="23272E"/>
                </a:solidFill>
                <a:latin typeface="Quattrocento Sans"/>
                <a:ea typeface="Quattrocento Sans"/>
              </a:rPr>
              <a:t> launches ($79/yr) — loyalty rewires shipping expectations</a:t>
            </a:r>
            <a:endParaRPr lang="en-US" sz="1050" noProof="1"/>
          </a:p>
        </p:txBody>
      </p:sp>
      <p:sp>
        <p:nvSpPr>
          <p:cNvPr id="20" name="m6-dot"/>
          <p:cNvSpPr/>
          <p:nvPr/>
        </p:nvSpPr>
        <p:spPr>
          <a:xfrm>
            <a:off x="8001000" y="3111500"/>
            <a:ext cx="152400" cy="152400"/>
          </a:xfrm>
          <a:prstGeom prst="ellipse">
            <a:avLst/>
          </a:prstGeom>
          <a:solidFill>
            <a:srgbClr val="BC4B26"/>
          </a:solidFill>
          <a:ln>
            <a:noFill/>
          </a:ln>
        </p:spPr>
      </p:sp>
      <p:sp>
        <p:nvSpPr>
          <p:cNvPr id="21" name="m6-year"/>
          <p:cNvSpPr txBox="1"/>
          <p:nvPr/>
        </p:nvSpPr>
        <p:spPr>
          <a:xfrm>
            <a:off x="7721600" y="33782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2007</a:t>
            </a:r>
            <a:endParaRPr lang="en-US" sz="1700" noProof="1"/>
          </a:p>
        </p:txBody>
      </p:sp>
      <p:sp>
        <p:nvSpPr>
          <p:cNvPr id="22" name="m6-text"/>
          <p:cNvSpPr txBox="1"/>
          <p:nvPr/>
        </p:nvSpPr>
        <p:spPr>
          <a:xfrm>
            <a:off x="7721600" y="3657600"/>
            <a:ext cx="14732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iPhone launches</a:t>
            </a:r>
            <a:r>
              <a:rPr lang="en-US" sz="1050" noProof="1">
                <a:solidFill>
                  <a:srgbClr val="23272E"/>
                </a:solidFill>
                <a:latin typeface="Quattrocento Sans"/>
                <a:ea typeface="Quattrocento Sans"/>
              </a:rPr>
              <a:t> — the m-commerce era begins</a:t>
            </a:r>
            <a:endParaRPr lang="en-US" sz="1050" noProof="1"/>
          </a:p>
        </p:txBody>
      </p:sp>
      <p:sp>
        <p:nvSpPr>
          <p:cNvPr id="23" name="m7-dot"/>
          <p:cNvSpPr/>
          <p:nvPr/>
        </p:nvSpPr>
        <p:spPr>
          <a:xfrm>
            <a:off x="9448800" y="3111500"/>
            <a:ext cx="152400" cy="152400"/>
          </a:xfrm>
          <a:prstGeom prst="ellipse">
            <a:avLst/>
          </a:prstGeom>
          <a:solidFill>
            <a:srgbClr val="BC4B26"/>
          </a:solidFill>
          <a:ln>
            <a:noFill/>
          </a:ln>
        </p:spPr>
      </p:sp>
      <p:sp>
        <p:nvSpPr>
          <p:cNvPr id="24" name="m7-year"/>
          <p:cNvSpPr txBox="1"/>
          <p:nvPr/>
        </p:nvSpPr>
        <p:spPr>
          <a:xfrm>
            <a:off x="9169400" y="25400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2009</a:t>
            </a:r>
            <a:endParaRPr lang="en-US" sz="1700" noProof="1"/>
          </a:p>
        </p:txBody>
      </p:sp>
      <p:sp>
        <p:nvSpPr>
          <p:cNvPr id="25" name="m7-text"/>
          <p:cNvSpPr txBox="1"/>
          <p:nvPr/>
        </p:nvSpPr>
        <p:spPr>
          <a:xfrm>
            <a:off x="9169400" y="1625600"/>
            <a:ext cx="16510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First Singles' Day</a:t>
            </a:r>
            <a:r>
              <a:rPr lang="en-US" sz="1050" noProof="1">
                <a:solidFill>
                  <a:srgbClr val="23272E"/>
                </a:solidFill>
                <a:latin typeface="Quattrocento Sans"/>
                <a:ea typeface="Quattrocento Sans"/>
              </a:rPr>
              <a:t> (11.11) — event commerce is invented; &gt;$84B GMV by 2021</a:t>
            </a:r>
            <a:endParaRPr lang="en-US" sz="1050" noProof="1"/>
          </a:p>
        </p:txBody>
      </p:sp>
      <p:sp>
        <p:nvSpPr>
          <p:cNvPr id="26" name="also-head"/>
          <p:cNvSpPr txBox="1"/>
          <p:nvPr/>
        </p:nvSpPr>
        <p:spPr>
          <a:xfrm>
            <a:off x="711200" y="4902200"/>
            <a:ext cx="10769600" cy="228600"/>
          </a:xfrm>
          <a:prstGeom prst="rect">
            <a:avLst/>
          </a:prstGeom>
          <a:noFill/>
          <a:ln>
            <a:noFill/>
          </a:ln>
        </p:spPr>
        <p:txBody>
          <a:bodyPr lIns="0" rIns="0" tIns="0" bIns="0" wrap="square" rtlCol="0"/>
          <a:lstStyle/>
          <a:p>
            <a:pPr>
              <a:lnSpc>
                <a:spcPct val="120000"/>
              </a:lnSpc>
            </a:pPr>
            <a:r>
              <a:rPr lang="en-US" sz="1200" noProof="1" b="1">
                <a:solidFill>
                  <a:srgbClr val="175E54"/>
                </a:solidFill>
                <a:latin typeface="Quattrocento Sans"/>
                <a:ea typeface="Quattrocento Sans"/>
              </a:rPr>
              <a:t>Also in this era</a:t>
            </a:r>
            <a:endParaRPr lang="en-US" sz="1200" noProof="1"/>
          </a:p>
        </p:txBody>
      </p:sp>
      <p:sp>
        <p:nvSpPr>
          <p:cNvPr id="27" name="also-body"/>
          <p:cNvSpPr txBox="1"/>
          <p:nvPr/>
        </p:nvSpPr>
        <p:spPr>
          <a:xfrm>
            <a:off x="711200" y="5181600"/>
            <a:ext cx="10769600" cy="711200"/>
          </a:xfrm>
          <a:prstGeom prst="rect">
            <a:avLst/>
          </a:prstGeom>
          <a:noFill/>
          <a:ln>
            <a:noFill/>
          </a:ln>
        </p:spPr>
        <p:txBody>
          <a:bodyPr lIns="0" rIns="0" tIns="0" bIns="0" wrap="square" rtlCol="0"/>
          <a:lstStyle/>
          <a:p>
            <a:pPr>
              <a:lnSpc>
                <a:spcPct val="145000"/>
              </a:lnSpc>
            </a:pPr>
            <a:r>
              <a:rPr lang="en-US" sz="1100" noProof="1">
                <a:solidFill>
                  <a:srgbClr val="6E675C"/>
                </a:solidFill>
                <a:latin typeface="Quattrocento Sans"/>
                <a:ea typeface="Quattrocento Sans"/>
              </a:rPr>
              <a:t>1994 — first secure web retail transaction (NetMarket; SSL makes web payment viable) and Amazon founded · 2000 — Google AdWords: search becomes a commerce channel · 2003 — Taobao launched · 2006 — Shopify founded · 2008 — Apple App Store opens</a:t>
            </a:r>
            <a:endParaRPr lang="en-US" sz="1100" noProof="1"/>
          </a:p>
        </p:txBody>
      </p:sp>
      <p:sp>
        <p:nvSpPr>
          <p:cNvPr id="28"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 research brief §1.5 milestone table; pre-2022 entries are standard, verifiable company history (company about-pages). Singles' Day GMV is company-reported.</a:t>
            </a:r>
            <a:endParaRPr lang="en-US" sz="1000" noProof="1"/>
          </a:p>
        </p:txBody>
      </p:sp>
      <p:sp>
        <p:nvSpPr>
          <p:cNvPr id="29" name="foot-rule"/>
          <p:cNvSpPr/>
          <p:nvPr/>
        </p:nvSpPr>
        <p:spPr>
          <a:xfrm>
            <a:off x="711200" y="6451600"/>
            <a:ext cx="10769600" cy="12700"/>
          </a:xfrm>
          <a:prstGeom prst="rect">
            <a:avLst/>
          </a:prstGeom>
          <a:solidFill>
            <a:srgbClr val="D9D2C4"/>
          </a:solidFill>
          <a:ln>
            <a:noFill/>
          </a:ln>
        </p:spPr>
      </p:sp>
      <p:sp>
        <p:nvSpPr>
          <p:cNvPr id="30"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31"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32"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17</a:t>
            </a:r>
            <a:endParaRPr lang="en-US" sz="950" noProof="1"/>
          </a:p>
        </p:txBody>
      </p:sp>
    </p:spTree>
  </p:cSld>
  <p:clrMapOvr>
    <a:masterClrMapping/>
  </p:clrMapOvr>
</p:sld>
</file>

<file path=ppt/slides/slide1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TIMELINE, PART 2 OF 2</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2010–2026: feeds, a pandemic, then machines that shop</a:t>
            </a:r>
            <a:endParaRPr lang="en-US" sz="2600" noProof="1"/>
          </a:p>
        </p:txBody>
      </p:sp>
      <p:sp>
        <p:nvSpPr>
          <p:cNvPr id="4" name="axis"/>
          <p:cNvSpPr/>
          <p:nvPr/>
        </p:nvSpPr>
        <p:spPr>
          <a:xfrm>
            <a:off x="711200" y="3175000"/>
            <a:ext cx="10769600" cy="25400"/>
          </a:xfrm>
          <a:prstGeom prst="rect">
            <a:avLst/>
          </a:prstGeom>
          <a:solidFill>
            <a:srgbClr val="175E54"/>
          </a:solidFill>
          <a:ln>
            <a:noFill/>
          </a:ln>
        </p:spPr>
      </p:sp>
      <p:sp>
        <p:nvSpPr>
          <p:cNvPr id="5" name="m1-dot"/>
          <p:cNvSpPr/>
          <p:nvPr/>
        </p:nvSpPr>
        <p:spPr>
          <a:xfrm>
            <a:off x="787400" y="3111500"/>
            <a:ext cx="152400" cy="152400"/>
          </a:xfrm>
          <a:prstGeom prst="ellipse">
            <a:avLst/>
          </a:prstGeom>
          <a:solidFill>
            <a:srgbClr val="BC4B26"/>
          </a:solidFill>
          <a:ln>
            <a:noFill/>
          </a:ln>
        </p:spPr>
      </p:sp>
      <p:sp>
        <p:nvSpPr>
          <p:cNvPr id="6" name="m1-year"/>
          <p:cNvSpPr txBox="1"/>
          <p:nvPr/>
        </p:nvSpPr>
        <p:spPr>
          <a:xfrm>
            <a:off x="508000" y="25400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2014</a:t>
            </a:r>
            <a:endParaRPr lang="en-US" sz="1700" noProof="1"/>
          </a:p>
        </p:txBody>
      </p:sp>
      <p:sp>
        <p:nvSpPr>
          <p:cNvPr id="7" name="m1-text"/>
          <p:cNvSpPr txBox="1"/>
          <p:nvPr/>
        </p:nvSpPr>
        <p:spPr>
          <a:xfrm>
            <a:off x="508000" y="1625600"/>
            <a:ext cx="14732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Alibaba IPO</a:t>
            </a:r>
            <a:r>
              <a:rPr lang="en-US" sz="1050" noProof="1">
                <a:solidFill>
                  <a:srgbClr val="23272E"/>
                </a:solidFill>
                <a:latin typeface="Quattrocento Sans"/>
                <a:ea typeface="Quattrocento Sans"/>
              </a:rPr>
              <a:t> (then-largest ever, $25B); </a:t>
            </a:r>
            <a:r>
              <a:rPr lang="en-US" sz="1050" noProof="1" b="1">
                <a:solidFill>
                  <a:srgbClr val="23272E"/>
                </a:solidFill>
                <a:latin typeface="Quattrocento Sans"/>
                <a:ea typeface="Quattrocento Sans"/>
              </a:rPr>
              <a:t>Amazon Echo</a:t>
            </a:r>
            <a:r>
              <a:rPr lang="en-US" sz="1050" noProof="1">
                <a:solidFill>
                  <a:srgbClr val="23272E"/>
                </a:solidFill>
                <a:latin typeface="Quattrocento Sans"/>
                <a:ea typeface="Quattrocento Sans"/>
              </a:rPr>
              <a:t> announced — voice hardware arrives</a:t>
            </a:r>
            <a:endParaRPr lang="en-US" sz="1050" noProof="1"/>
          </a:p>
        </p:txBody>
      </p:sp>
      <p:sp>
        <p:nvSpPr>
          <p:cNvPr id="8" name="m2-dot"/>
          <p:cNvSpPr/>
          <p:nvPr/>
        </p:nvSpPr>
        <p:spPr>
          <a:xfrm>
            <a:off x="2311400" y="3111500"/>
            <a:ext cx="152400" cy="152400"/>
          </a:xfrm>
          <a:prstGeom prst="ellipse">
            <a:avLst/>
          </a:prstGeom>
          <a:solidFill>
            <a:srgbClr val="BC4B26"/>
          </a:solidFill>
          <a:ln>
            <a:noFill/>
          </a:ln>
        </p:spPr>
      </p:sp>
      <p:sp>
        <p:nvSpPr>
          <p:cNvPr id="9" name="m2-year"/>
          <p:cNvSpPr txBox="1"/>
          <p:nvPr/>
        </p:nvSpPr>
        <p:spPr>
          <a:xfrm>
            <a:off x="2032000" y="33782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2018</a:t>
            </a:r>
            <a:endParaRPr lang="en-US" sz="1700" noProof="1"/>
          </a:p>
        </p:txBody>
      </p:sp>
      <p:sp>
        <p:nvSpPr>
          <p:cNvPr id="10" name="m2-text"/>
          <p:cNvSpPr txBox="1"/>
          <p:nvPr/>
        </p:nvSpPr>
        <p:spPr>
          <a:xfrm>
            <a:off x="2032000" y="3657600"/>
            <a:ext cx="14732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Instagram shoppable tags</a:t>
            </a:r>
            <a:r>
              <a:rPr lang="en-US" sz="1050" noProof="1">
                <a:solidFill>
                  <a:srgbClr val="23272E"/>
                </a:solidFill>
                <a:latin typeface="Quattrocento Sans"/>
                <a:ea typeface="Quattrocento Sans"/>
              </a:rPr>
              <a:t>; L'Oréal buys ModiFace — social checkout + AR try-on converge</a:t>
            </a:r>
            <a:endParaRPr lang="en-US" sz="1050" noProof="1"/>
          </a:p>
        </p:txBody>
      </p:sp>
      <p:sp>
        <p:nvSpPr>
          <p:cNvPr id="11" name="m3-dot"/>
          <p:cNvSpPr/>
          <p:nvPr/>
        </p:nvSpPr>
        <p:spPr>
          <a:xfrm>
            <a:off x="3835400" y="3111500"/>
            <a:ext cx="152400" cy="152400"/>
          </a:xfrm>
          <a:prstGeom prst="ellipse">
            <a:avLst/>
          </a:prstGeom>
          <a:solidFill>
            <a:srgbClr val="BC4B26"/>
          </a:solidFill>
          <a:ln>
            <a:noFill/>
          </a:ln>
        </p:spPr>
      </p:sp>
      <p:sp>
        <p:nvSpPr>
          <p:cNvPr id="12" name="m3-year"/>
          <p:cNvSpPr txBox="1"/>
          <p:nvPr/>
        </p:nvSpPr>
        <p:spPr>
          <a:xfrm>
            <a:off x="3556000" y="25400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2020</a:t>
            </a:r>
            <a:endParaRPr lang="en-US" sz="1700" noProof="1"/>
          </a:p>
        </p:txBody>
      </p:sp>
      <p:sp>
        <p:nvSpPr>
          <p:cNvPr id="13" name="m3-text"/>
          <p:cNvSpPr txBox="1"/>
          <p:nvPr/>
        </p:nvSpPr>
        <p:spPr>
          <a:xfrm>
            <a:off x="3556000" y="1625600"/>
            <a:ext cx="15240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COVID-19</a:t>
            </a:r>
            <a:r>
              <a:rPr lang="en-US" sz="1050" noProof="1">
                <a:solidFill>
                  <a:srgbClr val="23272E"/>
                </a:solidFill>
                <a:latin typeface="Quattrocento Sans"/>
                <a:ea typeface="Quattrocento Sans"/>
              </a:rPr>
              <a:t>: US e-commerce +42% YoY; Facebook &amp; Instagram Shops launch — a decade of adoption in months</a:t>
            </a:r>
            <a:endParaRPr lang="en-US" sz="1050" noProof="1"/>
          </a:p>
        </p:txBody>
      </p:sp>
      <p:sp>
        <p:nvSpPr>
          <p:cNvPr id="14" name="m4-dot"/>
          <p:cNvSpPr/>
          <p:nvPr/>
        </p:nvSpPr>
        <p:spPr>
          <a:xfrm>
            <a:off x="5410200" y="3111500"/>
            <a:ext cx="152400" cy="152400"/>
          </a:xfrm>
          <a:prstGeom prst="ellipse">
            <a:avLst/>
          </a:prstGeom>
          <a:solidFill>
            <a:srgbClr val="BC4B26"/>
          </a:solidFill>
          <a:ln>
            <a:noFill/>
          </a:ln>
        </p:spPr>
      </p:sp>
      <p:sp>
        <p:nvSpPr>
          <p:cNvPr id="15" name="m4-year"/>
          <p:cNvSpPr txBox="1"/>
          <p:nvPr/>
        </p:nvSpPr>
        <p:spPr>
          <a:xfrm>
            <a:off x="5130800" y="33782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2022</a:t>
            </a:r>
            <a:endParaRPr lang="en-US" sz="1700" noProof="1"/>
          </a:p>
        </p:txBody>
      </p:sp>
      <p:sp>
        <p:nvSpPr>
          <p:cNvPr id="16" name="m4-text"/>
          <p:cNvSpPr txBox="1"/>
          <p:nvPr/>
        </p:nvSpPr>
        <p:spPr>
          <a:xfrm>
            <a:off x="5130800" y="3657600"/>
            <a:ext cx="14224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ChatGPT launches</a:t>
            </a:r>
            <a:r>
              <a:rPr lang="en-US" sz="1050" noProof="1">
                <a:solidFill>
                  <a:srgbClr val="23272E"/>
                </a:solidFill>
                <a:latin typeface="Quattrocento Sans"/>
                <a:ea typeface="Quattrocento Sans"/>
              </a:rPr>
              <a:t> (Nov) — the generative-AI wave begins; interface #5 gestates</a:t>
            </a:r>
            <a:endParaRPr lang="en-US" sz="1050" noProof="1"/>
          </a:p>
        </p:txBody>
      </p:sp>
      <p:sp>
        <p:nvSpPr>
          <p:cNvPr id="17" name="m5-dot"/>
          <p:cNvSpPr/>
          <p:nvPr/>
        </p:nvSpPr>
        <p:spPr>
          <a:xfrm>
            <a:off x="6883400" y="3111500"/>
            <a:ext cx="152400" cy="152400"/>
          </a:xfrm>
          <a:prstGeom prst="ellipse">
            <a:avLst/>
          </a:prstGeom>
          <a:solidFill>
            <a:srgbClr val="BC4B26"/>
          </a:solidFill>
          <a:ln>
            <a:noFill/>
          </a:ln>
        </p:spPr>
      </p:sp>
      <p:sp>
        <p:nvSpPr>
          <p:cNvPr id="18" name="m5-year"/>
          <p:cNvSpPr txBox="1"/>
          <p:nvPr/>
        </p:nvSpPr>
        <p:spPr>
          <a:xfrm>
            <a:off x="6604000" y="25400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2023</a:t>
            </a:r>
            <a:endParaRPr lang="en-US" sz="1700" noProof="1"/>
          </a:p>
        </p:txBody>
      </p:sp>
      <p:sp>
        <p:nvSpPr>
          <p:cNvPr id="19" name="m5-text"/>
          <p:cNvSpPr txBox="1"/>
          <p:nvPr/>
        </p:nvSpPr>
        <p:spPr>
          <a:xfrm>
            <a:off x="6604000" y="1625600"/>
            <a:ext cx="14732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TikTok Shop launches in the US</a:t>
            </a:r>
            <a:r>
              <a:rPr lang="en-US" sz="1050" noProof="1">
                <a:solidFill>
                  <a:srgbClr val="23272E"/>
                </a:solidFill>
                <a:latin typeface="Quattrocento Sans"/>
                <a:ea typeface="Quattrocento Sans"/>
              </a:rPr>
              <a:t> (Sept) — social commerce goes transactional in the West</a:t>
            </a:r>
            <a:endParaRPr lang="en-US" sz="1050" noProof="1"/>
          </a:p>
        </p:txBody>
      </p:sp>
      <p:sp>
        <p:nvSpPr>
          <p:cNvPr id="20" name="m6-dot"/>
          <p:cNvSpPr/>
          <p:nvPr/>
        </p:nvSpPr>
        <p:spPr>
          <a:xfrm>
            <a:off x="8407400" y="3111500"/>
            <a:ext cx="152400" cy="152400"/>
          </a:xfrm>
          <a:prstGeom prst="ellipse">
            <a:avLst/>
          </a:prstGeom>
          <a:solidFill>
            <a:srgbClr val="BC4B26"/>
          </a:solidFill>
          <a:ln>
            <a:noFill/>
          </a:ln>
        </p:spPr>
      </p:sp>
      <p:sp>
        <p:nvSpPr>
          <p:cNvPr id="21" name="m6-year"/>
          <p:cNvSpPr txBox="1"/>
          <p:nvPr/>
        </p:nvSpPr>
        <p:spPr>
          <a:xfrm>
            <a:off x="8128000" y="3378200"/>
            <a:ext cx="1143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2024</a:t>
            </a:r>
            <a:endParaRPr lang="en-US" sz="1700" noProof="1"/>
          </a:p>
        </p:txBody>
      </p:sp>
      <p:sp>
        <p:nvSpPr>
          <p:cNvPr id="22" name="m6-text"/>
          <p:cNvSpPr txBox="1"/>
          <p:nvPr/>
        </p:nvSpPr>
        <p:spPr>
          <a:xfrm>
            <a:off x="8128000" y="3657600"/>
            <a:ext cx="14986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Amazon Rufus</a:t>
            </a:r>
            <a:r>
              <a:rPr lang="en-US" sz="1050" noProof="1">
                <a:solidFill>
                  <a:srgbClr val="23272E"/>
                </a:solidFill>
                <a:latin typeface="Quattrocento Sans"/>
                <a:ea typeface="Quattrocento Sans"/>
              </a:rPr>
              <a:t> (Feb–Sept); </a:t>
            </a:r>
            <a:r>
              <a:rPr lang="en-US" sz="1050" noProof="1" b="1">
                <a:solidFill>
                  <a:srgbClr val="23272E"/>
                </a:solidFill>
                <a:latin typeface="Quattrocento Sans"/>
                <a:ea typeface="Quattrocento Sans"/>
              </a:rPr>
              <a:t>Perplexity Buy with Pro</a:t>
            </a:r>
            <a:r>
              <a:rPr lang="en-US" sz="1050" noProof="1">
                <a:solidFill>
                  <a:srgbClr val="23272E"/>
                </a:solidFill>
                <a:latin typeface="Quattrocento Sans"/>
                <a:ea typeface="Quattrocento Sans"/>
              </a:rPr>
              <a:t> (Nov) — AI assistants meet in-chat checkout</a:t>
            </a:r>
            <a:endParaRPr lang="en-US" sz="1050" noProof="1"/>
          </a:p>
        </p:txBody>
      </p:sp>
      <p:sp>
        <p:nvSpPr>
          <p:cNvPr id="23" name="m7-dot"/>
          <p:cNvSpPr/>
          <p:nvPr/>
        </p:nvSpPr>
        <p:spPr>
          <a:xfrm>
            <a:off x="9982200" y="3111500"/>
            <a:ext cx="152400" cy="152400"/>
          </a:xfrm>
          <a:prstGeom prst="ellipse">
            <a:avLst/>
          </a:prstGeom>
          <a:solidFill>
            <a:srgbClr val="BC4B26"/>
          </a:solidFill>
          <a:ln>
            <a:noFill/>
          </a:ln>
        </p:spPr>
      </p:sp>
      <p:sp>
        <p:nvSpPr>
          <p:cNvPr id="24" name="m7-year"/>
          <p:cNvSpPr txBox="1"/>
          <p:nvPr/>
        </p:nvSpPr>
        <p:spPr>
          <a:xfrm>
            <a:off x="9702800" y="2540000"/>
            <a:ext cx="1524000" cy="228600"/>
          </a:xfrm>
          <a:prstGeom prst="rect">
            <a:avLst/>
          </a:prstGeom>
          <a:noFill/>
          <a:ln>
            <a:noFill/>
          </a:ln>
        </p:spPr>
        <p:txBody>
          <a:bodyPr lIns="0" rIns="0" tIns="0" bIns="0" wrap="none" rtlCol="0"/>
          <a:lstStyle/>
          <a:p>
            <a:pPr>
              <a:lnSpc>
                <a:spcPct val="120000"/>
              </a:lnSpc>
            </a:pPr>
            <a:r>
              <a:rPr lang="en-US" sz="1700" noProof="1">
                <a:solidFill>
                  <a:srgbClr val="BC4B26"/>
                </a:solidFill>
                <a:latin typeface="Unna"/>
                <a:ea typeface="Unna"/>
              </a:rPr>
              <a:t>2025–26</a:t>
            </a:r>
            <a:endParaRPr lang="en-US" sz="1700" noProof="1"/>
          </a:p>
        </p:txBody>
      </p:sp>
      <p:sp>
        <p:nvSpPr>
          <p:cNvPr id="25" name="m7-text"/>
          <p:cNvSpPr txBox="1"/>
          <p:nvPr/>
        </p:nvSpPr>
        <p:spPr>
          <a:xfrm>
            <a:off x="9702800" y="1625600"/>
            <a:ext cx="1778000" cy="863600"/>
          </a:xfrm>
          <a:prstGeom prst="rect">
            <a:avLst/>
          </a:prstGeom>
          <a:noFill/>
          <a:ln>
            <a:noFill/>
          </a:ln>
        </p:spPr>
        <p:txBody>
          <a:bodyPr lIns="0" rIns="0" tIns="0" bIns="0" wrap="square" rtlCol="0"/>
          <a:lstStyle/>
          <a:p>
            <a:pPr>
              <a:lnSpc>
                <a:spcPct val="135000"/>
              </a:lnSpc>
            </a:pPr>
            <a:r>
              <a:rPr lang="en-US" sz="1050" noProof="1" b="1">
                <a:solidFill>
                  <a:srgbClr val="23272E"/>
                </a:solidFill>
                <a:latin typeface="Quattrocento Sans"/>
                <a:ea typeface="Quattrocento Sans"/>
              </a:rPr>
              <a:t>ChatGPT Instant Checkout</a:t>
            </a:r>
            <a:r>
              <a:rPr lang="en-US" sz="1050" noProof="1">
                <a:solidFill>
                  <a:srgbClr val="23272E"/>
                </a:solidFill>
                <a:latin typeface="Quattrocento Sans"/>
                <a:ea typeface="Quattrocento Sans"/>
              </a:rPr>
              <a:t> (Sept 2025); AI-referred traffic converts 54% better (2026)</a:t>
            </a:r>
            <a:endParaRPr lang="en-US" sz="1050" noProof="1"/>
          </a:p>
        </p:txBody>
      </p:sp>
      <p:sp>
        <p:nvSpPr>
          <p:cNvPr id="26" name="note-head"/>
          <p:cNvSpPr txBox="1"/>
          <p:nvPr/>
        </p:nvSpPr>
        <p:spPr>
          <a:xfrm>
            <a:off x="711200" y="4902200"/>
            <a:ext cx="10769600" cy="228600"/>
          </a:xfrm>
          <a:prstGeom prst="rect">
            <a:avLst/>
          </a:prstGeom>
          <a:noFill/>
          <a:ln>
            <a:noFill/>
          </a:ln>
        </p:spPr>
        <p:txBody>
          <a:bodyPr lIns="0" rIns="0" tIns="0" bIns="0" wrap="square" rtlCol="0"/>
          <a:lstStyle/>
          <a:p>
            <a:pPr>
              <a:lnSpc>
                <a:spcPct val="120000"/>
              </a:lnSpc>
            </a:pPr>
            <a:r>
              <a:rPr lang="en-US" sz="1200" noProof="1" b="1">
                <a:solidFill>
                  <a:srgbClr val="175E54"/>
                </a:solidFill>
                <a:latin typeface="Quattrocento Sans"/>
                <a:ea typeface="Quattrocento Sans"/>
              </a:rPr>
              <a:t>Notice the acceleration</a:t>
            </a:r>
            <a:endParaRPr lang="en-US" sz="1200" noProof="1"/>
          </a:p>
        </p:txBody>
      </p:sp>
      <p:sp>
        <p:nvSpPr>
          <p:cNvPr id="27" name="note-body"/>
          <p:cNvSpPr txBox="1"/>
          <p:nvPr/>
        </p:nvSpPr>
        <p:spPr>
          <a:xfrm>
            <a:off x="711200" y="5181600"/>
            <a:ext cx="10769600" cy="711200"/>
          </a:xfrm>
          <a:prstGeom prst="rect">
            <a:avLst/>
          </a:prstGeom>
          <a:noFill/>
          <a:ln>
            <a:noFill/>
          </a:ln>
        </p:spPr>
        <p:txBody>
          <a:bodyPr lIns="0" rIns="0" tIns="0" bIns="0" wrap="square" rtlCol="0"/>
          <a:lstStyle/>
          <a:p>
            <a:pPr>
              <a:lnSpc>
                <a:spcPct val="145000"/>
              </a:lnSpc>
            </a:pPr>
            <a:r>
              <a:rPr lang="en-US" sz="1100" noProof="1">
                <a:solidFill>
                  <a:srgbClr val="6E675C"/>
                </a:solidFill>
                <a:latin typeface="Quattrocento Sans"/>
                <a:ea typeface="Quattrocento Sans"/>
              </a:rPr>
              <a:t>Era boundaries are compressing: desktop e-commerce took ~13 years to mature, mobile ~8, social ~8 — and the agentic interface went from launch (2022) to a material discovery channel in under four. Also on this stretch: 2011 Stripe &amp; Google Wallet · 2013 WeChat Pay, Flipkart ~$1B GMV · 2016 Pinduoduo &amp; UPI · 2021 Shopify GMV &gt; $175B.</a:t>
            </a:r>
            <a:endParaRPr lang="en-US" sz="1100" noProof="1"/>
          </a:p>
        </p:txBody>
      </p:sp>
      <p:sp>
        <p:nvSpPr>
          <p:cNvPr id="28"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Adobe via Digital Commerce 360, 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3"/>
              </a:rPr>
              <a:t>OpenAI timeline via Darkroom, 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4"/>
              </a:rPr>
              <a:t>Perplexity, 2024</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5"/>
              </a:rPr>
              <a:t>US Census via SellersCommerce, 2025</a:t>
            </a:r>
            <a:r>
              <a:rPr lang="en-US" sz="1000" noProof="1">
                <a:solidFill>
                  <a:srgbClr val="9A9284"/>
                </a:solidFill>
                <a:latin typeface="Quattrocento Sans"/>
                <a:ea typeface="Quattrocento Sans"/>
              </a:rPr>
              <a:t>.</a:t>
            </a:r>
            <a:endParaRPr lang="en-US" sz="1000" noProof="1"/>
          </a:p>
        </p:txBody>
      </p:sp>
      <p:sp>
        <p:nvSpPr>
          <p:cNvPr id="29" name="foot-rule"/>
          <p:cNvSpPr/>
          <p:nvPr/>
        </p:nvSpPr>
        <p:spPr>
          <a:xfrm>
            <a:off x="711200" y="6451600"/>
            <a:ext cx="10769600" cy="12700"/>
          </a:xfrm>
          <a:prstGeom prst="rect">
            <a:avLst/>
          </a:prstGeom>
          <a:solidFill>
            <a:srgbClr val="D9D2C4"/>
          </a:solidFill>
          <a:ln>
            <a:noFill/>
          </a:ln>
        </p:spPr>
      </p:sp>
      <p:sp>
        <p:nvSpPr>
          <p:cNvPr id="30"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31"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32"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18</a:t>
            </a:r>
            <a:endParaRPr lang="en-US" sz="950" noProof="1"/>
          </a:p>
        </p:txBody>
      </p:sp>
    </p:spTree>
  </p:cSld>
  <p:clrMapOvr>
    <a:masterClrMapping/>
  </p:clrMapOvr>
</p:sld>
</file>

<file path=ppt/slides/slide1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FRAMEWORK</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The retail evolution continuum: channels layer, not replace</a:t>
            </a:r>
            <a:endParaRPr lang="en-US" sz="2600" noProof="1"/>
          </a:p>
        </p:txBody>
      </p:sp>
      <p:sp>
        <p:nvSpPr>
          <p:cNvPr id="4" name="chev1"/>
          <p:cNvSpPr/>
          <p:nvPr/>
        </p:nvSpPr>
        <p:spPr>
          <a:xfrm>
            <a:off x="711200" y="1422400"/>
            <a:ext cx="2286000" cy="787400"/>
          </a:xfrm>
          <a:prstGeom prst="homePlate">
            <a:avLst/>
          </a:prstGeom>
          <a:solidFill>
            <a:srgbClr val="175E54"/>
          </a:solidFill>
          <a:ln>
            <a:noFill/>
          </a:ln>
        </p:spPr>
      </p:sp>
      <p:sp>
        <p:nvSpPr>
          <p:cNvPr id="5" name="chev1-text"/>
          <p:cNvSpPr txBox="1"/>
          <p:nvPr/>
        </p:nvSpPr>
        <p:spPr>
          <a:xfrm>
            <a:off x="838200" y="1524000"/>
            <a:ext cx="1905000" cy="584200"/>
          </a:xfrm>
          <a:prstGeom prst="rect">
            <a:avLst/>
          </a:prstGeom>
          <a:noFill/>
          <a:ln>
            <a:noFill/>
          </a:ln>
        </p:spPr>
        <p:txBody>
          <a:bodyPr lIns="0" rIns="0" tIns="0" bIns="0" wrap="square" rtlCol="0"/>
          <a:lstStyle/>
          <a:p>
            <a:pPr>
              <a:lnSpc>
                <a:spcPct val="130000"/>
              </a:lnSpc>
            </a:pPr>
            <a:r>
              <a:rPr lang="en-US" sz="1150" noProof="1" b="1">
                <a:solidFill>
                  <a:srgbClr val="FFFFFF"/>
                </a:solidFill>
                <a:latin typeface="Quattrocento Sans"/>
                <a:ea typeface="Quattrocento Sans"/>
              </a:rPr>
              <a:t>1 · Brick-and-mortar</a:t>
            </a:r>
            <a:endParaRPr lang="en-US" sz="1150" noProof="1"/>
          </a:p>
          <a:p>
            <a:pPr>
              <a:lnSpc>
                <a:spcPct val="130000"/>
              </a:lnSpc>
            </a:pPr>
            <a:r>
              <a:rPr lang="en-US" sz="1150" noProof="1">
                <a:solidFill>
                  <a:srgbClr val="FFFFFF"/>
                </a:solidFill>
                <a:latin typeface="Quattrocento Sans"/>
                <a:ea typeface="Quattrocento Sans"/>
              </a:rPr>
              <a:t>pre-1994</a:t>
            </a:r>
            <a:endParaRPr lang="en-US" sz="1150" noProof="1"/>
          </a:p>
        </p:txBody>
      </p:sp>
      <p:sp>
        <p:nvSpPr>
          <p:cNvPr id="6" name="chev2"/>
          <p:cNvSpPr/>
          <p:nvPr/>
        </p:nvSpPr>
        <p:spPr>
          <a:xfrm>
            <a:off x="2832100" y="1422400"/>
            <a:ext cx="2286000" cy="787400"/>
          </a:xfrm>
          <a:prstGeom prst="chevron">
            <a:avLst/>
          </a:prstGeom>
          <a:solidFill>
            <a:srgbClr val="175E54"/>
          </a:solidFill>
          <a:ln>
            <a:noFill/>
          </a:ln>
        </p:spPr>
      </p:sp>
      <p:sp>
        <p:nvSpPr>
          <p:cNvPr id="7" name="chev2-text"/>
          <p:cNvSpPr txBox="1"/>
          <p:nvPr/>
        </p:nvSpPr>
        <p:spPr>
          <a:xfrm>
            <a:off x="3187700" y="1524000"/>
            <a:ext cx="1854200" cy="584200"/>
          </a:xfrm>
          <a:prstGeom prst="rect">
            <a:avLst/>
          </a:prstGeom>
          <a:noFill/>
          <a:ln>
            <a:noFill/>
          </a:ln>
        </p:spPr>
        <p:txBody>
          <a:bodyPr lIns="0" rIns="0" tIns="0" bIns="0" wrap="square" rtlCol="0"/>
          <a:lstStyle/>
          <a:p>
            <a:pPr>
              <a:lnSpc>
                <a:spcPct val="130000"/>
              </a:lnSpc>
            </a:pPr>
            <a:r>
              <a:rPr lang="en-US" sz="1150" noProof="1" b="1">
                <a:solidFill>
                  <a:srgbClr val="FFFFFF"/>
                </a:solidFill>
                <a:latin typeface="Quattrocento Sans"/>
                <a:ea typeface="Quattrocento Sans"/>
              </a:rPr>
              <a:t>2 · E-commerce</a:t>
            </a:r>
            <a:endParaRPr lang="en-US" sz="1150" noProof="1"/>
          </a:p>
          <a:p>
            <a:pPr>
              <a:lnSpc>
                <a:spcPct val="130000"/>
              </a:lnSpc>
            </a:pPr>
            <a:r>
              <a:rPr lang="en-US" sz="1150" noProof="1">
                <a:solidFill>
                  <a:srgbClr val="FFFFFF"/>
                </a:solidFill>
                <a:latin typeface="Quattrocento Sans"/>
                <a:ea typeface="Quattrocento Sans"/>
              </a:rPr>
              <a:t>1994–2007</a:t>
            </a:r>
            <a:endParaRPr lang="en-US" sz="1150" noProof="1"/>
          </a:p>
        </p:txBody>
      </p:sp>
      <p:sp>
        <p:nvSpPr>
          <p:cNvPr id="8" name="chev3"/>
          <p:cNvSpPr/>
          <p:nvPr/>
        </p:nvSpPr>
        <p:spPr>
          <a:xfrm>
            <a:off x="4953000" y="1422400"/>
            <a:ext cx="2286000" cy="787400"/>
          </a:xfrm>
          <a:prstGeom prst="chevron">
            <a:avLst/>
          </a:prstGeom>
          <a:solidFill>
            <a:srgbClr val="175E54"/>
          </a:solidFill>
          <a:ln>
            <a:noFill/>
          </a:ln>
        </p:spPr>
      </p:sp>
      <p:sp>
        <p:nvSpPr>
          <p:cNvPr id="9" name="chev3-text"/>
          <p:cNvSpPr txBox="1"/>
          <p:nvPr/>
        </p:nvSpPr>
        <p:spPr>
          <a:xfrm>
            <a:off x="5308600" y="1524000"/>
            <a:ext cx="1854200" cy="584200"/>
          </a:xfrm>
          <a:prstGeom prst="rect">
            <a:avLst/>
          </a:prstGeom>
          <a:noFill/>
          <a:ln>
            <a:noFill/>
          </a:ln>
        </p:spPr>
        <p:txBody>
          <a:bodyPr lIns="0" rIns="0" tIns="0" bIns="0" wrap="square" rtlCol="0"/>
          <a:lstStyle/>
          <a:p>
            <a:pPr>
              <a:lnSpc>
                <a:spcPct val="130000"/>
              </a:lnSpc>
            </a:pPr>
            <a:r>
              <a:rPr lang="en-US" sz="1150" noProof="1" b="1">
                <a:solidFill>
                  <a:srgbClr val="FFFFFF"/>
                </a:solidFill>
                <a:latin typeface="Quattrocento Sans"/>
                <a:ea typeface="Quattrocento Sans"/>
              </a:rPr>
              <a:t>3 · M-commerce</a:t>
            </a:r>
            <a:endParaRPr lang="en-US" sz="1150" noProof="1"/>
          </a:p>
          <a:p>
            <a:pPr>
              <a:lnSpc>
                <a:spcPct val="130000"/>
              </a:lnSpc>
            </a:pPr>
            <a:r>
              <a:rPr lang="en-US" sz="1150" noProof="1">
                <a:solidFill>
                  <a:srgbClr val="FFFFFF"/>
                </a:solidFill>
                <a:latin typeface="Quattrocento Sans"/>
                <a:ea typeface="Quattrocento Sans"/>
              </a:rPr>
              <a:t>2007–2015</a:t>
            </a:r>
            <a:endParaRPr lang="en-US" sz="1150" noProof="1"/>
          </a:p>
        </p:txBody>
      </p:sp>
      <p:sp>
        <p:nvSpPr>
          <p:cNvPr id="10" name="chev4"/>
          <p:cNvSpPr/>
          <p:nvPr/>
        </p:nvSpPr>
        <p:spPr>
          <a:xfrm>
            <a:off x="7073900" y="1422400"/>
            <a:ext cx="2286000" cy="787400"/>
          </a:xfrm>
          <a:prstGeom prst="chevron">
            <a:avLst/>
          </a:prstGeom>
          <a:solidFill>
            <a:srgbClr val="175E54"/>
          </a:solidFill>
          <a:ln>
            <a:noFill/>
          </a:ln>
        </p:spPr>
      </p:sp>
      <p:sp>
        <p:nvSpPr>
          <p:cNvPr id="11" name="chev4-text"/>
          <p:cNvSpPr txBox="1"/>
          <p:nvPr/>
        </p:nvSpPr>
        <p:spPr>
          <a:xfrm>
            <a:off x="7429500" y="1524000"/>
            <a:ext cx="1854200" cy="584200"/>
          </a:xfrm>
          <a:prstGeom prst="rect">
            <a:avLst/>
          </a:prstGeom>
          <a:noFill/>
          <a:ln>
            <a:noFill/>
          </a:ln>
        </p:spPr>
        <p:txBody>
          <a:bodyPr lIns="0" rIns="0" tIns="0" bIns="0" wrap="square" rtlCol="0"/>
          <a:lstStyle/>
          <a:p>
            <a:pPr>
              <a:lnSpc>
                <a:spcPct val="130000"/>
              </a:lnSpc>
            </a:pPr>
            <a:r>
              <a:rPr lang="en-US" sz="1150" noProof="1" b="1">
                <a:solidFill>
                  <a:srgbClr val="FFFFFF"/>
                </a:solidFill>
                <a:latin typeface="Quattrocento Sans"/>
                <a:ea typeface="Quattrocento Sans"/>
              </a:rPr>
              <a:t>4 · Social &amp; conversational</a:t>
            </a:r>
            <a:endParaRPr lang="en-US" sz="1150" noProof="1"/>
          </a:p>
          <a:p>
            <a:pPr>
              <a:lnSpc>
                <a:spcPct val="130000"/>
              </a:lnSpc>
            </a:pPr>
            <a:r>
              <a:rPr lang="en-US" sz="1150" noProof="1">
                <a:solidFill>
                  <a:srgbClr val="FFFFFF"/>
                </a:solidFill>
                <a:latin typeface="Quattrocento Sans"/>
                <a:ea typeface="Quattrocento Sans"/>
              </a:rPr>
              <a:t>2015–2023</a:t>
            </a:r>
            <a:endParaRPr lang="en-US" sz="1150" noProof="1"/>
          </a:p>
        </p:txBody>
      </p:sp>
      <p:sp>
        <p:nvSpPr>
          <p:cNvPr id="12" name="chev5"/>
          <p:cNvSpPr/>
          <p:nvPr/>
        </p:nvSpPr>
        <p:spPr>
          <a:xfrm>
            <a:off x="9194800" y="1422400"/>
            <a:ext cx="2286000" cy="787400"/>
          </a:xfrm>
          <a:prstGeom prst="chevron">
            <a:avLst/>
          </a:prstGeom>
          <a:solidFill>
            <a:srgbClr val="BC4B26"/>
          </a:solidFill>
          <a:ln>
            <a:noFill/>
          </a:ln>
        </p:spPr>
      </p:sp>
      <p:sp>
        <p:nvSpPr>
          <p:cNvPr id="13" name="chev5-text"/>
          <p:cNvSpPr txBox="1"/>
          <p:nvPr/>
        </p:nvSpPr>
        <p:spPr>
          <a:xfrm>
            <a:off x="9550400" y="1524000"/>
            <a:ext cx="1854200" cy="584200"/>
          </a:xfrm>
          <a:prstGeom prst="rect">
            <a:avLst/>
          </a:prstGeom>
          <a:noFill/>
          <a:ln>
            <a:noFill/>
          </a:ln>
        </p:spPr>
        <p:txBody>
          <a:bodyPr lIns="0" rIns="0" tIns="0" bIns="0" wrap="square" rtlCol="0"/>
          <a:lstStyle/>
          <a:p>
            <a:pPr>
              <a:lnSpc>
                <a:spcPct val="130000"/>
              </a:lnSpc>
            </a:pPr>
            <a:r>
              <a:rPr lang="en-US" sz="1150" noProof="1" b="1">
                <a:solidFill>
                  <a:srgbClr val="FFFFFF"/>
                </a:solidFill>
                <a:latin typeface="Quattrocento Sans"/>
                <a:ea typeface="Quattrocento Sans"/>
              </a:rPr>
              <a:t>5 · Agentic</a:t>
            </a:r>
            <a:endParaRPr lang="en-US" sz="1150" noProof="1"/>
          </a:p>
          <a:p>
            <a:pPr>
              <a:lnSpc>
                <a:spcPct val="130000"/>
              </a:lnSpc>
            </a:pPr>
            <a:r>
              <a:rPr lang="en-US" sz="1150" noProof="1">
                <a:solidFill>
                  <a:srgbClr val="FFFFFF"/>
                </a:solidFill>
                <a:latin typeface="Quattrocento Sans"/>
                <a:ea typeface="Quattrocento Sans"/>
              </a:rPr>
              <a:t>2024 →</a:t>
            </a:r>
            <a:endParaRPr lang="en-US" sz="1150" noProof="1"/>
          </a:p>
        </p:txBody>
      </p:sp>
      <p:sp>
        <p:nvSpPr>
          <p:cNvPr id="14" name="c1-body"/>
          <p:cNvSpPr txBox="1"/>
          <p:nvPr/>
        </p:nvSpPr>
        <p:spPr>
          <a:xfrm>
            <a:off x="711200" y="2413000"/>
            <a:ext cx="1968500" cy="2667000"/>
          </a:xfrm>
          <a:prstGeom prst="rect">
            <a:avLst/>
          </a:prstGeom>
          <a:noFill/>
          <a:ln>
            <a:noFill/>
          </a:ln>
        </p:spPr>
        <p:txBody>
          <a:bodyPr lIns="0" rIns="0" tIns="0" bIns="0" wrap="square" rtlCol="0"/>
          <a:lstStyle/>
          <a:p>
            <a:pPr>
              <a:lnSpc>
                <a:spcPct val="140000"/>
              </a:lnSpc>
            </a:pPr>
            <a:r>
              <a:rPr lang="en-US" sz="1050" noProof="1" b="1">
                <a:solidFill>
                  <a:srgbClr val="23272E"/>
                </a:solidFill>
                <a:latin typeface="Quattrocento Sans"/>
                <a:ea typeface="Quattrocento Sans"/>
              </a:rPr>
              <a:t>Interface:</a:t>
            </a:r>
            <a:r>
              <a:rPr lang="en-US" sz="1050" noProof="1">
                <a:solidFill>
                  <a:srgbClr val="23272E"/>
                </a:solidFill>
                <a:latin typeface="Quattrocento Sans"/>
                <a:ea typeface="Quattrocento Sans"/>
              </a:rPr>
              <a:t> physical store</a:t>
            </a:r>
            <a:endParaRPr lang="en-US" sz="1050" noProof="1"/>
          </a:p>
          <a:p>
            <a:pPr>
              <a:lnSpc>
                <a:spcPct val="140000"/>
              </a:lnSpc>
            </a:pPr>
            <a:r>
              <a:rPr lang="en-US" sz="1050" noProof="1" b="1">
                <a:solidFill>
                  <a:srgbClr val="23272E"/>
                </a:solidFill>
                <a:latin typeface="Quattrocento Sans"/>
                <a:ea typeface="Quattrocento Sans"/>
              </a:rPr>
              <a:t>Unlocks:</a:t>
            </a:r>
            <a:r>
              <a:rPr lang="en-US" sz="1050" noProof="1">
                <a:solidFill>
                  <a:srgbClr val="23272E"/>
                </a:solidFill>
                <a:latin typeface="Quattrocento Sans"/>
                <a:ea typeface="Quattrocento Sans"/>
              </a:rPr>
              <a:t> geographic assortment</a:t>
            </a:r>
            <a:endParaRPr lang="en-US" sz="1050" noProof="1"/>
          </a:p>
          <a:p>
            <a:pPr>
              <a:lnSpc>
                <a:spcPct val="140000"/>
              </a:lnSpc>
            </a:pPr>
            <a:r>
              <a:rPr lang="en-US" sz="1050" noProof="1" i="1">
                <a:solidFill>
                  <a:srgbClr val="23272E"/>
                </a:solidFill>
                <a:latin typeface="Quattrocento Sans"/>
                <a:ea typeface="Quattrocento Sans"/>
              </a:rPr>
              <a:t>Walmart, Macy's</a:t>
            </a:r>
            <a:endParaRPr lang="en-US" sz="1050" noProof="1"/>
          </a:p>
          <a:p>
            <a:pPr>
              <a:lnSpc>
                <a:spcPct val="140000"/>
              </a:lnSpc>
              <a:spcBef>
                <a:spcPts val="800"/>
              </a:spcBef>
            </a:pPr>
            <a:r>
              <a:rPr lang="en-US" sz="1800" noProof="1">
                <a:solidFill>
                  <a:srgbClr val="BC4B26"/>
                </a:solidFill>
                <a:latin typeface="Unna"/>
                <a:ea typeface="Unna"/>
              </a:rPr>
              <a:t>~80%</a:t>
            </a:r>
            <a:endParaRPr lang="en-US" sz="1050" noProof="1"/>
          </a:p>
          <a:p>
            <a:pPr>
              <a:lnSpc>
                <a:spcPct val="140000"/>
              </a:lnSpc>
            </a:pPr>
            <a:r>
              <a:rPr lang="en-US" sz="1050" noProof="1">
                <a:solidFill>
                  <a:srgbClr val="23272E"/>
                </a:solidFill>
                <a:latin typeface="Quattrocento Sans"/>
                <a:ea typeface="Quattrocento Sans"/>
              </a:rPr>
              <a:t>of global retail still physical, 2025</a:t>
            </a:r>
            <a:endParaRPr lang="en-US" sz="1050" noProof="1"/>
          </a:p>
        </p:txBody>
      </p:sp>
      <p:sp>
        <p:nvSpPr>
          <p:cNvPr id="15" name="c2-body"/>
          <p:cNvSpPr txBox="1"/>
          <p:nvPr/>
        </p:nvSpPr>
        <p:spPr>
          <a:xfrm>
            <a:off x="2832100" y="2413000"/>
            <a:ext cx="1968500" cy="2667000"/>
          </a:xfrm>
          <a:prstGeom prst="rect">
            <a:avLst/>
          </a:prstGeom>
          <a:noFill/>
          <a:ln>
            <a:noFill/>
          </a:ln>
        </p:spPr>
        <p:txBody>
          <a:bodyPr lIns="0" rIns="0" tIns="0" bIns="0" wrap="square" rtlCol="0"/>
          <a:lstStyle/>
          <a:p>
            <a:pPr>
              <a:lnSpc>
                <a:spcPct val="140000"/>
              </a:lnSpc>
            </a:pPr>
            <a:r>
              <a:rPr lang="en-US" sz="1050" noProof="1" b="1">
                <a:solidFill>
                  <a:srgbClr val="23272E"/>
                </a:solidFill>
                <a:latin typeface="Quattrocento Sans"/>
                <a:ea typeface="Quattrocento Sans"/>
              </a:rPr>
              <a:t>Interface:</a:t>
            </a:r>
            <a:r>
              <a:rPr lang="en-US" sz="1050" noProof="1">
                <a:solidFill>
                  <a:srgbClr val="23272E"/>
                </a:solidFill>
                <a:latin typeface="Quattrocento Sans"/>
                <a:ea typeface="Quattrocento Sans"/>
              </a:rPr>
              <a:t> desktop browser</a:t>
            </a:r>
            <a:endParaRPr lang="en-US" sz="1050" noProof="1"/>
          </a:p>
          <a:p>
            <a:pPr>
              <a:lnSpc>
                <a:spcPct val="140000"/>
              </a:lnSpc>
            </a:pPr>
            <a:r>
              <a:rPr lang="en-US" sz="1050" noProof="1" b="1">
                <a:solidFill>
                  <a:srgbClr val="23272E"/>
                </a:solidFill>
                <a:latin typeface="Quattrocento Sans"/>
                <a:ea typeface="Quattrocento Sans"/>
              </a:rPr>
              <a:t>Unlocks:</a:t>
            </a:r>
            <a:r>
              <a:rPr lang="en-US" sz="1050" noProof="1">
                <a:solidFill>
                  <a:srgbClr val="23272E"/>
                </a:solidFill>
                <a:latin typeface="Quattrocento Sans"/>
                <a:ea typeface="Quattrocento Sans"/>
              </a:rPr>
              <a:t> unlimited shelf, price comparison</a:t>
            </a:r>
            <a:endParaRPr lang="en-US" sz="1050" noProof="1"/>
          </a:p>
          <a:p>
            <a:pPr>
              <a:lnSpc>
                <a:spcPct val="140000"/>
              </a:lnSpc>
            </a:pPr>
            <a:r>
              <a:rPr lang="en-US" sz="1050" noProof="1" i="1">
                <a:solidFill>
                  <a:srgbClr val="23272E"/>
                </a:solidFill>
                <a:latin typeface="Quattrocento Sans"/>
                <a:ea typeface="Quattrocento Sans"/>
              </a:rPr>
              <a:t>Amazon, eBay, Alibaba, Flipkart</a:t>
            </a:r>
            <a:endParaRPr lang="en-US" sz="1050" noProof="1"/>
          </a:p>
          <a:p>
            <a:pPr>
              <a:lnSpc>
                <a:spcPct val="140000"/>
              </a:lnSpc>
              <a:spcBef>
                <a:spcPts val="800"/>
              </a:spcBef>
            </a:pPr>
            <a:r>
              <a:rPr lang="en-US" sz="1800" noProof="1">
                <a:solidFill>
                  <a:srgbClr val="BC4B26"/>
                </a:solidFill>
                <a:latin typeface="Unna"/>
                <a:ea typeface="Unna"/>
              </a:rPr>
              <a:t>16.1%</a:t>
            </a:r>
            <a:endParaRPr lang="en-US" sz="1050" noProof="1"/>
          </a:p>
          <a:p>
            <a:pPr>
              <a:lnSpc>
                <a:spcPct val="140000"/>
              </a:lnSpc>
            </a:pPr>
            <a:r>
              <a:rPr lang="en-US" sz="1050" noProof="1">
                <a:solidFill>
                  <a:srgbClr val="23272E"/>
                </a:solidFill>
                <a:latin typeface="Quattrocento Sans"/>
                <a:ea typeface="Quattrocento Sans"/>
              </a:rPr>
              <a:t>US e-commerce share of retail, 2024</a:t>
            </a:r>
            <a:endParaRPr lang="en-US" sz="1050" noProof="1"/>
          </a:p>
        </p:txBody>
      </p:sp>
      <p:sp>
        <p:nvSpPr>
          <p:cNvPr id="16" name="c3-body"/>
          <p:cNvSpPr txBox="1"/>
          <p:nvPr/>
        </p:nvSpPr>
        <p:spPr>
          <a:xfrm>
            <a:off x="4953000" y="2413000"/>
            <a:ext cx="1968500" cy="2667000"/>
          </a:xfrm>
          <a:prstGeom prst="rect">
            <a:avLst/>
          </a:prstGeom>
          <a:noFill/>
          <a:ln>
            <a:noFill/>
          </a:ln>
        </p:spPr>
        <p:txBody>
          <a:bodyPr lIns="0" rIns="0" tIns="0" bIns="0" wrap="square" rtlCol="0"/>
          <a:lstStyle/>
          <a:p>
            <a:pPr>
              <a:lnSpc>
                <a:spcPct val="140000"/>
              </a:lnSpc>
            </a:pPr>
            <a:r>
              <a:rPr lang="en-US" sz="1050" noProof="1" b="1">
                <a:solidFill>
                  <a:srgbClr val="23272E"/>
                </a:solidFill>
                <a:latin typeface="Quattrocento Sans"/>
                <a:ea typeface="Quattrocento Sans"/>
              </a:rPr>
              <a:t>Interface:</a:t>
            </a:r>
            <a:r>
              <a:rPr lang="en-US" sz="1050" noProof="1">
                <a:solidFill>
                  <a:srgbClr val="23272E"/>
                </a:solidFill>
                <a:latin typeface="Quattrocento Sans"/>
                <a:ea typeface="Quattrocento Sans"/>
              </a:rPr>
              <a:t> smartphone app</a:t>
            </a:r>
            <a:endParaRPr lang="en-US" sz="1050" noProof="1"/>
          </a:p>
          <a:p>
            <a:pPr>
              <a:lnSpc>
                <a:spcPct val="140000"/>
              </a:lnSpc>
            </a:pPr>
            <a:r>
              <a:rPr lang="en-US" sz="1050" noProof="1" b="1">
                <a:solidFill>
                  <a:srgbClr val="23272E"/>
                </a:solidFill>
                <a:latin typeface="Quattrocento Sans"/>
                <a:ea typeface="Quattrocento Sans"/>
              </a:rPr>
              <a:t>Unlocks:</a:t>
            </a:r>
            <a:r>
              <a:rPr lang="en-US" sz="1050" noProof="1">
                <a:solidFill>
                  <a:srgbClr val="23272E"/>
                </a:solidFill>
                <a:latin typeface="Quattrocento Sans"/>
                <a:ea typeface="Quattrocento Sans"/>
              </a:rPr>
              <a:t> commerce anywhere; app ecosystems</a:t>
            </a:r>
            <a:endParaRPr lang="en-US" sz="1050" noProof="1"/>
          </a:p>
          <a:p>
            <a:pPr>
              <a:lnSpc>
                <a:spcPct val="140000"/>
              </a:lnSpc>
            </a:pPr>
            <a:r>
              <a:rPr lang="en-US" sz="1050" noProof="1" i="1">
                <a:solidFill>
                  <a:srgbClr val="23272E"/>
                </a:solidFill>
                <a:latin typeface="Quattrocento Sans"/>
                <a:ea typeface="Quattrocento Sans"/>
              </a:rPr>
              <a:t>Starbucks app, Uber, Myntra</a:t>
            </a:r>
            <a:endParaRPr lang="en-US" sz="1050" noProof="1"/>
          </a:p>
          <a:p>
            <a:pPr>
              <a:lnSpc>
                <a:spcPct val="140000"/>
              </a:lnSpc>
              <a:spcBef>
                <a:spcPts val="800"/>
              </a:spcBef>
            </a:pPr>
            <a:r>
              <a:rPr lang="en-US" sz="1800" noProof="1">
                <a:solidFill>
                  <a:srgbClr val="BC4B26"/>
                </a:solidFill>
                <a:latin typeface="Unna"/>
                <a:ea typeface="Unna"/>
              </a:rPr>
              <a:t>57–59%</a:t>
            </a:r>
            <a:endParaRPr lang="en-US" sz="1050" noProof="1"/>
          </a:p>
          <a:p>
            <a:pPr>
              <a:lnSpc>
                <a:spcPct val="140000"/>
              </a:lnSpc>
            </a:pPr>
            <a:r>
              <a:rPr lang="en-US" sz="1050" noProof="1">
                <a:solidFill>
                  <a:srgbClr val="23272E"/>
                </a:solidFill>
                <a:latin typeface="Quattrocento Sans"/>
                <a:ea typeface="Quattrocento Sans"/>
              </a:rPr>
              <a:t>of e-commerce sales on mobile, 2025</a:t>
            </a:r>
            <a:endParaRPr lang="en-US" sz="1050" noProof="1"/>
          </a:p>
        </p:txBody>
      </p:sp>
      <p:sp>
        <p:nvSpPr>
          <p:cNvPr id="17" name="c4-body"/>
          <p:cNvSpPr txBox="1"/>
          <p:nvPr/>
        </p:nvSpPr>
        <p:spPr>
          <a:xfrm>
            <a:off x="7073900" y="2413000"/>
            <a:ext cx="1968500" cy="2667000"/>
          </a:xfrm>
          <a:prstGeom prst="rect">
            <a:avLst/>
          </a:prstGeom>
          <a:noFill/>
          <a:ln>
            <a:noFill/>
          </a:ln>
        </p:spPr>
        <p:txBody>
          <a:bodyPr lIns="0" rIns="0" tIns="0" bIns="0" wrap="square" rtlCol="0"/>
          <a:lstStyle/>
          <a:p>
            <a:pPr>
              <a:lnSpc>
                <a:spcPct val="140000"/>
              </a:lnSpc>
            </a:pPr>
            <a:r>
              <a:rPr lang="en-US" sz="1050" noProof="1" b="1">
                <a:solidFill>
                  <a:srgbClr val="23272E"/>
                </a:solidFill>
                <a:latin typeface="Quattrocento Sans"/>
                <a:ea typeface="Quattrocento Sans"/>
              </a:rPr>
              <a:t>Interface:</a:t>
            </a:r>
            <a:r>
              <a:rPr lang="en-US" sz="1050" noProof="1">
                <a:solidFill>
                  <a:srgbClr val="23272E"/>
                </a:solidFill>
                <a:latin typeface="Quattrocento Sans"/>
                <a:ea typeface="Quattrocento Sans"/>
              </a:rPr>
              <a:t> feed + chat</a:t>
            </a:r>
            <a:endParaRPr lang="en-US" sz="1050" noProof="1"/>
          </a:p>
          <a:p>
            <a:pPr>
              <a:lnSpc>
                <a:spcPct val="140000"/>
              </a:lnSpc>
            </a:pPr>
            <a:r>
              <a:rPr lang="en-US" sz="1050" noProof="1" b="1">
                <a:solidFill>
                  <a:srgbClr val="23272E"/>
                </a:solidFill>
                <a:latin typeface="Quattrocento Sans"/>
                <a:ea typeface="Quattrocento Sans"/>
              </a:rPr>
              <a:t>Unlocks:</a:t>
            </a:r>
            <a:r>
              <a:rPr lang="en-US" sz="1050" noProof="1">
                <a:solidFill>
                  <a:srgbClr val="23272E"/>
                </a:solidFill>
                <a:latin typeface="Quattrocento Sans"/>
                <a:ea typeface="Quattrocento Sans"/>
              </a:rPr>
              <a:t> discovery-led purchase, live selling, chatbots</a:t>
            </a:r>
            <a:endParaRPr lang="en-US" sz="1050" noProof="1"/>
          </a:p>
          <a:p>
            <a:pPr>
              <a:lnSpc>
                <a:spcPct val="140000"/>
              </a:lnSpc>
            </a:pPr>
            <a:r>
              <a:rPr lang="en-US" sz="1050" noProof="1" i="1">
                <a:solidFill>
                  <a:srgbClr val="23272E"/>
                </a:solidFill>
                <a:latin typeface="Quattrocento Sans"/>
                <a:ea typeface="Quattrocento Sans"/>
              </a:rPr>
              <a:t>TikTok Shop, WeChat, Meesho</a:t>
            </a:r>
            <a:endParaRPr lang="en-US" sz="1050" noProof="1"/>
          </a:p>
          <a:p>
            <a:pPr>
              <a:lnSpc>
                <a:spcPct val="140000"/>
              </a:lnSpc>
              <a:spcBef>
                <a:spcPts val="800"/>
              </a:spcBef>
            </a:pPr>
            <a:r>
              <a:rPr lang="en-US" sz="1800" noProof="1">
                <a:solidFill>
                  <a:srgbClr val="BC4B26"/>
                </a:solidFill>
                <a:latin typeface="Unna"/>
                <a:ea typeface="Unna"/>
              </a:rPr>
              <a:t>$1.6T</a:t>
            </a:r>
            <a:endParaRPr lang="en-US" sz="1050" noProof="1"/>
          </a:p>
          <a:p>
            <a:pPr>
              <a:lnSpc>
                <a:spcPct val="140000"/>
              </a:lnSpc>
            </a:pPr>
            <a:r>
              <a:rPr lang="en-US" sz="1050" noProof="1">
                <a:solidFill>
                  <a:srgbClr val="23272E"/>
                </a:solidFill>
                <a:latin typeface="Quattrocento Sans"/>
                <a:ea typeface="Quattrocento Sans"/>
              </a:rPr>
              <a:t>global social-commerce market, 2025</a:t>
            </a:r>
            <a:endParaRPr lang="en-US" sz="1050" noProof="1"/>
          </a:p>
        </p:txBody>
      </p:sp>
      <p:sp>
        <p:nvSpPr>
          <p:cNvPr id="18" name="c5-body"/>
          <p:cNvSpPr txBox="1"/>
          <p:nvPr/>
        </p:nvSpPr>
        <p:spPr>
          <a:xfrm>
            <a:off x="9194800" y="2413000"/>
            <a:ext cx="2286000" cy="2667000"/>
          </a:xfrm>
          <a:prstGeom prst="rect">
            <a:avLst/>
          </a:prstGeom>
          <a:noFill/>
          <a:ln>
            <a:noFill/>
          </a:ln>
        </p:spPr>
        <p:txBody>
          <a:bodyPr lIns="0" rIns="0" tIns="0" bIns="0" wrap="square" rtlCol="0"/>
          <a:lstStyle/>
          <a:p>
            <a:pPr>
              <a:lnSpc>
                <a:spcPct val="140000"/>
              </a:lnSpc>
            </a:pPr>
            <a:r>
              <a:rPr lang="en-US" sz="1050" noProof="1" b="1">
                <a:solidFill>
                  <a:srgbClr val="23272E"/>
                </a:solidFill>
                <a:latin typeface="Quattrocento Sans"/>
                <a:ea typeface="Quattrocento Sans"/>
              </a:rPr>
              <a:t>Interface:</a:t>
            </a:r>
            <a:r>
              <a:rPr lang="en-US" sz="1050" noProof="1">
                <a:solidFill>
                  <a:srgbClr val="23272E"/>
                </a:solidFill>
                <a:latin typeface="Quattrocento Sans"/>
                <a:ea typeface="Quattrocento Sans"/>
              </a:rPr>
              <a:t> AI agent</a:t>
            </a:r>
            <a:endParaRPr lang="en-US" sz="1050" noProof="1"/>
          </a:p>
          <a:p>
            <a:pPr>
              <a:lnSpc>
                <a:spcPct val="140000"/>
              </a:lnSpc>
            </a:pPr>
            <a:r>
              <a:rPr lang="en-US" sz="1050" noProof="1" b="1">
                <a:solidFill>
                  <a:srgbClr val="23272E"/>
                </a:solidFill>
                <a:latin typeface="Quattrocento Sans"/>
                <a:ea typeface="Quattrocento Sans"/>
              </a:rPr>
              <a:t>Unlocks:</a:t>
            </a:r>
            <a:r>
              <a:rPr lang="en-US" sz="1050" noProof="1">
                <a:solidFill>
                  <a:srgbClr val="23272E"/>
                </a:solidFill>
                <a:latin typeface="Quattrocento Sans"/>
                <a:ea typeface="Quattrocento Sans"/>
              </a:rPr>
              <a:t> delegated search, comparison, purchase</a:t>
            </a:r>
            <a:endParaRPr lang="en-US" sz="1050" noProof="1"/>
          </a:p>
          <a:p>
            <a:pPr>
              <a:lnSpc>
                <a:spcPct val="140000"/>
              </a:lnSpc>
            </a:pPr>
            <a:r>
              <a:rPr lang="en-US" sz="1050" noProof="1" i="1">
                <a:solidFill>
                  <a:srgbClr val="23272E"/>
                </a:solidFill>
                <a:latin typeface="Quattrocento Sans"/>
                <a:ea typeface="Quattrocento Sans"/>
              </a:rPr>
              <a:t>Amazon Rufus, ChatGPT, Perplexity</a:t>
            </a:r>
            <a:endParaRPr lang="en-US" sz="1050" noProof="1"/>
          </a:p>
          <a:p>
            <a:pPr>
              <a:lnSpc>
                <a:spcPct val="140000"/>
              </a:lnSpc>
              <a:spcBef>
                <a:spcPts val="800"/>
              </a:spcBef>
            </a:pPr>
            <a:r>
              <a:rPr lang="en-US" sz="1800" noProof="1">
                <a:solidFill>
                  <a:srgbClr val="BC4B26"/>
                </a:solidFill>
                <a:latin typeface="Unna"/>
                <a:ea typeface="Unna"/>
              </a:rPr>
              <a:t>39%</a:t>
            </a:r>
            <a:endParaRPr lang="en-US" sz="1050" noProof="1"/>
          </a:p>
          <a:p>
            <a:pPr>
              <a:lnSpc>
                <a:spcPct val="140000"/>
              </a:lnSpc>
            </a:pPr>
            <a:r>
              <a:rPr lang="en-US" sz="1050" noProof="1">
                <a:solidFill>
                  <a:srgbClr val="23272E"/>
                </a:solidFill>
                <a:latin typeface="Quattrocento Sans"/>
                <a:ea typeface="Quattrocento Sans"/>
              </a:rPr>
              <a:t>of consumers use AI for product discovery, 2025</a:t>
            </a:r>
            <a:endParaRPr lang="en-US" sz="1050" noProof="1"/>
          </a:p>
        </p:txBody>
      </p:sp>
      <p:sp>
        <p:nvSpPr>
          <p:cNvPr id="19" name="diag-rule"/>
          <p:cNvSpPr/>
          <p:nvPr/>
        </p:nvSpPr>
        <p:spPr>
          <a:xfrm>
            <a:off x="711200" y="5156200"/>
            <a:ext cx="10769600" cy="12700"/>
          </a:xfrm>
          <a:prstGeom prst="rect">
            <a:avLst/>
          </a:prstGeom>
          <a:solidFill>
            <a:srgbClr val="D9D2C4"/>
          </a:solidFill>
          <a:ln>
            <a:noFill/>
          </a:ln>
        </p:spPr>
      </p:sp>
      <p:sp>
        <p:nvSpPr>
          <p:cNvPr id="20" name="diag"/>
          <p:cNvSpPr txBox="1"/>
          <p:nvPr/>
        </p:nvSpPr>
        <p:spPr>
          <a:xfrm>
            <a:off x="711200" y="5308600"/>
            <a:ext cx="10769600" cy="609600"/>
          </a:xfrm>
          <a:prstGeom prst="rect">
            <a:avLst/>
          </a:prstGeom>
          <a:noFill/>
          <a:ln>
            <a:noFill/>
          </a:ln>
        </p:spPr>
        <p:txBody>
          <a:bodyPr lIns="0" rIns="0" tIns="0" bIns="0" wrap="square" rtlCol="0"/>
          <a:lstStyle/>
          <a:p>
            <a:pPr>
              <a:lnSpc>
                <a:spcPct val="145000"/>
              </a:lnSpc>
            </a:pPr>
            <a:r>
              <a:rPr lang="en-US" sz="1150" noProof="1" b="1">
                <a:solidFill>
                  <a:srgbClr val="6E675C"/>
                </a:solidFill>
                <a:latin typeface="Quattrocento Sans"/>
                <a:ea typeface="Quattrocento Sans"/>
              </a:rPr>
              <a:t>Apply it in 3 steps:</a:t>
            </a:r>
            <a:r>
              <a:rPr lang="en-US" sz="1150" noProof="1">
                <a:solidFill>
                  <a:srgbClr val="6E675C"/>
                </a:solidFill>
                <a:latin typeface="Quattrocento Sans"/>
                <a:ea typeface="Quattrocento Sans"/>
              </a:rPr>
              <a:t> ① map the company's revenue share by interface · ② name the constraint each new interface removed (shelf space → location → attention → effort → delegation) · ③ ask which constraint the </a:t>
            </a:r>
            <a:r>
              <a:rPr lang="en-US" sz="1150" noProof="1" i="1">
                <a:solidFill>
                  <a:srgbClr val="6E675C"/>
                </a:solidFill>
                <a:latin typeface="Quattrocento Sans"/>
                <a:ea typeface="Quattrocento Sans"/>
              </a:rPr>
              <a:t>next</a:t>
            </a:r>
            <a:r>
              <a:rPr lang="en-US" sz="1150" noProof="1">
                <a:solidFill>
                  <a:srgbClr val="6E675C"/>
                </a:solidFill>
                <a:latin typeface="Quattrocento Sans"/>
                <a:ea typeface="Quattrocento Sans"/>
              </a:rPr>
              <a:t> interface removes. Caveat: eras overlap — the continuum describes interfaces, not calendar decades.</a:t>
            </a:r>
            <a:endParaRPr lang="en-US" sz="1150" noProof="1"/>
          </a:p>
        </p:txBody>
      </p:sp>
      <p:sp>
        <p:nvSpPr>
          <p:cNvPr id="21" name="src-line"/>
          <p:cNvSpPr txBox="1"/>
          <p:nvPr/>
        </p:nvSpPr>
        <p:spPr>
          <a:xfrm>
            <a:off x="711200" y="60198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framework per research brief §1.2; stats: </a:t>
            </a:r>
            <a:r>
              <a:rPr lang="en-US" sz="1000" noProof="1" u="sng">
                <a:solidFill>
                  <a:srgbClr val="0563C1"/>
                </a:solidFill>
                <a:latin typeface="Quattrocento Sans"/>
                <a:ea typeface="Quattrocento Sans"/>
                <a:hlinkClick r:id="rId2"/>
              </a:rPr>
              <a:t>US Census Bureau, 2025</a:t>
            </a:r>
            <a:r>
              <a:rPr lang="en-US" sz="1000" noProof="1">
                <a:solidFill>
                  <a:srgbClr val="9A9284"/>
                </a:solidFill>
                <a:latin typeface="Quattrocento Sans"/>
                <a:ea typeface="Quattrocento Sans"/>
              </a:rPr>
              <a:t> · </a:t>
            </a:r>
            <a:r>
              <a:rPr lang="en-US" sz="1000" noProof="1" u="sng">
                <a:solidFill>
                  <a:srgbClr val="0563C1"/>
                </a:solidFill>
                <a:latin typeface="Quattrocento Sans"/>
                <a:ea typeface="Quattrocento Sans"/>
                <a:hlinkClick r:id="rId3"/>
              </a:rPr>
              <a:t>Statista, 2025</a:t>
            </a:r>
            <a:r>
              <a:rPr lang="en-US" sz="1000" noProof="1">
                <a:solidFill>
                  <a:srgbClr val="9A9284"/>
                </a:solidFill>
                <a:latin typeface="Quattrocento Sans"/>
                <a:ea typeface="Quattrocento Sans"/>
              </a:rPr>
              <a:t> · </a:t>
            </a:r>
            <a:r>
              <a:rPr lang="en-US" sz="1000" noProof="1" u="sng">
                <a:solidFill>
                  <a:srgbClr val="0563C1"/>
                </a:solidFill>
                <a:latin typeface="Quattrocento Sans"/>
                <a:ea typeface="Quattrocento Sans"/>
                <a:hlinkClick r:id="rId4"/>
              </a:rPr>
              <a:t>Mordor Intelligence, 2026</a:t>
            </a:r>
            <a:r>
              <a:rPr lang="en-US" sz="1000" noProof="1">
                <a:solidFill>
                  <a:srgbClr val="9A9284"/>
                </a:solidFill>
                <a:latin typeface="Quattrocento Sans"/>
                <a:ea typeface="Quattrocento Sans"/>
              </a:rPr>
              <a:t> · </a:t>
            </a:r>
            <a:r>
              <a:rPr lang="en-US" sz="1000" noProof="1" u="sng">
                <a:solidFill>
                  <a:srgbClr val="0563C1"/>
                </a:solidFill>
                <a:latin typeface="Quattrocento Sans"/>
                <a:ea typeface="Quattrocento Sans"/>
                <a:hlinkClick r:id="rId5"/>
              </a:rPr>
              <a:t>Salesforce, 2025</a:t>
            </a:r>
            <a:endParaRPr lang="en-US" sz="1000" noProof="1"/>
          </a:p>
        </p:txBody>
      </p:sp>
      <p:sp>
        <p:nvSpPr>
          <p:cNvPr id="22" name="foot-rule"/>
          <p:cNvSpPr/>
          <p:nvPr/>
        </p:nvSpPr>
        <p:spPr>
          <a:xfrm>
            <a:off x="711200" y="6451600"/>
            <a:ext cx="10769600" cy="12700"/>
          </a:xfrm>
          <a:prstGeom prst="rect">
            <a:avLst/>
          </a:prstGeom>
          <a:solidFill>
            <a:srgbClr val="D9D2C4"/>
          </a:solidFill>
          <a:ln>
            <a:noFill/>
          </a:ln>
        </p:spPr>
      </p:sp>
      <p:sp>
        <p:nvSpPr>
          <p:cNvPr id="23"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24"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25"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19</a:t>
            </a:r>
            <a:endParaRPr lang="en-US" sz="950" noProof="1"/>
          </a:p>
        </p:txBody>
      </p:sp>
    </p:spTree>
  </p:cSld>
  <p:clrMapOvr>
    <a:masterClrMapping/>
  </p:clrMapOvr>
</p:sld>
</file>

<file path=ppt/slides/slide2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ERA 1 · PRE-1994</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Brick-and-mortar built the playbook every later era borrows</a:t>
            </a:r>
            <a:endParaRPr lang="en-US" sz="2600" noProof="1"/>
          </a:p>
        </p:txBody>
      </p:sp>
      <p:sp>
        <p:nvSpPr>
          <p:cNvPr id="4" name="char-head"/>
          <p:cNvSpPr txBox="1"/>
          <p:nvPr/>
        </p:nvSpPr>
        <p:spPr>
          <a:xfrm>
            <a:off x="711200" y="1422400"/>
            <a:ext cx="50800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What defined the era</a:t>
            </a:r>
            <a:endParaRPr lang="en-US" sz="1350" noProof="1"/>
          </a:p>
        </p:txBody>
      </p:sp>
      <p:sp>
        <p:nvSpPr>
          <p:cNvPr id="5" name="char-body"/>
          <p:cNvSpPr txBox="1"/>
          <p:nvPr/>
        </p:nvSpPr>
        <p:spPr>
          <a:xfrm>
            <a:off x="711200" y="1752600"/>
            <a:ext cx="5080000" cy="2159000"/>
          </a:xfrm>
          <a:prstGeom prst="rect">
            <a:avLst/>
          </a:prstGeom>
          <a:noFill/>
          <a:ln>
            <a:noFill/>
          </a:ln>
        </p:spPr>
        <p:txBody>
          <a:bodyPr lIns="0" rIns="0" tIns="0" bIns="0" wrap="square" rtlCol="0"/>
          <a:lstStyle/>
          <a:p>
            <a:pPr>
              <a:lnSpc>
                <a:spcPct val="155000"/>
              </a:lnSpc>
              <a:spcBef>
                <a:spcPts val="10"/>
              </a:spcBef>
              <a:buChar char="•"/>
            </a:pPr>
            <a:r>
              <a:rPr lang="en-US" sz="1250" noProof="1" b="1">
                <a:solidFill>
                  <a:srgbClr val="23272E"/>
                </a:solidFill>
                <a:latin typeface="Quattrocento Sans"/>
                <a:ea typeface="Quattrocento Sans"/>
              </a:rPr>
              <a:t>Interface:</a:t>
            </a:r>
            <a:r>
              <a:rPr lang="en-US" sz="1250" noProof="1">
                <a:solidFill>
                  <a:srgbClr val="23272E"/>
                </a:solidFill>
                <a:latin typeface="Quattrocento Sans"/>
                <a:ea typeface="Quattrocento Sans"/>
              </a:rPr>
              <a:t> the physical store; catalogue retail as the long-distance variant</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Assortment limited by geography</a:t>
            </a:r>
            <a:r>
              <a:rPr lang="en-US" sz="1250" noProof="1">
                <a:solidFill>
                  <a:srgbClr val="23272E"/>
                </a:solidFill>
                <a:latin typeface="Quattrocento Sans"/>
                <a:ea typeface="Quattrocento Sans"/>
              </a:rPr>
              <a:t> — you sell what fits on shelves, to whoever can reach you</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Scale game:</a:t>
            </a:r>
            <a:r>
              <a:rPr lang="en-US" sz="1250" noProof="1">
                <a:solidFill>
                  <a:srgbClr val="23272E"/>
                </a:solidFill>
                <a:latin typeface="Quattrocento Sans"/>
                <a:ea typeface="Quattrocento Sans"/>
              </a:rPr>
              <a:t> discount logistics + store networks (Sam Walton's model) made Walmart the #1 global retailer</a:t>
            </a:r>
            <a:endParaRPr lang="en-US" sz="1250" noProof="1"/>
          </a:p>
        </p:txBody>
      </p:sp>
      <p:sp>
        <p:nvSpPr>
          <p:cNvPr id="6" name="limits-head"/>
          <p:cNvSpPr txBox="1"/>
          <p:nvPr/>
        </p:nvSpPr>
        <p:spPr>
          <a:xfrm>
            <a:off x="6400800" y="1422400"/>
            <a:ext cx="5080000" cy="279400"/>
          </a:xfrm>
          <a:prstGeom prst="rect">
            <a:avLst/>
          </a:prstGeom>
          <a:noFill/>
          <a:ln>
            <a:noFill/>
          </a:ln>
        </p:spPr>
        <p:txBody>
          <a:bodyPr lIns="0" rIns="0" tIns="0" bIns="0" wrap="square" rtlCol="0"/>
          <a:lstStyle/>
          <a:p>
            <a:pPr>
              <a:lnSpc>
                <a:spcPct val="120000"/>
              </a:lnSpc>
            </a:pPr>
            <a:r>
              <a:rPr lang="en-US" sz="1350" noProof="1" b="1">
                <a:solidFill>
                  <a:srgbClr val="BC4B26"/>
                </a:solidFill>
                <a:latin typeface="Quattrocento Sans"/>
                <a:ea typeface="Quattrocento Sans"/>
              </a:rPr>
              <a:t>Its hard limits</a:t>
            </a:r>
            <a:endParaRPr lang="en-US" sz="1350" noProof="1"/>
          </a:p>
        </p:txBody>
      </p:sp>
      <p:sp>
        <p:nvSpPr>
          <p:cNvPr id="7" name="limits-body"/>
          <p:cNvSpPr txBox="1"/>
          <p:nvPr/>
        </p:nvSpPr>
        <p:spPr>
          <a:xfrm>
            <a:off x="6400800" y="1752600"/>
            <a:ext cx="5080000" cy="2159000"/>
          </a:xfrm>
          <a:prstGeom prst="rect">
            <a:avLst/>
          </a:prstGeom>
          <a:noFill/>
          <a:ln>
            <a:noFill/>
          </a:ln>
        </p:spPr>
        <p:txBody>
          <a:bodyPr lIns="0" rIns="0" tIns="0" bIns="0" wrap="square" rtlCol="0"/>
          <a:lstStyle/>
          <a:p>
            <a:pPr>
              <a:lnSpc>
                <a:spcPct val="155000"/>
              </a:lnSpc>
              <a:spcBef>
                <a:spcPts val="10"/>
              </a:spcBef>
              <a:buChar char="•"/>
            </a:pPr>
            <a:r>
              <a:rPr lang="en-US" sz="1250" noProof="1">
                <a:solidFill>
                  <a:srgbClr val="23272E"/>
                </a:solidFill>
                <a:latin typeface="Quattrocento Sans"/>
                <a:ea typeface="Quattrocento Sans"/>
              </a:rPr>
              <a:t>Shelf space caps selection; the "long tail" can't be stocked</a:t>
            </a:r>
            <a:endParaRPr lang="en-US" sz="1250" noProof="1"/>
          </a:p>
          <a:p>
            <a:pPr>
              <a:lnSpc>
                <a:spcPct val="155000"/>
              </a:lnSpc>
              <a:spcBef>
                <a:spcPts val="10"/>
              </a:spcBef>
              <a:buChar char="•"/>
            </a:pPr>
            <a:r>
              <a:rPr lang="en-US" sz="1250" noProof="1">
                <a:solidFill>
                  <a:srgbClr val="23272E"/>
                </a:solidFill>
                <a:latin typeface="Quattrocento Sans"/>
                <a:ea typeface="Quattrocento Sans"/>
              </a:rPr>
              <a:t>Price discovery costs the customer time and travel</a:t>
            </a:r>
            <a:endParaRPr lang="en-US" sz="1250" noProof="1"/>
          </a:p>
          <a:p>
            <a:pPr>
              <a:lnSpc>
                <a:spcPct val="155000"/>
              </a:lnSpc>
              <a:spcBef>
                <a:spcPts val="10"/>
              </a:spcBef>
              <a:buChar char="•"/>
            </a:pPr>
            <a:r>
              <a:rPr lang="en-US" sz="1250" noProof="1">
                <a:solidFill>
                  <a:srgbClr val="23272E"/>
                </a:solidFill>
                <a:latin typeface="Quattrocento Sans"/>
                <a:ea typeface="Quattrocento Sans"/>
              </a:rPr>
              <a:t>Opening hours and location gate every purchase</a:t>
            </a:r>
            <a:endParaRPr lang="en-US" sz="1250" noProof="1"/>
          </a:p>
          <a:p>
            <a:pPr>
              <a:lnSpc>
                <a:spcPct val="155000"/>
              </a:lnSpc>
              <a:spcBef>
                <a:spcPts val="10"/>
              </a:spcBef>
              <a:buChar char="•"/>
            </a:pPr>
            <a:r>
              <a:rPr lang="en-US" sz="1250" noProof="1">
                <a:solidFill>
                  <a:srgbClr val="23272E"/>
                </a:solidFill>
                <a:latin typeface="Quattrocento Sans"/>
                <a:ea typeface="Quattrocento Sans"/>
              </a:rPr>
              <a:t>No behavioural data beyond the loyalty card</a:t>
            </a:r>
            <a:endParaRPr lang="en-US" sz="1250" noProof="1"/>
          </a:p>
        </p:txBody>
      </p:sp>
      <p:sp>
        <p:nvSpPr>
          <p:cNvPr id="8" name="rule-h"/>
          <p:cNvSpPr/>
          <p:nvPr/>
        </p:nvSpPr>
        <p:spPr>
          <a:xfrm>
            <a:off x="711200" y="4191000"/>
            <a:ext cx="10769600" cy="12700"/>
          </a:xfrm>
          <a:prstGeom prst="rect">
            <a:avLst/>
          </a:prstGeom>
          <a:solidFill>
            <a:srgbClr val="D9D2C4"/>
          </a:solidFill>
          <a:ln>
            <a:noFill/>
          </a:ln>
        </p:spPr>
      </p:sp>
      <p:sp>
        <p:nvSpPr>
          <p:cNvPr id="9" name="persist-head"/>
          <p:cNvSpPr txBox="1"/>
          <p:nvPr/>
        </p:nvSpPr>
        <p:spPr>
          <a:xfrm>
            <a:off x="711200" y="4394200"/>
            <a:ext cx="107696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What still persists — the layer never died</a:t>
            </a:r>
            <a:endParaRPr lang="en-US" sz="1350" noProof="1"/>
          </a:p>
        </p:txBody>
      </p:sp>
      <p:sp>
        <p:nvSpPr>
          <p:cNvPr id="10" name="persist-body"/>
          <p:cNvSpPr txBox="1"/>
          <p:nvPr/>
        </p:nvSpPr>
        <p:spPr>
          <a:xfrm>
            <a:off x="711200" y="4724400"/>
            <a:ext cx="10769600" cy="1117600"/>
          </a:xfrm>
          <a:prstGeom prst="rect">
            <a:avLst/>
          </a:prstGeom>
          <a:noFill/>
          <a:ln>
            <a:noFill/>
          </a:ln>
        </p:spPr>
        <p:txBody>
          <a:bodyPr lIns="0" rIns="0" tIns="0" bIns="0" wrap="square" rtlCol="0"/>
          <a:lstStyle/>
          <a:p>
            <a:pPr>
              <a:lnSpc>
                <a:spcPct val="145000"/>
              </a:lnSpc>
            </a:pPr>
            <a:r>
              <a:rPr lang="en-US" sz="1300" noProof="1">
                <a:solidFill>
                  <a:srgbClr val="23272E"/>
                </a:solidFill>
                <a:latin typeface="Quattrocento Sans"/>
                <a:ea typeface="Quattrocento Sans"/>
              </a:rPr>
              <a:t>About </a:t>
            </a:r>
            <a:r>
              <a:rPr lang="en-US" sz="1300" noProof="1" b="1">
                <a:solidFill>
                  <a:srgbClr val="23272E"/>
                </a:solidFill>
                <a:latin typeface="Quattrocento Sans"/>
                <a:ea typeface="Quattrocento Sans"/>
              </a:rPr>
              <a:t>80% of global retail is still transacted in person</a:t>
            </a:r>
            <a:r>
              <a:rPr lang="en-US" sz="1300" noProof="1">
                <a:solidFill>
                  <a:srgbClr val="23272E"/>
                </a:solidFill>
                <a:latin typeface="Quattrocento Sans"/>
                <a:ea typeface="Quattrocento Sans"/>
              </a:rPr>
              <a:t> in 2025. Stores have also become digital infrastructure: Walmart's ~4,600 US stores double as fulfilment nodes for its online business (~6.4% of US e-commerce, #2 behind Amazon). The continuum's first lesson appears here already — </a:t>
            </a:r>
            <a:r>
              <a:rPr lang="en-US" sz="1300" noProof="1" b="1">
                <a:solidFill>
                  <a:srgbClr val="23272E"/>
                </a:solidFill>
                <a:latin typeface="Quattrocento Sans"/>
                <a:ea typeface="Quattrocento Sans"/>
              </a:rPr>
              <a:t>new channels sit on top of old ones</a:t>
            </a:r>
            <a:r>
              <a:rPr lang="en-US" sz="1300" noProof="1">
                <a:solidFill>
                  <a:srgbClr val="23272E"/>
                </a:solidFill>
                <a:latin typeface="Quattrocento Sans"/>
                <a:ea typeface="Quattrocento Sans"/>
              </a:rPr>
              <a:t>.</a:t>
            </a:r>
            <a:endParaRPr lang="en-US" sz="1300" noProof="1"/>
          </a:p>
        </p:txBody>
      </p:sp>
      <p:sp>
        <p:nvSpPr>
          <p:cNvPr id="11"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eMarketer, 2025</a:t>
            </a:r>
            <a:r>
              <a:rPr lang="en-US" sz="1000" noProof="1">
                <a:solidFill>
                  <a:srgbClr val="9A9284"/>
                </a:solidFill>
                <a:latin typeface="Quattrocento Sans"/>
                <a:ea typeface="Quattrocento Sans"/>
              </a:rPr>
              <a:t> (global retail share); </a:t>
            </a:r>
            <a:r>
              <a:rPr lang="en-US" sz="1000" noProof="1" u="sng">
                <a:solidFill>
                  <a:srgbClr val="0563C1"/>
                </a:solidFill>
                <a:latin typeface="Quattrocento Sans"/>
                <a:ea typeface="Quattrocento Sans"/>
                <a:hlinkClick r:id="rId3"/>
              </a:rPr>
              <a:t>Statista via SellersCommerce, 2025</a:t>
            </a:r>
            <a:r>
              <a:rPr lang="en-US" sz="1000" noProof="1">
                <a:solidFill>
                  <a:srgbClr val="9A9284"/>
                </a:solidFill>
                <a:latin typeface="Quattrocento Sans"/>
                <a:ea typeface="Quattrocento Sans"/>
              </a:rPr>
              <a:t> (Walmart US share, store network).</a:t>
            </a:r>
            <a:endParaRPr lang="en-US" sz="1000" noProof="1"/>
          </a:p>
        </p:txBody>
      </p:sp>
      <p:sp>
        <p:nvSpPr>
          <p:cNvPr id="12" name="foot-rule"/>
          <p:cNvSpPr/>
          <p:nvPr/>
        </p:nvSpPr>
        <p:spPr>
          <a:xfrm>
            <a:off x="711200" y="6451600"/>
            <a:ext cx="10769600" cy="12700"/>
          </a:xfrm>
          <a:prstGeom prst="rect">
            <a:avLst/>
          </a:prstGeom>
          <a:solidFill>
            <a:srgbClr val="D9D2C4"/>
          </a:solidFill>
          <a:ln>
            <a:noFill/>
          </a:ln>
        </p:spPr>
      </p:sp>
      <p:sp>
        <p:nvSpPr>
          <p:cNvPr id="13"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4"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5"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20</a:t>
            </a:r>
            <a:endParaRPr lang="en-US" sz="950" noProof="1"/>
          </a:p>
        </p:txBody>
      </p:sp>
    </p:spTree>
  </p:cSld>
  <p:clrMapOvr>
    <a:masterClrMapping/>
  </p:clrMapOvr>
</p:sld>
</file>

<file path=ppt/slides/slide2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ERA 2 · 1994–2007</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E-commerce: the browser removed the shelf-space constraint</a:t>
            </a:r>
            <a:endParaRPr lang="en-US" sz="2600" noProof="1"/>
          </a:p>
        </p:txBody>
      </p:sp>
      <p:sp>
        <p:nvSpPr>
          <p:cNvPr id="4" name="story1-icon"/>
          <p:cNvSpPr/>
          <p:nvPr>
            <p:extLst>
              <p:ext uri="{F5677B7D-0D2A-4D9B-9A5C-6D8D7D0E5A5D}">
                <pptd:icon encoding="base64url">eyJpY29uTmFtZSI6ImZhczpjYXJ0LXNob3BwaW5nIn0</pptd:icon>
              </p:ext>
            </p:extLst>
          </p:nvPr>
        </p:nvSpPr>
        <p:spPr>
          <a:xfrm>
            <a:off x="711200" y="1473200"/>
            <a:ext cx="279400" cy="279400"/>
          </a:xfrm>
          <a:custGeom>
            <a:avLst/>
            <a:gdLst/>
            <a:ahLst/>
            <a:cxnLst/>
            <a:rect l="l" t="t" r="r" b="b"/>
            <a:pathLst>
              <a:path w="640" h="512">
                <a:moveTo>
                  <a:pt x="24" y="-16"/>
                </a:moveTo>
                <a:cubicBezTo>
                  <a:pt x="11" y="-16"/>
                  <a:pt x="0" y="-5"/>
                  <a:pt x="0" y="8"/>
                </a:cubicBezTo>
                <a:cubicBezTo>
                  <a:pt x="0" y="21"/>
                  <a:pt x="11" y="32"/>
                  <a:pt x="24" y="32"/>
                </a:cubicBezTo>
                <a:lnTo>
                  <a:pt x="69" y="32"/>
                </a:lnTo>
                <a:cubicBezTo>
                  <a:pt x="73" y="32"/>
                  <a:pt x="77" y="35"/>
                  <a:pt x="77" y="39"/>
                </a:cubicBezTo>
                <a:lnTo>
                  <a:pt x="129" y="325"/>
                </a:lnTo>
                <a:cubicBezTo>
                  <a:pt x="136" y="359"/>
                  <a:pt x="165" y="384"/>
                  <a:pt x="200" y="384"/>
                </a:cubicBezTo>
                <a:lnTo>
                  <a:pt x="456" y="384"/>
                </a:lnTo>
                <a:cubicBezTo>
                  <a:pt x="469" y="384"/>
                  <a:pt x="480" y="373"/>
                  <a:pt x="480" y="360"/>
                </a:cubicBezTo>
                <a:cubicBezTo>
                  <a:pt x="480" y="347"/>
                  <a:pt x="469" y="336"/>
                  <a:pt x="456" y="336"/>
                </a:cubicBezTo>
                <a:lnTo>
                  <a:pt x="200" y="336"/>
                </a:lnTo>
                <a:cubicBezTo>
                  <a:pt x="189" y="336"/>
                  <a:pt x="179" y="328"/>
                  <a:pt x="177" y="316"/>
                </a:cubicBezTo>
                <a:lnTo>
                  <a:pt x="171" y="288"/>
                </a:lnTo>
                <a:lnTo>
                  <a:pt x="475" y="288"/>
                </a:lnTo>
                <a:cubicBezTo>
                  <a:pt x="506" y="288"/>
                  <a:pt x="532" y="266"/>
                  <a:pt x="538" y="236"/>
                </a:cubicBezTo>
                <a:lnTo>
                  <a:pt x="569" y="70"/>
                </a:lnTo>
                <a:cubicBezTo>
                  <a:pt x="573" y="50"/>
                  <a:pt x="558" y="32"/>
                  <a:pt x="537" y="32"/>
                </a:cubicBezTo>
                <a:lnTo>
                  <a:pt x="125" y="32"/>
                </a:lnTo>
                <a:lnTo>
                  <a:pt x="124" y="30"/>
                </a:lnTo>
                <a:cubicBezTo>
                  <a:pt x="119" y="3"/>
                  <a:pt x="96" y="-16"/>
                  <a:pt x="69" y="-16"/>
                </a:cubicBezTo>
                <a:lnTo>
                  <a:pt x="24" y="-16"/>
                </a:lnTo>
                <a:close/>
              </a:path>
              <a:path w="640" h="512">
                <a:moveTo>
                  <a:pt x="208" y="512"/>
                </a:moveTo>
                <a:cubicBezTo>
                  <a:pt x="235" y="512"/>
                  <a:pt x="256" y="491"/>
                  <a:pt x="256" y="464"/>
                </a:cubicBezTo>
                <a:cubicBezTo>
                  <a:pt x="256" y="437"/>
                  <a:pt x="235" y="416"/>
                  <a:pt x="208" y="416"/>
                </a:cubicBezTo>
                <a:cubicBezTo>
                  <a:pt x="181" y="416"/>
                  <a:pt x="160" y="437"/>
                  <a:pt x="160" y="464"/>
                </a:cubicBezTo>
                <a:cubicBezTo>
                  <a:pt x="160" y="491"/>
                  <a:pt x="181" y="512"/>
                  <a:pt x="208" y="512"/>
                </a:cubicBezTo>
                <a:close/>
              </a:path>
              <a:path w="640" h="512">
                <a:moveTo>
                  <a:pt x="432" y="512"/>
                </a:moveTo>
                <a:cubicBezTo>
                  <a:pt x="459" y="512"/>
                  <a:pt x="480" y="491"/>
                  <a:pt x="480" y="464"/>
                </a:cubicBezTo>
                <a:cubicBezTo>
                  <a:pt x="480" y="437"/>
                  <a:pt x="459" y="416"/>
                  <a:pt x="432" y="416"/>
                </a:cubicBezTo>
                <a:cubicBezTo>
                  <a:pt x="405" y="416"/>
                  <a:pt x="384" y="437"/>
                  <a:pt x="384" y="464"/>
                </a:cubicBezTo>
                <a:cubicBezTo>
                  <a:pt x="384" y="491"/>
                  <a:pt x="405" y="512"/>
                  <a:pt x="432" y="512"/>
                </a:cubicBezTo>
                <a:close/>
              </a:path>
            </a:pathLst>
          </a:custGeom>
          <a:solidFill>
            <a:srgbClr val="175E54"/>
          </a:solidFill>
          <a:ln>
            <a:noFill/>
          </a:ln>
        </p:spPr>
      </p:sp>
      <p:sp>
        <p:nvSpPr>
          <p:cNvPr id="5" name="story1-head"/>
          <p:cNvSpPr txBox="1"/>
          <p:nvPr/>
        </p:nvSpPr>
        <p:spPr>
          <a:xfrm>
            <a:off x="1143000" y="1447800"/>
            <a:ext cx="4826000" cy="279400"/>
          </a:xfrm>
          <a:prstGeom prst="rect">
            <a:avLst/>
          </a:prstGeom>
          <a:noFill/>
          <a:ln>
            <a:noFill/>
          </a:ln>
        </p:spPr>
        <p:txBody>
          <a:bodyPr lIns="0" rIns="0" tIns="0" bIns="0" wrap="square" rtlCol="0"/>
          <a:lstStyle/>
          <a:p>
            <a:pPr>
              <a:lnSpc>
                <a:spcPct val="120000"/>
              </a:lnSpc>
            </a:pPr>
            <a:r>
              <a:rPr lang="en-US" sz="1800" noProof="1">
                <a:solidFill>
                  <a:srgbClr val="175E54"/>
                </a:solidFill>
                <a:latin typeface="Unna"/>
                <a:ea typeface="Unna"/>
              </a:rPr>
              <a:t>Amazon — the catalogue play</a:t>
            </a:r>
            <a:endParaRPr lang="en-US" sz="1800" noProof="1"/>
          </a:p>
        </p:txBody>
      </p:sp>
      <p:sp>
        <p:nvSpPr>
          <p:cNvPr id="6" name="story1-body"/>
          <p:cNvSpPr txBox="1"/>
          <p:nvPr/>
        </p:nvSpPr>
        <p:spPr>
          <a:xfrm>
            <a:off x="711200" y="1828800"/>
            <a:ext cx="5080000" cy="2032000"/>
          </a:xfrm>
          <a:prstGeom prst="rect">
            <a:avLst/>
          </a:prstGeom>
          <a:noFill/>
          <a:ln>
            <a:noFill/>
          </a:ln>
        </p:spPr>
        <p:txBody>
          <a:bodyPr lIns="0" rIns="0" tIns="0" bIns="0" wrap="square" rtlCol="0"/>
          <a:lstStyle/>
          <a:p>
            <a:pPr>
              <a:lnSpc>
                <a:spcPct val="150000"/>
              </a:lnSpc>
            </a:pPr>
            <a:r>
              <a:rPr lang="en-US" sz="1250" noProof="1">
                <a:solidFill>
                  <a:srgbClr val="23272E"/>
                </a:solidFill>
                <a:latin typeface="Quattrocento Sans"/>
                <a:ea typeface="Quattrocento Sans"/>
              </a:rPr>
              <a:t>Founded July 1994; opened 1995 as </a:t>
            </a:r>
            <a:r>
              <a:rPr lang="en-US" sz="1250" noProof="1" i="1">
                <a:solidFill>
                  <a:srgbClr val="23272E"/>
                </a:solidFill>
                <a:latin typeface="Quattrocento Sans"/>
                <a:ea typeface="Quattrocento Sans"/>
              </a:rPr>
              <a:t>"Earth's Biggest Bookstore"</a:t>
            </a:r>
            <a:r>
              <a:rPr lang="en-US" sz="1250" noProof="1">
                <a:solidFill>
                  <a:srgbClr val="23272E"/>
                </a:solidFill>
                <a:latin typeface="Quattrocento Sans"/>
                <a:ea typeface="Quattrocento Sans"/>
              </a:rPr>
              <a:t> — a selection no physical shop could hold. Marketplace (2000), Prime (2005) and AWS (2006) followed. Today it holds </a:t>
            </a:r>
            <a:r>
              <a:rPr lang="en-US" sz="1250" noProof="1" b="1">
                <a:solidFill>
                  <a:srgbClr val="23272E"/>
                </a:solidFill>
                <a:latin typeface="Quattrocento Sans"/>
                <a:ea typeface="Quattrocento Sans"/>
              </a:rPr>
              <a:t>~37.6% of US e-commerce</a:t>
            </a:r>
            <a:r>
              <a:rPr lang="en-US" sz="1250" noProof="1">
                <a:solidFill>
                  <a:srgbClr val="23272E"/>
                </a:solidFill>
                <a:latin typeface="Quattrocento Sans"/>
                <a:ea typeface="Quattrocento Sans"/>
              </a:rPr>
              <a:t>.</a:t>
            </a:r>
            <a:endParaRPr lang="en-US" sz="1250" noProof="1"/>
          </a:p>
          <a:p>
            <a:pPr>
              <a:lnSpc>
                <a:spcPct val="150000"/>
              </a:lnSpc>
              <a:spcBef>
                <a:spcPts val="800"/>
              </a:spcBef>
            </a:pPr>
            <a:r>
              <a:rPr lang="en-US" sz="1250" noProof="1" b="1">
                <a:solidFill>
                  <a:srgbClr val="23272E"/>
                </a:solidFill>
                <a:latin typeface="Quattrocento Sans"/>
                <a:ea typeface="Quattrocento Sans"/>
              </a:rPr>
              <a:t>Lesson:</a:t>
            </a:r>
            <a:r>
              <a:rPr lang="en-US" sz="1250" noProof="1">
                <a:solidFill>
                  <a:srgbClr val="23272E"/>
                </a:solidFill>
                <a:latin typeface="Quattrocento Sans"/>
                <a:ea typeface="Quattrocento Sans"/>
              </a:rPr>
              <a:t> first-mover advantage compounded by relentless infrastructure investment.</a:t>
            </a:r>
            <a:endParaRPr lang="en-US" sz="1250" noProof="1"/>
          </a:p>
        </p:txBody>
      </p:sp>
      <p:sp>
        <p:nvSpPr>
          <p:cNvPr id="7" name="story2-icon"/>
          <p:cNvSpPr/>
          <p:nvPr>
            <p:extLst>
              <p:ext uri="{F5677B7D-0D2A-4D9B-9A5C-6D8D7D0E5A5D}">
                <pptd:icon encoding="base64url">eyJpY29uTmFtZSI6ImZhczpnYXZlbCJ9</pptd:icon>
              </p:ext>
            </p:extLst>
          </p:nvPr>
        </p:nvSpPr>
        <p:spPr>
          <a:xfrm>
            <a:off x="6400800" y="1473200"/>
            <a:ext cx="279400" cy="279400"/>
          </a:xfrm>
          <a:custGeom>
            <a:avLst/>
            <a:gdLst/>
            <a:ahLst/>
            <a:cxnLst/>
            <a:rect l="l" t="t" r="r" b="b"/>
            <a:pathLst>
              <a:path w="576" h="512">
                <a:moveTo>
                  <a:pt x="170" y="153"/>
                </a:moveTo>
                <a:lnTo>
                  <a:pt x="151" y="135"/>
                </a:lnTo>
                <a:cubicBezTo>
                  <a:pt x="138" y="122"/>
                  <a:pt x="138" y="102"/>
                  <a:pt x="151" y="89"/>
                </a:cubicBezTo>
                <a:lnTo>
                  <a:pt x="266" y="-25"/>
                </a:lnTo>
                <a:cubicBezTo>
                  <a:pt x="278" y="-38"/>
                  <a:pt x="298" y="-38"/>
                  <a:pt x="311" y="-25"/>
                </a:cubicBezTo>
                <a:lnTo>
                  <a:pt x="330" y="-7"/>
                </a:lnTo>
                <a:cubicBezTo>
                  <a:pt x="342" y="6"/>
                  <a:pt x="342" y="26"/>
                  <a:pt x="330" y="39"/>
                </a:cubicBezTo>
                <a:lnTo>
                  <a:pt x="215" y="153"/>
                </a:lnTo>
                <a:cubicBezTo>
                  <a:pt x="202" y="166"/>
                  <a:pt x="182" y="166"/>
                  <a:pt x="170" y="153"/>
                </a:cubicBezTo>
                <a:close/>
              </a:path>
              <a:path w="576" h="512">
                <a:moveTo>
                  <a:pt x="276" y="212"/>
                </a:moveTo>
                <a:lnTo>
                  <a:pt x="245" y="180"/>
                </a:lnTo>
                <a:lnTo>
                  <a:pt x="357" y="68"/>
                </a:lnTo>
                <a:lnTo>
                  <a:pt x="476" y="188"/>
                </a:lnTo>
                <a:lnTo>
                  <a:pt x="364" y="300"/>
                </a:lnTo>
                <a:lnTo>
                  <a:pt x="333" y="268"/>
                </a:lnTo>
                <a:lnTo>
                  <a:pt x="101" y="500"/>
                </a:lnTo>
                <a:cubicBezTo>
                  <a:pt x="85" y="516"/>
                  <a:pt x="60" y="516"/>
                  <a:pt x="44" y="500"/>
                </a:cubicBezTo>
                <a:cubicBezTo>
                  <a:pt x="28" y="485"/>
                  <a:pt x="28" y="459"/>
                  <a:pt x="44" y="444"/>
                </a:cubicBezTo>
                <a:lnTo>
                  <a:pt x="276" y="212"/>
                </a:lnTo>
                <a:close/>
              </a:path>
              <a:path w="576" h="512">
                <a:moveTo>
                  <a:pt x="391" y="375"/>
                </a:moveTo>
                <a:cubicBezTo>
                  <a:pt x="378" y="362"/>
                  <a:pt x="378" y="342"/>
                  <a:pt x="391" y="329"/>
                </a:cubicBezTo>
                <a:lnTo>
                  <a:pt x="506" y="215"/>
                </a:lnTo>
                <a:cubicBezTo>
                  <a:pt x="518" y="202"/>
                  <a:pt x="538" y="202"/>
                  <a:pt x="551" y="215"/>
                </a:cubicBezTo>
                <a:lnTo>
                  <a:pt x="570" y="233"/>
                </a:lnTo>
                <a:cubicBezTo>
                  <a:pt x="582" y="246"/>
                  <a:pt x="582" y="266"/>
                  <a:pt x="570" y="279"/>
                </a:cubicBezTo>
                <a:lnTo>
                  <a:pt x="455" y="393"/>
                </a:lnTo>
                <a:cubicBezTo>
                  <a:pt x="442" y="406"/>
                  <a:pt x="422" y="406"/>
                  <a:pt x="410" y="393"/>
                </a:cubicBezTo>
                <a:lnTo>
                  <a:pt x="391" y="375"/>
                </a:lnTo>
                <a:close/>
              </a:path>
            </a:pathLst>
          </a:custGeom>
          <a:solidFill>
            <a:srgbClr val="175E54"/>
          </a:solidFill>
          <a:ln>
            <a:noFill/>
          </a:ln>
        </p:spPr>
      </p:sp>
      <p:sp>
        <p:nvSpPr>
          <p:cNvPr id="8" name="story2-head"/>
          <p:cNvSpPr txBox="1"/>
          <p:nvPr/>
        </p:nvSpPr>
        <p:spPr>
          <a:xfrm>
            <a:off x="6832600" y="1447800"/>
            <a:ext cx="4648200" cy="279400"/>
          </a:xfrm>
          <a:prstGeom prst="rect">
            <a:avLst/>
          </a:prstGeom>
          <a:noFill/>
          <a:ln>
            <a:noFill/>
          </a:ln>
        </p:spPr>
        <p:txBody>
          <a:bodyPr lIns="0" rIns="0" tIns="0" bIns="0" wrap="square" rtlCol="0"/>
          <a:lstStyle/>
          <a:p>
            <a:pPr>
              <a:lnSpc>
                <a:spcPct val="120000"/>
              </a:lnSpc>
            </a:pPr>
            <a:r>
              <a:rPr lang="en-US" sz="1800" noProof="1">
                <a:solidFill>
                  <a:srgbClr val="175E54"/>
                </a:solidFill>
                <a:latin typeface="Unna"/>
                <a:ea typeface="Unna"/>
              </a:rPr>
              <a:t>eBay — the marketplace play</a:t>
            </a:r>
            <a:endParaRPr lang="en-US" sz="1800" noProof="1"/>
          </a:p>
        </p:txBody>
      </p:sp>
      <p:sp>
        <p:nvSpPr>
          <p:cNvPr id="9" name="story2-body"/>
          <p:cNvSpPr txBox="1"/>
          <p:nvPr/>
        </p:nvSpPr>
        <p:spPr>
          <a:xfrm>
            <a:off x="6400800" y="1828800"/>
            <a:ext cx="5080000" cy="2032000"/>
          </a:xfrm>
          <a:prstGeom prst="rect">
            <a:avLst/>
          </a:prstGeom>
          <a:noFill/>
          <a:ln>
            <a:noFill/>
          </a:ln>
        </p:spPr>
        <p:txBody>
          <a:bodyPr lIns="0" rIns="0" tIns="0" bIns="0" wrap="square" rtlCol="0"/>
          <a:lstStyle/>
          <a:p>
            <a:pPr>
              <a:lnSpc>
                <a:spcPct val="150000"/>
              </a:lnSpc>
            </a:pPr>
            <a:r>
              <a:rPr lang="en-US" sz="1250" noProof="1">
                <a:solidFill>
                  <a:srgbClr val="23272E"/>
                </a:solidFill>
                <a:latin typeface="Quattrocento Sans"/>
                <a:ea typeface="Quattrocento Sans"/>
              </a:rPr>
              <a:t>Launched as AuctionWeb in September 1995: no inventory at all — the website itself was the market. C2C trading at national scale was suddenly viable, and PayPal (1998) gave it a payment rail.</a:t>
            </a:r>
            <a:endParaRPr lang="en-US" sz="1250" noProof="1"/>
          </a:p>
          <a:p>
            <a:pPr>
              <a:lnSpc>
                <a:spcPct val="150000"/>
              </a:lnSpc>
              <a:spcBef>
                <a:spcPts val="800"/>
              </a:spcBef>
            </a:pPr>
            <a:r>
              <a:rPr lang="en-US" sz="1250" noProof="1" b="1">
                <a:solidFill>
                  <a:srgbClr val="23272E"/>
                </a:solidFill>
                <a:latin typeface="Quattrocento Sans"/>
                <a:ea typeface="Quattrocento Sans"/>
              </a:rPr>
              <a:t>Lesson:</a:t>
            </a:r>
            <a:r>
              <a:rPr lang="en-US" sz="1250" noProof="1">
                <a:solidFill>
                  <a:srgbClr val="23272E"/>
                </a:solidFill>
                <a:latin typeface="Quattrocento Sans"/>
                <a:ea typeface="Quattrocento Sans"/>
              </a:rPr>
              <a:t> the network is the store; trust mechanisms (ratings, escrow) are the real product.</a:t>
            </a:r>
            <a:endParaRPr lang="en-US" sz="1250" noProof="1"/>
          </a:p>
        </p:txBody>
      </p:sp>
      <p:sp>
        <p:nvSpPr>
          <p:cNvPr id="10" name="rule-h"/>
          <p:cNvSpPr/>
          <p:nvPr/>
        </p:nvSpPr>
        <p:spPr>
          <a:xfrm>
            <a:off x="711200" y="4191000"/>
            <a:ext cx="10769600" cy="12700"/>
          </a:xfrm>
          <a:prstGeom prst="rect">
            <a:avLst/>
          </a:prstGeom>
          <a:solidFill>
            <a:srgbClr val="D9D2C4"/>
          </a:solidFill>
          <a:ln>
            <a:noFill/>
          </a:ln>
        </p:spPr>
      </p:sp>
      <p:sp>
        <p:nvSpPr>
          <p:cNvPr id="11" name="changed-head"/>
          <p:cNvSpPr txBox="1"/>
          <p:nvPr/>
        </p:nvSpPr>
        <p:spPr>
          <a:xfrm>
            <a:off x="711200" y="4394200"/>
            <a:ext cx="107696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What changed for the shopper</a:t>
            </a:r>
            <a:endParaRPr lang="en-US" sz="1350" noProof="1"/>
          </a:p>
        </p:txBody>
      </p:sp>
      <p:sp>
        <p:nvSpPr>
          <p:cNvPr id="12" name="changed-body"/>
          <p:cNvSpPr txBox="1"/>
          <p:nvPr/>
        </p:nvSpPr>
        <p:spPr>
          <a:xfrm>
            <a:off x="711200" y="4724400"/>
            <a:ext cx="10769600" cy="11176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Selection</a:t>
            </a:r>
            <a:r>
              <a:rPr lang="en-US" sz="1300" noProof="1">
                <a:solidFill>
                  <a:srgbClr val="23272E"/>
                </a:solidFill>
                <a:latin typeface="Quattrocento Sans"/>
                <a:ea typeface="Quattrocento Sans"/>
              </a:rPr>
              <a:t> became effectively unlimited (the "long tail" could finally be sold), and </a:t>
            </a:r>
            <a:r>
              <a:rPr lang="en-US" sz="1300" noProof="1" b="1">
                <a:solidFill>
                  <a:srgbClr val="23272E"/>
                </a:solidFill>
                <a:latin typeface="Quattrocento Sans"/>
                <a:ea typeface="Quattrocento Sans"/>
              </a:rPr>
              <a:t>price transparency</a:t>
            </a:r>
            <a:r>
              <a:rPr lang="en-US" sz="1300" noProof="1">
                <a:solidFill>
                  <a:srgbClr val="23272E"/>
                </a:solidFill>
                <a:latin typeface="Quattrocento Sans"/>
                <a:ea typeface="Quattrocento Sans"/>
              </a:rPr>
              <a:t> arrived: comparing ten sellers took minutes, not a day of shop visits. Two business-model archetypes were born that still structure the industry — the </a:t>
            </a:r>
            <a:r>
              <a:rPr lang="en-US" sz="1300" noProof="1" b="1">
                <a:solidFill>
                  <a:srgbClr val="23272E"/>
                </a:solidFill>
                <a:latin typeface="Quattrocento Sans"/>
                <a:ea typeface="Quattrocento Sans"/>
              </a:rPr>
              <a:t>catalogue retailer</a:t>
            </a:r>
            <a:r>
              <a:rPr lang="en-US" sz="1300" noProof="1">
                <a:solidFill>
                  <a:srgbClr val="23272E"/>
                </a:solidFill>
                <a:latin typeface="Quattrocento Sans"/>
                <a:ea typeface="Quattrocento Sans"/>
              </a:rPr>
              <a:t> (Amazon) and the </a:t>
            </a:r>
            <a:r>
              <a:rPr lang="en-US" sz="1300" noProof="1" b="1">
                <a:solidFill>
                  <a:srgbClr val="23272E"/>
                </a:solidFill>
                <a:latin typeface="Quattrocento Sans"/>
                <a:ea typeface="Quattrocento Sans"/>
              </a:rPr>
              <a:t>marketplace</a:t>
            </a:r>
            <a:r>
              <a:rPr lang="en-US" sz="1300" noProof="1">
                <a:solidFill>
                  <a:srgbClr val="23272E"/>
                </a:solidFill>
                <a:latin typeface="Quattrocento Sans"/>
                <a:ea typeface="Quattrocento Sans"/>
              </a:rPr>
              <a:t> (eBay, later Alibaba's Taobao, 2003).</a:t>
            </a:r>
            <a:endParaRPr lang="en-US" sz="1300" noProof="1"/>
          </a:p>
        </p:txBody>
      </p:sp>
      <p:sp>
        <p:nvSpPr>
          <p:cNvPr id="13"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company histories per research brief §1.5/§1.8; </a:t>
            </a:r>
            <a:r>
              <a:rPr lang="en-US" sz="1000" noProof="1" u="sng">
                <a:solidFill>
                  <a:srgbClr val="0563C1"/>
                </a:solidFill>
                <a:latin typeface="Quattrocento Sans"/>
                <a:ea typeface="Quattrocento Sans"/>
                <a:hlinkClick r:id="rId2"/>
              </a:rPr>
              <a:t>Statista via SellersCommerce, 2025</a:t>
            </a:r>
            <a:r>
              <a:rPr lang="en-US" sz="1000" noProof="1">
                <a:solidFill>
                  <a:srgbClr val="9A9284"/>
                </a:solidFill>
                <a:latin typeface="Quattrocento Sans"/>
                <a:ea typeface="Quattrocento Sans"/>
              </a:rPr>
              <a:t> (US market share).</a:t>
            </a:r>
            <a:endParaRPr lang="en-US" sz="1000" noProof="1"/>
          </a:p>
        </p:txBody>
      </p:sp>
      <p:sp>
        <p:nvSpPr>
          <p:cNvPr id="14" name="foot-rule"/>
          <p:cNvSpPr/>
          <p:nvPr/>
        </p:nvSpPr>
        <p:spPr>
          <a:xfrm>
            <a:off x="711200" y="6451600"/>
            <a:ext cx="10769600" cy="12700"/>
          </a:xfrm>
          <a:prstGeom prst="rect">
            <a:avLst/>
          </a:prstGeom>
          <a:solidFill>
            <a:srgbClr val="D9D2C4"/>
          </a:solidFill>
          <a:ln>
            <a:noFill/>
          </a:ln>
        </p:spPr>
      </p:sp>
      <p:sp>
        <p:nvSpPr>
          <p:cNvPr id="15"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6"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7"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21</a:t>
            </a:r>
            <a:endParaRPr lang="en-US" sz="950" noProof="1"/>
          </a:p>
        </p:txBody>
      </p:sp>
    </p:spTree>
  </p:cSld>
  <p:clrMapOvr>
    <a:masterClrMapping/>
  </p:clrMapOvr>
</p:sld>
</file>

<file path=ppt/slides/slide2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ERA 3 · 2007–2015</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M-commerce: the iPhone put the store in everyone's pocket</a:t>
            </a:r>
            <a:endParaRPr lang="en-US" sz="2600" noProof="1"/>
          </a:p>
        </p:txBody>
      </p:sp>
      <p:sp>
        <p:nvSpPr>
          <p:cNvPr id="4" name="stat1-big"/>
          <p:cNvSpPr txBox="1"/>
          <p:nvPr/>
        </p:nvSpPr>
        <p:spPr>
          <a:xfrm>
            <a:off x="711200" y="1549400"/>
            <a:ext cx="3429000" cy="6096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57–59%</a:t>
            </a:r>
            <a:endParaRPr lang="en-US" sz="3800" noProof="1"/>
          </a:p>
        </p:txBody>
      </p:sp>
      <p:sp>
        <p:nvSpPr>
          <p:cNvPr id="5" name="stat1-label"/>
          <p:cNvSpPr txBox="1"/>
          <p:nvPr/>
        </p:nvSpPr>
        <p:spPr>
          <a:xfrm>
            <a:off x="711200" y="2209800"/>
            <a:ext cx="3429000" cy="762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of global e-commerce sales are now transacted on mobile (≈$4.01T, 2025)</a:t>
            </a:r>
            <a:endParaRPr lang="en-US" sz="1200" noProof="1"/>
          </a:p>
        </p:txBody>
      </p:sp>
      <p:sp>
        <p:nvSpPr>
          <p:cNvPr id="6" name="stat1-src"/>
          <p:cNvSpPr txBox="1"/>
          <p:nvPr/>
        </p:nvSpPr>
        <p:spPr>
          <a:xfrm>
            <a:off x="711200" y="3022600"/>
            <a:ext cx="3429000" cy="330200"/>
          </a:xfrm>
          <a:prstGeom prst="rect">
            <a:avLst/>
          </a:prstGeom>
          <a:noFill/>
          <a:ln>
            <a:noFill/>
          </a:ln>
        </p:spPr>
        <p:txBody>
          <a:bodyPr lIns="0" rIns="0" tIns="0" bIns="0" wrap="square" rtlCol="0"/>
          <a:lstStyle/>
          <a:p>
            <a:pPr>
              <a:lnSpc>
                <a:spcPct val="130000"/>
              </a:lnSpc>
            </a:pPr>
            <a:r>
              <a:rPr lang="en-US" sz="1000" noProof="1">
                <a:solidFill>
                  <a:srgbClr val="9A9284"/>
                </a:solidFill>
                <a:latin typeface="Quattrocento Sans"/>
                <a:ea typeface="Quattrocento Sans"/>
              </a:rPr>
              <a:t>Source: </a:t>
            </a:r>
            <a:r>
              <a:rPr lang="en-US" sz="1000" noProof="1" u="sng">
                <a:solidFill>
                  <a:srgbClr val="0563C1"/>
                </a:solidFill>
                <a:latin typeface="Quattrocento Sans"/>
                <a:ea typeface="Quattrocento Sans"/>
                <a:hlinkClick r:id="rId2"/>
              </a:rPr>
              <a:t>Statista, 2025</a:t>
            </a:r>
            <a:endParaRPr lang="en-US" sz="1000" noProof="1"/>
          </a:p>
        </p:txBody>
      </p:sp>
      <p:sp>
        <p:nvSpPr>
          <p:cNvPr id="7" name="stat2-big"/>
          <p:cNvSpPr txBox="1"/>
          <p:nvPr/>
        </p:nvSpPr>
        <p:spPr>
          <a:xfrm>
            <a:off x="4381500" y="1549400"/>
            <a:ext cx="3429000" cy="6096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~72%</a:t>
            </a:r>
            <a:endParaRPr lang="en-US" sz="3800" noProof="1"/>
          </a:p>
        </p:txBody>
      </p:sp>
      <p:sp>
        <p:nvSpPr>
          <p:cNvPr id="8" name="stat2-label"/>
          <p:cNvSpPr txBox="1"/>
          <p:nvPr/>
        </p:nvSpPr>
        <p:spPr>
          <a:xfrm>
            <a:off x="4381500" y="2209800"/>
            <a:ext cx="3429000" cy="762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of US e-commerce transactions are driven by smartphones</a:t>
            </a:r>
            <a:endParaRPr lang="en-US" sz="1200" noProof="1"/>
          </a:p>
        </p:txBody>
      </p:sp>
      <p:sp>
        <p:nvSpPr>
          <p:cNvPr id="9" name="stat2-src"/>
          <p:cNvSpPr txBox="1"/>
          <p:nvPr/>
        </p:nvSpPr>
        <p:spPr>
          <a:xfrm>
            <a:off x="4381500" y="3022600"/>
            <a:ext cx="3429000" cy="330200"/>
          </a:xfrm>
          <a:prstGeom prst="rect">
            <a:avLst/>
          </a:prstGeom>
          <a:noFill/>
          <a:ln>
            <a:noFill/>
          </a:ln>
        </p:spPr>
        <p:txBody>
          <a:bodyPr lIns="0" rIns="0" tIns="0" bIns="0" wrap="square" rtlCol="0"/>
          <a:lstStyle/>
          <a:p>
            <a:pPr>
              <a:lnSpc>
                <a:spcPct val="130000"/>
              </a:lnSpc>
            </a:pPr>
            <a:r>
              <a:rPr lang="en-US" sz="1000" noProof="1">
                <a:solidFill>
                  <a:srgbClr val="9A9284"/>
                </a:solidFill>
                <a:latin typeface="Quattrocento Sans"/>
                <a:ea typeface="Quattrocento Sans"/>
              </a:rPr>
              <a:t>Source: </a:t>
            </a:r>
            <a:r>
              <a:rPr lang="en-US" sz="1000" noProof="1" u="sng">
                <a:solidFill>
                  <a:srgbClr val="0563C1"/>
                </a:solidFill>
                <a:latin typeface="Quattrocento Sans"/>
                <a:ea typeface="Quattrocento Sans"/>
                <a:hlinkClick r:id="rId3"/>
              </a:rPr>
              <a:t>Mordor Intelligence, 2026</a:t>
            </a:r>
            <a:endParaRPr lang="en-US" sz="1000" noProof="1"/>
          </a:p>
        </p:txBody>
      </p:sp>
      <p:sp>
        <p:nvSpPr>
          <p:cNvPr id="10" name="stat3-big"/>
          <p:cNvSpPr txBox="1"/>
          <p:nvPr/>
        </p:nvSpPr>
        <p:spPr>
          <a:xfrm>
            <a:off x="8051800" y="1549400"/>
            <a:ext cx="3429000" cy="6096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~76%</a:t>
            </a:r>
            <a:endParaRPr lang="en-US" sz="3800" noProof="1"/>
          </a:p>
        </p:txBody>
      </p:sp>
      <p:sp>
        <p:nvSpPr>
          <p:cNvPr id="11" name="stat3-label"/>
          <p:cNvSpPr txBox="1"/>
          <p:nvPr/>
        </p:nvSpPr>
        <p:spPr>
          <a:xfrm>
            <a:off x="8051800" y="2209800"/>
            <a:ext cx="3429000" cy="762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of Indian e-commerce GMV flows through smartphones — a mobile-first market</a:t>
            </a:r>
            <a:endParaRPr lang="en-US" sz="1200" noProof="1"/>
          </a:p>
        </p:txBody>
      </p:sp>
      <p:sp>
        <p:nvSpPr>
          <p:cNvPr id="12" name="stat3-src"/>
          <p:cNvSpPr txBox="1"/>
          <p:nvPr/>
        </p:nvSpPr>
        <p:spPr>
          <a:xfrm>
            <a:off x="8051800" y="3022600"/>
            <a:ext cx="3429000" cy="330200"/>
          </a:xfrm>
          <a:prstGeom prst="rect">
            <a:avLst/>
          </a:prstGeom>
          <a:noFill/>
          <a:ln>
            <a:noFill/>
          </a:ln>
        </p:spPr>
        <p:txBody>
          <a:bodyPr lIns="0" rIns="0" tIns="0" bIns="0" wrap="square" rtlCol="0"/>
          <a:lstStyle/>
          <a:p>
            <a:pPr>
              <a:lnSpc>
                <a:spcPct val="130000"/>
              </a:lnSpc>
            </a:pPr>
            <a:r>
              <a:rPr lang="en-US" sz="1000" noProof="1">
                <a:solidFill>
                  <a:srgbClr val="9A9284"/>
                </a:solidFill>
                <a:latin typeface="Quattrocento Sans"/>
                <a:ea typeface="Quattrocento Sans"/>
              </a:rPr>
              <a:t>Source: </a:t>
            </a:r>
            <a:r>
              <a:rPr lang="en-US" sz="1000" noProof="1" u="sng">
                <a:solidFill>
                  <a:srgbClr val="0563C1"/>
                </a:solidFill>
                <a:latin typeface="Quattrocento Sans"/>
                <a:ea typeface="Quattrocento Sans"/>
                <a:hlinkClick r:id="rId4"/>
              </a:rPr>
              <a:t>Mordor Intelligence, 2026</a:t>
            </a:r>
            <a:endParaRPr lang="en-US" sz="1000" noProof="1"/>
          </a:p>
        </p:txBody>
      </p:sp>
      <p:sp>
        <p:nvSpPr>
          <p:cNvPr id="13" name="mid-rule"/>
          <p:cNvSpPr/>
          <p:nvPr/>
        </p:nvSpPr>
        <p:spPr>
          <a:xfrm>
            <a:off x="711200" y="3657600"/>
            <a:ext cx="10769600" cy="12700"/>
          </a:xfrm>
          <a:prstGeom prst="rect">
            <a:avLst/>
          </a:prstGeom>
          <a:solidFill>
            <a:srgbClr val="D9D2C4"/>
          </a:solidFill>
          <a:ln>
            <a:noFill/>
          </a:ln>
        </p:spPr>
      </p:sp>
      <p:sp>
        <p:nvSpPr>
          <p:cNvPr id="14" name="what-head"/>
          <p:cNvSpPr txBox="1"/>
          <p:nvPr/>
        </p:nvSpPr>
        <p:spPr>
          <a:xfrm>
            <a:off x="711200" y="3860800"/>
            <a:ext cx="107696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What the smartphone actually changed</a:t>
            </a:r>
            <a:endParaRPr lang="en-US" sz="1350" noProof="1"/>
          </a:p>
        </p:txBody>
      </p:sp>
      <p:sp>
        <p:nvSpPr>
          <p:cNvPr id="15" name="what-body"/>
          <p:cNvSpPr txBox="1"/>
          <p:nvPr/>
        </p:nvSpPr>
        <p:spPr>
          <a:xfrm>
            <a:off x="711200" y="4191000"/>
            <a:ext cx="10769600" cy="16510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Commerce anywhere:</a:t>
            </a:r>
            <a:r>
              <a:rPr lang="en-US" sz="1300" noProof="1">
                <a:solidFill>
                  <a:srgbClr val="23272E"/>
                </a:solidFill>
                <a:latin typeface="Quattrocento Sans"/>
                <a:ea typeface="Quattrocento Sans"/>
              </a:rPr>
              <a:t> location-awareness, push notifications and biometric payment turned idle moments into shopping moments. Whole categories that could not exist on desktop were born — </a:t>
            </a:r>
            <a:r>
              <a:rPr lang="en-US" sz="1300" noProof="1" b="1">
                <a:solidFill>
                  <a:srgbClr val="23272E"/>
                </a:solidFill>
                <a:latin typeface="Quattrocento Sans"/>
                <a:ea typeface="Quattrocento Sans"/>
              </a:rPr>
              <a:t>Uber (2009)</a:t>
            </a:r>
            <a:r>
              <a:rPr lang="en-US" sz="1300" noProof="1">
                <a:solidFill>
                  <a:srgbClr val="23272E"/>
                </a:solidFill>
                <a:latin typeface="Quattrocento Sans"/>
                <a:ea typeface="Quattrocento Sans"/>
              </a:rPr>
              <a:t> is commerce that requires a phone in every pocket.</a:t>
            </a:r>
            <a:endParaRPr lang="en-US" sz="1300" noProof="1"/>
          </a:p>
          <a:p>
            <a:pPr>
              <a:lnSpc>
                <a:spcPct val="145000"/>
              </a:lnSpc>
              <a:spcBef>
                <a:spcPts val="800"/>
              </a:spcBef>
            </a:pPr>
            <a:r>
              <a:rPr lang="en-US" sz="1300" noProof="1" b="1">
                <a:solidFill>
                  <a:srgbClr val="23272E"/>
                </a:solidFill>
                <a:latin typeface="Quattrocento Sans"/>
                <a:ea typeface="Quattrocento Sans"/>
              </a:rPr>
              <a:t>Apps became brands:</a:t>
            </a:r>
            <a:r>
              <a:rPr lang="en-US" sz="1300" noProof="1">
                <a:solidFill>
                  <a:srgbClr val="23272E"/>
                </a:solidFill>
                <a:latin typeface="Quattrocento Sans"/>
                <a:ea typeface="Quattrocento Sans"/>
              </a:rPr>
              <a:t> the Starbucks app fused mobile order, rewards and payment into one flywheel years before most retailers took mobile seriously — and became one of the most-used payment apps in the US.</a:t>
            </a:r>
            <a:endParaRPr lang="en-US" sz="1300" noProof="1"/>
          </a:p>
          <a:p>
            <a:pPr>
              <a:lnSpc>
                <a:spcPct val="145000"/>
              </a:lnSpc>
              <a:spcBef>
                <a:spcPts val="800"/>
              </a:spcBef>
            </a:pPr>
            <a:r>
              <a:rPr lang="en-US" sz="1300" noProof="1" b="1">
                <a:solidFill>
                  <a:srgbClr val="23272E"/>
                </a:solidFill>
                <a:latin typeface="Quattrocento Sans"/>
                <a:ea typeface="Quattrocento Sans"/>
              </a:rPr>
              <a:t>The catch:</a:t>
            </a:r>
            <a:r>
              <a:rPr lang="en-US" sz="1300" noProof="1">
                <a:solidFill>
                  <a:srgbClr val="23272E"/>
                </a:solidFill>
                <a:latin typeface="Quattrocento Sans"/>
                <a:ea typeface="Quattrocento Sans"/>
              </a:rPr>
              <a:t> mobile converts attention but still leaks at checkout — mobile cart abandonment runs near 80% vs ~66% on desktop (Baymard Institute, 2025). Fixing that gap is a recurring assignment theme.</a:t>
            </a:r>
            <a:endParaRPr lang="en-US" sz="1300" noProof="1"/>
          </a:p>
        </p:txBody>
      </p:sp>
      <p:sp>
        <p:nvSpPr>
          <p:cNvPr id="16"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 for abandonment: </a:t>
            </a:r>
            <a:r>
              <a:rPr lang="en-US" sz="1000" noProof="1" u="sng">
                <a:solidFill>
                  <a:srgbClr val="0563C1"/>
                </a:solidFill>
                <a:latin typeface="Quattrocento Sans"/>
                <a:ea typeface="Quattrocento Sans"/>
                <a:hlinkClick r:id="rId2"/>
              </a:rPr>
              <a:t>Baymard Institute, 2025</a:t>
            </a:r>
            <a:r>
              <a:rPr lang="en-US" sz="1000" noProof="1">
                <a:solidFill>
                  <a:srgbClr val="9A9284"/>
                </a:solidFill>
                <a:latin typeface="Quattrocento Sans"/>
                <a:ea typeface="Quattrocento Sans"/>
              </a:rPr>
              <a:t>. Starbucks/Uber examples per research brief §1.8.</a:t>
            </a:r>
            <a:endParaRPr lang="en-US" sz="1000" noProof="1"/>
          </a:p>
        </p:txBody>
      </p:sp>
      <p:sp>
        <p:nvSpPr>
          <p:cNvPr id="17" name="foot-rule"/>
          <p:cNvSpPr/>
          <p:nvPr/>
        </p:nvSpPr>
        <p:spPr>
          <a:xfrm>
            <a:off x="711200" y="6451600"/>
            <a:ext cx="10769600" cy="12700"/>
          </a:xfrm>
          <a:prstGeom prst="rect">
            <a:avLst/>
          </a:prstGeom>
          <a:solidFill>
            <a:srgbClr val="D9D2C4"/>
          </a:solidFill>
          <a:ln>
            <a:noFill/>
          </a:ln>
        </p:spPr>
      </p:sp>
      <p:sp>
        <p:nvSpPr>
          <p:cNvPr id="18"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9"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20"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22</a:t>
            </a:r>
            <a:endParaRPr lang="en-US" sz="950" noProof="1"/>
          </a:p>
        </p:txBody>
      </p:sp>
    </p:spTree>
  </p:cSld>
  <p:clrMapOvr>
    <a:masterClrMapping/>
  </p:clrMapOvr>
</p:sld>
</file>

<file path=ppt/slides/slide2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ERA 4 · 2015–2023</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Social &amp; conversational commerce: the feed became the storefront</a:t>
            </a:r>
            <a:endParaRPr lang="en-US" sz="2600" noProof="1"/>
          </a:p>
        </p:txBody>
      </p:sp>
      <p:sp>
        <p:nvSpPr>
          <p:cNvPr id="4" name="left-head"/>
          <p:cNvSpPr txBox="1"/>
          <p:nvPr/>
        </p:nvSpPr>
        <p:spPr>
          <a:xfrm>
            <a:off x="711200" y="1422400"/>
            <a:ext cx="53340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Platform shopping — discovery to checkout in one app</a:t>
            </a:r>
            <a:endParaRPr lang="en-US" sz="1350" noProof="1"/>
          </a:p>
        </p:txBody>
      </p:sp>
      <p:sp>
        <p:nvSpPr>
          <p:cNvPr id="5" name="left-body"/>
          <p:cNvSpPr txBox="1"/>
          <p:nvPr/>
        </p:nvSpPr>
        <p:spPr>
          <a:xfrm>
            <a:off x="711200" y="1752600"/>
            <a:ext cx="5334000" cy="2286000"/>
          </a:xfrm>
          <a:prstGeom prst="rect">
            <a:avLst/>
          </a:prstGeom>
          <a:noFill/>
          <a:ln>
            <a:noFill/>
          </a:ln>
        </p:spPr>
        <p:txBody>
          <a:bodyPr lIns="0" rIns="0" tIns="0" bIns="0" wrap="square" rtlCol="0"/>
          <a:lstStyle/>
          <a:p>
            <a:pPr>
              <a:lnSpc>
                <a:spcPct val="150000"/>
              </a:lnSpc>
              <a:spcBef>
                <a:spcPts val="10"/>
              </a:spcBef>
              <a:buChar char="•"/>
            </a:pPr>
            <a:r>
              <a:rPr lang="en-US" sz="1250" noProof="1" b="1">
                <a:solidFill>
                  <a:srgbClr val="23272E"/>
                </a:solidFill>
                <a:latin typeface="Quattrocento Sans"/>
                <a:ea typeface="Quattrocento Sans"/>
              </a:rPr>
              <a:t>TikTok Shop US</a:t>
            </a:r>
            <a:r>
              <a:rPr lang="en-US" sz="1250" noProof="1">
                <a:solidFill>
                  <a:srgbClr val="23272E"/>
                </a:solidFill>
                <a:latin typeface="Quattrocento Sans"/>
                <a:ea typeface="Quattrocento Sans"/>
              </a:rPr>
              <a:t> (launched Sept 2023): +108% YoY in 2025, projected </a:t>
            </a:r>
            <a:r>
              <a:rPr lang="en-US" sz="1250" noProof="1" b="1">
                <a:solidFill>
                  <a:srgbClr val="23272E"/>
                </a:solidFill>
                <a:latin typeface="Quattrocento Sans"/>
                <a:ea typeface="Quattrocento Sans"/>
              </a:rPr>
              <a:t>$23.4B in 2026*</a:t>
            </a:r>
            <a:r>
              <a:rPr lang="en-US" sz="1250" noProof="1">
                <a:solidFill>
                  <a:srgbClr val="23272E"/>
                </a:solidFill>
                <a:latin typeface="Quattrocento Sans"/>
                <a:ea typeface="Quattrocento Sans"/>
              </a:rPr>
              <a:t> — larger than Target's or Costco's online businesses</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Pinduoduo</a:t>
            </a:r>
            <a:r>
              <a:rPr lang="en-US" sz="1250" noProof="1">
                <a:solidFill>
                  <a:srgbClr val="23272E"/>
                </a:solidFill>
                <a:latin typeface="Quattrocento Sans"/>
                <a:ea typeface="Quattrocento Sans"/>
              </a:rPr>
              <a:t> (2015/16): team-purchase group buying on WeChat grew to ~900M+ users and a top-3 Chinese platform</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Meesho</a:t>
            </a:r>
            <a:r>
              <a:rPr lang="en-US" sz="1250" noProof="1">
                <a:solidFill>
                  <a:srgbClr val="23272E"/>
                </a:solidFill>
                <a:latin typeface="Quattrocento Sans"/>
                <a:ea typeface="Quattrocento Sans"/>
              </a:rPr>
              <a:t> (India, 2015): ~1.4M+ small sellers and resellers trading via WhatsApp and social</a:t>
            </a:r>
            <a:endParaRPr lang="en-US" sz="1250" noProof="1"/>
          </a:p>
        </p:txBody>
      </p:sp>
      <p:sp>
        <p:nvSpPr>
          <p:cNvPr id="6" name="right-head"/>
          <p:cNvSpPr txBox="1"/>
          <p:nvPr/>
        </p:nvSpPr>
        <p:spPr>
          <a:xfrm>
            <a:off x="6654800" y="1422400"/>
            <a:ext cx="48260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Messaging &amp; voice — the conversation is the storefront</a:t>
            </a:r>
            <a:endParaRPr lang="en-US" sz="1350" noProof="1"/>
          </a:p>
        </p:txBody>
      </p:sp>
      <p:sp>
        <p:nvSpPr>
          <p:cNvPr id="7" name="right-body"/>
          <p:cNvSpPr txBox="1"/>
          <p:nvPr/>
        </p:nvSpPr>
        <p:spPr>
          <a:xfrm>
            <a:off x="6654800" y="1752600"/>
            <a:ext cx="4826000" cy="2286000"/>
          </a:xfrm>
          <a:prstGeom prst="rect">
            <a:avLst/>
          </a:prstGeom>
          <a:noFill/>
          <a:ln>
            <a:noFill/>
          </a:ln>
        </p:spPr>
        <p:txBody>
          <a:bodyPr lIns="0" rIns="0" tIns="0" bIns="0" wrap="square" rtlCol="0"/>
          <a:lstStyle/>
          <a:p>
            <a:pPr>
              <a:lnSpc>
                <a:spcPct val="150000"/>
              </a:lnSpc>
              <a:spcBef>
                <a:spcPts val="10"/>
              </a:spcBef>
              <a:buChar char="•"/>
            </a:pPr>
            <a:r>
              <a:rPr lang="en-US" sz="1250" noProof="1" b="1">
                <a:solidFill>
                  <a:srgbClr val="23272E"/>
                </a:solidFill>
                <a:latin typeface="Quattrocento Sans"/>
                <a:ea typeface="Quattrocento Sans"/>
              </a:rPr>
              <a:t>WeChat</a:t>
            </a:r>
            <a:r>
              <a:rPr lang="en-US" sz="1250" noProof="1">
                <a:solidFill>
                  <a:srgbClr val="23272E"/>
                </a:solidFill>
                <a:latin typeface="Quattrocento Sans"/>
                <a:ea typeface="Quattrocento Sans"/>
              </a:rPr>
              <a:t> mini-programs and Pay made China the super-app model: social ≈17% of Chinese online retail (vs &lt;9% in the US)</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Live selling</a:t>
            </a:r>
            <a:r>
              <a:rPr lang="en-US" sz="1250" noProof="1">
                <a:solidFill>
                  <a:srgbClr val="23272E"/>
                </a:solidFill>
                <a:latin typeface="Quattrocento Sans"/>
                <a:ea typeface="Quattrocento Sans"/>
              </a:rPr>
              <a:t> converts at up to 30% vs 2–3% for conventional e-commerce — though only ~12% of US shoppers have tried it</a:t>
            </a:r>
            <a:endParaRPr lang="en-US" sz="1250" noProof="1"/>
          </a:p>
          <a:p>
            <a:pPr>
              <a:lnSpc>
                <a:spcPct val="150000"/>
              </a:lnSpc>
              <a:spcBef>
                <a:spcPts val="10"/>
              </a:spcBef>
              <a:buChar char="•"/>
            </a:pPr>
            <a:r>
              <a:rPr lang="en-US" sz="1250" noProof="1" b="1">
                <a:solidFill>
                  <a:srgbClr val="23272E"/>
                </a:solidFill>
                <a:latin typeface="Quattrocento Sans"/>
                <a:ea typeface="Quattrocento Sans"/>
              </a:rPr>
              <a:t>Alexa &amp; chatbots</a:t>
            </a:r>
            <a:r>
              <a:rPr lang="en-US" sz="1250" noProof="1">
                <a:solidFill>
                  <a:srgbClr val="23272E"/>
                </a:solidFill>
                <a:latin typeface="Quattrocento Sans"/>
                <a:ea typeface="Quattrocento Sans"/>
              </a:rPr>
              <a:t> made ordering a sentence — small basket, high frequency</a:t>
            </a:r>
            <a:endParaRPr lang="en-US" sz="1250" noProof="1"/>
          </a:p>
        </p:txBody>
      </p:sp>
      <p:sp>
        <p:nvSpPr>
          <p:cNvPr id="8" name="rule-h"/>
          <p:cNvSpPr/>
          <p:nvPr/>
        </p:nvSpPr>
        <p:spPr>
          <a:xfrm>
            <a:off x="711200" y="4267200"/>
            <a:ext cx="10769600" cy="12700"/>
          </a:xfrm>
          <a:prstGeom prst="rect">
            <a:avLst/>
          </a:prstGeom>
          <a:solidFill>
            <a:srgbClr val="D9D2C4"/>
          </a:solidFill>
          <a:ln>
            <a:noFill/>
          </a:ln>
        </p:spPr>
      </p:sp>
      <p:sp>
        <p:nvSpPr>
          <p:cNvPr id="9" name="num-big"/>
          <p:cNvSpPr txBox="1"/>
          <p:nvPr/>
        </p:nvSpPr>
        <p:spPr>
          <a:xfrm>
            <a:off x="711200" y="4470400"/>
            <a:ext cx="2794000" cy="6096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$1.6T → $2.1T</a:t>
            </a:r>
            <a:endParaRPr lang="en-US" sz="3800" noProof="1"/>
          </a:p>
        </p:txBody>
      </p:sp>
      <p:sp>
        <p:nvSpPr>
          <p:cNvPr id="10" name="num-label"/>
          <p:cNvSpPr txBox="1"/>
          <p:nvPr/>
        </p:nvSpPr>
        <p:spPr>
          <a:xfrm>
            <a:off x="711200" y="5130800"/>
            <a:ext cx="4826000" cy="635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global social-commerce market, 2025 → 2026* (~29% CAGR; estimates vary widely by definition — some count only in-app checkout)</a:t>
            </a:r>
            <a:endParaRPr lang="en-US" sz="1200" noProof="1"/>
          </a:p>
        </p:txBody>
      </p:sp>
      <p:sp>
        <p:nvSpPr>
          <p:cNvPr id="11" name="why-body"/>
          <p:cNvSpPr txBox="1"/>
          <p:nvPr/>
        </p:nvSpPr>
        <p:spPr>
          <a:xfrm>
            <a:off x="6654800" y="4470400"/>
            <a:ext cx="4826000" cy="13970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Why this era matters:</a:t>
            </a:r>
            <a:r>
              <a:rPr lang="en-US" sz="1250" noProof="1">
                <a:solidFill>
                  <a:srgbClr val="23272E"/>
                </a:solidFill>
                <a:latin typeface="Quattrocento Sans"/>
                <a:ea typeface="Quattrocento Sans"/>
              </a:rPr>
              <a:t> purchase intent flipped direction. Instead of searching for a product, shoppers </a:t>
            </a:r>
            <a:r>
              <a:rPr lang="en-US" sz="1250" noProof="1" i="1">
                <a:solidFill>
                  <a:srgbClr val="23272E"/>
                </a:solidFill>
                <a:latin typeface="Quattrocento Sans"/>
                <a:ea typeface="Quattrocento Sans"/>
              </a:rPr>
              <a:t>discover</a:t>
            </a:r>
            <a:r>
              <a:rPr lang="en-US" sz="1250" noProof="1">
                <a:solidFill>
                  <a:srgbClr val="23272E"/>
                </a:solidFill>
                <a:latin typeface="Quattrocento Sans"/>
                <a:ea typeface="Quattrocento Sans"/>
              </a:rPr>
              <a:t> it inside entertainment — attention, not shelf space or even location, became the scarce resource being sold.</a:t>
            </a:r>
            <a:endParaRPr lang="en-US" sz="1250" noProof="1"/>
          </a:p>
        </p:txBody>
      </p:sp>
      <p:sp>
        <p:nvSpPr>
          <p:cNvPr id="12"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eMarketer &amp; Mordor Intelligence via Ringly, 2026</a:t>
            </a:r>
            <a:r>
              <a:rPr lang="en-US" sz="1000" noProof="1">
                <a:solidFill>
                  <a:srgbClr val="9A9284"/>
                </a:solidFill>
                <a:latin typeface="Quattrocento Sans"/>
                <a:ea typeface="Quattrocento Sans"/>
              </a:rPr>
              <a:t> (TikTok Shop, market size, live-shopping conversion); </a:t>
            </a:r>
            <a:r>
              <a:rPr lang="en-US" sz="1000" noProof="1" u="sng">
                <a:solidFill>
                  <a:srgbClr val="0563C1"/>
                </a:solidFill>
                <a:latin typeface="Quattrocento Sans"/>
                <a:ea typeface="Quattrocento Sans"/>
                <a:hlinkClick r:id="rId3"/>
              </a:rPr>
              <a:t>eMarketer via eInvoiceGenerator, 2026</a:t>
            </a:r>
            <a:r>
              <a:rPr lang="en-US" sz="1000" noProof="1">
                <a:solidFill>
                  <a:srgbClr val="9A9284"/>
                </a:solidFill>
                <a:latin typeface="Quattrocento Sans"/>
                <a:ea typeface="Quattrocento Sans"/>
              </a:rPr>
              <a:t>; company histories per research brief §1.8.</a:t>
            </a:r>
            <a:endParaRPr lang="en-US" sz="10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23</a:t>
            </a:r>
            <a:endParaRPr lang="en-US" sz="950" noProof="1"/>
          </a:p>
        </p:txBody>
      </p:sp>
    </p:spTree>
  </p:cSld>
  <p:clrMapOvr>
    <a:masterClrMapping/>
  </p:clrMapOvr>
</p:sld>
</file>

<file path=ppt/slides/slide2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ERA 5 · 2024 →</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Agentic commerce: AI agents now research — and buy — for you</a:t>
            </a:r>
            <a:endParaRPr lang="en-US" sz="2600" noProof="1"/>
          </a:p>
        </p:txBody>
      </p:sp>
      <p:sp>
        <p:nvSpPr>
          <p:cNvPr id="4" name="ex1-icon"/>
          <p:cNvSpPr/>
          <p:nvPr>
            <p:extLst>
              <p:ext uri="{F5677B7D-0D2A-4D9B-9A5C-6D8D7D0E5A5D}">
                <pptd:icon encoding="base64url">eyJpY29uTmFtZSI6ImZhczpyb2JvdCJ9</pptd:icon>
              </p:ext>
            </p:extLst>
          </p:nvPr>
        </p:nvSpPr>
        <p:spPr>
          <a:xfrm>
            <a:off x="711200" y="1473200"/>
            <a:ext cx="279400" cy="279400"/>
          </a:xfrm>
          <a:custGeom>
            <a:avLst/>
            <a:gdLst/>
            <a:ahLst/>
            <a:cxnLst/>
            <a:rect l="l" t="t" r="r" b="b"/>
            <a:pathLst>
              <a:path w="640" h="512">
                <a:moveTo>
                  <a:pt x="352" y="0"/>
                </a:moveTo>
                <a:cubicBezTo>
                  <a:pt x="352" y="-18"/>
                  <a:pt x="338" y="-32"/>
                  <a:pt x="320" y="-32"/>
                </a:cubicBezTo>
                <a:cubicBezTo>
                  <a:pt x="302" y="-32"/>
                  <a:pt x="288" y="-18"/>
                  <a:pt x="288" y="0"/>
                </a:cubicBezTo>
                <a:lnTo>
                  <a:pt x="288" y="64"/>
                </a:lnTo>
                <a:lnTo>
                  <a:pt x="192" y="64"/>
                </a:lnTo>
                <a:cubicBezTo>
                  <a:pt x="139" y="64"/>
                  <a:pt x="96" y="107"/>
                  <a:pt x="96" y="160"/>
                </a:cubicBezTo>
                <a:lnTo>
                  <a:pt x="96" y="384"/>
                </a:lnTo>
                <a:cubicBezTo>
                  <a:pt x="96" y="437"/>
                  <a:pt x="139" y="480"/>
                  <a:pt x="192" y="480"/>
                </a:cubicBezTo>
                <a:lnTo>
                  <a:pt x="448" y="480"/>
                </a:lnTo>
                <a:cubicBezTo>
                  <a:pt x="501" y="480"/>
                  <a:pt x="544" y="437"/>
                  <a:pt x="544" y="384"/>
                </a:cubicBezTo>
                <a:lnTo>
                  <a:pt x="544" y="160"/>
                </a:lnTo>
                <a:cubicBezTo>
                  <a:pt x="544" y="107"/>
                  <a:pt x="501" y="64"/>
                  <a:pt x="448" y="64"/>
                </a:cubicBezTo>
                <a:lnTo>
                  <a:pt x="352" y="64"/>
                </a:lnTo>
                <a:lnTo>
                  <a:pt x="352" y="0"/>
                </a:lnTo>
                <a:close/>
                <a:moveTo>
                  <a:pt x="160" y="368"/>
                </a:moveTo>
                <a:cubicBezTo>
                  <a:pt x="160" y="355"/>
                  <a:pt x="171" y="344"/>
                  <a:pt x="184" y="344"/>
                </a:cubicBezTo>
                <a:lnTo>
                  <a:pt x="216" y="344"/>
                </a:lnTo>
                <a:cubicBezTo>
                  <a:pt x="229" y="344"/>
                  <a:pt x="240" y="355"/>
                  <a:pt x="240" y="368"/>
                </a:cubicBezTo>
                <a:cubicBezTo>
                  <a:pt x="240" y="381"/>
                  <a:pt x="229" y="392"/>
                  <a:pt x="216" y="392"/>
                </a:cubicBezTo>
                <a:lnTo>
                  <a:pt x="184" y="392"/>
                </a:lnTo>
                <a:cubicBezTo>
                  <a:pt x="171" y="392"/>
                  <a:pt x="160" y="381"/>
                  <a:pt x="160" y="368"/>
                </a:cubicBezTo>
                <a:close/>
                <a:moveTo>
                  <a:pt x="280" y="368"/>
                </a:moveTo>
                <a:cubicBezTo>
                  <a:pt x="280" y="355"/>
                  <a:pt x="291" y="344"/>
                  <a:pt x="304" y="344"/>
                </a:cubicBezTo>
                <a:lnTo>
                  <a:pt x="336" y="344"/>
                </a:lnTo>
                <a:cubicBezTo>
                  <a:pt x="349" y="344"/>
                  <a:pt x="360" y="355"/>
                  <a:pt x="360" y="368"/>
                </a:cubicBezTo>
                <a:cubicBezTo>
                  <a:pt x="360" y="381"/>
                  <a:pt x="349" y="392"/>
                  <a:pt x="336" y="392"/>
                </a:cubicBezTo>
                <a:lnTo>
                  <a:pt x="304" y="392"/>
                </a:lnTo>
                <a:cubicBezTo>
                  <a:pt x="291" y="392"/>
                  <a:pt x="280" y="381"/>
                  <a:pt x="280" y="368"/>
                </a:cubicBezTo>
                <a:close/>
                <a:moveTo>
                  <a:pt x="400" y="368"/>
                </a:moveTo>
                <a:cubicBezTo>
                  <a:pt x="400" y="355"/>
                  <a:pt x="411" y="344"/>
                  <a:pt x="424" y="344"/>
                </a:cubicBezTo>
                <a:lnTo>
                  <a:pt x="456" y="344"/>
                </a:lnTo>
                <a:cubicBezTo>
                  <a:pt x="469" y="344"/>
                  <a:pt x="480" y="355"/>
                  <a:pt x="480" y="368"/>
                </a:cubicBezTo>
                <a:cubicBezTo>
                  <a:pt x="480" y="381"/>
                  <a:pt x="469" y="392"/>
                  <a:pt x="456" y="392"/>
                </a:cubicBezTo>
                <a:lnTo>
                  <a:pt x="424" y="392"/>
                </a:lnTo>
                <a:cubicBezTo>
                  <a:pt x="411" y="392"/>
                  <a:pt x="400" y="381"/>
                  <a:pt x="400" y="368"/>
                </a:cubicBezTo>
                <a:close/>
                <a:moveTo>
                  <a:pt x="224" y="176"/>
                </a:moveTo>
                <a:cubicBezTo>
                  <a:pt x="251" y="176"/>
                  <a:pt x="272" y="197"/>
                  <a:pt x="272" y="224"/>
                </a:cubicBezTo>
                <a:cubicBezTo>
                  <a:pt x="272" y="251"/>
                  <a:pt x="251" y="272"/>
                  <a:pt x="224" y="272"/>
                </a:cubicBezTo>
                <a:cubicBezTo>
                  <a:pt x="197" y="272"/>
                  <a:pt x="176" y="251"/>
                  <a:pt x="176" y="224"/>
                </a:cubicBezTo>
                <a:cubicBezTo>
                  <a:pt x="176" y="197"/>
                  <a:pt x="197" y="176"/>
                  <a:pt x="224" y="176"/>
                </a:cubicBezTo>
                <a:close/>
                <a:moveTo>
                  <a:pt x="368" y="224"/>
                </a:moveTo>
                <a:cubicBezTo>
                  <a:pt x="368" y="197"/>
                  <a:pt x="389" y="176"/>
                  <a:pt x="416" y="176"/>
                </a:cubicBezTo>
                <a:cubicBezTo>
                  <a:pt x="443" y="176"/>
                  <a:pt x="464" y="197"/>
                  <a:pt x="464" y="224"/>
                </a:cubicBezTo>
                <a:cubicBezTo>
                  <a:pt x="464" y="251"/>
                  <a:pt x="443" y="272"/>
                  <a:pt x="416" y="272"/>
                </a:cubicBezTo>
                <a:cubicBezTo>
                  <a:pt x="389" y="272"/>
                  <a:pt x="368" y="251"/>
                  <a:pt x="368" y="224"/>
                </a:cubicBezTo>
                <a:close/>
              </a:path>
              <a:path w="640" h="512">
                <a:moveTo>
                  <a:pt x="64" y="224"/>
                </a:moveTo>
                <a:cubicBezTo>
                  <a:pt x="64" y="206"/>
                  <a:pt x="50" y="192"/>
                  <a:pt x="32" y="192"/>
                </a:cubicBezTo>
                <a:cubicBezTo>
                  <a:pt x="14" y="192"/>
                  <a:pt x="0" y="206"/>
                  <a:pt x="0" y="224"/>
                </a:cubicBezTo>
                <a:lnTo>
                  <a:pt x="0" y="320"/>
                </a:lnTo>
                <a:cubicBezTo>
                  <a:pt x="0" y="338"/>
                  <a:pt x="14" y="352"/>
                  <a:pt x="32" y="352"/>
                </a:cubicBezTo>
                <a:cubicBezTo>
                  <a:pt x="50" y="352"/>
                  <a:pt x="64" y="338"/>
                  <a:pt x="64" y="320"/>
                </a:cubicBezTo>
                <a:lnTo>
                  <a:pt x="64" y="224"/>
                </a:lnTo>
                <a:close/>
              </a:path>
              <a:path w="640" h="512">
                <a:moveTo>
                  <a:pt x="608" y="192"/>
                </a:moveTo>
                <a:cubicBezTo>
                  <a:pt x="590" y="192"/>
                  <a:pt x="576" y="206"/>
                  <a:pt x="576" y="224"/>
                </a:cubicBezTo>
                <a:lnTo>
                  <a:pt x="576" y="320"/>
                </a:lnTo>
                <a:cubicBezTo>
                  <a:pt x="576" y="338"/>
                  <a:pt x="590" y="352"/>
                  <a:pt x="608" y="352"/>
                </a:cubicBezTo>
                <a:cubicBezTo>
                  <a:pt x="626" y="352"/>
                  <a:pt x="640" y="338"/>
                  <a:pt x="640" y="320"/>
                </a:cubicBezTo>
                <a:lnTo>
                  <a:pt x="640" y="224"/>
                </a:lnTo>
                <a:cubicBezTo>
                  <a:pt x="640" y="206"/>
                  <a:pt x="626" y="192"/>
                  <a:pt x="608" y="192"/>
                </a:cubicBezTo>
                <a:close/>
              </a:path>
            </a:pathLst>
          </a:custGeom>
          <a:solidFill>
            <a:srgbClr val="175E54"/>
          </a:solidFill>
          <a:ln>
            <a:noFill/>
          </a:ln>
        </p:spPr>
      </p:sp>
      <p:sp>
        <p:nvSpPr>
          <p:cNvPr id="5" name="ex1-head"/>
          <p:cNvSpPr txBox="1"/>
          <p:nvPr/>
        </p:nvSpPr>
        <p:spPr>
          <a:xfrm>
            <a:off x="1143000" y="1447800"/>
            <a:ext cx="4648200" cy="279400"/>
          </a:xfrm>
          <a:prstGeom prst="rect">
            <a:avLst/>
          </a:prstGeom>
          <a:noFill/>
          <a:ln>
            <a:noFill/>
          </a:ln>
        </p:spPr>
        <p:txBody>
          <a:bodyPr lIns="0" rIns="0" tIns="0" bIns="0" wrap="square" rtlCol="0"/>
          <a:lstStyle/>
          <a:p>
            <a:pPr>
              <a:lnSpc>
                <a:spcPct val="120000"/>
              </a:lnSpc>
            </a:pPr>
            <a:r>
              <a:rPr lang="en-US" sz="1800" noProof="1">
                <a:solidFill>
                  <a:srgbClr val="175E54"/>
                </a:solidFill>
                <a:latin typeface="Unna"/>
                <a:ea typeface="Unna"/>
              </a:rPr>
              <a:t>Amazon Rufus</a:t>
            </a:r>
            <a:endParaRPr lang="en-US" sz="1800" noProof="1"/>
          </a:p>
        </p:txBody>
      </p:sp>
      <p:sp>
        <p:nvSpPr>
          <p:cNvPr id="6" name="ex1-body"/>
          <p:cNvSpPr txBox="1"/>
          <p:nvPr/>
        </p:nvSpPr>
        <p:spPr>
          <a:xfrm>
            <a:off x="711200" y="1828800"/>
            <a:ext cx="5080000" cy="2159000"/>
          </a:xfrm>
          <a:prstGeom prst="rect">
            <a:avLst/>
          </a:prstGeom>
          <a:noFill/>
          <a:ln>
            <a:noFill/>
          </a:ln>
        </p:spPr>
        <p:txBody>
          <a:bodyPr lIns="0" rIns="0" tIns="0" bIns="0" wrap="square" rtlCol="0"/>
          <a:lstStyle/>
          <a:p>
            <a:pPr>
              <a:lnSpc>
                <a:spcPct val="150000"/>
              </a:lnSpc>
            </a:pPr>
            <a:r>
              <a:rPr lang="en-US" sz="1250" noProof="1">
                <a:solidFill>
                  <a:srgbClr val="23272E"/>
                </a:solidFill>
                <a:latin typeface="Quattrocento Sans"/>
                <a:ea typeface="Quattrocento Sans"/>
              </a:rPr>
              <a:t>Conversational shopping assistant (beta Feb 2024, full US rollout Sept 2024). Reported at ~250M users and ~14% of Amazon searches by late 2025; Amazon projects ~$10B in incremental annualised sales. Panel data suggests Rufus users convert ~2.7× more often.</a:t>
            </a:r>
            <a:endParaRPr lang="en-US" sz="1250" noProof="1"/>
          </a:p>
          <a:p>
            <a:pPr>
              <a:lnSpc>
                <a:spcPct val="150000"/>
              </a:lnSpc>
              <a:spcBef>
                <a:spcPts val="600"/>
              </a:spcBef>
            </a:pPr>
            <a:r>
              <a:rPr lang="en-US" sz="1250" noProof="1">
                <a:solidFill>
                  <a:srgbClr val="23272E"/>
                </a:solidFill>
                <a:latin typeface="Quattrocento Sans"/>
                <a:ea typeface="Quattrocento Sans"/>
              </a:rPr>
              <a:t>Figures are company commentary + analyst estimates — treat as directional.</a:t>
            </a:r>
            <a:endParaRPr lang="en-US" sz="1250" noProof="1"/>
          </a:p>
        </p:txBody>
      </p:sp>
      <p:sp>
        <p:nvSpPr>
          <p:cNvPr id="7" name="ex2-icon"/>
          <p:cNvSpPr/>
          <p:nvPr>
            <p:extLst>
              <p:ext uri="{F5677B7D-0D2A-4D9B-9A5C-6D8D7D0E5A5D}">
                <pptd:icon encoding="base64url">eyJpY29uTmFtZSI6ImZhczpjb21tZW50cyJ9</pptd:icon>
              </p:ext>
            </p:extLst>
          </p:nvPr>
        </p:nvSpPr>
        <p:spPr>
          <a:xfrm>
            <a:off x="6400800" y="1473200"/>
            <a:ext cx="279400" cy="279400"/>
          </a:xfrm>
          <a:custGeom>
            <a:avLst/>
            <a:gdLst/>
            <a:ahLst/>
            <a:cxnLst/>
            <a:rect l="l" t="t" r="r" b="b"/>
            <a:pathLst>
              <a:path w="576" h="512">
                <a:moveTo>
                  <a:pt x="384" y="144"/>
                </a:moveTo>
                <a:cubicBezTo>
                  <a:pt x="384" y="241"/>
                  <a:pt x="298" y="320"/>
                  <a:pt x="192" y="320"/>
                </a:cubicBezTo>
                <a:cubicBezTo>
                  <a:pt x="165" y="320"/>
                  <a:pt x="140" y="315"/>
                  <a:pt x="117" y="306"/>
                </a:cubicBezTo>
                <a:lnTo>
                  <a:pt x="35" y="349"/>
                </a:lnTo>
                <a:cubicBezTo>
                  <a:pt x="26" y="354"/>
                  <a:pt x="15" y="352"/>
                  <a:pt x="7" y="345"/>
                </a:cubicBezTo>
                <a:cubicBezTo>
                  <a:pt x="0" y="338"/>
                  <a:pt x="-2" y="326"/>
                  <a:pt x="3" y="317"/>
                </a:cubicBezTo>
                <a:lnTo>
                  <a:pt x="38" y="250"/>
                </a:lnTo>
                <a:cubicBezTo>
                  <a:pt x="14" y="220"/>
                  <a:pt x="0" y="184"/>
                  <a:pt x="0" y="144"/>
                </a:cubicBezTo>
                <a:cubicBezTo>
                  <a:pt x="0" y="47"/>
                  <a:pt x="86" y="-32"/>
                  <a:pt x="192" y="-32"/>
                </a:cubicBezTo>
                <a:cubicBezTo>
                  <a:pt x="298" y="-32"/>
                  <a:pt x="384" y="47"/>
                  <a:pt x="384" y="144"/>
                </a:cubicBezTo>
                <a:close/>
                <a:moveTo>
                  <a:pt x="384" y="512"/>
                </a:moveTo>
                <a:cubicBezTo>
                  <a:pt x="290" y="512"/>
                  <a:pt x="212" y="450"/>
                  <a:pt x="195" y="368"/>
                </a:cubicBezTo>
                <a:cubicBezTo>
                  <a:pt x="315" y="367"/>
                  <a:pt x="420" y="281"/>
                  <a:pt x="431" y="165"/>
                </a:cubicBezTo>
                <a:cubicBezTo>
                  <a:pt x="514" y="185"/>
                  <a:pt x="576" y="254"/>
                  <a:pt x="576" y="336"/>
                </a:cubicBezTo>
                <a:cubicBezTo>
                  <a:pt x="576" y="376"/>
                  <a:pt x="562" y="412"/>
                  <a:pt x="538" y="442"/>
                </a:cubicBezTo>
                <a:lnTo>
                  <a:pt x="573" y="509"/>
                </a:lnTo>
                <a:cubicBezTo>
                  <a:pt x="578" y="518"/>
                  <a:pt x="576" y="530"/>
                  <a:pt x="569" y="537"/>
                </a:cubicBezTo>
                <a:cubicBezTo>
                  <a:pt x="562" y="545"/>
                  <a:pt x="550" y="546"/>
                  <a:pt x="541" y="541"/>
                </a:cubicBezTo>
                <a:lnTo>
                  <a:pt x="459" y="498"/>
                </a:lnTo>
                <a:cubicBezTo>
                  <a:pt x="436" y="507"/>
                  <a:pt x="411" y="512"/>
                  <a:pt x="384" y="512"/>
                </a:cubicBezTo>
                <a:close/>
              </a:path>
            </a:pathLst>
          </a:custGeom>
          <a:solidFill>
            <a:srgbClr val="175E54"/>
          </a:solidFill>
          <a:ln>
            <a:noFill/>
          </a:ln>
        </p:spPr>
      </p:sp>
      <p:sp>
        <p:nvSpPr>
          <p:cNvPr id="8" name="ex2-head"/>
          <p:cNvSpPr txBox="1"/>
          <p:nvPr/>
        </p:nvSpPr>
        <p:spPr>
          <a:xfrm>
            <a:off x="6832600" y="1447800"/>
            <a:ext cx="4648200" cy="279400"/>
          </a:xfrm>
          <a:prstGeom prst="rect">
            <a:avLst/>
          </a:prstGeom>
          <a:noFill/>
          <a:ln>
            <a:noFill/>
          </a:ln>
        </p:spPr>
        <p:txBody>
          <a:bodyPr lIns="0" rIns="0" tIns="0" bIns="0" wrap="square" rtlCol="0"/>
          <a:lstStyle/>
          <a:p>
            <a:pPr>
              <a:lnSpc>
                <a:spcPct val="120000"/>
              </a:lnSpc>
            </a:pPr>
            <a:r>
              <a:rPr lang="en-US" sz="1800" noProof="1">
                <a:solidFill>
                  <a:srgbClr val="175E54"/>
                </a:solidFill>
                <a:latin typeface="Unna"/>
                <a:ea typeface="Unna"/>
              </a:rPr>
              <a:t>ChatGPT &amp; Perplexity</a:t>
            </a:r>
            <a:endParaRPr lang="en-US" sz="1800" noProof="1"/>
          </a:p>
        </p:txBody>
      </p:sp>
      <p:sp>
        <p:nvSpPr>
          <p:cNvPr id="9" name="ex2-body"/>
          <p:cNvSpPr txBox="1"/>
          <p:nvPr/>
        </p:nvSpPr>
        <p:spPr>
          <a:xfrm>
            <a:off x="6400800" y="1828800"/>
            <a:ext cx="5080000" cy="2159000"/>
          </a:xfrm>
          <a:prstGeom prst="rect">
            <a:avLst/>
          </a:prstGeom>
          <a:noFill/>
          <a:ln>
            <a:noFill/>
          </a:ln>
        </p:spPr>
        <p:txBody>
          <a:bodyPr lIns="0" rIns="0" tIns="0" bIns="0" wrap="square" rtlCol="0"/>
          <a:lstStyle/>
          <a:p>
            <a:pPr>
              <a:lnSpc>
                <a:spcPct val="150000"/>
              </a:lnSpc>
            </a:pPr>
            <a:r>
              <a:rPr lang="en-US" sz="1250" noProof="1">
                <a:solidFill>
                  <a:srgbClr val="23272E"/>
                </a:solidFill>
                <a:latin typeface="Quattrocento Sans"/>
                <a:ea typeface="Quattrocento Sans"/>
              </a:rPr>
              <a:t>Perplexity's </a:t>
            </a:r>
            <a:r>
              <a:rPr lang="en-US" sz="1250" noProof="1" b="1">
                <a:solidFill>
                  <a:srgbClr val="23272E"/>
                </a:solidFill>
                <a:latin typeface="Quattrocento Sans"/>
                <a:ea typeface="Quattrocento Sans"/>
              </a:rPr>
              <a:t>Buy with Pro</a:t>
            </a:r>
            <a:r>
              <a:rPr lang="en-US" sz="1250" noProof="1">
                <a:solidFill>
                  <a:srgbClr val="23272E"/>
                </a:solidFill>
                <a:latin typeface="Quattrocento Sans"/>
                <a:ea typeface="Quattrocento Sans"/>
              </a:rPr>
              <a:t> (Nov 2024) put one-click checkout inside an AI answer — shopping-intent queries grew 5× within months. ChatGPT added shopping results (Apr 2025), then </a:t>
            </a:r>
            <a:r>
              <a:rPr lang="en-US" sz="1250" noProof="1" b="1">
                <a:solidFill>
                  <a:srgbClr val="23272E"/>
                </a:solidFill>
                <a:latin typeface="Quattrocento Sans"/>
                <a:ea typeface="Quattrocento Sans"/>
              </a:rPr>
              <a:t>Instant Checkout</a:t>
            </a:r>
            <a:r>
              <a:rPr lang="en-US" sz="1250" noProof="1">
                <a:solidFill>
                  <a:srgbClr val="23272E"/>
                </a:solidFill>
                <a:latin typeface="Quattrocento Sans"/>
                <a:ea typeface="Quattrocento Sans"/>
              </a:rPr>
              <a:t> with Etsy &amp; Shopify merchants (Sept 2025) built on the open Agentic Commerce Protocol; ~900M weekly users by early 2026.</a:t>
            </a:r>
            <a:endParaRPr lang="en-US" sz="1250" noProof="1"/>
          </a:p>
        </p:txBody>
      </p:sp>
      <p:sp>
        <p:nvSpPr>
          <p:cNvPr id="10" name="rule-h"/>
          <p:cNvSpPr/>
          <p:nvPr/>
        </p:nvSpPr>
        <p:spPr>
          <a:xfrm>
            <a:off x="711200" y="4191000"/>
            <a:ext cx="10769600" cy="12700"/>
          </a:xfrm>
          <a:prstGeom prst="rect">
            <a:avLst/>
          </a:prstGeom>
          <a:solidFill>
            <a:srgbClr val="D9D2C4"/>
          </a:solidFill>
          <a:ln>
            <a:noFill/>
          </a:ln>
        </p:spPr>
      </p:sp>
      <p:sp>
        <p:nvSpPr>
          <p:cNvPr id="11" name="num-big"/>
          <p:cNvSpPr txBox="1"/>
          <p:nvPr/>
        </p:nvSpPr>
        <p:spPr>
          <a:xfrm>
            <a:off x="711200" y="4394200"/>
            <a:ext cx="3175000" cy="6096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+54%</a:t>
            </a:r>
            <a:endParaRPr lang="en-US" sz="3800" noProof="1"/>
          </a:p>
        </p:txBody>
      </p:sp>
      <p:sp>
        <p:nvSpPr>
          <p:cNvPr id="12" name="num-label"/>
          <p:cNvSpPr txBox="1"/>
          <p:nvPr/>
        </p:nvSpPr>
        <p:spPr>
          <a:xfrm>
            <a:off x="711200" y="5054600"/>
            <a:ext cx="4064000" cy="7874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better conversion from AI-referred visitors vs other traffic to US retail sites (May 2026) — agents send buyers, not browsers</a:t>
            </a:r>
            <a:endParaRPr lang="en-US" sz="1200" noProof="1"/>
          </a:p>
        </p:txBody>
      </p:sp>
      <p:sp>
        <p:nvSpPr>
          <p:cNvPr id="13" name="why-body"/>
          <p:cNvSpPr txBox="1"/>
          <p:nvPr/>
        </p:nvSpPr>
        <p:spPr>
          <a:xfrm>
            <a:off x="6400800" y="4394200"/>
            <a:ext cx="5080000" cy="15240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The definitional shift:</a:t>
            </a:r>
            <a:r>
              <a:rPr lang="en-US" sz="1250" noProof="1">
                <a:solidFill>
                  <a:srgbClr val="23272E"/>
                </a:solidFill>
                <a:latin typeface="Quattrocento Sans"/>
                <a:ea typeface="Quattrocento Sans"/>
              </a:rPr>
              <a:t> the shopper no longer operates the interface — an agent interprets a goal, searches, compares and, with permission, transacts. The constraint being removed is </a:t>
            </a:r>
            <a:r>
              <a:rPr lang="en-US" sz="1250" noProof="1" i="1">
                <a:solidFill>
                  <a:srgbClr val="23272E"/>
                </a:solidFill>
                <a:latin typeface="Quattrocento Sans"/>
                <a:ea typeface="Quattrocento Sans"/>
              </a:rPr>
              <a:t>effort itself</a:t>
            </a:r>
            <a:r>
              <a:rPr lang="en-US" sz="1250" noProof="1">
                <a:solidFill>
                  <a:srgbClr val="23272E"/>
                </a:solidFill>
                <a:latin typeface="Quattrocento Sans"/>
                <a:ea typeface="Quattrocento Sans"/>
              </a:rPr>
              <a:t>. Counterpoint: Gartner predicts &gt;40% of agentic-AI projects will be cancelled by end-2027 — the era is real, but not inevitable company by company.</a:t>
            </a:r>
            <a:endParaRPr lang="en-US" sz="1250" noProof="1"/>
          </a:p>
        </p:txBody>
      </p:sp>
      <p:sp>
        <p:nvSpPr>
          <p:cNvPr id="14"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Amazon earnings via Jarvio</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3"/>
              </a:rPr>
              <a:t>Sensor Tower via Azoma, 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4"/>
              </a:rPr>
              <a:t>Perplexity, 2024</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5"/>
              </a:rPr>
              <a:t>Adobe via DC360, 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6"/>
              </a:rPr>
              <a:t>Gartner, 2025</a:t>
            </a:r>
            <a:r>
              <a:rPr lang="en-US" sz="1000" noProof="1">
                <a:solidFill>
                  <a:srgbClr val="9A9284"/>
                </a:solidFill>
                <a:latin typeface="Quattrocento Sans"/>
                <a:ea typeface="Quattrocento Sans"/>
              </a:rPr>
              <a:t>.</a:t>
            </a:r>
            <a:endParaRPr lang="en-US" sz="1000" noProof="1"/>
          </a:p>
        </p:txBody>
      </p:sp>
      <p:sp>
        <p:nvSpPr>
          <p:cNvPr id="15" name="foot-rule"/>
          <p:cNvSpPr/>
          <p:nvPr/>
        </p:nvSpPr>
        <p:spPr>
          <a:xfrm>
            <a:off x="711200" y="6451600"/>
            <a:ext cx="10769600" cy="12700"/>
          </a:xfrm>
          <a:prstGeom prst="rect">
            <a:avLst/>
          </a:prstGeom>
          <a:solidFill>
            <a:srgbClr val="D9D2C4"/>
          </a:solidFill>
          <a:ln>
            <a:noFill/>
          </a:ln>
        </p:spPr>
      </p:sp>
      <p:sp>
        <p:nvSpPr>
          <p:cNvPr id="16"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7"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8"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24</a:t>
            </a:r>
            <a:endParaRPr lang="en-US" sz="950" noProof="1"/>
          </a:p>
        </p:txBody>
      </p:sp>
    </p:spTree>
  </p:cSld>
  <p:clrMapOvr>
    <a:masterClrMapping/>
  </p:clrMapOvr>
</p:sld>
</file>

<file path=ppt/slides/slide2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GLOSSARY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Seven terms, precisely defined — learn them once, use them all course</a:t>
            </a:r>
            <a:endParaRPr lang="en-US" sz="2600" noProof="1"/>
          </a:p>
        </p:txBody>
      </p:sp>
      <p:graphicFrame>
        <p:nvGraphicFramePr>
          <p:cNvPr id="4" name="glossary-table"/>
          <p:cNvGraphicFramePr>
            <a:graphicFrameLocks noGrp="1"/>
          </p:cNvGraphicFramePr>
          <p:nvPr/>
        </p:nvGraphicFramePr>
        <p:xfrm>
          <a:off x="711200" y="1371600"/>
          <a:ext cx="10769600" cy="4876800"/>
        </p:xfrm>
        <a:graphic>
          <a:graphicData uri="http://schemas.openxmlformats.org/drawingml/2006/table">
            <a:tbl>
              <a:tblPr/>
              <a:tblGrid>
                <a:gridCol w="2261616"/>
                <a:gridCol w="8507984"/>
              </a:tblGrid>
              <a:tr h="341376">
                <a:tc>
                  <a:txBody>
                    <a:bodyPr wrap="square" rtlCol="0" anchor="ctr"/>
                    <a:lstStyle/>
                    <a:p>
                      <a:pPr algn="l"/>
                      <a:r>
                        <a:rPr lang="en-US" sz="1200" noProof="1" b="1">
                          <a:solidFill>
                            <a:srgbClr val="FFFFFF"/>
                          </a:solidFill>
                          <a:latin typeface="Quattrocento Sans"/>
                          <a:ea typeface="Quattrocento Sans"/>
                        </a:rPr>
                        <a:t>Term</a:t>
                      </a:r>
                    </a:p>
                  </a:txBody>
                  <a:tcPr marL="91440" marR="91440" marT="45720" marB="45720" anchor="ctr">
                    <a:lnL>
                      <a:noFill/>
                    </a:lnL>
                    <a:lnR>
                      <a:noFill/>
                    </a:lnR>
                    <a:lnT>
                      <a:noFill/>
                    </a:lnT>
                    <a:lnB w="12700">
                      <a:solidFill>
                        <a:srgbClr val="D9D2C4"/>
                      </a:solidFill>
                    </a:lnB>
                    <a:solidFill>
                      <a:srgbClr val="175E54"/>
                    </a:solidFill>
                  </a:tcPr>
                </a:tc>
                <a:tc>
                  <a:txBody>
                    <a:bodyPr wrap="square" rtlCol="0" anchor="ctr"/>
                    <a:lstStyle/>
                    <a:p>
                      <a:pPr algn="l"/>
                      <a:r>
                        <a:rPr lang="en-US" sz="1200" noProof="1" b="1">
                          <a:solidFill>
                            <a:srgbClr val="FFFFFF"/>
                          </a:solidFill>
                          <a:latin typeface="Quattrocento Sans"/>
                          <a:ea typeface="Quattrocento Sans"/>
                        </a:rPr>
                        <a:t>Definition and one example</a:t>
                      </a:r>
                    </a:p>
                  </a:txBody>
                  <a:tcPr marL="91440" marR="91440" marT="45720" marB="45720" anchor="ctr">
                    <a:lnL>
                      <a:noFill/>
                    </a:lnL>
                    <a:lnR>
                      <a:noFill/>
                    </a:lnR>
                    <a:lnT>
                      <a:noFill/>
                    </a:lnT>
                    <a:lnB w="12700">
                      <a:solidFill>
                        <a:srgbClr val="D9D2C4"/>
                      </a:solidFill>
                    </a:lnB>
                    <a:solidFill>
                      <a:srgbClr val="175E54"/>
                    </a:solidFill>
                  </a:tcPr>
                </a:tc>
              </a:tr>
              <a:tr h="648614">
                <a:tc>
                  <a:txBody>
                    <a:bodyPr wrap="square" rtlCol="0" anchor="ctr"/>
                    <a:lstStyle/>
                    <a:p>
                      <a:pPr algn="l"/>
                      <a:r>
                        <a:rPr lang="en-US" sz="1200" noProof="1" b="1">
                          <a:solidFill>
                            <a:srgbClr val="23272E"/>
                          </a:solidFill>
                          <a:latin typeface="Quattrocento Sans"/>
                          <a:ea typeface="Quattrocento Sans"/>
                        </a:rPr>
                        <a:t>E-commerce</a:t>
                      </a:r>
                    </a:p>
                  </a:txBody>
                  <a:tcPr marL="91440" marR="91440" marT="45720" marB="45720" anchor="ctr">
                    <a:lnL>
                      <a:noFill/>
                    </a:lnL>
                    <a:lnR>
                      <a:noFill/>
                    </a:lnR>
                    <a:lnT>
                      <a:noFill/>
                    </a:lnT>
                    <a:lnB w="12700">
                      <a:solidFill>
                        <a:srgbClr val="D9D2C4"/>
                      </a:solidFill>
                    </a:lnB>
                    <a:solidFill>
                      <a:srgbClr val="FAF7F2"/>
                    </a:solidFill>
                  </a:tcPr>
                </a:tc>
                <a:tc>
                  <a:txBody>
                    <a:bodyPr wrap="square" rtlCol="0" anchor="ctr"/>
                    <a:lstStyle/>
                    <a:p>
                      <a:pPr algn="l"/>
                      <a:r>
                        <a:rPr lang="en-US" sz="1100" noProof="1">
                          <a:solidFill>
                            <a:srgbClr val="23272E"/>
                          </a:solidFill>
                          <a:latin typeface="Quattrocento Sans"/>
                          <a:ea typeface="Quattrocento Sans"/>
                        </a:rPr>
                        <a:t>Buying/selling goods, services, funds or data over an electronic network — primarily the internet; B2C, B2B, C2C, D2C, any device. Example: any Amazon order.</a:t>
                      </a:r>
                    </a:p>
                  </a:txBody>
                  <a:tcPr marL="91440" marR="91440" marT="45720" marB="45720" anchor="ctr">
                    <a:lnL>
                      <a:noFill/>
                    </a:lnL>
                    <a:lnR>
                      <a:noFill/>
                    </a:lnR>
                    <a:lnT>
                      <a:noFill/>
                    </a:lnT>
                    <a:lnB w="12700">
                      <a:solidFill>
                        <a:srgbClr val="D9D2C4"/>
                      </a:solidFill>
                    </a:lnB>
                    <a:solidFill>
                      <a:srgbClr val="FAF7F2"/>
                    </a:solidFill>
                  </a:tcPr>
                </a:tc>
              </a:tr>
              <a:tr h="648614">
                <a:tc>
                  <a:txBody>
                    <a:bodyPr wrap="square" rtlCol="0" anchor="ctr"/>
                    <a:lstStyle/>
                    <a:p>
                      <a:pPr algn="l"/>
                      <a:r>
                        <a:rPr lang="en-US" sz="1200" noProof="1" b="1">
                          <a:solidFill>
                            <a:srgbClr val="23272E"/>
                          </a:solidFill>
                          <a:latin typeface="Quattrocento Sans"/>
                          <a:ea typeface="Quattrocento Sans"/>
                        </a:rPr>
                        <a:t>M-commerce</a:t>
                      </a:r>
                    </a:p>
                  </a:txBody>
                  <a:tcPr marL="91440" marR="91440" marT="45720" marB="45720" anchor="ctr">
                    <a:lnL>
                      <a:noFill/>
                    </a:lnL>
                    <a:lnR>
                      <a:noFill/>
                    </a:lnR>
                    <a:lnT>
                      <a:noFill/>
                    </a:lnT>
                    <a:lnB w="12700">
                      <a:solidFill>
                        <a:srgbClr val="D9D2C4"/>
                      </a:solidFill>
                    </a:lnB>
                    <a:solidFill>
                      <a:srgbClr val="F1EDE3"/>
                    </a:solidFill>
                  </a:tcPr>
                </a:tc>
                <a:tc>
                  <a:txBody>
                    <a:bodyPr wrap="square" rtlCol="0" anchor="ctr"/>
                    <a:lstStyle/>
                    <a:p>
                      <a:pPr algn="l"/>
                      <a:r>
                        <a:rPr lang="en-US" sz="1100" noProof="1">
                          <a:solidFill>
                            <a:srgbClr val="23272E"/>
                          </a:solidFill>
                          <a:latin typeface="Quattrocento Sans"/>
                          <a:ea typeface="Quattrocento Sans"/>
                        </a:rPr>
                        <a:t>The subset of e-commerce transacted on handheld devices via mobile web or apps; marked by location-awareness, push notifications, biometric payment. Example: ordering in the Starbucks app.</a:t>
                      </a:r>
                    </a:p>
                  </a:txBody>
                  <a:tcPr marL="91440" marR="91440" marT="45720" marB="45720" anchor="ctr">
                    <a:lnL>
                      <a:noFill/>
                    </a:lnL>
                    <a:lnR>
                      <a:noFill/>
                    </a:lnR>
                    <a:lnT>
                      <a:noFill/>
                    </a:lnT>
                    <a:lnB w="12700">
                      <a:solidFill>
                        <a:srgbClr val="D9D2C4"/>
                      </a:solidFill>
                    </a:lnB>
                    <a:solidFill>
                      <a:srgbClr val="F1EDE3"/>
                    </a:solidFill>
                  </a:tcPr>
                </a:tc>
              </a:tr>
              <a:tr h="648614">
                <a:tc>
                  <a:txBody>
                    <a:bodyPr wrap="square" rtlCol="0" anchor="ctr"/>
                    <a:lstStyle/>
                    <a:p>
                      <a:pPr algn="l"/>
                      <a:r>
                        <a:rPr lang="en-US" sz="1200" noProof="1" b="1">
                          <a:solidFill>
                            <a:srgbClr val="23272E"/>
                          </a:solidFill>
                          <a:latin typeface="Quattrocento Sans"/>
                          <a:ea typeface="Quattrocento Sans"/>
                        </a:rPr>
                        <a:t>Social commerce</a:t>
                      </a:r>
                    </a:p>
                  </a:txBody>
                  <a:tcPr marL="91440" marR="91440" marT="45720" marB="45720" anchor="ctr">
                    <a:lnL>
                      <a:noFill/>
                    </a:lnL>
                    <a:lnR>
                      <a:noFill/>
                    </a:lnR>
                    <a:lnT>
                      <a:noFill/>
                    </a:lnT>
                    <a:lnB w="12700">
                      <a:solidFill>
                        <a:srgbClr val="D9D2C4"/>
                      </a:solidFill>
                    </a:lnB>
                    <a:solidFill>
                      <a:srgbClr val="FAF7F2"/>
                    </a:solidFill>
                  </a:tcPr>
                </a:tc>
                <a:tc>
                  <a:txBody>
                    <a:bodyPr wrap="square" rtlCol="0" anchor="ctr"/>
                    <a:lstStyle/>
                    <a:p>
                      <a:pPr algn="l"/>
                      <a:r>
                        <a:rPr lang="en-US" sz="1100" noProof="1">
                          <a:solidFill>
                            <a:srgbClr val="23272E"/>
                          </a:solidFill>
                          <a:latin typeface="Quattrocento Sans"/>
                          <a:ea typeface="Quattrocento Sans"/>
                        </a:rPr>
                        <a:t>Buying and selling directly within social platforms — discovery, evaluation and checkout in the same app. Example: TikTok Shop. Distinct from social-</a:t>
                      </a:r>
                      <a:r>
                        <a:rPr lang="en-US" sz="1100" noProof="1" i="1">
                          <a:solidFill>
                            <a:srgbClr val="23272E"/>
                          </a:solidFill>
                          <a:latin typeface="Quattrocento Sans"/>
                          <a:ea typeface="Quattrocento Sans"/>
                        </a:rPr>
                        <a:t>influenced</a:t>
                      </a:r>
                      <a:r>
                        <a:rPr lang="en-US" sz="1100" noProof="1">
                          <a:solidFill>
                            <a:srgbClr val="23272E"/>
                          </a:solidFill>
                          <a:latin typeface="Quattrocento Sans"/>
                          <a:ea typeface="Quattrocento Sans"/>
                        </a:rPr>
                        <a:t> commerce, where social only sends traffic elsewhere.</a:t>
                      </a:r>
                    </a:p>
                  </a:txBody>
                  <a:tcPr marL="91440" marR="91440" marT="45720" marB="45720" anchor="ctr">
                    <a:lnL>
                      <a:noFill/>
                    </a:lnL>
                    <a:lnR>
                      <a:noFill/>
                    </a:lnR>
                    <a:lnT>
                      <a:noFill/>
                    </a:lnT>
                    <a:lnB w="12700">
                      <a:solidFill>
                        <a:srgbClr val="D9D2C4"/>
                      </a:solidFill>
                    </a:lnB>
                    <a:solidFill>
                      <a:srgbClr val="FAF7F2"/>
                    </a:solidFill>
                  </a:tcPr>
                </a:tc>
              </a:tr>
              <a:tr h="648614">
                <a:tc>
                  <a:txBody>
                    <a:bodyPr wrap="square" rtlCol="0" anchor="ctr"/>
                    <a:lstStyle/>
                    <a:p>
                      <a:pPr algn="l"/>
                      <a:r>
                        <a:rPr lang="en-US" sz="1200" noProof="1" b="1">
                          <a:solidFill>
                            <a:srgbClr val="23272E"/>
                          </a:solidFill>
                          <a:latin typeface="Quattrocento Sans"/>
                          <a:ea typeface="Quattrocento Sans"/>
                        </a:rPr>
                        <a:t>Conversational commerce</a:t>
                      </a:r>
                    </a:p>
                  </a:txBody>
                  <a:tcPr marL="91440" marR="91440" marT="45720" marB="45720" anchor="ctr">
                    <a:lnL>
                      <a:noFill/>
                    </a:lnL>
                    <a:lnR>
                      <a:noFill/>
                    </a:lnR>
                    <a:lnT>
                      <a:noFill/>
                    </a:lnT>
                    <a:lnB w="12700">
                      <a:solidFill>
                        <a:srgbClr val="D9D2C4"/>
                      </a:solidFill>
                    </a:lnB>
                    <a:solidFill>
                      <a:srgbClr val="F1EDE3"/>
                    </a:solidFill>
                  </a:tcPr>
                </a:tc>
                <a:tc>
                  <a:txBody>
                    <a:bodyPr wrap="square" rtlCol="0" anchor="ctr"/>
                    <a:lstStyle/>
                    <a:p>
                      <a:pPr algn="l"/>
                      <a:r>
                        <a:rPr lang="en-US" sz="1100" noProof="1">
                          <a:solidFill>
                            <a:srgbClr val="23272E"/>
                          </a:solidFill>
                          <a:latin typeface="Quattrocento Sans"/>
                          <a:ea typeface="Quattrocento Sans"/>
                        </a:rPr>
                        <a:t>Commerce through dialogue interfaces — messaging apps, chatbots, voice assistants — where the conversation itself is the storefront. Example: reordering via WhatsApp chat or Alexa.</a:t>
                      </a:r>
                    </a:p>
                  </a:txBody>
                  <a:tcPr marL="91440" marR="91440" marT="45720" marB="45720" anchor="ctr">
                    <a:lnL>
                      <a:noFill/>
                    </a:lnL>
                    <a:lnR>
                      <a:noFill/>
                    </a:lnR>
                    <a:lnT>
                      <a:noFill/>
                    </a:lnT>
                    <a:lnB w="12700">
                      <a:solidFill>
                        <a:srgbClr val="D9D2C4"/>
                      </a:solidFill>
                    </a:lnB>
                    <a:solidFill>
                      <a:srgbClr val="F1EDE3"/>
                    </a:solidFill>
                  </a:tcPr>
                </a:tc>
              </a:tr>
              <a:tr h="648614">
                <a:tc>
                  <a:txBody>
                    <a:bodyPr wrap="square" rtlCol="0" anchor="ctr"/>
                    <a:lstStyle/>
                    <a:p>
                      <a:pPr algn="l"/>
                      <a:r>
                        <a:rPr lang="en-US" sz="1200" noProof="1" b="1">
                          <a:solidFill>
                            <a:srgbClr val="23272E"/>
                          </a:solidFill>
                          <a:latin typeface="Quattrocento Sans"/>
                          <a:ea typeface="Quattrocento Sans"/>
                        </a:rPr>
                        <a:t>Agentic commerce</a:t>
                      </a:r>
                    </a:p>
                  </a:txBody>
                  <a:tcPr marL="91440" marR="91440" marT="45720" marB="45720" anchor="ctr">
                    <a:lnL>
                      <a:noFill/>
                    </a:lnL>
                    <a:lnR>
                      <a:noFill/>
                    </a:lnR>
                    <a:lnT>
                      <a:noFill/>
                    </a:lnT>
                    <a:lnB w="12700">
                      <a:solidFill>
                        <a:srgbClr val="D9D2C4"/>
                      </a:solidFill>
                    </a:lnB>
                    <a:solidFill>
                      <a:srgbClr val="FAF7F2"/>
                    </a:solidFill>
                  </a:tcPr>
                </a:tc>
                <a:tc>
                  <a:txBody>
                    <a:bodyPr wrap="square" rtlCol="0" anchor="ctr"/>
                    <a:lstStyle/>
                    <a:p>
                      <a:pPr algn="l"/>
                      <a:r>
                        <a:rPr lang="en-US" sz="1100" noProof="1">
                          <a:solidFill>
                            <a:srgbClr val="23272E"/>
                          </a:solidFill>
                          <a:latin typeface="Quattrocento Sans"/>
                          <a:ea typeface="Quattrocento Sans"/>
                        </a:rPr>
                        <a:t>An AI agent autonomously performs multi-step shopping tasks — interpreting goals, searching, comparing and (with permission) transacting — on the buyer's behalf. Example: ChatGPT Instant Checkout.</a:t>
                      </a:r>
                    </a:p>
                  </a:txBody>
                  <a:tcPr marL="91440" marR="91440" marT="45720" marB="45720" anchor="ctr">
                    <a:lnL>
                      <a:noFill/>
                    </a:lnL>
                    <a:lnR>
                      <a:noFill/>
                    </a:lnR>
                    <a:lnT>
                      <a:noFill/>
                    </a:lnT>
                    <a:lnB w="12700">
                      <a:solidFill>
                        <a:srgbClr val="D9D2C4"/>
                      </a:solidFill>
                    </a:lnB>
                    <a:solidFill>
                      <a:srgbClr val="FAF7F2"/>
                    </a:solidFill>
                  </a:tcPr>
                </a:tc>
              </a:tr>
              <a:tr h="648614">
                <a:tc>
                  <a:txBody>
                    <a:bodyPr wrap="square" rtlCol="0" anchor="ctr"/>
                    <a:lstStyle/>
                    <a:p>
                      <a:pPr algn="l"/>
                      <a:r>
                        <a:rPr lang="en-US" sz="1200" noProof="1" b="1">
                          <a:solidFill>
                            <a:srgbClr val="23272E"/>
                          </a:solidFill>
                          <a:latin typeface="Quattrocento Sans"/>
                          <a:ea typeface="Quattrocento Sans"/>
                        </a:rPr>
                        <a:t>Headless commerce</a:t>
                      </a:r>
                    </a:p>
                  </a:txBody>
                  <a:tcPr marL="91440" marR="91440" marT="45720" marB="45720" anchor="ctr">
                    <a:lnL>
                      <a:noFill/>
                    </a:lnL>
                    <a:lnR>
                      <a:noFill/>
                    </a:lnR>
                    <a:lnT>
                      <a:noFill/>
                    </a:lnT>
                    <a:lnB w="12700">
                      <a:solidFill>
                        <a:srgbClr val="D9D2C4"/>
                      </a:solidFill>
                    </a:lnB>
                    <a:solidFill>
                      <a:srgbClr val="F1EDE3"/>
                    </a:solidFill>
                  </a:tcPr>
                </a:tc>
                <a:tc>
                  <a:txBody>
                    <a:bodyPr wrap="square" rtlCol="0" anchor="ctr"/>
                    <a:lstStyle/>
                    <a:p>
                      <a:pPr algn="l"/>
                      <a:r>
                        <a:rPr lang="en-US" sz="1100" noProof="1">
                          <a:solidFill>
                            <a:srgbClr val="23272E"/>
                          </a:solidFill>
                          <a:latin typeface="Quattrocento Sans"/>
                          <a:ea typeface="Quattrocento Sans"/>
                        </a:rPr>
                        <a:t>Architecture decoupling the customer-facing front end from back-end commerce logic, joined by APIs — one engine can serve web, app, kiosk, voice or AI-agent fronts. Example: a Shopify back end powering a custom app.</a:t>
                      </a:r>
                    </a:p>
                  </a:txBody>
                  <a:tcPr marL="91440" marR="91440" marT="45720" marB="45720" anchor="ctr">
                    <a:lnL>
                      <a:noFill/>
                    </a:lnL>
                    <a:lnR>
                      <a:noFill/>
                    </a:lnR>
                    <a:lnT>
                      <a:noFill/>
                    </a:lnT>
                    <a:lnB w="12700">
                      <a:solidFill>
                        <a:srgbClr val="D9D2C4"/>
                      </a:solidFill>
                    </a:lnB>
                    <a:solidFill>
                      <a:srgbClr val="F1EDE3"/>
                    </a:solidFill>
                  </a:tcPr>
                </a:tc>
              </a:tr>
              <a:tr h="643738">
                <a:tc>
                  <a:txBody>
                    <a:bodyPr wrap="square" rtlCol="0" anchor="ctr"/>
                    <a:lstStyle/>
                    <a:p>
                      <a:pPr algn="l"/>
                      <a:r>
                        <a:rPr lang="en-US" sz="1200" noProof="1" b="1">
                          <a:solidFill>
                            <a:srgbClr val="23272E"/>
                          </a:solidFill>
                          <a:latin typeface="Quattrocento Sans"/>
                          <a:ea typeface="Quattrocento Sans"/>
                        </a:rPr>
                        <a:t>Omnichannel / channel mix</a:t>
                      </a:r>
                    </a:p>
                  </a:txBody>
                  <a:tcPr marL="91440" marR="91440" marT="45720" marB="45720" anchor="ctr">
                    <a:lnL>
                      <a:noFill/>
                    </a:lnL>
                    <a:lnR>
                      <a:noFill/>
                    </a:lnR>
                    <a:lnT>
                      <a:noFill/>
                    </a:lnT>
                    <a:lnB w="12700">
                      <a:solidFill>
                        <a:srgbClr val="D9D2C4"/>
                      </a:solidFill>
                    </a:lnB>
                    <a:solidFill>
                      <a:srgbClr val="FAF7F2"/>
                    </a:solidFill>
                  </a:tcPr>
                </a:tc>
                <a:tc>
                  <a:txBody>
                    <a:bodyPr wrap="square" rtlCol="0" anchor="ctr"/>
                    <a:lstStyle/>
                    <a:p>
                      <a:pPr algn="l"/>
                      <a:r>
                        <a:rPr lang="en-US" sz="1100" noProof="1">
                          <a:solidFill>
                            <a:srgbClr val="23272E"/>
                          </a:solidFill>
                          <a:latin typeface="Quattrocento Sans"/>
                          <a:ea typeface="Quattrocento Sans"/>
                        </a:rPr>
                        <a:t>Deliberate allocation of assortment, marketing and fulfilment across channels, managed as one integrated customer experience rather than competing silos. Example: buy online, pick up in store.</a:t>
                      </a:r>
                    </a:p>
                  </a:txBody>
                  <a:tcPr marL="91440" marR="91440" marT="45720" marB="45720" anchor="ctr">
                    <a:lnL>
                      <a:noFill/>
                    </a:lnL>
                    <a:lnR>
                      <a:noFill/>
                    </a:lnR>
                    <a:lnT>
                      <a:noFill/>
                    </a:lnT>
                    <a:lnB w="12700">
                      <a:solidFill>
                        <a:srgbClr val="D9D2C4"/>
                      </a:solidFill>
                    </a:lnB>
                    <a:solidFill>
                      <a:srgbClr val="FAF7F2"/>
                    </a:solidFill>
                  </a:tcPr>
                </a:tc>
              </a:tr>
            </a:tbl>
          </a:graphicData>
        </a:graphic>
      </p:graphicFrame>
      <p:sp>
        <p:nvSpPr>
          <p:cNvPr id="5" name="foot-rule"/>
          <p:cNvSpPr/>
          <p:nvPr/>
        </p:nvSpPr>
        <p:spPr>
          <a:xfrm>
            <a:off x="711200" y="6451600"/>
            <a:ext cx="10769600" cy="12700"/>
          </a:xfrm>
          <a:prstGeom prst="rect">
            <a:avLst/>
          </a:prstGeom>
          <a:solidFill>
            <a:srgbClr val="D9D2C4"/>
          </a:solidFill>
          <a:ln>
            <a:noFill/>
          </a:ln>
        </p:spPr>
      </p:sp>
      <p:sp>
        <p:nvSpPr>
          <p:cNvPr id="6"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7"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8"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25</a:t>
            </a:r>
            <a:endParaRPr lang="en-US" sz="950" noProof="1"/>
          </a:p>
        </p:txBody>
      </p:sp>
    </p:spTree>
  </p:cSld>
  <p:clrMapOvr>
    <a:masterClrMapping/>
  </p:clrMapOvr>
</p:sld>
</file>

<file path=ppt/slides/slide2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THEORY · ROGERS, 1962</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Diffusion of Innovation: adoption is a bell curve, growth an S</a:t>
            </a:r>
            <a:endParaRPr lang="en-US" sz="2600" noProof="1"/>
          </a:p>
        </p:txBody>
      </p:sp>
      <p:graphicFrame>
        <p:nvGraphicFramePr>
          <p:cNvPr id="4" name="rogers-chart"/>
          <p:cNvGraphicFramePr/>
          <p:nvPr/>
        </p:nvGraphicFramePr>
        <p:xfrm>
          <a:off x="711200" y="1473200"/>
          <a:ext cx="5969000" cy="4064000"/>
        </p:xfrm>
        <a:graphic>
          <a:graphicData uri="http://schemas.openxmlformats.org/drawingml/2006/chart">
            <c:chart r:id="rId2"/>
          </a:graphicData>
        </a:graphic>
      </p:graphicFrame>
      <p:sp>
        <p:nvSpPr>
          <p:cNvPr id="5" name="author-head"/>
          <p:cNvSpPr txBox="1"/>
          <p:nvPr/>
        </p:nvSpPr>
        <p:spPr>
          <a:xfrm>
            <a:off x="7188200" y="1473200"/>
            <a:ext cx="42926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The theory in one paragraph</a:t>
            </a:r>
            <a:endParaRPr lang="en-US" sz="1350" noProof="1"/>
          </a:p>
        </p:txBody>
      </p:sp>
      <p:sp>
        <p:nvSpPr>
          <p:cNvPr id="6" name="author-body"/>
          <p:cNvSpPr txBox="1"/>
          <p:nvPr/>
        </p:nvSpPr>
        <p:spPr>
          <a:xfrm>
            <a:off x="7188200" y="1803400"/>
            <a:ext cx="4292600" cy="1651000"/>
          </a:xfrm>
          <a:prstGeom prst="rect">
            <a:avLst/>
          </a:prstGeom>
          <a:noFill/>
          <a:ln>
            <a:noFill/>
          </a:ln>
        </p:spPr>
        <p:txBody>
          <a:bodyPr lIns="0" rIns="0" tIns="0" bIns="0" wrap="square" rtlCol="0"/>
          <a:lstStyle/>
          <a:p>
            <a:pPr>
              <a:lnSpc>
                <a:spcPct val="150000"/>
              </a:lnSpc>
            </a:pPr>
            <a:r>
              <a:rPr lang="en-US" sz="1200" noProof="1">
                <a:solidFill>
                  <a:srgbClr val="23272E"/>
                </a:solidFill>
                <a:latin typeface="Quattrocento Sans"/>
                <a:ea typeface="Quattrocento Sans"/>
              </a:rPr>
              <a:t>Everett M. Rogers, </a:t>
            </a:r>
            <a:r>
              <a:rPr lang="en-US" sz="1200" noProof="1" i="1">
                <a:solidFill>
                  <a:srgbClr val="23272E"/>
                </a:solidFill>
                <a:latin typeface="Quattrocento Sans"/>
                <a:ea typeface="Quattrocento Sans"/>
              </a:rPr>
              <a:t>Diffusion of Innovations</a:t>
            </a:r>
            <a:r>
              <a:rPr lang="en-US" sz="1200" noProof="1">
                <a:solidFill>
                  <a:srgbClr val="23272E"/>
                </a:solidFill>
                <a:latin typeface="Quattrocento Sans"/>
                <a:ea typeface="Quattrocento Sans"/>
              </a:rPr>
              <a:t> (1962; 5th ed. 2003), synthesised 500+ diffusion studies. Any population adopts a new technology in a predictable order — innovators (2.5%) → early adopters (13.5%) → early majority (34%) → late majority (34%) → laggards (16%) — so cumulative adoption always traces an S-curve.</a:t>
            </a:r>
            <a:endParaRPr lang="en-US" sz="1200" noProof="1"/>
          </a:p>
        </p:txBody>
      </p:sp>
      <p:sp>
        <p:nvSpPr>
          <p:cNvPr id="7" name="attr-head"/>
          <p:cNvSpPr txBox="1"/>
          <p:nvPr/>
        </p:nvSpPr>
        <p:spPr>
          <a:xfrm>
            <a:off x="7188200" y="3606800"/>
            <a:ext cx="4292600" cy="2540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Five attributes set the speed</a:t>
            </a:r>
            <a:endParaRPr lang="en-US" sz="1350" noProof="1"/>
          </a:p>
        </p:txBody>
      </p:sp>
      <p:sp>
        <p:nvSpPr>
          <p:cNvPr id="8" name="attr-body"/>
          <p:cNvSpPr txBox="1"/>
          <p:nvPr/>
        </p:nvSpPr>
        <p:spPr>
          <a:xfrm>
            <a:off x="7188200" y="3911600"/>
            <a:ext cx="4292600" cy="1270000"/>
          </a:xfrm>
          <a:prstGeom prst="rect">
            <a:avLst/>
          </a:prstGeom>
          <a:noFill/>
          <a:ln>
            <a:noFill/>
          </a:ln>
        </p:spPr>
        <p:txBody>
          <a:bodyPr lIns="0" rIns="0" tIns="0" bIns="0" wrap="square" rtlCol="0"/>
          <a:lstStyle/>
          <a:p>
            <a:pPr>
              <a:lnSpc>
                <a:spcPct val="155000"/>
              </a:lnSpc>
              <a:spcBef>
                <a:spcPts val="10"/>
              </a:spcBef>
              <a:buChar char="•"/>
            </a:pPr>
            <a:r>
              <a:rPr lang="en-US" sz="1200" noProof="1">
                <a:solidFill>
                  <a:srgbClr val="23272E"/>
                </a:solidFill>
                <a:latin typeface="Quattrocento Sans"/>
                <a:ea typeface="Quattrocento Sans"/>
              </a:rPr>
              <a:t>Relative advantage · compatibility · complexity (reversed) · trialability · observability</a:t>
            </a:r>
            <a:endParaRPr lang="en-US" sz="1200" noProof="1"/>
          </a:p>
          <a:p>
            <a:pPr>
              <a:lnSpc>
                <a:spcPct val="155000"/>
              </a:lnSpc>
              <a:spcBef>
                <a:spcPts val="10"/>
              </a:spcBef>
              <a:buChar char="•"/>
            </a:pPr>
            <a:r>
              <a:rPr lang="en-US" sz="1200" noProof="1" b="1">
                <a:solidFill>
                  <a:srgbClr val="23272E"/>
                </a:solidFill>
                <a:latin typeface="Quattrocento Sans"/>
                <a:ea typeface="Quattrocento Sans"/>
              </a:rPr>
              <a:t>Chasm (Moore, 1991):</a:t>
            </a:r>
            <a:r>
              <a:rPr lang="en-US" sz="1200" noProof="1">
                <a:solidFill>
                  <a:srgbClr val="23272E"/>
                </a:solidFill>
                <a:latin typeface="Quattrocento Sans"/>
                <a:ea typeface="Quattrocento Sans"/>
              </a:rPr>
              <a:t> many technologies stall between early adopters and the early majority</a:t>
            </a:r>
            <a:endParaRPr lang="en-US" sz="1200" noProof="1"/>
          </a:p>
        </p:txBody>
      </p:sp>
      <p:sp>
        <p:nvSpPr>
          <p:cNvPr id="9" name="src-line"/>
          <p:cNvSpPr txBox="1"/>
          <p:nvPr/>
        </p:nvSpPr>
        <p:spPr>
          <a:xfrm>
            <a:off x="711200" y="5740400"/>
            <a:ext cx="10769600" cy="508000"/>
          </a:xfrm>
          <a:prstGeom prst="rect">
            <a:avLst/>
          </a:prstGeom>
          <a:noFill/>
          <a:ln>
            <a:noFill/>
          </a:ln>
        </p:spPr>
        <p:txBody>
          <a:bodyPr lIns="0" rIns="0" tIns="0" bIns="0" wrap="square" rtlCol="0"/>
          <a:lstStyle/>
          <a:p>
            <a:pPr>
              <a:lnSpc>
                <a:spcPct val="140000"/>
              </a:lnSpc>
            </a:pPr>
            <a:r>
              <a:rPr lang="en-US" sz="1000" noProof="1">
                <a:solidFill>
                  <a:srgbClr val="9A9284"/>
                </a:solidFill>
                <a:latin typeface="Quattrocento Sans"/>
                <a:ea typeface="Quattrocento Sans"/>
              </a:rPr>
              <a:t>Source: Rogers, E. M., </a:t>
            </a:r>
            <a:r>
              <a:rPr lang="en-US" sz="1000" noProof="1" i="1">
                <a:solidFill>
                  <a:srgbClr val="9A9284"/>
                </a:solidFill>
                <a:latin typeface="Quattrocento Sans"/>
                <a:ea typeface="Quattrocento Sans"/>
              </a:rPr>
              <a:t>Diffusion of Innovations</a:t>
            </a:r>
            <a:r>
              <a:rPr lang="en-US" sz="1000" noProof="1">
                <a:solidFill>
                  <a:srgbClr val="9A9284"/>
                </a:solidFill>
                <a:latin typeface="Quattrocento Sans"/>
                <a:ea typeface="Quattrocento Sans"/>
              </a:rPr>
              <a:t>, 1962/2003 (Free Press) — adopter shares are the book's canonical figures; Moore, G., </a:t>
            </a:r>
            <a:r>
              <a:rPr lang="en-US" sz="1000" noProof="1" i="1">
                <a:solidFill>
                  <a:srgbClr val="9A9284"/>
                </a:solidFill>
                <a:latin typeface="Quattrocento Sans"/>
                <a:ea typeface="Quattrocento Sans"/>
              </a:rPr>
              <a:t>Crossing the Chasm</a:t>
            </a:r>
            <a:r>
              <a:rPr lang="en-US" sz="1000" noProof="1">
                <a:solidFill>
                  <a:srgbClr val="9A9284"/>
                </a:solidFill>
                <a:latin typeface="Quattrocento Sans"/>
                <a:ea typeface="Quattrocento Sans"/>
              </a:rPr>
              <a:t>, 1991.</a:t>
            </a:r>
            <a:endParaRPr lang="en-US" sz="1000" noProof="1"/>
          </a:p>
        </p:txBody>
      </p:sp>
      <p:sp>
        <p:nvSpPr>
          <p:cNvPr id="10" name="foot-rule"/>
          <p:cNvSpPr/>
          <p:nvPr/>
        </p:nvSpPr>
        <p:spPr>
          <a:xfrm>
            <a:off x="711200" y="6451600"/>
            <a:ext cx="10769600" cy="12700"/>
          </a:xfrm>
          <a:prstGeom prst="rect">
            <a:avLst/>
          </a:prstGeom>
          <a:solidFill>
            <a:srgbClr val="D9D2C4"/>
          </a:solidFill>
          <a:ln>
            <a:noFill/>
          </a:ln>
        </p:spPr>
      </p:sp>
      <p:sp>
        <p:nvSpPr>
          <p:cNvPr id="11"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2"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3"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26</a:t>
            </a:r>
            <a:endParaRPr lang="en-US" sz="950" noProof="1"/>
          </a:p>
        </p:txBody>
      </p:sp>
    </p:spTree>
  </p:cSld>
  <p:clrMapOvr>
    <a:masterClrMapping/>
  </p:clrMapOvr>
</p:sld>
</file>

<file path=ppt/slides/slide2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THEORY APPLIED</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Every commerce era sits somewhere on Rogers' curve today</a:t>
            </a:r>
            <a:endParaRPr lang="en-US" sz="2600" noProof="1"/>
          </a:p>
        </p:txBody>
      </p:sp>
      <p:sp>
        <p:nvSpPr>
          <p:cNvPr id="4" name="map-head"/>
          <p:cNvSpPr txBox="1"/>
          <p:nvPr/>
        </p:nvSpPr>
        <p:spPr>
          <a:xfrm>
            <a:off x="711200" y="1397000"/>
            <a:ext cx="66040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Placing the eras, with evidence</a:t>
            </a:r>
            <a:endParaRPr lang="en-US" sz="1300" noProof="1"/>
          </a:p>
        </p:txBody>
      </p:sp>
      <p:sp>
        <p:nvSpPr>
          <p:cNvPr id="5" name="map-body"/>
          <p:cNvSpPr txBox="1"/>
          <p:nvPr/>
        </p:nvSpPr>
        <p:spPr>
          <a:xfrm>
            <a:off x="711200" y="1727200"/>
            <a:ext cx="6604000" cy="3175000"/>
          </a:xfrm>
          <a:prstGeom prst="rect">
            <a:avLst/>
          </a:prstGeom>
          <a:noFill/>
          <a:ln>
            <a:noFill/>
          </a:ln>
        </p:spPr>
        <p:txBody>
          <a:bodyPr lIns="0" rIns="0" tIns="0" bIns="0" wrap="square" rtlCol="0"/>
          <a:lstStyle/>
          <a:p>
            <a:pPr>
              <a:lnSpc>
                <a:spcPct val="155000"/>
              </a:lnSpc>
              <a:spcBef>
                <a:spcPts val="10"/>
              </a:spcBef>
              <a:buChar char="•"/>
            </a:pPr>
            <a:r>
              <a:rPr lang="en-US" sz="1250" noProof="1" b="1">
                <a:solidFill>
                  <a:srgbClr val="23272E"/>
                </a:solidFill>
                <a:latin typeface="Quattrocento Sans"/>
                <a:ea typeface="Quattrocento Sans"/>
              </a:rPr>
              <a:t>Brick-and-mortar:</a:t>
            </a:r>
            <a:r>
              <a:rPr lang="en-US" sz="1250" noProof="1">
                <a:solidFill>
                  <a:srgbClr val="23272E"/>
                </a:solidFill>
                <a:latin typeface="Quattrocento Sans"/>
                <a:ea typeface="Quattrocento Sans"/>
              </a:rPr>
              <a:t> fully diffused — the baseline every later curve is measured against</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Desktop e-commerce:</a:t>
            </a:r>
            <a:r>
              <a:rPr lang="en-US" sz="1250" noProof="1">
                <a:solidFill>
                  <a:srgbClr val="23272E"/>
                </a:solidFill>
                <a:latin typeface="Quattrocento Sans"/>
                <a:ea typeface="Quattrocento Sans"/>
              </a:rPr>
              <a:t> deep into the late majority — 30 years in, ~16% of US retail</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M-commerce:</a:t>
            </a:r>
            <a:r>
              <a:rPr lang="en-US" sz="1250" noProof="1">
                <a:solidFill>
                  <a:srgbClr val="23272E"/>
                </a:solidFill>
                <a:latin typeface="Quattrocento Sans"/>
                <a:ea typeface="Quattrocento Sans"/>
              </a:rPr>
              <a:t> late majority — the majority of e-commerce sales already (57–59%)</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Social commerce:</a:t>
            </a:r>
            <a:r>
              <a:rPr lang="en-US" sz="1250" noProof="1">
                <a:solidFill>
                  <a:srgbClr val="23272E"/>
                </a:solidFill>
                <a:latin typeface="Quattrocento Sans"/>
                <a:ea typeface="Quattrocento Sans"/>
              </a:rPr>
              <a:t> early majority in the West (TikTok Shop ~$23B*), mainstream in China</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Live shopping:</a:t>
            </a:r>
            <a:r>
              <a:rPr lang="en-US" sz="1250" noProof="1">
                <a:solidFill>
                  <a:srgbClr val="23272E"/>
                </a:solidFill>
                <a:latin typeface="Quattrocento Sans"/>
                <a:ea typeface="Quattrocento Sans"/>
              </a:rPr>
              <a:t> early adopters — only ~12% of US shoppers have tried it</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AI product discovery:</a:t>
            </a:r>
            <a:r>
              <a:rPr lang="en-US" sz="1250" noProof="1">
                <a:solidFill>
                  <a:srgbClr val="23272E"/>
                </a:solidFill>
                <a:latin typeface="Quattrocento Sans"/>
                <a:ea typeface="Quattrocento Sans"/>
              </a:rPr>
              <a:t> crossing the chasm — 39% of consumers is past the 16% innovator + early-adopter boundary</a:t>
            </a:r>
            <a:endParaRPr lang="en-US" sz="1250" noProof="1"/>
          </a:p>
          <a:p>
            <a:pPr>
              <a:lnSpc>
                <a:spcPct val="155000"/>
              </a:lnSpc>
              <a:spcBef>
                <a:spcPts val="10"/>
              </a:spcBef>
              <a:buChar char="•"/>
            </a:pPr>
            <a:r>
              <a:rPr lang="en-US" sz="1250" noProof="1" b="1">
                <a:solidFill>
                  <a:srgbClr val="23272E"/>
                </a:solidFill>
                <a:latin typeface="Quattrocento Sans"/>
                <a:ea typeface="Quattrocento Sans"/>
              </a:rPr>
              <a:t>Agent delegation of payment</a:t>
            </a:r>
            <a:r>
              <a:rPr lang="en-US" sz="1250" noProof="1">
                <a:solidFill>
                  <a:srgbClr val="23272E"/>
                </a:solidFill>
                <a:latin typeface="Quattrocento Sans"/>
                <a:ea typeface="Quattrocento Sans"/>
              </a:rPr>
              <a:t> (Instant Checkout, Buy with Pro): still squarely innovators</a:t>
            </a:r>
            <a:endParaRPr lang="en-US" sz="1250" noProof="1"/>
          </a:p>
        </p:txBody>
      </p:sp>
      <p:sp>
        <p:nvSpPr>
          <p:cNvPr id="6" name="upi-head"/>
          <p:cNvSpPr txBox="1"/>
          <p:nvPr/>
        </p:nvSpPr>
        <p:spPr>
          <a:xfrm>
            <a:off x="7823200" y="1397000"/>
            <a:ext cx="36576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Textbook case: UPI in India</a:t>
            </a:r>
            <a:endParaRPr lang="en-US" sz="1300" noProof="1"/>
          </a:p>
        </p:txBody>
      </p:sp>
      <p:sp>
        <p:nvSpPr>
          <p:cNvPr id="7" name="upi-body"/>
          <p:cNvSpPr txBox="1"/>
          <p:nvPr/>
        </p:nvSpPr>
        <p:spPr>
          <a:xfrm>
            <a:off x="7823200" y="1727200"/>
            <a:ext cx="3657600" cy="1905000"/>
          </a:xfrm>
          <a:prstGeom prst="rect">
            <a:avLst/>
          </a:prstGeom>
          <a:noFill/>
          <a:ln>
            <a:noFill/>
          </a:ln>
        </p:spPr>
        <p:txBody>
          <a:bodyPr lIns="0" rIns="0" tIns="0" bIns="0" wrap="square" rtlCol="0"/>
          <a:lstStyle/>
          <a:p>
            <a:pPr>
              <a:lnSpc>
                <a:spcPct val="150000"/>
              </a:lnSpc>
            </a:pPr>
            <a:r>
              <a:rPr lang="en-US" sz="1200" noProof="1">
                <a:solidFill>
                  <a:srgbClr val="23272E"/>
                </a:solidFill>
                <a:latin typeface="Quattrocento Sans"/>
                <a:ea typeface="Quattrocento Sans"/>
              </a:rPr>
              <a:t>Launched 2016: urban innovators first; demonetisation + cheap Jio data supplied </a:t>
            </a:r>
            <a:r>
              <a:rPr lang="en-US" sz="1200" noProof="1" b="1">
                <a:solidFill>
                  <a:srgbClr val="23272E"/>
                </a:solidFill>
                <a:latin typeface="Quattrocento Sans"/>
                <a:ea typeface="Quattrocento Sans"/>
              </a:rPr>
              <a:t>relative advantage and observability</a:t>
            </a:r>
            <a:r>
              <a:rPr lang="en-US" sz="1200" noProof="1">
                <a:solidFill>
                  <a:srgbClr val="23272E"/>
                </a:solidFill>
                <a:latin typeface="Quattrocento Sans"/>
                <a:ea typeface="Quattrocento Sans"/>
              </a:rPr>
              <a:t> shocks; QR codes on every street stall made </a:t>
            </a:r>
            <a:r>
              <a:rPr lang="en-US" sz="1200" noProof="1" b="1">
                <a:solidFill>
                  <a:srgbClr val="23272E"/>
                </a:solidFill>
                <a:latin typeface="Quattrocento Sans"/>
                <a:ea typeface="Quattrocento Sans"/>
              </a:rPr>
              <a:t>trialability ≈ zero cost</a:t>
            </a:r>
            <a:r>
              <a:rPr lang="en-US" sz="1200" noProof="1">
                <a:solidFill>
                  <a:srgbClr val="23272E"/>
                </a:solidFill>
                <a:latin typeface="Quattrocento Sans"/>
                <a:ea typeface="Quattrocento Sans"/>
              </a:rPr>
              <a:t>. By 2026 UPI handles ~49% of global real-time payment volume.</a:t>
            </a:r>
            <a:endParaRPr lang="en-US" sz="1200" noProof="1"/>
          </a:p>
        </p:txBody>
      </p:sp>
      <p:sp>
        <p:nvSpPr>
          <p:cNvPr id="8" name="poll-zone"/>
          <p:cNvSpPr/>
          <p:nvPr/>
        </p:nvSpPr>
        <p:spPr>
          <a:xfrm>
            <a:off x="7823200" y="3810000"/>
            <a:ext cx="3657600" cy="2032000"/>
          </a:xfrm>
          <a:prstGeom prst="rect">
            <a:avLst/>
          </a:prstGeom>
          <a:solidFill>
            <a:srgbClr val="F6E7DE"/>
          </a:solidFill>
          <a:ln>
            <a:noFill/>
          </a:ln>
        </p:spPr>
      </p:sp>
      <p:sp>
        <p:nvSpPr>
          <p:cNvPr id="9" name="poll-head"/>
          <p:cNvSpPr txBox="1"/>
          <p:nvPr/>
        </p:nvSpPr>
        <p:spPr>
          <a:xfrm>
            <a:off x="8051800" y="3987800"/>
            <a:ext cx="3200400" cy="228600"/>
          </a:xfrm>
          <a:prstGeom prst="rect">
            <a:avLst/>
          </a:prstGeom>
          <a:noFill/>
          <a:ln>
            <a:noFill/>
          </a:ln>
        </p:spPr>
        <p:txBody>
          <a:bodyPr lIns="0" rIns="0" tIns="0" bIns="0" wrap="square" rtlCol="0"/>
          <a:lstStyle/>
          <a:p>
            <a:pPr>
              <a:lnSpc>
                <a:spcPct val="120000"/>
              </a:lnSpc>
            </a:pPr>
            <a:r>
              <a:rPr lang="en-US" sz="1150" noProof="1" b="1">
                <a:solidFill>
                  <a:srgbClr val="BC4B26"/>
                </a:solidFill>
                <a:latin typeface="Quattrocento Sans"/>
                <a:ea typeface="Quattrocento Sans"/>
              </a:rPr>
              <a:t>CLASS POLL · 2 MINUTES</a:t>
            </a:r>
            <a:endParaRPr lang="en-US" sz="1150" noProof="1"/>
          </a:p>
        </p:txBody>
      </p:sp>
      <p:sp>
        <p:nvSpPr>
          <p:cNvPr id="10" name="poll-body"/>
          <p:cNvSpPr txBox="1"/>
          <p:nvPr/>
        </p:nvSpPr>
        <p:spPr>
          <a:xfrm>
            <a:off x="8051800" y="4267200"/>
            <a:ext cx="3200400" cy="1447800"/>
          </a:xfrm>
          <a:prstGeom prst="rect">
            <a:avLst/>
          </a:prstGeom>
          <a:noFill/>
          <a:ln>
            <a:noFill/>
          </a:ln>
        </p:spPr>
        <p:txBody>
          <a:bodyPr lIns="0" rIns="0" tIns="0" bIns="0" wrap="square" rtlCol="0"/>
          <a:lstStyle/>
          <a:p>
            <a:pPr>
              <a:lnSpc>
                <a:spcPct val="150000"/>
              </a:lnSpc>
            </a:pPr>
            <a:r>
              <a:rPr lang="en-US" sz="1200" noProof="1">
                <a:solidFill>
                  <a:srgbClr val="23272E"/>
                </a:solidFill>
                <a:latin typeface="Quattrocento Sans"/>
                <a:ea typeface="Quattrocento Sans"/>
              </a:rPr>
              <a:t>Hands up: have you ever let an AI assistant </a:t>
            </a:r>
            <a:r>
              <a:rPr lang="en-US" sz="1200" noProof="1" i="1">
                <a:solidFill>
                  <a:srgbClr val="23272E"/>
                </a:solidFill>
                <a:latin typeface="Quattrocento Sans"/>
                <a:ea typeface="Quattrocento Sans"/>
              </a:rPr>
              <a:t>choose</a:t>
            </a:r>
            <a:r>
              <a:rPr lang="en-US" sz="1200" noProof="1">
                <a:solidFill>
                  <a:srgbClr val="23272E"/>
                </a:solidFill>
                <a:latin typeface="Quattrocento Sans"/>
                <a:ea typeface="Quattrocento Sans"/>
              </a:rPr>
              <a:t> a product for you? Have you let one </a:t>
            </a:r>
            <a:r>
              <a:rPr lang="en-US" sz="1200" noProof="1" i="1">
                <a:solidFill>
                  <a:srgbClr val="23272E"/>
                </a:solidFill>
                <a:latin typeface="Quattrocento Sans"/>
                <a:ea typeface="Quattrocento Sans"/>
              </a:rPr>
              <a:t>pay</a:t>
            </a:r>
            <a:r>
              <a:rPr lang="en-US" sz="1200" noProof="1">
                <a:solidFill>
                  <a:srgbClr val="23272E"/>
                </a:solidFill>
                <a:latin typeface="Quattrocento Sans"/>
                <a:ea typeface="Quattrocento Sans"/>
              </a:rPr>
              <a:t> for you? Watch the two hands differ — that gap is the chasm, live in this room.</a:t>
            </a:r>
            <a:endParaRPr lang="en-US" sz="1200" noProof="1"/>
          </a:p>
        </p:txBody>
      </p:sp>
      <p:sp>
        <p:nvSpPr>
          <p:cNvPr id="11"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US Census Bureau, 2025</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3"/>
              </a:rPr>
              <a:t>Statista, 2025</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4"/>
              </a:rPr>
              <a:t>Salesforce, 2025</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5"/>
              </a:rPr>
              <a:t>IBEF / ACI Worldwide, 2025–2026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6"/>
              </a:rPr>
              <a:t>Ringly, 2026</a:t>
            </a:r>
            <a:r>
              <a:rPr lang="en-US" sz="1000" noProof="1">
                <a:solidFill>
                  <a:srgbClr val="9A9284"/>
                </a:solidFill>
                <a:latin typeface="Quattrocento Sans"/>
                <a:ea typeface="Quattrocento Sans"/>
              </a:rPr>
              <a:t>.</a:t>
            </a:r>
            <a:endParaRPr lang="en-US" sz="1000" noProof="1"/>
          </a:p>
        </p:txBody>
      </p:sp>
      <p:sp>
        <p:nvSpPr>
          <p:cNvPr id="12" name="foot-rule"/>
          <p:cNvSpPr/>
          <p:nvPr/>
        </p:nvSpPr>
        <p:spPr>
          <a:xfrm>
            <a:off x="711200" y="6451600"/>
            <a:ext cx="10769600" cy="12700"/>
          </a:xfrm>
          <a:prstGeom prst="rect">
            <a:avLst/>
          </a:prstGeom>
          <a:solidFill>
            <a:srgbClr val="D9D2C4"/>
          </a:solidFill>
          <a:ln>
            <a:noFill/>
          </a:ln>
        </p:spPr>
      </p:sp>
      <p:sp>
        <p:nvSpPr>
          <p:cNvPr id="13"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4"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5"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27</a:t>
            </a:r>
            <a:endParaRPr lang="en-US" sz="950" noProof="1"/>
          </a:p>
        </p:txBody>
      </p:sp>
    </p:spTree>
  </p:cSld>
  <p:clrMapOvr>
    <a:masterClrMapping/>
  </p:clrMapOvr>
</p:sld>
</file>

<file path=ppt/slides/slide2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EVIDENCE</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The S-curve in the wild: US e-commerce share, 2013–2024</a:t>
            </a:r>
            <a:endParaRPr lang="en-US" sz="2600" noProof="1"/>
          </a:p>
        </p:txBody>
      </p:sp>
      <p:graphicFrame>
        <p:nvGraphicFramePr>
          <p:cNvPr id="4" name="share-chart"/>
          <p:cNvGraphicFramePr/>
          <p:nvPr/>
        </p:nvGraphicFramePr>
        <p:xfrm>
          <a:off x="711200" y="1473200"/>
          <a:ext cx="7366000" cy="4191000"/>
        </p:xfrm>
        <a:graphic>
          <a:graphicData uri="http://schemas.openxmlformats.org/drawingml/2006/chart">
            <c:chart r:id="rId2"/>
          </a:graphicData>
        </a:graphic>
      </p:graphicFrame>
      <p:sp>
        <p:nvSpPr>
          <p:cNvPr id="5" name="read-head"/>
          <p:cNvSpPr txBox="1"/>
          <p:nvPr/>
        </p:nvSpPr>
        <p:spPr>
          <a:xfrm>
            <a:off x="8585200" y="1473200"/>
            <a:ext cx="28956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How to read it</a:t>
            </a:r>
            <a:endParaRPr lang="en-US" sz="1300" noProof="1"/>
          </a:p>
        </p:txBody>
      </p:sp>
      <p:sp>
        <p:nvSpPr>
          <p:cNvPr id="6" name="read-body"/>
          <p:cNvSpPr txBox="1"/>
          <p:nvPr/>
        </p:nvSpPr>
        <p:spPr>
          <a:xfrm>
            <a:off x="8585200" y="1803400"/>
            <a:ext cx="2895600" cy="2540000"/>
          </a:xfrm>
          <a:prstGeom prst="rect">
            <a:avLst/>
          </a:prstGeom>
          <a:noFill/>
          <a:ln>
            <a:noFill/>
          </a:ln>
        </p:spPr>
        <p:txBody>
          <a:bodyPr lIns="0" rIns="0" tIns="0" bIns="0" wrap="square" rtlCol="0"/>
          <a:lstStyle/>
          <a:p>
            <a:pPr>
              <a:lnSpc>
                <a:spcPct val="150000"/>
              </a:lnSpc>
            </a:pPr>
            <a:r>
              <a:rPr lang="en-US" sz="1200" noProof="1" b="1">
                <a:solidFill>
                  <a:srgbClr val="23272E"/>
                </a:solidFill>
                <a:latin typeface="Quattrocento Sans"/>
                <a:ea typeface="Quattrocento Sans"/>
              </a:rPr>
              <a:t>Steady climb, then shock:</a:t>
            </a:r>
            <a:r>
              <a:rPr lang="en-US" sz="1200" noProof="1">
                <a:solidFill>
                  <a:srgbClr val="23272E"/>
                </a:solidFill>
                <a:latin typeface="Quattrocento Sans"/>
                <a:ea typeface="Quattrocento Sans"/>
              </a:rPr>
              <a:t> ~0.8 points a year until 2019, then COVID added ~4 points in one year (+41.7% YoY in 2020).</a:t>
            </a:r>
            <a:endParaRPr lang="en-US" sz="1200" noProof="1"/>
          </a:p>
          <a:p>
            <a:pPr>
              <a:lnSpc>
                <a:spcPct val="150000"/>
              </a:lnSpc>
              <a:spcBef>
                <a:spcPts val="800"/>
              </a:spcBef>
            </a:pPr>
            <a:r>
              <a:rPr lang="en-US" sz="1200" noProof="1" b="1">
                <a:solidFill>
                  <a:srgbClr val="23272E"/>
                </a:solidFill>
                <a:latin typeface="Quattrocento Sans"/>
                <a:ea typeface="Quattrocento Sans"/>
              </a:rPr>
              <a:t>Then reversion:</a:t>
            </a:r>
            <a:r>
              <a:rPr lang="en-US" sz="1200" noProof="1">
                <a:solidFill>
                  <a:srgbClr val="23272E"/>
                </a:solidFill>
                <a:latin typeface="Quattrocento Sans"/>
                <a:ea typeface="Quattrocento Sans"/>
              </a:rPr>
              <a:t> share flatlined 2020–22 — part of the "forever bump" was a pull-forward, not a step change.</a:t>
            </a:r>
            <a:endParaRPr lang="en-US" sz="1200" noProof="1"/>
          </a:p>
          <a:p>
            <a:pPr>
              <a:lnSpc>
                <a:spcPct val="150000"/>
              </a:lnSpc>
              <a:spcBef>
                <a:spcPts val="800"/>
              </a:spcBef>
            </a:pPr>
            <a:r>
              <a:rPr lang="en-US" sz="1200" noProof="1" b="1">
                <a:solidFill>
                  <a:srgbClr val="23272E"/>
                </a:solidFill>
                <a:latin typeface="Quattrocento Sans"/>
                <a:ea typeface="Quattrocento Sans"/>
              </a:rPr>
              <a:t>Shape check:</a:t>
            </a:r>
            <a:r>
              <a:rPr lang="en-US" sz="1200" noProof="1">
                <a:solidFill>
                  <a:srgbClr val="23272E"/>
                </a:solidFill>
                <a:latin typeface="Quattrocento Sans"/>
                <a:ea typeface="Quattrocento Sans"/>
              </a:rPr>
              <a:t> the slow start, acceleration and inflection match Rogers' S-curve remarkably well.</a:t>
            </a:r>
            <a:endParaRPr lang="en-US" sz="1200" noProof="1"/>
          </a:p>
        </p:txBody>
      </p:sp>
      <p:sp>
        <p:nvSpPr>
          <p:cNvPr id="7" name="read-note"/>
          <p:cNvSpPr txBox="1"/>
          <p:nvPr/>
        </p:nvSpPr>
        <p:spPr>
          <a:xfrm>
            <a:off x="8585200" y="4521200"/>
            <a:ext cx="2895600" cy="1143000"/>
          </a:xfrm>
          <a:prstGeom prst="rect">
            <a:avLst/>
          </a:prstGeom>
          <a:noFill/>
          <a:ln>
            <a:noFill/>
          </a:ln>
        </p:spPr>
        <p:txBody>
          <a:bodyPr lIns="0" rIns="0" tIns="0" bIns="0" wrap="square" rtlCol="0"/>
          <a:lstStyle/>
          <a:p>
            <a:pPr>
              <a:lnSpc>
                <a:spcPct val="145000"/>
              </a:lnSpc>
            </a:pPr>
            <a:r>
              <a:rPr lang="en-US" sz="1100" noProof="1">
                <a:solidFill>
                  <a:srgbClr val="6E675C"/>
                </a:solidFill>
                <a:latin typeface="Quattrocento Sans"/>
                <a:ea typeface="Quattrocento Sans"/>
              </a:rPr>
              <a:t>Exam skill: quote this series when arguing "channels layer" — even after a pandemic, 84% of US retail stayed offline.</a:t>
            </a:r>
            <a:endParaRPr lang="en-US" sz="1100" noProof="1"/>
          </a:p>
        </p:txBody>
      </p:sp>
      <p:sp>
        <p:nvSpPr>
          <p:cNvPr id="8" name="src-line"/>
          <p:cNvSpPr txBox="1"/>
          <p:nvPr/>
        </p:nvSpPr>
        <p:spPr>
          <a:xfrm>
            <a:off x="711200" y="5842000"/>
            <a:ext cx="10769600" cy="431800"/>
          </a:xfrm>
          <a:prstGeom prst="rect">
            <a:avLst/>
          </a:prstGeom>
          <a:noFill/>
          <a:ln>
            <a:noFill/>
          </a:ln>
        </p:spPr>
        <p:txBody>
          <a:bodyPr lIns="0" rIns="0" tIns="0" bIns="0" wrap="square" rtlCol="0"/>
          <a:lstStyle/>
          <a:p>
            <a:pPr>
              <a:lnSpc>
                <a:spcPct val="140000"/>
              </a:lnSpc>
            </a:pPr>
            <a:r>
              <a:rPr lang="en-US" sz="1000" noProof="1">
                <a:solidFill>
                  <a:srgbClr val="9A9284"/>
                </a:solidFill>
                <a:latin typeface="Quattrocento Sans"/>
                <a:ea typeface="Quattrocento Sans"/>
              </a:rPr>
              <a:t>Source: </a:t>
            </a:r>
            <a:r>
              <a:rPr lang="en-US" sz="1000" noProof="1" u="sng">
                <a:solidFill>
                  <a:srgbClr val="0563C1"/>
                </a:solidFill>
                <a:latin typeface="Quattrocento Sans"/>
                <a:ea typeface="Quattrocento Sans"/>
                <a:hlinkClick r:id="rId3"/>
              </a:rPr>
              <a:t>US Census Bureau, Monthly Retail Trade / e-commerce series, 2025</a:t>
            </a:r>
            <a:r>
              <a:rPr lang="en-US" sz="1000" noProof="1">
                <a:solidFill>
                  <a:srgbClr val="9A9284"/>
                </a:solidFill>
                <a:latin typeface="Quattrocento Sans"/>
                <a:ea typeface="Quattrocento Sans"/>
              </a:rPr>
              <a:t> (share figures); </a:t>
            </a:r>
            <a:r>
              <a:rPr lang="en-US" sz="1000" noProof="1" u="sng">
                <a:solidFill>
                  <a:srgbClr val="0563C1"/>
                </a:solidFill>
                <a:latin typeface="Quattrocento Sans"/>
                <a:ea typeface="Quattrocento Sans"/>
                <a:hlinkClick r:id="rId4"/>
              </a:rPr>
              <a:t>US Census via SellersCommerce, 2025</a:t>
            </a:r>
            <a:r>
              <a:rPr lang="en-US" sz="1000" noProof="1">
                <a:solidFill>
                  <a:srgbClr val="9A9284"/>
                </a:solidFill>
                <a:latin typeface="Quattrocento Sans"/>
                <a:ea typeface="Quattrocento Sans"/>
              </a:rPr>
              <a:t> (2020 growth rate).</a:t>
            </a:r>
            <a:endParaRPr lang="en-US" sz="1000" noProof="1"/>
          </a:p>
        </p:txBody>
      </p:sp>
      <p:sp>
        <p:nvSpPr>
          <p:cNvPr id="9" name="foot-rule"/>
          <p:cNvSpPr/>
          <p:nvPr/>
        </p:nvSpPr>
        <p:spPr>
          <a:xfrm>
            <a:off x="711200" y="6451600"/>
            <a:ext cx="10769600" cy="12700"/>
          </a:xfrm>
          <a:prstGeom prst="rect">
            <a:avLst/>
          </a:prstGeom>
          <a:solidFill>
            <a:srgbClr val="D9D2C4"/>
          </a:solidFill>
          <a:ln>
            <a:noFill/>
          </a:ln>
        </p:spPr>
      </p:sp>
      <p:sp>
        <p:nvSpPr>
          <p:cNvPr id="10"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1"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2"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28</a:t>
            </a:r>
            <a:endParaRPr lang="en-US" sz="950" noProof="1"/>
          </a:p>
        </p:txBody>
      </p:sp>
    </p:spTree>
  </p:cSld>
  <p:clrMapOvr>
    <a:masterClrMapping/>
  </p:clrMapOvr>
</p:sld>
</file>

<file path=ppt/slides/slide2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EVIDENCE</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Mobile won the interface war — everywhere you measure it</a:t>
            </a:r>
            <a:endParaRPr lang="en-US" sz="2600" noProof="1"/>
          </a:p>
        </p:txBody>
      </p:sp>
      <p:graphicFrame>
        <p:nvGraphicFramePr>
          <p:cNvPr id="4" name="mobile-chart"/>
          <p:cNvGraphicFramePr/>
          <p:nvPr/>
        </p:nvGraphicFramePr>
        <p:xfrm>
          <a:off x="711200" y="1473200"/>
          <a:ext cx="7112000" cy="4191000"/>
        </p:xfrm>
        <a:graphic>
          <a:graphicData uri="http://schemas.openxmlformats.org/drawingml/2006/chart">
            <c:chart r:id="rId2"/>
          </a:graphicData>
        </a:graphic>
      </p:graphicFrame>
      <p:sp>
        <p:nvSpPr>
          <p:cNvPr id="5" name="read-head"/>
          <p:cNvSpPr txBox="1"/>
          <p:nvPr/>
        </p:nvSpPr>
        <p:spPr>
          <a:xfrm>
            <a:off x="8585200" y="1473200"/>
            <a:ext cx="28956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Read with care</a:t>
            </a:r>
            <a:endParaRPr lang="en-US" sz="1300" noProof="1"/>
          </a:p>
        </p:txBody>
      </p:sp>
      <p:sp>
        <p:nvSpPr>
          <p:cNvPr id="6" name="read-body"/>
          <p:cNvSpPr txBox="1"/>
          <p:nvPr/>
        </p:nvSpPr>
        <p:spPr>
          <a:xfrm>
            <a:off x="8585200" y="1803400"/>
            <a:ext cx="2895600" cy="2794000"/>
          </a:xfrm>
          <a:prstGeom prst="rect">
            <a:avLst/>
          </a:prstGeom>
          <a:noFill/>
          <a:ln>
            <a:noFill/>
          </a:ln>
        </p:spPr>
        <p:txBody>
          <a:bodyPr lIns="0" rIns="0" tIns="0" bIns="0" wrap="square" rtlCol="0"/>
          <a:lstStyle/>
          <a:p>
            <a:pPr>
              <a:lnSpc>
                <a:spcPct val="150000"/>
              </a:lnSpc>
            </a:pPr>
            <a:r>
              <a:rPr lang="en-US" sz="1200" noProof="1">
                <a:solidFill>
                  <a:srgbClr val="23272E"/>
                </a:solidFill>
                <a:latin typeface="Quattrocento Sans"/>
                <a:ea typeface="Quattrocento Sans"/>
              </a:rPr>
              <a:t>Four bars, four definitions: </a:t>
            </a:r>
            <a:r>
              <a:rPr lang="en-US" sz="1200" noProof="1" b="1">
                <a:solidFill>
                  <a:srgbClr val="23272E"/>
                </a:solidFill>
                <a:latin typeface="Quattrocento Sans"/>
                <a:ea typeface="Quattrocento Sans"/>
              </a:rPr>
              <a:t>traffic</a:t>
            </a:r>
            <a:r>
              <a:rPr lang="en-US" sz="1200" noProof="1">
                <a:solidFill>
                  <a:srgbClr val="23272E"/>
                </a:solidFill>
                <a:latin typeface="Quattrocento Sans"/>
                <a:ea typeface="Quattrocento Sans"/>
              </a:rPr>
              <a:t> (visits), </a:t>
            </a:r>
            <a:r>
              <a:rPr lang="en-US" sz="1200" noProof="1" b="1">
                <a:solidFill>
                  <a:srgbClr val="23272E"/>
                </a:solidFill>
                <a:latin typeface="Quattrocento Sans"/>
                <a:ea typeface="Quattrocento Sans"/>
              </a:rPr>
              <a:t>transactions</a:t>
            </a:r>
            <a:r>
              <a:rPr lang="en-US" sz="1200" noProof="1">
                <a:solidFill>
                  <a:srgbClr val="23272E"/>
                </a:solidFill>
                <a:latin typeface="Quattrocento Sans"/>
                <a:ea typeface="Quattrocento Sans"/>
              </a:rPr>
              <a:t> (orders), </a:t>
            </a:r>
            <a:r>
              <a:rPr lang="en-US" sz="1200" noProof="1" b="1">
                <a:solidFill>
                  <a:srgbClr val="23272E"/>
                </a:solidFill>
                <a:latin typeface="Quattrocento Sans"/>
                <a:ea typeface="Quattrocento Sans"/>
              </a:rPr>
              <a:t>GMV</a:t>
            </a:r>
            <a:r>
              <a:rPr lang="en-US" sz="1200" noProof="1">
                <a:solidFill>
                  <a:srgbClr val="23272E"/>
                </a:solidFill>
                <a:latin typeface="Quattrocento Sans"/>
                <a:ea typeface="Quattrocento Sans"/>
              </a:rPr>
              <a:t> (value) and </a:t>
            </a:r>
            <a:r>
              <a:rPr lang="en-US" sz="1200" noProof="1" b="1">
                <a:solidFill>
                  <a:srgbClr val="23272E"/>
                </a:solidFill>
                <a:latin typeface="Quattrocento Sans"/>
                <a:ea typeface="Quattrocento Sans"/>
              </a:rPr>
              <a:t>sales</a:t>
            </a:r>
            <a:r>
              <a:rPr lang="en-US" sz="1200" noProof="1">
                <a:solidFill>
                  <a:srgbClr val="23272E"/>
                </a:solidFill>
                <a:latin typeface="Quattrocento Sans"/>
                <a:ea typeface="Quattrocento Sans"/>
              </a:rPr>
              <a:t> (revenue) are not interchangeable.</a:t>
            </a:r>
            <a:endParaRPr lang="en-US" sz="1200" noProof="1"/>
          </a:p>
          <a:p>
            <a:pPr>
              <a:lnSpc>
                <a:spcPct val="150000"/>
              </a:lnSpc>
              <a:spcBef>
                <a:spcPts val="800"/>
              </a:spcBef>
            </a:pPr>
            <a:r>
              <a:rPr lang="en-US" sz="1200" noProof="1">
                <a:solidFill>
                  <a:srgbClr val="23272E"/>
                </a:solidFill>
                <a:latin typeface="Quattrocento Sans"/>
                <a:ea typeface="Quattrocento Sans"/>
              </a:rPr>
              <a:t>Mobile leads on every measure, but the gap between </a:t>
            </a:r>
            <a:r>
              <a:rPr lang="en-US" sz="1200" noProof="1" b="1">
                <a:solidFill>
                  <a:srgbClr val="23272E"/>
                </a:solidFill>
                <a:latin typeface="Quattrocento Sans"/>
                <a:ea typeface="Quattrocento Sans"/>
              </a:rPr>
              <a:t>77% of traffic</a:t>
            </a:r>
            <a:r>
              <a:rPr lang="en-US" sz="1200" noProof="1">
                <a:solidFill>
                  <a:srgbClr val="23272E"/>
                </a:solidFill>
                <a:latin typeface="Quattrocento Sans"/>
                <a:ea typeface="Quattrocento Sans"/>
              </a:rPr>
              <a:t> and </a:t>
            </a:r>
            <a:r>
              <a:rPr lang="en-US" sz="1200" noProof="1" b="1">
                <a:solidFill>
                  <a:srgbClr val="23272E"/>
                </a:solidFill>
                <a:latin typeface="Quattrocento Sans"/>
                <a:ea typeface="Quattrocento Sans"/>
              </a:rPr>
              <a:t>58% of sales</a:t>
            </a:r>
            <a:r>
              <a:rPr lang="en-US" sz="1200" noProof="1">
                <a:solidFill>
                  <a:srgbClr val="23272E"/>
                </a:solidFill>
                <a:latin typeface="Quattrocento Sans"/>
                <a:ea typeface="Quattrocento Sans"/>
              </a:rPr>
              <a:t> tells you mobile still converts worse than desktop — checkout friction again.</a:t>
            </a:r>
            <a:endParaRPr lang="en-US" sz="1200" noProof="1"/>
          </a:p>
          <a:p>
            <a:pPr>
              <a:lnSpc>
                <a:spcPct val="150000"/>
              </a:lnSpc>
              <a:spcBef>
                <a:spcPts val="800"/>
              </a:spcBef>
            </a:pPr>
            <a:r>
              <a:rPr lang="en-US" sz="1200" noProof="1">
                <a:solidFill>
                  <a:srgbClr val="23272E"/>
                </a:solidFill>
                <a:latin typeface="Quattrocento Sans"/>
                <a:ea typeface="Quattrocento Sans"/>
              </a:rPr>
              <a:t>India (76% of GMV) shows what a market looks like when it skips the desktop era entirely.</a:t>
            </a:r>
            <a:endParaRPr lang="en-US" sz="1200" noProof="1"/>
          </a:p>
        </p:txBody>
      </p:sp>
      <p:sp>
        <p:nvSpPr>
          <p:cNvPr id="7" name="read-note"/>
          <p:cNvSpPr txBox="1"/>
          <p:nvPr/>
        </p:nvSpPr>
        <p:spPr>
          <a:xfrm>
            <a:off x="8585200" y="4724400"/>
            <a:ext cx="2895600" cy="939800"/>
          </a:xfrm>
          <a:prstGeom prst="rect">
            <a:avLst/>
          </a:prstGeom>
          <a:noFill/>
          <a:ln>
            <a:noFill/>
          </a:ln>
        </p:spPr>
        <p:txBody>
          <a:bodyPr lIns="0" rIns="0" tIns="0" bIns="0" wrap="square" rtlCol="0"/>
          <a:lstStyle/>
          <a:p>
            <a:pPr>
              <a:lnSpc>
                <a:spcPct val="145000"/>
              </a:lnSpc>
            </a:pPr>
            <a:r>
              <a:rPr lang="en-US" sz="1100" noProof="1">
                <a:solidFill>
                  <a:srgbClr val="6E675C"/>
                </a:solidFill>
                <a:latin typeface="Quattrocento Sans"/>
                <a:ea typeface="Quattrocento Sans"/>
              </a:rPr>
              <a:t>The global sales figure is reported as a range (57–59%); the chart plots 58%.</a:t>
            </a:r>
            <a:endParaRPr lang="en-US" sz="1100" noProof="1"/>
          </a:p>
        </p:txBody>
      </p:sp>
      <p:sp>
        <p:nvSpPr>
          <p:cNvPr id="8" name="src-line"/>
          <p:cNvSpPr txBox="1"/>
          <p:nvPr/>
        </p:nvSpPr>
        <p:spPr>
          <a:xfrm>
            <a:off x="711200" y="5842000"/>
            <a:ext cx="10769600" cy="431800"/>
          </a:xfrm>
          <a:prstGeom prst="rect">
            <a:avLst/>
          </a:prstGeom>
          <a:noFill/>
          <a:ln>
            <a:noFill/>
          </a:ln>
        </p:spPr>
        <p:txBody>
          <a:bodyPr lIns="0" rIns="0" tIns="0" bIns="0" wrap="square" rtlCol="0"/>
          <a:lstStyle/>
          <a:p>
            <a:pPr>
              <a:lnSpc>
                <a:spcPct val="14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3"/>
              </a:rPr>
              <a:t>Statista, 2025</a:t>
            </a:r>
            <a:r>
              <a:rPr lang="en-US" sz="1000" noProof="1">
                <a:solidFill>
                  <a:srgbClr val="9A9284"/>
                </a:solidFill>
                <a:latin typeface="Quattrocento Sans"/>
                <a:ea typeface="Quattrocento Sans"/>
              </a:rPr>
              <a:t> and </a:t>
            </a:r>
            <a:r>
              <a:rPr lang="en-US" sz="1000" noProof="1" u="sng">
                <a:solidFill>
                  <a:srgbClr val="0563C1"/>
                </a:solidFill>
                <a:latin typeface="Quattrocento Sans"/>
                <a:ea typeface="Quattrocento Sans"/>
                <a:hlinkClick r:id="rId4"/>
              </a:rPr>
              <a:t>Shopify summary via Ten-Ten, 2025</a:t>
            </a:r>
            <a:r>
              <a:rPr lang="en-US" sz="1000" noProof="1">
                <a:solidFill>
                  <a:srgbClr val="9A9284"/>
                </a:solidFill>
                <a:latin typeface="Quattrocento Sans"/>
                <a:ea typeface="Quattrocento Sans"/>
              </a:rPr>
              <a:t> (global sales &amp; traffic); </a:t>
            </a:r>
            <a:r>
              <a:rPr lang="en-US" sz="1000" noProof="1" u="sng">
                <a:solidFill>
                  <a:srgbClr val="0563C1"/>
                </a:solidFill>
                <a:latin typeface="Quattrocento Sans"/>
                <a:ea typeface="Quattrocento Sans"/>
                <a:hlinkClick r:id="rId5"/>
              </a:rPr>
              <a:t>Mordor Intelligence US, 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6"/>
              </a:rPr>
              <a:t>Mordor Intelligence India, 2026</a:t>
            </a:r>
            <a:r>
              <a:rPr lang="en-US" sz="1000" noProof="1">
                <a:solidFill>
                  <a:srgbClr val="9A9284"/>
                </a:solidFill>
                <a:latin typeface="Quattrocento Sans"/>
                <a:ea typeface="Quattrocento Sans"/>
              </a:rPr>
              <a:t>.</a:t>
            </a:r>
            <a:endParaRPr lang="en-US" sz="1000" noProof="1"/>
          </a:p>
        </p:txBody>
      </p:sp>
      <p:sp>
        <p:nvSpPr>
          <p:cNvPr id="9" name="foot-rule"/>
          <p:cNvSpPr/>
          <p:nvPr/>
        </p:nvSpPr>
        <p:spPr>
          <a:xfrm>
            <a:off x="711200" y="6451600"/>
            <a:ext cx="10769600" cy="12700"/>
          </a:xfrm>
          <a:prstGeom prst="rect">
            <a:avLst/>
          </a:prstGeom>
          <a:solidFill>
            <a:srgbClr val="D9D2C4"/>
          </a:solidFill>
          <a:ln>
            <a:noFill/>
          </a:ln>
        </p:spPr>
      </p:sp>
      <p:sp>
        <p:nvSpPr>
          <p:cNvPr id="10"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1"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2"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29</a:t>
            </a:r>
            <a:endParaRPr lang="en-US" sz="950" noProof="1"/>
          </a:p>
        </p:txBody>
      </p:sp>
    </p:spTree>
  </p:cSld>
  <p:clrMapOvr>
    <a:masterClrMapping/>
  </p:clrMapOvr>
</p:sld>
</file>

<file path=ppt/slides/slide3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STRATEGY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First mover or fast follower? Arrival order doesn't decide — lock-in does</a:t>
            </a:r>
            <a:endParaRPr lang="en-US" sz="2600" noProof="1"/>
          </a:p>
        </p:txBody>
      </p:sp>
      <p:sp>
        <p:nvSpPr>
          <p:cNvPr id="4" name="left-head"/>
          <p:cNvSpPr txBox="1"/>
          <p:nvPr/>
        </p:nvSpPr>
        <p:spPr>
          <a:xfrm>
            <a:off x="711200" y="1422400"/>
            <a:ext cx="5080000" cy="304800"/>
          </a:xfrm>
          <a:prstGeom prst="rect">
            <a:avLst/>
          </a:prstGeom>
          <a:noFill/>
          <a:ln>
            <a:noFill/>
          </a:ln>
        </p:spPr>
        <p:txBody>
          <a:bodyPr lIns="0" rIns="0" tIns="0" bIns="0" wrap="square" rtlCol="0"/>
          <a:lstStyle/>
          <a:p>
            <a:pPr>
              <a:lnSpc>
                <a:spcPct val="120000"/>
              </a:lnSpc>
            </a:pPr>
            <a:r>
              <a:rPr lang="en-US" sz="1900" noProof="1">
                <a:solidFill>
                  <a:srgbClr val="175E54"/>
                </a:solidFill>
                <a:latin typeface="Unna"/>
                <a:ea typeface="Unna"/>
              </a:rPr>
              <a:t>When first movers win</a:t>
            </a:r>
            <a:endParaRPr lang="en-US" sz="1900" noProof="1"/>
          </a:p>
        </p:txBody>
      </p:sp>
      <p:sp>
        <p:nvSpPr>
          <p:cNvPr id="5" name="left-body"/>
          <p:cNvSpPr txBox="1"/>
          <p:nvPr/>
        </p:nvSpPr>
        <p:spPr>
          <a:xfrm>
            <a:off x="711200" y="1803400"/>
            <a:ext cx="5080000" cy="2286000"/>
          </a:xfrm>
          <a:prstGeom prst="rect">
            <a:avLst/>
          </a:prstGeom>
          <a:noFill/>
          <a:ln>
            <a:noFill/>
          </a:ln>
        </p:spPr>
        <p:txBody>
          <a:bodyPr lIns="0" rIns="0" tIns="0" bIns="0" wrap="square" rtlCol="0"/>
          <a:lstStyle/>
          <a:p>
            <a:pPr>
              <a:lnSpc>
                <a:spcPct val="150000"/>
              </a:lnSpc>
            </a:pPr>
            <a:r>
              <a:rPr lang="en-US" sz="1250" noProof="1" b="1">
                <a:solidFill>
                  <a:srgbClr val="23272E"/>
                </a:solidFill>
                <a:latin typeface="Quattrocento Sans"/>
                <a:ea typeface="Quattrocento Sans"/>
              </a:rPr>
              <a:t>Mechanism:</a:t>
            </a:r>
            <a:r>
              <a:rPr lang="en-US" sz="1250" noProof="1">
                <a:solidFill>
                  <a:srgbClr val="23272E"/>
                </a:solidFill>
                <a:latin typeface="Quattrocento Sans"/>
                <a:ea typeface="Quattrocento Sans"/>
              </a:rPr>
              <a:t> brand becomes the category; data and network effects lock in users and suppliers.</a:t>
            </a:r>
            <a:endParaRPr lang="en-US" sz="1250" noProof="1"/>
          </a:p>
          <a:p>
            <a:pPr>
              <a:lnSpc>
                <a:spcPct val="150000"/>
              </a:lnSpc>
              <a:spcBef>
                <a:spcPts val="800"/>
              </a:spcBef>
            </a:pPr>
            <a:r>
              <a:rPr lang="en-US" sz="1250" noProof="1" b="1">
                <a:solidFill>
                  <a:srgbClr val="23272E"/>
                </a:solidFill>
                <a:latin typeface="Quattrocento Sans"/>
                <a:ea typeface="Quattrocento Sans"/>
              </a:rPr>
              <a:t>Evidence:</a:t>
            </a:r>
            <a:endParaRPr lang="en-US" sz="1250" noProof="1"/>
          </a:p>
          <a:p>
            <a:pPr>
              <a:lnSpc>
                <a:spcPct val="150000"/>
              </a:lnSpc>
              <a:spcBef>
                <a:spcPts val="10"/>
              </a:spcBef>
              <a:buChar char="•"/>
            </a:pPr>
            <a:r>
              <a:rPr lang="en-US" sz="1250" noProof="1">
                <a:solidFill>
                  <a:srgbClr val="23272E"/>
                </a:solidFill>
                <a:latin typeface="Quattrocento Sans"/>
                <a:ea typeface="Quattrocento Sans"/>
              </a:rPr>
              <a:t>Amazon = "online shopping" for a generation; ~37.6% of US e-commerce three decades on</a:t>
            </a:r>
            <a:endParaRPr lang="en-US" sz="1250" noProof="1"/>
          </a:p>
          <a:p>
            <a:pPr>
              <a:lnSpc>
                <a:spcPct val="150000"/>
              </a:lnSpc>
              <a:spcBef>
                <a:spcPts val="10"/>
              </a:spcBef>
              <a:buChar char="•"/>
            </a:pPr>
            <a:r>
              <a:rPr lang="en-US" sz="1250" noProof="1">
                <a:solidFill>
                  <a:srgbClr val="23272E"/>
                </a:solidFill>
                <a:latin typeface="Quattrocento Sans"/>
                <a:ea typeface="Quattrocento Sans"/>
              </a:rPr>
              <a:t>Alibaba's merchant network made it unassailable in China</a:t>
            </a:r>
            <a:endParaRPr lang="en-US" sz="1250" noProof="1"/>
          </a:p>
          <a:p>
            <a:pPr>
              <a:lnSpc>
                <a:spcPct val="150000"/>
              </a:lnSpc>
              <a:spcBef>
                <a:spcPts val="10"/>
              </a:spcBef>
              <a:buChar char="•"/>
            </a:pPr>
            <a:r>
              <a:rPr lang="en-US" sz="1250" noProof="1">
                <a:solidFill>
                  <a:srgbClr val="23272E"/>
                </a:solidFill>
                <a:latin typeface="Quattrocento Sans"/>
                <a:ea typeface="Quattrocento Sans"/>
              </a:rPr>
              <a:t>UPI set the standard for Indian real-time payments</a:t>
            </a:r>
            <a:endParaRPr lang="en-US" sz="1250" noProof="1"/>
          </a:p>
        </p:txBody>
      </p:sp>
      <p:sp>
        <p:nvSpPr>
          <p:cNvPr id="6" name="divider-v"/>
          <p:cNvSpPr/>
          <p:nvPr/>
        </p:nvSpPr>
        <p:spPr>
          <a:xfrm>
            <a:off x="6070600" y="1422400"/>
            <a:ext cx="12700" cy="2794000"/>
          </a:xfrm>
          <a:prstGeom prst="rect">
            <a:avLst/>
          </a:prstGeom>
          <a:solidFill>
            <a:srgbClr val="D9D2C4"/>
          </a:solidFill>
          <a:ln>
            <a:noFill/>
          </a:ln>
        </p:spPr>
      </p:sp>
      <p:sp>
        <p:nvSpPr>
          <p:cNvPr id="7" name="right-head"/>
          <p:cNvSpPr txBox="1"/>
          <p:nvPr/>
        </p:nvSpPr>
        <p:spPr>
          <a:xfrm>
            <a:off x="6400800" y="1422400"/>
            <a:ext cx="5080000" cy="304800"/>
          </a:xfrm>
          <a:prstGeom prst="rect">
            <a:avLst/>
          </a:prstGeom>
          <a:noFill/>
          <a:ln>
            <a:noFill/>
          </a:ln>
        </p:spPr>
        <p:txBody>
          <a:bodyPr lIns="0" rIns="0" tIns="0" bIns="0" wrap="square" rtlCol="0"/>
          <a:lstStyle/>
          <a:p>
            <a:pPr>
              <a:lnSpc>
                <a:spcPct val="120000"/>
              </a:lnSpc>
            </a:pPr>
            <a:r>
              <a:rPr lang="en-US" sz="1900" noProof="1">
                <a:solidFill>
                  <a:srgbClr val="BC4B26"/>
                </a:solidFill>
                <a:latin typeface="Unna"/>
                <a:ea typeface="Unna"/>
              </a:rPr>
              <a:t>When fast followers win</a:t>
            </a:r>
            <a:endParaRPr lang="en-US" sz="1900" noProof="1"/>
          </a:p>
        </p:txBody>
      </p:sp>
      <p:sp>
        <p:nvSpPr>
          <p:cNvPr id="8" name="right-body"/>
          <p:cNvSpPr txBox="1"/>
          <p:nvPr/>
        </p:nvSpPr>
        <p:spPr>
          <a:xfrm>
            <a:off x="6400800" y="1803400"/>
            <a:ext cx="5080000" cy="2286000"/>
          </a:xfrm>
          <a:prstGeom prst="rect">
            <a:avLst/>
          </a:prstGeom>
          <a:noFill/>
          <a:ln>
            <a:noFill/>
          </a:ln>
        </p:spPr>
        <p:txBody>
          <a:bodyPr lIns="0" rIns="0" tIns="0" bIns="0" wrap="square" rtlCol="0"/>
          <a:lstStyle/>
          <a:p>
            <a:pPr>
              <a:lnSpc>
                <a:spcPct val="150000"/>
              </a:lnSpc>
            </a:pPr>
            <a:r>
              <a:rPr lang="en-US" sz="1250" noProof="1" b="1">
                <a:solidFill>
                  <a:srgbClr val="23272E"/>
                </a:solidFill>
                <a:latin typeface="Quattrocento Sans"/>
                <a:ea typeface="Quattrocento Sans"/>
              </a:rPr>
              <a:t>Mechanism:</a:t>
            </a:r>
            <a:r>
              <a:rPr lang="en-US" sz="1250" noProof="1">
                <a:solidFill>
                  <a:srgbClr val="23272E"/>
                </a:solidFill>
                <a:latin typeface="Quattrocento Sans"/>
                <a:ea typeface="Quattrocento Sans"/>
              </a:rPr>
              <a:t> the pioneer pays for customer education and infrastructure; the follower copies what works with lower risk.</a:t>
            </a:r>
            <a:endParaRPr lang="en-US" sz="1250" noProof="1"/>
          </a:p>
          <a:p>
            <a:pPr>
              <a:lnSpc>
                <a:spcPct val="150000"/>
              </a:lnSpc>
              <a:spcBef>
                <a:spcPts val="800"/>
              </a:spcBef>
            </a:pPr>
            <a:r>
              <a:rPr lang="en-US" sz="1250" noProof="1" b="1">
                <a:solidFill>
                  <a:srgbClr val="23272E"/>
                </a:solidFill>
                <a:latin typeface="Quattrocento Sans"/>
                <a:ea typeface="Quattrocento Sans"/>
              </a:rPr>
              <a:t>Evidence:</a:t>
            </a:r>
            <a:endParaRPr lang="en-US" sz="1250" noProof="1"/>
          </a:p>
          <a:p>
            <a:pPr>
              <a:lnSpc>
                <a:spcPct val="150000"/>
              </a:lnSpc>
              <a:spcBef>
                <a:spcPts val="10"/>
              </a:spcBef>
              <a:buChar char="•"/>
            </a:pPr>
            <a:r>
              <a:rPr lang="en-US" sz="1250" noProof="1">
                <a:solidFill>
                  <a:srgbClr val="23272E"/>
                </a:solidFill>
                <a:latin typeface="Quattrocento Sans"/>
                <a:ea typeface="Quattrocento Sans"/>
              </a:rPr>
              <a:t>Google AdWords followed Overture's paid search</a:t>
            </a:r>
            <a:endParaRPr lang="en-US" sz="1250" noProof="1"/>
          </a:p>
          <a:p>
            <a:pPr>
              <a:lnSpc>
                <a:spcPct val="150000"/>
              </a:lnSpc>
              <a:spcBef>
                <a:spcPts val="10"/>
              </a:spcBef>
              <a:buChar char="•"/>
            </a:pPr>
            <a:r>
              <a:rPr lang="en-US" sz="1250" noProof="1">
                <a:solidFill>
                  <a:srgbClr val="23272E"/>
                </a:solidFill>
                <a:latin typeface="Quattrocento Sans"/>
                <a:ea typeface="Quattrocento Sans"/>
              </a:rPr>
              <a:t>Walmart+ followed Prime with 15 years of logistics learning</a:t>
            </a:r>
            <a:endParaRPr lang="en-US" sz="1250" noProof="1"/>
          </a:p>
          <a:p>
            <a:pPr>
              <a:lnSpc>
                <a:spcPct val="150000"/>
              </a:lnSpc>
              <a:spcBef>
                <a:spcPts val="10"/>
              </a:spcBef>
              <a:buChar char="•"/>
            </a:pPr>
            <a:r>
              <a:rPr lang="en-US" sz="1250" noProof="1">
                <a:solidFill>
                  <a:srgbClr val="23272E"/>
                </a:solidFill>
                <a:latin typeface="Quattrocento Sans"/>
                <a:ea typeface="Quattrocento Sans"/>
              </a:rPr>
              <a:t>Flipkart (2007, 12+ years after Amazon) became India's #1 marketplace via cash-on-delivery and vernacular localisation</a:t>
            </a:r>
            <a:endParaRPr lang="en-US" sz="1250" noProof="1"/>
          </a:p>
        </p:txBody>
      </p:sp>
      <p:sp>
        <p:nvSpPr>
          <p:cNvPr id="9" name="criteria-rule"/>
          <p:cNvSpPr/>
          <p:nvPr/>
        </p:nvSpPr>
        <p:spPr>
          <a:xfrm>
            <a:off x="711200" y="4368800"/>
            <a:ext cx="10769600" cy="12700"/>
          </a:xfrm>
          <a:prstGeom prst="rect">
            <a:avLst/>
          </a:prstGeom>
          <a:solidFill>
            <a:srgbClr val="D9D2C4"/>
          </a:solidFill>
          <a:ln>
            <a:noFill/>
          </a:ln>
        </p:spPr>
      </p:sp>
      <p:sp>
        <p:nvSpPr>
          <p:cNvPr id="10" name="criteria-head"/>
          <p:cNvSpPr txBox="1"/>
          <p:nvPr/>
        </p:nvSpPr>
        <p:spPr>
          <a:xfrm>
            <a:off x="711200" y="4546600"/>
            <a:ext cx="107696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The judgement criteria — ask two questions</a:t>
            </a:r>
            <a:endParaRPr lang="en-US" sz="1300" noProof="1"/>
          </a:p>
        </p:txBody>
      </p:sp>
      <p:sp>
        <p:nvSpPr>
          <p:cNvPr id="11" name="criteria-body"/>
          <p:cNvSpPr txBox="1"/>
          <p:nvPr/>
        </p:nvSpPr>
        <p:spPr>
          <a:xfrm>
            <a:off x="711200" y="4851400"/>
            <a:ext cx="10769600" cy="8890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① Are network effects or data lock-in strong?</a:t>
            </a:r>
            <a:r>
              <a:rPr lang="en-US" sz="1300" noProof="1">
                <a:solidFill>
                  <a:srgbClr val="23272E"/>
                </a:solidFill>
                <a:latin typeface="Quattrocento Sans"/>
                <a:ea typeface="Quattrocento Sans"/>
              </a:rPr>
              <a:t> Then being first compounds — move early. </a:t>
            </a:r>
            <a:r>
              <a:rPr lang="en-US" sz="1300" noProof="1" b="1">
                <a:solidFill>
                  <a:srgbClr val="23272E"/>
                </a:solidFill>
                <a:latin typeface="Quattrocento Sans"/>
                <a:ea typeface="Quattrocento Sans"/>
              </a:rPr>
              <a:t>② Was the pioneer's main cost educating the market, and are switching costs low?</a:t>
            </a:r>
            <a:r>
              <a:rPr lang="en-US" sz="1300" noProof="1">
                <a:solidFill>
                  <a:srgbClr val="23272E"/>
                </a:solidFill>
                <a:latin typeface="Quattrocento Sans"/>
                <a:ea typeface="Quattrocento Sans"/>
              </a:rPr>
              <a:t> Then the follower inherits the demand the pioneer paid to create. Counter-examples to remember: eBay lost China to Taobao; MySpace preceded Facebook — being first is not a moat by itself.</a:t>
            </a:r>
            <a:endParaRPr lang="en-US" sz="1300" noProof="1"/>
          </a:p>
        </p:txBody>
      </p:sp>
      <p:sp>
        <p:nvSpPr>
          <p:cNvPr id="12"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strategy synthesis per research brief §1.6; </a:t>
            </a:r>
            <a:r>
              <a:rPr lang="en-US" sz="1000" noProof="1" u="sng">
                <a:solidFill>
                  <a:srgbClr val="0563C1"/>
                </a:solidFill>
                <a:latin typeface="Quattrocento Sans"/>
                <a:ea typeface="Quattrocento Sans"/>
                <a:hlinkClick r:id="rId2"/>
              </a:rPr>
              <a:t>Statista via SellersCommerce, 2025</a:t>
            </a:r>
            <a:r>
              <a:rPr lang="en-US" sz="1000" noProof="1">
                <a:solidFill>
                  <a:srgbClr val="9A9284"/>
                </a:solidFill>
                <a:latin typeface="Quattrocento Sans"/>
                <a:ea typeface="Quattrocento Sans"/>
              </a:rPr>
              <a:t> (Amazon share); misconceptions per brief §1.12.</a:t>
            </a:r>
            <a:endParaRPr lang="en-US" sz="10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30</a:t>
            </a:r>
            <a:endParaRPr lang="en-US" sz="950" noProof="1"/>
          </a:p>
        </p:txBody>
      </p:sp>
    </p:spTree>
  </p:cSld>
  <p:clrMapOvr>
    <a:masterClrMapping/>
  </p:clrMapOvr>
</p:sld>
</file>

<file path=ppt/slides/slide3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STRATEGY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Channel-mix planning: five steps, in this order — hype last</a:t>
            </a:r>
            <a:endParaRPr lang="en-US" sz="2600" noProof="1"/>
          </a:p>
        </p:txBody>
      </p:sp>
      <p:sp>
        <p:nvSpPr>
          <p:cNvPr id="4" name="s1-num"/>
          <p:cNvSpPr txBox="1"/>
          <p:nvPr/>
        </p:nvSpPr>
        <p:spPr>
          <a:xfrm>
            <a:off x="711200" y="1447800"/>
            <a:ext cx="558800" cy="4064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01</a:t>
            </a:r>
            <a:endParaRPr lang="en-US" sz="2400" noProof="1"/>
          </a:p>
        </p:txBody>
      </p:sp>
      <p:sp>
        <p:nvSpPr>
          <p:cNvPr id="5" name="s1-body"/>
          <p:cNvSpPr txBox="1"/>
          <p:nvPr/>
        </p:nvSpPr>
        <p:spPr>
          <a:xfrm>
            <a:off x="1422400" y="1447800"/>
            <a:ext cx="100584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Audit.</a:t>
            </a:r>
            <a:r>
              <a:rPr lang="en-US" sz="1250" noProof="1">
                <a:solidFill>
                  <a:srgbClr val="23272E"/>
                </a:solidFill>
                <a:latin typeface="Quattrocento Sans"/>
                <a:ea typeface="Quattrocento Sans"/>
              </a:rPr>
              <a:t> Measure current revenue </a:t>
            </a:r>
            <a:r>
              <a:rPr lang="en-US" sz="1250" noProof="1" i="1">
                <a:solidFill>
                  <a:srgbClr val="23272E"/>
                </a:solidFill>
                <a:latin typeface="Quattrocento Sans"/>
                <a:ea typeface="Quattrocento Sans"/>
              </a:rPr>
              <a:t>and margin</a:t>
            </a:r>
            <a:r>
              <a:rPr lang="en-US" sz="1250" noProof="1">
                <a:solidFill>
                  <a:srgbClr val="23272E"/>
                </a:solidFill>
                <a:latin typeface="Quattrocento Sans"/>
                <a:ea typeface="Quattrocento Sans"/>
              </a:rPr>
              <a:t> by channel — including the marketplace vs D2C split. You cannot sequence what you haven't separated.</a:t>
            </a:r>
            <a:endParaRPr lang="en-US" sz="1250" noProof="1"/>
          </a:p>
        </p:txBody>
      </p:sp>
      <p:sp>
        <p:nvSpPr>
          <p:cNvPr id="6" name="s1-rule"/>
          <p:cNvSpPr/>
          <p:nvPr/>
        </p:nvSpPr>
        <p:spPr>
          <a:xfrm>
            <a:off x="1422400" y="2260600"/>
            <a:ext cx="10058400" cy="12700"/>
          </a:xfrm>
          <a:prstGeom prst="rect">
            <a:avLst/>
          </a:prstGeom>
          <a:solidFill>
            <a:srgbClr val="D9D2C4"/>
          </a:solidFill>
          <a:ln>
            <a:noFill/>
          </a:ln>
        </p:spPr>
      </p:sp>
      <p:sp>
        <p:nvSpPr>
          <p:cNvPr id="7" name="s2-num"/>
          <p:cNvSpPr txBox="1"/>
          <p:nvPr/>
        </p:nvSpPr>
        <p:spPr>
          <a:xfrm>
            <a:off x="711200" y="2413000"/>
            <a:ext cx="558800" cy="4064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02</a:t>
            </a:r>
            <a:endParaRPr lang="en-US" sz="2400" noProof="1"/>
          </a:p>
        </p:txBody>
      </p:sp>
      <p:sp>
        <p:nvSpPr>
          <p:cNvPr id="8" name="s2-body"/>
          <p:cNvSpPr txBox="1"/>
          <p:nvPr/>
        </p:nvSpPr>
        <p:spPr>
          <a:xfrm>
            <a:off x="1422400" y="2413000"/>
            <a:ext cx="100584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Match.</a:t>
            </a:r>
            <a:r>
              <a:rPr lang="en-US" sz="1250" noProof="1">
                <a:solidFill>
                  <a:srgbClr val="23272E"/>
                </a:solidFill>
                <a:latin typeface="Quattrocento Sans"/>
                <a:ea typeface="Quattrocento Sans"/>
              </a:rPr>
              <a:t> Map interfaces to customer jobs-to-be-done: replenishment → voice/app subscription; discovery → social; consideration → web; high-touch → store.</a:t>
            </a:r>
            <a:endParaRPr lang="en-US" sz="1250" noProof="1"/>
          </a:p>
        </p:txBody>
      </p:sp>
      <p:sp>
        <p:nvSpPr>
          <p:cNvPr id="9" name="s2-rule"/>
          <p:cNvSpPr/>
          <p:nvPr/>
        </p:nvSpPr>
        <p:spPr>
          <a:xfrm>
            <a:off x="1422400" y="3225800"/>
            <a:ext cx="10058400" cy="12700"/>
          </a:xfrm>
          <a:prstGeom prst="rect">
            <a:avLst/>
          </a:prstGeom>
          <a:solidFill>
            <a:srgbClr val="D9D2C4"/>
          </a:solidFill>
          <a:ln>
            <a:noFill/>
          </a:ln>
        </p:spPr>
      </p:sp>
      <p:sp>
        <p:nvSpPr>
          <p:cNvPr id="10" name="s3-num"/>
          <p:cNvSpPr txBox="1"/>
          <p:nvPr/>
        </p:nvSpPr>
        <p:spPr>
          <a:xfrm>
            <a:off x="711200" y="3378200"/>
            <a:ext cx="558800" cy="4064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03</a:t>
            </a:r>
            <a:endParaRPr lang="en-US" sz="2400" noProof="1"/>
          </a:p>
        </p:txBody>
      </p:sp>
      <p:sp>
        <p:nvSpPr>
          <p:cNvPr id="11" name="s3-body"/>
          <p:cNvSpPr txBox="1"/>
          <p:nvPr/>
        </p:nvSpPr>
        <p:spPr>
          <a:xfrm>
            <a:off x="1422400" y="3378200"/>
            <a:ext cx="100584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Sequence.</a:t>
            </a:r>
            <a:r>
              <a:rPr lang="en-US" sz="1250" noProof="1">
                <a:solidFill>
                  <a:srgbClr val="23272E"/>
                </a:solidFill>
                <a:latin typeface="Quattrocento Sans"/>
                <a:ea typeface="Quattrocento Sans"/>
              </a:rPr>
              <a:t> Invest by constraint removal, not by hype. Example: fix mobile checkout before launching live shopping — mobile cart abandonment runs near 80%.</a:t>
            </a:r>
            <a:endParaRPr lang="en-US" sz="1250" noProof="1"/>
          </a:p>
        </p:txBody>
      </p:sp>
      <p:sp>
        <p:nvSpPr>
          <p:cNvPr id="12" name="s3-rule"/>
          <p:cNvSpPr/>
          <p:nvPr/>
        </p:nvSpPr>
        <p:spPr>
          <a:xfrm>
            <a:off x="1422400" y="4191000"/>
            <a:ext cx="10058400" cy="12700"/>
          </a:xfrm>
          <a:prstGeom prst="rect">
            <a:avLst/>
          </a:prstGeom>
          <a:solidFill>
            <a:srgbClr val="D9D2C4"/>
          </a:solidFill>
          <a:ln>
            <a:noFill/>
          </a:ln>
        </p:spPr>
      </p:sp>
      <p:sp>
        <p:nvSpPr>
          <p:cNvPr id="13" name="s4-num"/>
          <p:cNvSpPr txBox="1"/>
          <p:nvPr/>
        </p:nvSpPr>
        <p:spPr>
          <a:xfrm>
            <a:off x="711200" y="4343400"/>
            <a:ext cx="558800" cy="4064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04</a:t>
            </a:r>
            <a:endParaRPr lang="en-US" sz="2400" noProof="1"/>
          </a:p>
        </p:txBody>
      </p:sp>
      <p:sp>
        <p:nvSpPr>
          <p:cNvPr id="14" name="s4-body"/>
          <p:cNvSpPr txBox="1"/>
          <p:nvPr/>
        </p:nvSpPr>
        <p:spPr>
          <a:xfrm>
            <a:off x="1422400" y="4343400"/>
            <a:ext cx="100584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Instrument.</a:t>
            </a:r>
            <a:r>
              <a:rPr lang="en-US" sz="1250" noProof="1">
                <a:solidFill>
                  <a:srgbClr val="23272E"/>
                </a:solidFill>
                <a:latin typeface="Quattrocento Sans"/>
                <a:ea typeface="Quattrocento Sans"/>
              </a:rPr>
              <a:t> Give every channel its own unit economics — CAC, average order value, contribution margin, repeat rate — so channels are compared honestly.</a:t>
            </a:r>
            <a:endParaRPr lang="en-US" sz="1250" noProof="1"/>
          </a:p>
        </p:txBody>
      </p:sp>
      <p:sp>
        <p:nvSpPr>
          <p:cNvPr id="15" name="s4-rule"/>
          <p:cNvSpPr/>
          <p:nvPr/>
        </p:nvSpPr>
        <p:spPr>
          <a:xfrm>
            <a:off x="1422400" y="5156200"/>
            <a:ext cx="10058400" cy="12700"/>
          </a:xfrm>
          <a:prstGeom prst="rect">
            <a:avLst/>
          </a:prstGeom>
          <a:solidFill>
            <a:srgbClr val="D9D2C4"/>
          </a:solidFill>
          <a:ln>
            <a:noFill/>
          </a:ln>
        </p:spPr>
      </p:sp>
      <p:sp>
        <p:nvSpPr>
          <p:cNvPr id="16" name="s5-num"/>
          <p:cNvSpPr txBox="1"/>
          <p:nvPr/>
        </p:nvSpPr>
        <p:spPr>
          <a:xfrm>
            <a:off x="711200" y="5308600"/>
            <a:ext cx="558800" cy="4064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05</a:t>
            </a:r>
            <a:endParaRPr lang="en-US" sz="2400" noProof="1"/>
          </a:p>
        </p:txBody>
      </p:sp>
      <p:sp>
        <p:nvSpPr>
          <p:cNvPr id="17" name="s5-body"/>
          <p:cNvSpPr txBox="1"/>
          <p:nvPr/>
        </p:nvSpPr>
        <p:spPr>
          <a:xfrm>
            <a:off x="1422400" y="5308600"/>
            <a:ext cx="100584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Review annually.</a:t>
            </a:r>
            <a:r>
              <a:rPr lang="en-US" sz="1250" noProof="1">
                <a:solidFill>
                  <a:srgbClr val="23272E"/>
                </a:solidFill>
                <a:latin typeface="Quattrocento Sans"/>
                <a:ea typeface="Quattrocento Sans"/>
              </a:rPr>
              <a:t> Channels decay (organic reach) and channels emerge (AI agents). Plan for migration across the continuum, not permanence in any era.</a:t>
            </a:r>
            <a:endParaRPr lang="en-US" sz="1250" noProof="1"/>
          </a:p>
        </p:txBody>
      </p:sp>
      <p:sp>
        <p:nvSpPr>
          <p:cNvPr id="18" name="src-line"/>
          <p:cNvSpPr txBox="1"/>
          <p:nvPr/>
        </p:nvSpPr>
        <p:spPr>
          <a:xfrm>
            <a:off x="711200" y="6096000"/>
            <a:ext cx="10769600" cy="203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 method per research brief §1.6; abandonment figure: </a:t>
            </a:r>
            <a:r>
              <a:rPr lang="en-US" sz="1000" noProof="1" u="sng">
                <a:solidFill>
                  <a:srgbClr val="0563C1"/>
                </a:solidFill>
                <a:latin typeface="Quattrocento Sans"/>
                <a:ea typeface="Quattrocento Sans"/>
                <a:hlinkClick r:id="rId2"/>
              </a:rPr>
              <a:t>Baymard Institute, 2025</a:t>
            </a:r>
            <a:r>
              <a:rPr lang="en-US" sz="1000" noProof="1">
                <a:solidFill>
                  <a:srgbClr val="9A9284"/>
                </a:solidFill>
                <a:latin typeface="Quattrocento Sans"/>
                <a:ea typeface="Quattrocento Sans"/>
              </a:rPr>
              <a:t>.</a:t>
            </a:r>
            <a:endParaRPr lang="en-US" sz="1000" noProof="1"/>
          </a:p>
        </p:txBody>
      </p:sp>
      <p:sp>
        <p:nvSpPr>
          <p:cNvPr id="19" name="foot-rule"/>
          <p:cNvSpPr/>
          <p:nvPr/>
        </p:nvSpPr>
        <p:spPr>
          <a:xfrm>
            <a:off x="711200" y="6451600"/>
            <a:ext cx="10769600" cy="12700"/>
          </a:xfrm>
          <a:prstGeom prst="rect">
            <a:avLst/>
          </a:prstGeom>
          <a:solidFill>
            <a:srgbClr val="D9D2C4"/>
          </a:solidFill>
          <a:ln>
            <a:noFill/>
          </a:ln>
        </p:spPr>
      </p:sp>
      <p:sp>
        <p:nvSpPr>
          <p:cNvPr id="20"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21"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22"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31</a:t>
            </a:r>
            <a:endParaRPr lang="en-US" sz="950" noProof="1"/>
          </a:p>
        </p:txBody>
      </p:sp>
    </p:spTree>
  </p:cSld>
  <p:clrMapOvr>
    <a:masterClrMapping/>
  </p:clrMapOvr>
</p:sld>
</file>

<file path=ppt/slides/slide3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TECHNOLOGY · CLOUD COMMERCE PLATFORMS</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Shopify vs WooCommerce: store count and value tell opposite stories</a:t>
            </a:r>
            <a:endParaRPr lang="en-US" sz="2600" noProof="1"/>
          </a:p>
        </p:txBody>
      </p:sp>
      <p:sp>
        <p:nvSpPr>
          <p:cNvPr id="4" name="shop-head"/>
          <p:cNvSpPr txBox="1"/>
          <p:nvPr/>
        </p:nvSpPr>
        <p:spPr>
          <a:xfrm>
            <a:off x="711200" y="1422400"/>
            <a:ext cx="5080000" cy="304800"/>
          </a:xfrm>
          <a:prstGeom prst="rect">
            <a:avLst/>
          </a:prstGeom>
          <a:noFill/>
          <a:ln>
            <a:noFill/>
          </a:ln>
        </p:spPr>
        <p:txBody>
          <a:bodyPr lIns="0" rIns="0" tIns="0" bIns="0" wrap="square" rtlCol="0"/>
          <a:lstStyle/>
          <a:p>
            <a:pPr>
              <a:lnSpc>
                <a:spcPct val="120000"/>
              </a:lnSpc>
            </a:pPr>
            <a:r>
              <a:rPr lang="en-US" sz="1900" noProof="1">
                <a:solidFill>
                  <a:srgbClr val="175E54"/>
                </a:solidFill>
                <a:latin typeface="Unna"/>
                <a:ea typeface="Unna"/>
              </a:rPr>
              <a:t>Shopify — commerce as SaaS</a:t>
            </a:r>
            <a:endParaRPr lang="en-US" sz="1900" noProof="1"/>
          </a:p>
        </p:txBody>
      </p:sp>
      <p:sp>
        <p:nvSpPr>
          <p:cNvPr id="5" name="shop-body"/>
          <p:cNvSpPr txBox="1"/>
          <p:nvPr/>
        </p:nvSpPr>
        <p:spPr>
          <a:xfrm>
            <a:off x="711200" y="1803400"/>
            <a:ext cx="5080000" cy="2413000"/>
          </a:xfrm>
          <a:prstGeom prst="rect">
            <a:avLst/>
          </a:prstGeom>
          <a:noFill/>
          <a:ln>
            <a:noFill/>
          </a:ln>
        </p:spPr>
        <p:txBody>
          <a:bodyPr lIns="0" rIns="0" tIns="0" bIns="0" wrap="square" rtlCol="0"/>
          <a:lstStyle/>
          <a:p>
            <a:pPr>
              <a:lnSpc>
                <a:spcPct val="150000"/>
              </a:lnSpc>
              <a:spcBef>
                <a:spcPts val="10"/>
              </a:spcBef>
              <a:buChar char="•"/>
            </a:pPr>
            <a:r>
              <a:rPr lang="en-US" sz="1250" noProof="1">
                <a:solidFill>
                  <a:srgbClr val="23272E"/>
                </a:solidFill>
                <a:latin typeface="Quattrocento Sans"/>
                <a:ea typeface="Quattrocento Sans"/>
              </a:rPr>
              <a:t>Founded 2006; a full commerce operating system any merchant can rent</a:t>
            </a:r>
            <a:endParaRPr lang="en-US" sz="1250" noProof="1"/>
          </a:p>
          <a:p>
            <a:pPr>
              <a:lnSpc>
                <a:spcPct val="150000"/>
              </a:lnSpc>
              <a:spcBef>
                <a:spcPts val="10"/>
              </a:spcBef>
              <a:buChar char="•"/>
            </a:pPr>
            <a:r>
              <a:rPr lang="en-US" sz="1250" noProof="1">
                <a:solidFill>
                  <a:srgbClr val="23272E"/>
                </a:solidFill>
                <a:latin typeface="Quattrocento Sans"/>
                <a:ea typeface="Quattrocento Sans"/>
              </a:rPr>
              <a:t>~26% platform share by store count (4.6–6.5M active stores); leads high-traffic sites (~28.8% of top-1M e-commerce sites)</a:t>
            </a:r>
            <a:endParaRPr lang="en-US" sz="1250" noProof="1"/>
          </a:p>
          <a:p>
            <a:pPr>
              <a:lnSpc>
                <a:spcPct val="150000"/>
              </a:lnSpc>
              <a:spcBef>
                <a:spcPts val="10"/>
              </a:spcBef>
              <a:buChar char="•"/>
            </a:pPr>
            <a:r>
              <a:rPr lang="en-US" sz="1250" noProof="1">
                <a:solidFill>
                  <a:srgbClr val="23272E"/>
                </a:solidFill>
                <a:latin typeface="Quattrocento Sans"/>
                <a:ea typeface="Quattrocento Sans"/>
              </a:rPr>
              <a:t>GMV: </a:t>
            </a:r>
            <a:r>
              <a:rPr lang="en-US" sz="1250" noProof="1" b="1">
                <a:solidFill>
                  <a:srgbClr val="23272E"/>
                </a:solidFill>
                <a:latin typeface="Quattrocento Sans"/>
                <a:ea typeface="Quattrocento Sans"/>
              </a:rPr>
              <a:t>$292B (2024) → ~$378B (2025)</a:t>
            </a:r>
            <a:r>
              <a:rPr lang="en-US" sz="1250" noProof="1">
                <a:solidFill>
                  <a:srgbClr val="23272E"/>
                </a:solidFill>
                <a:latin typeface="Quattrocento Sans"/>
                <a:ea typeface="Quattrocento Sans"/>
              </a:rPr>
              <a:t>; revenue $8.88B in 2024 (+26%)</a:t>
            </a:r>
            <a:endParaRPr lang="en-US" sz="1250" noProof="1"/>
          </a:p>
        </p:txBody>
      </p:sp>
      <p:sp>
        <p:nvSpPr>
          <p:cNvPr id="6" name="woo-head"/>
          <p:cNvSpPr txBox="1"/>
          <p:nvPr/>
        </p:nvSpPr>
        <p:spPr>
          <a:xfrm>
            <a:off x="6400800" y="1422400"/>
            <a:ext cx="5080000" cy="304800"/>
          </a:xfrm>
          <a:prstGeom prst="rect">
            <a:avLst/>
          </a:prstGeom>
          <a:noFill/>
          <a:ln>
            <a:noFill/>
          </a:ln>
        </p:spPr>
        <p:txBody>
          <a:bodyPr lIns="0" rIns="0" tIns="0" bIns="0" wrap="square" rtlCol="0"/>
          <a:lstStyle/>
          <a:p>
            <a:pPr>
              <a:lnSpc>
                <a:spcPct val="120000"/>
              </a:lnSpc>
            </a:pPr>
            <a:r>
              <a:rPr lang="en-US" sz="1900" noProof="1">
                <a:solidFill>
                  <a:srgbClr val="175E54"/>
                </a:solidFill>
                <a:latin typeface="Unna"/>
                <a:ea typeface="Unna"/>
              </a:rPr>
              <a:t>WooCommerce — commerce as open source</a:t>
            </a:r>
            <a:endParaRPr lang="en-US" sz="1900" noProof="1"/>
          </a:p>
        </p:txBody>
      </p:sp>
      <p:sp>
        <p:nvSpPr>
          <p:cNvPr id="7" name="woo-body"/>
          <p:cNvSpPr txBox="1"/>
          <p:nvPr/>
        </p:nvSpPr>
        <p:spPr>
          <a:xfrm>
            <a:off x="6400800" y="1803400"/>
            <a:ext cx="5080000" cy="2413000"/>
          </a:xfrm>
          <a:prstGeom prst="rect">
            <a:avLst/>
          </a:prstGeom>
          <a:noFill/>
          <a:ln>
            <a:noFill/>
          </a:ln>
        </p:spPr>
        <p:txBody>
          <a:bodyPr lIns="0" rIns="0" tIns="0" bIns="0" wrap="square" rtlCol="0"/>
          <a:lstStyle/>
          <a:p>
            <a:pPr>
              <a:lnSpc>
                <a:spcPct val="150000"/>
              </a:lnSpc>
              <a:spcBef>
                <a:spcPts val="10"/>
              </a:spcBef>
              <a:buChar char="•"/>
            </a:pPr>
            <a:r>
              <a:rPr lang="en-US" sz="1250" noProof="1">
                <a:solidFill>
                  <a:srgbClr val="23272E"/>
                </a:solidFill>
                <a:latin typeface="Quattrocento Sans"/>
                <a:ea typeface="Quattrocento Sans"/>
              </a:rPr>
              <a:t>Open-source WordPress plugin; most stores by count: ~4.2–4.5M active stores, ~33% store-count share</a:t>
            </a:r>
            <a:endParaRPr lang="en-US" sz="1250" noProof="1"/>
          </a:p>
          <a:p>
            <a:pPr>
              <a:lnSpc>
                <a:spcPct val="150000"/>
              </a:lnSpc>
              <a:spcBef>
                <a:spcPts val="10"/>
              </a:spcBef>
              <a:buChar char="•"/>
            </a:pPr>
            <a:r>
              <a:rPr lang="en-US" sz="1250" noProof="1">
                <a:solidFill>
                  <a:srgbClr val="23272E"/>
                </a:solidFill>
                <a:latin typeface="Quattrocento Sans"/>
                <a:ea typeface="Quattrocento Sans"/>
              </a:rPr>
              <a:t>But far smaller GMV: ~$30–35B (est.) — long tail of small, content-led sites</a:t>
            </a:r>
            <a:endParaRPr lang="en-US" sz="1250" noProof="1"/>
          </a:p>
          <a:p>
            <a:pPr>
              <a:lnSpc>
                <a:spcPct val="150000"/>
              </a:lnSpc>
              <a:spcBef>
                <a:spcPts val="10"/>
              </a:spcBef>
              <a:buChar char="•"/>
            </a:pPr>
            <a:r>
              <a:rPr lang="en-US" sz="1250" noProof="1">
                <a:solidFill>
                  <a:srgbClr val="23272E"/>
                </a:solidFill>
                <a:latin typeface="Quattrocento Sans"/>
                <a:ea typeface="Quattrocento Sans"/>
              </a:rPr>
              <a:t>Favoured where content + commerce merge and data ownership matters</a:t>
            </a:r>
            <a:endParaRPr lang="en-US" sz="1250" noProof="1"/>
          </a:p>
        </p:txBody>
      </p:sp>
      <p:sp>
        <p:nvSpPr>
          <p:cNvPr id="8" name="rule-h"/>
          <p:cNvSpPr/>
          <p:nvPr/>
        </p:nvSpPr>
        <p:spPr>
          <a:xfrm>
            <a:off x="711200" y="4368800"/>
            <a:ext cx="10769600" cy="12700"/>
          </a:xfrm>
          <a:prstGeom prst="rect">
            <a:avLst/>
          </a:prstGeom>
          <a:solidFill>
            <a:srgbClr val="D9D2C4"/>
          </a:solidFill>
          <a:ln>
            <a:noFill/>
          </a:ln>
        </p:spPr>
      </p:sp>
      <p:sp>
        <p:nvSpPr>
          <p:cNvPr id="9" name="lesson-head"/>
          <p:cNvSpPr txBox="1"/>
          <p:nvPr/>
        </p:nvSpPr>
        <p:spPr>
          <a:xfrm>
            <a:off x="711200" y="4546600"/>
            <a:ext cx="107696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The judgement criterion — count stores or count money?</a:t>
            </a:r>
            <a:endParaRPr lang="en-US" sz="1300" noProof="1"/>
          </a:p>
        </p:txBody>
      </p:sp>
      <p:sp>
        <p:nvSpPr>
          <p:cNvPr id="10" name="lesson-body"/>
          <p:cNvSpPr txBox="1"/>
          <p:nvPr/>
        </p:nvSpPr>
        <p:spPr>
          <a:xfrm>
            <a:off x="711200" y="4851400"/>
            <a:ext cx="10769600" cy="812800"/>
          </a:xfrm>
          <a:prstGeom prst="rect">
            <a:avLst/>
          </a:prstGeom>
          <a:noFill/>
          <a:ln>
            <a:noFill/>
          </a:ln>
        </p:spPr>
        <p:txBody>
          <a:bodyPr lIns="0" rIns="0" tIns="0" bIns="0" wrap="square" rtlCol="0"/>
          <a:lstStyle/>
          <a:p>
            <a:pPr>
              <a:lnSpc>
                <a:spcPct val="145000"/>
              </a:lnSpc>
            </a:pPr>
            <a:r>
              <a:rPr lang="en-US" sz="1300" noProof="1">
                <a:solidFill>
                  <a:srgbClr val="23272E"/>
                </a:solidFill>
                <a:latin typeface="Quattrocento Sans"/>
                <a:ea typeface="Quattrocento Sans"/>
              </a:rPr>
              <a:t>WooCommerce wins on store count (~33% vs ~26%); Shopify wins on value by an order of magnitude (~$378B vs ~$35B GMV). When you evaluate any platform claim in this course, ask which metric the vendor chose — and who it flatters. This is the era-2 infrastructure story: SaaS (Shopify, 2006) and open source democratised what Amazon built for itself.</a:t>
            </a:r>
            <a:endParaRPr lang="en-US" sz="1300" noProof="1"/>
          </a:p>
        </p:txBody>
      </p:sp>
      <p:sp>
        <p:nvSpPr>
          <p:cNvPr id="11"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StoreLeads / BuiltWith / Shopify earnings via Mobiloud, 2025–2026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3"/>
              </a:rPr>
              <a:t>StoreLeads / W3Techs via HostingGuider, 2026</a:t>
            </a:r>
            <a:r>
              <a:rPr lang="en-US" sz="1000" noProof="1">
                <a:solidFill>
                  <a:srgbClr val="9A9284"/>
                </a:solidFill>
                <a:latin typeface="Quattrocento Sans"/>
                <a:ea typeface="Quattrocento Sans"/>
              </a:rPr>
              <a:t>.</a:t>
            </a:r>
            <a:endParaRPr lang="en-US" sz="1000" noProof="1"/>
          </a:p>
        </p:txBody>
      </p:sp>
      <p:sp>
        <p:nvSpPr>
          <p:cNvPr id="12" name="foot-rule"/>
          <p:cNvSpPr/>
          <p:nvPr/>
        </p:nvSpPr>
        <p:spPr>
          <a:xfrm>
            <a:off x="711200" y="6451600"/>
            <a:ext cx="10769600" cy="12700"/>
          </a:xfrm>
          <a:prstGeom prst="rect">
            <a:avLst/>
          </a:prstGeom>
          <a:solidFill>
            <a:srgbClr val="D9D2C4"/>
          </a:solidFill>
          <a:ln>
            <a:noFill/>
          </a:ln>
        </p:spPr>
      </p:sp>
      <p:sp>
        <p:nvSpPr>
          <p:cNvPr id="13"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4"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5"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32</a:t>
            </a:r>
            <a:endParaRPr lang="en-US" sz="950" noProof="1"/>
          </a:p>
        </p:txBody>
      </p:sp>
    </p:spTree>
  </p:cSld>
  <p:clrMapOvr>
    <a:masterClrMapping/>
  </p:clrMapOvr>
</p:sld>
</file>

<file path=ppt/slides/slide3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TECHNOLOGY · ARCHITECTURE</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Headless commerce: one engine, many heads — agents included</a:t>
            </a:r>
            <a:endParaRPr lang="en-US" sz="2600" noProof="1"/>
          </a:p>
        </p:txBody>
      </p:sp>
      <p:sp>
        <p:nvSpPr>
          <p:cNvPr id="4" name="head1"/>
          <p:cNvSpPr/>
          <p:nvPr/>
        </p:nvSpPr>
        <p:spPr>
          <a:xfrm>
            <a:off x="711200" y="1524000"/>
            <a:ext cx="2159000" cy="533400"/>
          </a:xfrm>
          <a:prstGeom prst="rect">
            <a:avLst/>
          </a:prstGeom>
          <a:solidFill>
            <a:srgbClr val="E2ECE8"/>
          </a:solidFill>
          <a:ln w="12700">
            <a:solidFill>
              <a:srgbClr val="D9D2C4"/>
            </a:solidFill>
          </a:ln>
        </p:spPr>
      </p:sp>
      <p:sp>
        <p:nvSpPr>
          <p:cNvPr id="5" name="head1-text"/>
          <p:cNvSpPr txBox="1"/>
          <p:nvPr/>
        </p:nvSpPr>
        <p:spPr>
          <a:xfrm>
            <a:off x="711200" y="1524000"/>
            <a:ext cx="2159000" cy="533400"/>
          </a:xfrm>
          <a:prstGeom prst="rect">
            <a:avLst/>
          </a:prstGeom>
          <a:noFill/>
          <a:ln>
            <a:noFill/>
          </a:ln>
        </p:spPr>
        <p:txBody>
          <a:bodyPr lIns="0" rIns="0" tIns="0" bIns="0" wrap="square" rtlCol="0" anchor="ctr"/>
          <a:lstStyle/>
          <a:p>
            <a:pPr algn="ctr">
              <a:lnSpc>
                <a:spcPct val="120000"/>
              </a:lnSpc>
            </a:pPr>
            <a:r>
              <a:rPr lang="en-US" sz="1200" noProof="1">
                <a:solidFill>
                  <a:srgbClr val="23272E"/>
                </a:solidFill>
                <a:latin typeface="Quattrocento Sans"/>
                <a:ea typeface="Quattrocento Sans"/>
              </a:rPr>
              <a:t>Web storefront</a:t>
            </a:r>
            <a:endParaRPr lang="en-US" sz="1200" noProof="1"/>
          </a:p>
        </p:txBody>
      </p:sp>
      <p:sp>
        <p:nvSpPr>
          <p:cNvPr id="6" name="head2"/>
          <p:cNvSpPr/>
          <p:nvPr/>
        </p:nvSpPr>
        <p:spPr>
          <a:xfrm>
            <a:off x="711200" y="2209800"/>
            <a:ext cx="2159000" cy="533400"/>
          </a:xfrm>
          <a:prstGeom prst="rect">
            <a:avLst/>
          </a:prstGeom>
          <a:solidFill>
            <a:srgbClr val="E2ECE8"/>
          </a:solidFill>
          <a:ln w="12700">
            <a:solidFill>
              <a:srgbClr val="D9D2C4"/>
            </a:solidFill>
          </a:ln>
        </p:spPr>
      </p:sp>
      <p:sp>
        <p:nvSpPr>
          <p:cNvPr id="7" name="head2-text"/>
          <p:cNvSpPr txBox="1"/>
          <p:nvPr/>
        </p:nvSpPr>
        <p:spPr>
          <a:xfrm>
            <a:off x="711200" y="2209800"/>
            <a:ext cx="2159000" cy="533400"/>
          </a:xfrm>
          <a:prstGeom prst="rect">
            <a:avLst/>
          </a:prstGeom>
          <a:noFill/>
          <a:ln>
            <a:noFill/>
          </a:ln>
        </p:spPr>
        <p:txBody>
          <a:bodyPr lIns="0" rIns="0" tIns="0" bIns="0" wrap="square" rtlCol="0" anchor="ctr"/>
          <a:lstStyle/>
          <a:p>
            <a:pPr algn="ctr">
              <a:lnSpc>
                <a:spcPct val="120000"/>
              </a:lnSpc>
            </a:pPr>
            <a:r>
              <a:rPr lang="en-US" sz="1200" noProof="1">
                <a:solidFill>
                  <a:srgbClr val="23272E"/>
                </a:solidFill>
                <a:latin typeface="Quattrocento Sans"/>
                <a:ea typeface="Quattrocento Sans"/>
              </a:rPr>
              <a:t>Mobile app</a:t>
            </a:r>
            <a:endParaRPr lang="en-US" sz="1200" noProof="1"/>
          </a:p>
        </p:txBody>
      </p:sp>
      <p:sp>
        <p:nvSpPr>
          <p:cNvPr id="8" name="head3"/>
          <p:cNvSpPr/>
          <p:nvPr/>
        </p:nvSpPr>
        <p:spPr>
          <a:xfrm>
            <a:off x="711200" y="2895600"/>
            <a:ext cx="2159000" cy="533400"/>
          </a:xfrm>
          <a:prstGeom prst="rect">
            <a:avLst/>
          </a:prstGeom>
          <a:solidFill>
            <a:srgbClr val="E2ECE8"/>
          </a:solidFill>
          <a:ln w="12700">
            <a:solidFill>
              <a:srgbClr val="D9D2C4"/>
            </a:solidFill>
          </a:ln>
        </p:spPr>
      </p:sp>
      <p:sp>
        <p:nvSpPr>
          <p:cNvPr id="9" name="head3-text"/>
          <p:cNvSpPr txBox="1"/>
          <p:nvPr/>
        </p:nvSpPr>
        <p:spPr>
          <a:xfrm>
            <a:off x="711200" y="2895600"/>
            <a:ext cx="2159000" cy="533400"/>
          </a:xfrm>
          <a:prstGeom prst="rect">
            <a:avLst/>
          </a:prstGeom>
          <a:noFill/>
          <a:ln>
            <a:noFill/>
          </a:ln>
        </p:spPr>
        <p:txBody>
          <a:bodyPr lIns="0" rIns="0" tIns="0" bIns="0" wrap="square" rtlCol="0" anchor="ctr"/>
          <a:lstStyle/>
          <a:p>
            <a:pPr algn="ctr">
              <a:lnSpc>
                <a:spcPct val="120000"/>
              </a:lnSpc>
            </a:pPr>
            <a:r>
              <a:rPr lang="en-US" sz="1200" noProof="1">
                <a:solidFill>
                  <a:srgbClr val="23272E"/>
                </a:solidFill>
                <a:latin typeface="Quattrocento Sans"/>
                <a:ea typeface="Quattrocento Sans"/>
              </a:rPr>
              <a:t>In-store kiosk</a:t>
            </a:r>
            <a:endParaRPr lang="en-US" sz="1200" noProof="1"/>
          </a:p>
        </p:txBody>
      </p:sp>
      <p:sp>
        <p:nvSpPr>
          <p:cNvPr id="10" name="head4"/>
          <p:cNvSpPr/>
          <p:nvPr/>
        </p:nvSpPr>
        <p:spPr>
          <a:xfrm>
            <a:off x="711200" y="3581400"/>
            <a:ext cx="2159000" cy="533400"/>
          </a:xfrm>
          <a:prstGeom prst="rect">
            <a:avLst/>
          </a:prstGeom>
          <a:solidFill>
            <a:srgbClr val="E2ECE8"/>
          </a:solidFill>
          <a:ln w="12700">
            <a:solidFill>
              <a:srgbClr val="D9D2C4"/>
            </a:solidFill>
          </a:ln>
        </p:spPr>
      </p:sp>
      <p:sp>
        <p:nvSpPr>
          <p:cNvPr id="11" name="head4-text"/>
          <p:cNvSpPr txBox="1"/>
          <p:nvPr/>
        </p:nvSpPr>
        <p:spPr>
          <a:xfrm>
            <a:off x="711200" y="3581400"/>
            <a:ext cx="2159000" cy="533400"/>
          </a:xfrm>
          <a:prstGeom prst="rect">
            <a:avLst/>
          </a:prstGeom>
          <a:noFill/>
          <a:ln>
            <a:noFill/>
          </a:ln>
        </p:spPr>
        <p:txBody>
          <a:bodyPr lIns="0" rIns="0" tIns="0" bIns="0" wrap="square" rtlCol="0" anchor="ctr"/>
          <a:lstStyle/>
          <a:p>
            <a:pPr algn="ctr">
              <a:lnSpc>
                <a:spcPct val="120000"/>
              </a:lnSpc>
            </a:pPr>
            <a:r>
              <a:rPr lang="en-US" sz="1200" noProof="1">
                <a:solidFill>
                  <a:srgbClr val="23272E"/>
                </a:solidFill>
                <a:latin typeface="Quattrocento Sans"/>
                <a:ea typeface="Quattrocento Sans"/>
              </a:rPr>
              <a:t>Voice assistant</a:t>
            </a:r>
            <a:endParaRPr lang="en-US" sz="1200" noProof="1"/>
          </a:p>
        </p:txBody>
      </p:sp>
      <p:sp>
        <p:nvSpPr>
          <p:cNvPr id="12" name="head5"/>
          <p:cNvSpPr/>
          <p:nvPr/>
        </p:nvSpPr>
        <p:spPr>
          <a:xfrm>
            <a:off x="711200" y="4267200"/>
            <a:ext cx="2159000" cy="533400"/>
          </a:xfrm>
          <a:prstGeom prst="rect">
            <a:avLst/>
          </a:prstGeom>
          <a:solidFill>
            <a:srgbClr val="F6E7DE"/>
          </a:solidFill>
          <a:ln w="12700">
            <a:solidFill>
              <a:srgbClr val="BC4B26"/>
            </a:solidFill>
          </a:ln>
        </p:spPr>
      </p:sp>
      <p:sp>
        <p:nvSpPr>
          <p:cNvPr id="13" name="head5-text"/>
          <p:cNvSpPr txBox="1"/>
          <p:nvPr/>
        </p:nvSpPr>
        <p:spPr>
          <a:xfrm>
            <a:off x="711200" y="4267200"/>
            <a:ext cx="2159000" cy="533400"/>
          </a:xfrm>
          <a:prstGeom prst="rect">
            <a:avLst/>
          </a:prstGeom>
          <a:noFill/>
          <a:ln>
            <a:noFill/>
          </a:ln>
        </p:spPr>
        <p:txBody>
          <a:bodyPr lIns="0" rIns="0" tIns="0" bIns="0" wrap="square" rtlCol="0" anchor="ctr"/>
          <a:lstStyle/>
          <a:p>
            <a:pPr algn="ctr">
              <a:lnSpc>
                <a:spcPct val="120000"/>
              </a:lnSpc>
            </a:pPr>
            <a:r>
              <a:rPr lang="en-US" sz="1200" noProof="1" b="1">
                <a:solidFill>
                  <a:srgbClr val="BC4B26"/>
                </a:solidFill>
                <a:latin typeface="Quattrocento Sans"/>
                <a:ea typeface="Quattrocento Sans"/>
              </a:rPr>
              <a:t>AI agent</a:t>
            </a:r>
            <a:endParaRPr lang="en-US" sz="1200" noProof="1"/>
          </a:p>
        </p:txBody>
      </p:sp>
      <p:sp>
        <p:nvSpPr>
          <p:cNvPr id="14" name="arr1"/>
          <p:cNvSpPr/>
          <p:nvPr>
            <p:extLst>
              <p:ext uri="{F5677B7D-0D2A-4D9B-9A5C-6D8D7D0E5A5D}">
                <pptd:line encoding="base64url">eyJ2aWV3Qm94IjpbNjAsOF0sInBvaW50cyI6IjAsNCA2MCw0In0</pptd:line>
              </p:ext>
            </p:extLst>
          </p:nvPr>
        </p:nvSpPr>
        <p:spPr>
          <a:xfrm>
            <a:off x="2870200" y="1739900"/>
            <a:ext cx="762000" cy="101600"/>
          </a:xfrm>
          <a:custGeom>
            <a:avLst/>
            <a:gdLst/>
            <a:ahLst/>
            <a:cxnLst/>
            <a:rect l="l" t="t" r="r" b="b"/>
            <a:pathLst>
              <a:path w="60" h="8">
                <a:moveTo>
                  <a:pt x="0" y="4"/>
                </a:moveTo>
                <a:lnTo>
                  <a:pt x="60" y="4"/>
                </a:lnTo>
              </a:path>
            </a:pathLst>
          </a:custGeom>
          <a:noFill/>
          <a:ln w="19050" cap="rnd">
            <a:solidFill>
              <a:srgbClr val="175E54"/>
            </a:solidFill>
            <a:round/>
            <a:tailEnd type="arrow"/>
          </a:ln>
        </p:spPr>
      </p:sp>
      <p:sp>
        <p:nvSpPr>
          <p:cNvPr id="15" name="arr2"/>
          <p:cNvSpPr/>
          <p:nvPr>
            <p:extLst>
              <p:ext uri="{F5677B7D-0D2A-4D9B-9A5C-6D8D7D0E5A5D}">
                <pptd:line encoding="base64url">eyJ2aWV3Qm94IjpbNjAsOF0sInBvaW50cyI6IjAsNCA2MCw0In0</pptd:line>
              </p:ext>
            </p:extLst>
          </p:nvPr>
        </p:nvSpPr>
        <p:spPr>
          <a:xfrm>
            <a:off x="2870200" y="2425700"/>
            <a:ext cx="762000" cy="101600"/>
          </a:xfrm>
          <a:custGeom>
            <a:avLst/>
            <a:gdLst/>
            <a:ahLst/>
            <a:cxnLst/>
            <a:rect l="l" t="t" r="r" b="b"/>
            <a:pathLst>
              <a:path w="60" h="8">
                <a:moveTo>
                  <a:pt x="0" y="4"/>
                </a:moveTo>
                <a:lnTo>
                  <a:pt x="60" y="4"/>
                </a:lnTo>
              </a:path>
            </a:pathLst>
          </a:custGeom>
          <a:noFill/>
          <a:ln w="19050" cap="rnd">
            <a:solidFill>
              <a:srgbClr val="175E54"/>
            </a:solidFill>
            <a:round/>
            <a:tailEnd type="arrow"/>
          </a:ln>
        </p:spPr>
      </p:sp>
      <p:sp>
        <p:nvSpPr>
          <p:cNvPr id="16" name="arr3"/>
          <p:cNvSpPr/>
          <p:nvPr>
            <p:extLst>
              <p:ext uri="{F5677B7D-0D2A-4D9B-9A5C-6D8D7D0E5A5D}">
                <pptd:line encoding="base64url">eyJ2aWV3Qm94IjpbNjAsOF0sInBvaW50cyI6IjAsNCA2MCw0In0</pptd:line>
              </p:ext>
            </p:extLst>
          </p:nvPr>
        </p:nvSpPr>
        <p:spPr>
          <a:xfrm>
            <a:off x="2870200" y="3111500"/>
            <a:ext cx="762000" cy="101600"/>
          </a:xfrm>
          <a:custGeom>
            <a:avLst/>
            <a:gdLst/>
            <a:ahLst/>
            <a:cxnLst/>
            <a:rect l="l" t="t" r="r" b="b"/>
            <a:pathLst>
              <a:path w="60" h="8">
                <a:moveTo>
                  <a:pt x="0" y="4"/>
                </a:moveTo>
                <a:lnTo>
                  <a:pt x="60" y="4"/>
                </a:lnTo>
              </a:path>
            </a:pathLst>
          </a:custGeom>
          <a:noFill/>
          <a:ln w="19050" cap="rnd">
            <a:solidFill>
              <a:srgbClr val="175E54"/>
            </a:solidFill>
            <a:round/>
            <a:tailEnd type="arrow"/>
          </a:ln>
        </p:spPr>
      </p:sp>
      <p:sp>
        <p:nvSpPr>
          <p:cNvPr id="17" name="arr4"/>
          <p:cNvSpPr/>
          <p:nvPr>
            <p:extLst>
              <p:ext uri="{F5677B7D-0D2A-4D9B-9A5C-6D8D7D0E5A5D}">
                <pptd:line encoding="base64url">eyJ2aWV3Qm94IjpbNjAsOF0sInBvaW50cyI6IjAsNCA2MCw0In0</pptd:line>
              </p:ext>
            </p:extLst>
          </p:nvPr>
        </p:nvSpPr>
        <p:spPr>
          <a:xfrm>
            <a:off x="2870200" y="3797300"/>
            <a:ext cx="762000" cy="101600"/>
          </a:xfrm>
          <a:custGeom>
            <a:avLst/>
            <a:gdLst/>
            <a:ahLst/>
            <a:cxnLst/>
            <a:rect l="l" t="t" r="r" b="b"/>
            <a:pathLst>
              <a:path w="60" h="8">
                <a:moveTo>
                  <a:pt x="0" y="4"/>
                </a:moveTo>
                <a:lnTo>
                  <a:pt x="60" y="4"/>
                </a:lnTo>
              </a:path>
            </a:pathLst>
          </a:custGeom>
          <a:noFill/>
          <a:ln w="19050" cap="rnd">
            <a:solidFill>
              <a:srgbClr val="175E54"/>
            </a:solidFill>
            <a:round/>
            <a:tailEnd type="arrow"/>
          </a:ln>
        </p:spPr>
      </p:sp>
      <p:sp>
        <p:nvSpPr>
          <p:cNvPr id="18" name="arr5"/>
          <p:cNvSpPr/>
          <p:nvPr>
            <p:extLst>
              <p:ext uri="{F5677B7D-0D2A-4D9B-9A5C-6D8D7D0E5A5D}">
                <pptd:line encoding="base64url">eyJ2aWV3Qm94IjpbNjAsOF0sInBvaW50cyI6IjAsNCA2MCw0In0</pptd:line>
              </p:ext>
            </p:extLst>
          </p:nvPr>
        </p:nvSpPr>
        <p:spPr>
          <a:xfrm>
            <a:off x="2870200" y="4483100"/>
            <a:ext cx="762000" cy="101600"/>
          </a:xfrm>
          <a:custGeom>
            <a:avLst/>
            <a:gdLst/>
            <a:ahLst/>
            <a:cxnLst/>
            <a:rect l="l" t="t" r="r" b="b"/>
            <a:pathLst>
              <a:path w="60" h="8">
                <a:moveTo>
                  <a:pt x="0" y="4"/>
                </a:moveTo>
                <a:lnTo>
                  <a:pt x="60" y="4"/>
                </a:lnTo>
              </a:path>
            </a:pathLst>
          </a:custGeom>
          <a:noFill/>
          <a:ln w="19050" cap="rnd">
            <a:solidFill>
              <a:srgbClr val="BC4B26"/>
            </a:solidFill>
            <a:round/>
            <a:tailEnd type="arrow"/>
          </a:ln>
        </p:spPr>
      </p:sp>
      <p:sp>
        <p:nvSpPr>
          <p:cNvPr id="19" name="api-layer"/>
          <p:cNvSpPr/>
          <p:nvPr/>
        </p:nvSpPr>
        <p:spPr>
          <a:xfrm>
            <a:off x="3632200" y="1524000"/>
            <a:ext cx="1397000" cy="3276600"/>
          </a:xfrm>
          <a:prstGeom prst="rect">
            <a:avLst/>
          </a:prstGeom>
          <a:solidFill>
            <a:srgbClr val="175E54"/>
          </a:solidFill>
          <a:ln>
            <a:noFill/>
          </a:ln>
        </p:spPr>
      </p:sp>
      <p:sp>
        <p:nvSpPr>
          <p:cNvPr id="20" name="api-text"/>
          <p:cNvSpPr txBox="1"/>
          <p:nvPr/>
        </p:nvSpPr>
        <p:spPr>
          <a:xfrm>
            <a:off x="3632200" y="1524000"/>
            <a:ext cx="1397000" cy="3276600"/>
          </a:xfrm>
          <a:prstGeom prst="rect">
            <a:avLst/>
          </a:prstGeom>
          <a:noFill/>
          <a:ln>
            <a:noFill/>
          </a:ln>
        </p:spPr>
        <p:txBody>
          <a:bodyPr lIns="0" rIns="0" tIns="0" bIns="0" wrap="square" rtlCol="0" anchor="ctr"/>
          <a:lstStyle/>
          <a:p>
            <a:pPr algn="ctr">
              <a:lnSpc>
                <a:spcPct val="120000"/>
              </a:lnSpc>
            </a:pPr>
            <a:r>
              <a:rPr lang="en-US" sz="1300" noProof="1" b="1" spc="200" kern="0">
                <a:solidFill>
                  <a:srgbClr val="FFFFFF"/>
                </a:solidFill>
                <a:latin typeface="Quattrocento Sans"/>
                <a:ea typeface="Quattrocento Sans"/>
              </a:rPr>
              <a:t>API</a:t>
            </a:r>
            <a:r>
              <a:rPr lang="en-US" sz="1300" noProof="1" b="1" spc="200" kern="0">
                <a:solidFill>
                  <a:srgbClr val="FFFFFF"/>
                </a:solidFill>
                <a:latin typeface="Quattrocento Sans"/>
                <a:ea typeface="Quattrocento Sans"/>
              </a:rPr>
              <a:t>LAYER</a:t>
            </a:r>
            <a:endParaRPr lang="en-US" sz="1300" noProof="1"/>
          </a:p>
        </p:txBody>
      </p:sp>
      <p:sp>
        <p:nvSpPr>
          <p:cNvPr id="21" name="arr6"/>
          <p:cNvSpPr/>
          <p:nvPr>
            <p:extLst>
              <p:ext uri="{F5677B7D-0D2A-4D9B-9A5C-6D8D7D0E5A5D}">
                <pptd:line encoding="base64url">eyJ2aWV3Qm94IjpbNjAsOF0sInBvaW50cyI6IjAsNCA2MCw0In0</pptd:line>
              </p:ext>
            </p:extLst>
          </p:nvPr>
        </p:nvSpPr>
        <p:spPr>
          <a:xfrm>
            <a:off x="5029200" y="3111500"/>
            <a:ext cx="762000" cy="101600"/>
          </a:xfrm>
          <a:custGeom>
            <a:avLst/>
            <a:gdLst/>
            <a:ahLst/>
            <a:cxnLst/>
            <a:rect l="l" t="t" r="r" b="b"/>
            <a:pathLst>
              <a:path w="60" h="8">
                <a:moveTo>
                  <a:pt x="0" y="4"/>
                </a:moveTo>
                <a:lnTo>
                  <a:pt x="60" y="4"/>
                </a:lnTo>
              </a:path>
            </a:pathLst>
          </a:custGeom>
          <a:noFill/>
          <a:ln w="19050" cap="rnd">
            <a:solidFill>
              <a:srgbClr val="175E54"/>
            </a:solidFill>
            <a:round/>
            <a:tailEnd type="arrow"/>
          </a:ln>
        </p:spPr>
      </p:sp>
      <p:sp>
        <p:nvSpPr>
          <p:cNvPr id="22" name="engine"/>
          <p:cNvSpPr/>
          <p:nvPr/>
        </p:nvSpPr>
        <p:spPr>
          <a:xfrm>
            <a:off x="5791200" y="1524000"/>
            <a:ext cx="2413000" cy="3276600"/>
          </a:xfrm>
          <a:prstGeom prst="rect">
            <a:avLst/>
          </a:prstGeom>
          <a:solidFill>
            <a:srgbClr val="0E3B34"/>
          </a:solidFill>
          <a:ln>
            <a:noFill/>
          </a:ln>
        </p:spPr>
      </p:sp>
      <p:sp>
        <p:nvSpPr>
          <p:cNvPr id="23" name="engine-text"/>
          <p:cNvSpPr txBox="1"/>
          <p:nvPr/>
        </p:nvSpPr>
        <p:spPr>
          <a:xfrm>
            <a:off x="5969000" y="1701800"/>
            <a:ext cx="2057400" cy="2921000"/>
          </a:xfrm>
          <a:prstGeom prst="rect">
            <a:avLst/>
          </a:prstGeom>
          <a:noFill/>
          <a:ln>
            <a:noFill/>
          </a:ln>
        </p:spPr>
        <p:txBody>
          <a:bodyPr lIns="0" rIns="0" tIns="0" bIns="0" wrap="square" rtlCol="0"/>
          <a:lstStyle/>
          <a:p>
            <a:pPr>
              <a:lnSpc>
                <a:spcPct val="170000"/>
              </a:lnSpc>
            </a:pPr>
            <a:r>
              <a:rPr lang="en-US" sz="1250" noProof="1" b="1">
                <a:solidFill>
                  <a:srgbClr val="FFFFFF"/>
                </a:solidFill>
                <a:latin typeface="Quattrocento Sans"/>
                <a:ea typeface="Quattrocento Sans"/>
              </a:rPr>
              <a:t>COMMERCE ENGINE</a:t>
            </a:r>
            <a:endParaRPr lang="en-US" sz="1250" noProof="1"/>
          </a:p>
          <a:p>
            <a:pPr>
              <a:lnSpc>
                <a:spcPct val="170000"/>
              </a:lnSpc>
            </a:pPr>
            <a:r>
              <a:rPr lang="en-US" sz="1250" noProof="1">
                <a:solidFill>
                  <a:srgbClr val="FFFFFF"/>
                </a:solidFill>
                <a:latin typeface="Quattrocento Sans"/>
                <a:ea typeface="Quattrocento Sans"/>
              </a:rPr>
              <a:t>Cart</a:t>
            </a:r>
            <a:endParaRPr lang="en-US" sz="1250" noProof="1"/>
          </a:p>
          <a:p>
            <a:pPr>
              <a:lnSpc>
                <a:spcPct val="170000"/>
              </a:lnSpc>
            </a:pPr>
            <a:r>
              <a:rPr lang="en-US" sz="1250" noProof="1">
                <a:solidFill>
                  <a:srgbClr val="FFFFFF"/>
                </a:solidFill>
                <a:latin typeface="Quattrocento Sans"/>
                <a:ea typeface="Quattrocento Sans"/>
              </a:rPr>
              <a:t>Checkout</a:t>
            </a:r>
            <a:endParaRPr lang="en-US" sz="1250" noProof="1"/>
          </a:p>
          <a:p>
            <a:pPr>
              <a:lnSpc>
                <a:spcPct val="170000"/>
              </a:lnSpc>
            </a:pPr>
            <a:r>
              <a:rPr lang="en-US" sz="1250" noProof="1">
                <a:solidFill>
                  <a:srgbClr val="FFFFFF"/>
                </a:solidFill>
                <a:latin typeface="Quattrocento Sans"/>
                <a:ea typeface="Quattrocento Sans"/>
              </a:rPr>
              <a:t>Payments</a:t>
            </a:r>
            <a:endParaRPr lang="en-US" sz="1250" noProof="1"/>
          </a:p>
          <a:p>
            <a:pPr>
              <a:lnSpc>
                <a:spcPct val="170000"/>
              </a:lnSpc>
            </a:pPr>
            <a:r>
              <a:rPr lang="en-US" sz="1250" noProof="1">
                <a:solidFill>
                  <a:srgbClr val="FFFFFF"/>
                </a:solidFill>
                <a:latin typeface="Quattrocento Sans"/>
                <a:ea typeface="Quattrocento Sans"/>
              </a:rPr>
              <a:t>Inventory</a:t>
            </a:r>
            <a:endParaRPr lang="en-US" sz="1250" noProof="1"/>
          </a:p>
          <a:p>
            <a:pPr>
              <a:lnSpc>
                <a:spcPct val="170000"/>
              </a:lnSpc>
            </a:pPr>
            <a:r>
              <a:rPr lang="en-US" sz="1250" noProof="1">
                <a:solidFill>
                  <a:srgbClr val="FFFFFF"/>
                </a:solidFill>
                <a:latin typeface="Quattrocento Sans"/>
                <a:ea typeface="Quattrocento Sans"/>
              </a:rPr>
              <a:t>Orders</a:t>
            </a:r>
            <a:endParaRPr lang="en-US" sz="1250" noProof="1"/>
          </a:p>
          <a:p>
            <a:pPr>
              <a:lnSpc>
                <a:spcPct val="170000"/>
              </a:lnSpc>
            </a:pPr>
            <a:r>
              <a:rPr lang="en-US" sz="1250" noProof="1">
                <a:solidFill>
                  <a:srgbClr val="FFFFFF"/>
                </a:solidFill>
                <a:latin typeface="Quattrocento Sans"/>
                <a:ea typeface="Quattrocento Sans"/>
              </a:rPr>
              <a:t>Pricing</a:t>
            </a:r>
            <a:endParaRPr lang="en-US" sz="1250" noProof="1"/>
          </a:p>
        </p:txBody>
      </p:sp>
      <p:sp>
        <p:nvSpPr>
          <p:cNvPr id="24" name="heads-label"/>
          <p:cNvSpPr txBox="1"/>
          <p:nvPr/>
        </p:nvSpPr>
        <p:spPr>
          <a:xfrm>
            <a:off x="711200" y="4953000"/>
            <a:ext cx="2159000" cy="203200"/>
          </a:xfrm>
          <a:prstGeom prst="rect">
            <a:avLst/>
          </a:prstGeom>
          <a:noFill/>
          <a:ln>
            <a:noFill/>
          </a:ln>
        </p:spPr>
        <p:txBody>
          <a:bodyPr lIns="0" rIns="0" tIns="0" bIns="0" wrap="square" rtlCol="0" anchor="t"/>
          <a:lstStyle/>
          <a:p>
            <a:pPr algn="ctr">
              <a:lnSpc>
                <a:spcPct val="120000"/>
              </a:lnSpc>
            </a:pPr>
            <a:r>
              <a:rPr lang="en-US" sz="1000" noProof="1">
                <a:solidFill>
                  <a:srgbClr val="9A9284"/>
                </a:solidFill>
                <a:latin typeface="Quattrocento Sans"/>
                <a:ea typeface="Quattrocento Sans"/>
              </a:rPr>
              <a:t>experience layer ("heads")</a:t>
            </a:r>
            <a:endParaRPr lang="en-US" sz="1000" noProof="1"/>
          </a:p>
        </p:txBody>
      </p:sp>
      <p:sp>
        <p:nvSpPr>
          <p:cNvPr id="25" name="engine-label"/>
          <p:cNvSpPr txBox="1"/>
          <p:nvPr/>
        </p:nvSpPr>
        <p:spPr>
          <a:xfrm>
            <a:off x="5791200" y="4953000"/>
            <a:ext cx="2413000" cy="203200"/>
          </a:xfrm>
          <a:prstGeom prst="rect">
            <a:avLst/>
          </a:prstGeom>
          <a:noFill/>
          <a:ln>
            <a:noFill/>
          </a:ln>
        </p:spPr>
        <p:txBody>
          <a:bodyPr lIns="0" rIns="0" tIns="0" bIns="0" wrap="square" rtlCol="0" anchor="t"/>
          <a:lstStyle/>
          <a:p>
            <a:pPr algn="ctr">
              <a:lnSpc>
                <a:spcPct val="120000"/>
              </a:lnSpc>
            </a:pPr>
            <a:r>
              <a:rPr lang="en-US" sz="1000" noProof="1">
                <a:solidFill>
                  <a:srgbClr val="9A9284"/>
                </a:solidFill>
                <a:latin typeface="Quattrocento Sans"/>
                <a:ea typeface="Quattrocento Sans"/>
              </a:rPr>
              <a:t>back-end logic, decoupled</a:t>
            </a:r>
            <a:endParaRPr lang="en-US" sz="1000" noProof="1"/>
          </a:p>
        </p:txBody>
      </p:sp>
      <p:sp>
        <p:nvSpPr>
          <p:cNvPr id="26" name="why-head"/>
          <p:cNvSpPr txBox="1"/>
          <p:nvPr/>
        </p:nvSpPr>
        <p:spPr>
          <a:xfrm>
            <a:off x="8712200" y="1524000"/>
            <a:ext cx="27686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Why brands go headless</a:t>
            </a:r>
            <a:endParaRPr lang="en-US" sz="1300" noProof="1"/>
          </a:p>
        </p:txBody>
      </p:sp>
      <p:sp>
        <p:nvSpPr>
          <p:cNvPr id="27" name="why-body"/>
          <p:cNvSpPr txBox="1"/>
          <p:nvPr/>
        </p:nvSpPr>
        <p:spPr>
          <a:xfrm>
            <a:off x="8712200" y="1854200"/>
            <a:ext cx="2768600" cy="2794000"/>
          </a:xfrm>
          <a:prstGeom prst="rect">
            <a:avLst/>
          </a:prstGeom>
          <a:noFill/>
          <a:ln>
            <a:noFill/>
          </a:ln>
        </p:spPr>
        <p:txBody>
          <a:bodyPr lIns="0" rIns="0" tIns="0" bIns="0" wrap="square" rtlCol="0"/>
          <a:lstStyle/>
          <a:p>
            <a:pPr>
              <a:lnSpc>
                <a:spcPct val="150000"/>
              </a:lnSpc>
            </a:pPr>
            <a:r>
              <a:rPr lang="en-US" sz="1200" noProof="1" b="1">
                <a:solidFill>
                  <a:srgbClr val="23272E"/>
                </a:solidFill>
                <a:latin typeface="Quattrocento Sans"/>
                <a:ea typeface="Quattrocento Sans"/>
              </a:rPr>
              <a:t>57%</a:t>
            </a:r>
            <a:r>
              <a:rPr lang="en-US" sz="1200" noProof="1">
                <a:solidFill>
                  <a:srgbClr val="23272E"/>
                </a:solidFill>
                <a:latin typeface="Quattrocento Sans"/>
                <a:ea typeface="Quattrocento Sans"/>
              </a:rPr>
              <a:t> of organisations have implemented headless, +24% plan to; </a:t>
            </a:r>
            <a:r>
              <a:rPr lang="en-US" sz="1200" noProof="1" b="1">
                <a:solidFill>
                  <a:srgbClr val="23272E"/>
                </a:solidFill>
                <a:latin typeface="Quattrocento Sans"/>
                <a:ea typeface="Quattrocento Sans"/>
              </a:rPr>
              <a:t>64%</a:t>
            </a:r>
            <a:r>
              <a:rPr lang="en-US" sz="1200" noProof="1">
                <a:solidFill>
                  <a:srgbClr val="23272E"/>
                </a:solidFill>
                <a:latin typeface="Quattrocento Sans"/>
                <a:ea typeface="Quattrocento Sans"/>
              </a:rPr>
              <a:t> of enterprises use a headless approach.</a:t>
            </a:r>
            <a:endParaRPr lang="en-US" sz="1200" noProof="1"/>
          </a:p>
          <a:p>
            <a:pPr>
              <a:lnSpc>
                <a:spcPct val="150000"/>
              </a:lnSpc>
              <a:spcBef>
                <a:spcPts val="800"/>
              </a:spcBef>
            </a:pPr>
            <a:r>
              <a:rPr lang="en-US" sz="1200" noProof="1">
                <a:solidFill>
                  <a:srgbClr val="23272E"/>
                </a:solidFill>
                <a:latin typeface="Quattrocento Sans"/>
                <a:ea typeface="Quattrocento Sans"/>
              </a:rPr>
              <a:t>One back end serves every front end — web, app, kiosk, voice — without rebuilding commerce logic each time.</a:t>
            </a:r>
            <a:endParaRPr lang="en-US" sz="1200" noProof="1"/>
          </a:p>
          <a:p>
            <a:pPr>
              <a:lnSpc>
                <a:spcPct val="150000"/>
              </a:lnSpc>
              <a:spcBef>
                <a:spcPts val="800"/>
              </a:spcBef>
            </a:pPr>
            <a:r>
              <a:rPr lang="en-US" sz="1200" noProof="1" b="1">
                <a:solidFill>
                  <a:srgbClr val="23272E"/>
                </a:solidFill>
                <a:latin typeface="Quattrocento Sans"/>
                <a:ea typeface="Quattrocento Sans"/>
              </a:rPr>
              <a:t>The strategic point:</a:t>
            </a:r>
            <a:r>
              <a:rPr lang="en-US" sz="1200" noProof="1">
                <a:solidFill>
                  <a:srgbClr val="23272E"/>
                </a:solidFill>
                <a:latin typeface="Quattrocento Sans"/>
                <a:ea typeface="Quattrocento Sans"/>
              </a:rPr>
              <a:t> AI agents transact with </a:t>
            </a:r>
            <a:r>
              <a:rPr lang="en-US" sz="1200" noProof="1" i="1">
                <a:solidFill>
                  <a:srgbClr val="23272E"/>
                </a:solidFill>
                <a:latin typeface="Quattrocento Sans"/>
                <a:ea typeface="Quattrocento Sans"/>
              </a:rPr>
              <a:t>data and APIs, not web pages</a:t>
            </a:r>
            <a:r>
              <a:rPr lang="en-US" sz="1200" noProof="1">
                <a:solidFill>
                  <a:srgbClr val="23272E"/>
                </a:solidFill>
                <a:latin typeface="Quattrocento Sans"/>
                <a:ea typeface="Quattrocento Sans"/>
              </a:rPr>
              <a:t>. Headless is the prerequisite for era 5.</a:t>
            </a:r>
            <a:endParaRPr lang="en-US" sz="1200" noProof="1"/>
          </a:p>
        </p:txBody>
      </p:sp>
      <p:sp>
        <p:nvSpPr>
          <p:cNvPr id="28" name="caveat"/>
          <p:cNvSpPr txBox="1"/>
          <p:nvPr/>
        </p:nvSpPr>
        <p:spPr>
          <a:xfrm>
            <a:off x="8712200" y="4826000"/>
            <a:ext cx="2768600" cy="762000"/>
          </a:xfrm>
          <a:prstGeom prst="rect">
            <a:avLst/>
          </a:prstGeom>
          <a:noFill/>
          <a:ln>
            <a:noFill/>
          </a:ln>
        </p:spPr>
        <p:txBody>
          <a:bodyPr lIns="0" rIns="0" tIns="0" bIns="0" wrap="square" rtlCol="0"/>
          <a:lstStyle/>
          <a:p>
            <a:pPr>
              <a:lnSpc>
                <a:spcPct val="140000"/>
              </a:lnSpc>
            </a:pPr>
            <a:r>
              <a:rPr lang="en-US" sz="1050" noProof="1">
                <a:solidFill>
                  <a:srgbClr val="6E675C"/>
                </a:solidFill>
                <a:latin typeface="Quattrocento Sans"/>
                <a:ea typeface="Quattrocento Sans"/>
              </a:rPr>
              <a:t>Adoption figures come from vendor-commissioned surveys; definitions of "headless" vary.</a:t>
            </a:r>
            <a:endParaRPr lang="en-US" sz="1050" noProof="1"/>
          </a:p>
        </p:txBody>
      </p:sp>
      <p:sp>
        <p:nvSpPr>
          <p:cNvPr id="29" name="src-line"/>
          <p:cNvSpPr txBox="1"/>
          <p:nvPr/>
        </p:nvSpPr>
        <p:spPr>
          <a:xfrm>
            <a:off x="711200" y="5969000"/>
            <a:ext cx="10769600" cy="3302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Salesforce State of Commerce via CodeRapper</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3"/>
              </a:rPr>
              <a:t>BigCommerce, 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4"/>
              </a:rPr>
              <a:t>commercetools via MarketScale, 2026</a:t>
            </a:r>
            <a:r>
              <a:rPr lang="en-US" sz="1000" noProof="1">
                <a:solidFill>
                  <a:srgbClr val="9A9284"/>
                </a:solidFill>
                <a:latin typeface="Quattrocento Sans"/>
                <a:ea typeface="Quattrocento Sans"/>
              </a:rPr>
              <a:t>.</a:t>
            </a:r>
            <a:endParaRPr lang="en-US" sz="1000" noProof="1"/>
          </a:p>
        </p:txBody>
      </p:sp>
      <p:sp>
        <p:nvSpPr>
          <p:cNvPr id="30" name="foot-rule"/>
          <p:cNvSpPr/>
          <p:nvPr/>
        </p:nvSpPr>
        <p:spPr>
          <a:xfrm>
            <a:off x="711200" y="6451600"/>
            <a:ext cx="10769600" cy="12700"/>
          </a:xfrm>
          <a:prstGeom prst="rect">
            <a:avLst/>
          </a:prstGeom>
          <a:solidFill>
            <a:srgbClr val="D9D2C4"/>
          </a:solidFill>
          <a:ln>
            <a:noFill/>
          </a:ln>
        </p:spPr>
      </p:sp>
      <p:sp>
        <p:nvSpPr>
          <p:cNvPr id="31"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32"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33"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33</a:t>
            </a:r>
            <a:endParaRPr lang="en-US" sz="950" noProof="1"/>
          </a:p>
        </p:txBody>
      </p:sp>
    </p:spTree>
  </p:cSld>
  <p:clrMapOvr>
    <a:masterClrMapping/>
  </p:clrMapOvr>
</p:sld>
</file>

<file path=ppt/slides/slide3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COMPANY EXAMPLE · AMAZON</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Amazon: the only company that has crossed all five eras</a:t>
            </a:r>
            <a:endParaRPr lang="en-US" sz="2600" noProof="1"/>
          </a:p>
        </p:txBody>
      </p:sp>
      <p:sp>
        <p:nvSpPr>
          <p:cNvPr id="4" name="tl-head"/>
          <p:cNvSpPr txBox="1"/>
          <p:nvPr/>
        </p:nvSpPr>
        <p:spPr>
          <a:xfrm>
            <a:off x="711200" y="1422400"/>
            <a:ext cx="60960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Thirty years of layering</a:t>
            </a:r>
            <a:endParaRPr lang="en-US" sz="1300" noProof="1"/>
          </a:p>
        </p:txBody>
      </p:sp>
      <p:sp>
        <p:nvSpPr>
          <p:cNvPr id="5" name="tl-body"/>
          <p:cNvSpPr txBox="1"/>
          <p:nvPr/>
        </p:nvSpPr>
        <p:spPr>
          <a:xfrm>
            <a:off x="711200" y="1752600"/>
            <a:ext cx="6096000" cy="3175000"/>
          </a:xfrm>
          <a:prstGeom prst="rect">
            <a:avLst/>
          </a:prstGeom>
          <a:noFill/>
          <a:ln>
            <a:noFill/>
          </a:ln>
        </p:spPr>
        <p:txBody>
          <a:bodyPr lIns="0" rIns="0" tIns="0" bIns="0" wrap="square" rtlCol="0"/>
          <a:lstStyle/>
          <a:p>
            <a:pPr>
              <a:lnSpc>
                <a:spcPct val="160000"/>
              </a:lnSpc>
            </a:pPr>
            <a:r>
              <a:rPr lang="en-US" sz="1250" noProof="1" b="1">
                <a:solidFill>
                  <a:srgbClr val="23272E"/>
                </a:solidFill>
                <a:latin typeface="Quattrocento Sans"/>
                <a:ea typeface="Quattrocento Sans"/>
              </a:rPr>
              <a:t>1994–95</a:t>
            </a:r>
            <a:r>
              <a:rPr lang="en-US" sz="1250" noProof="1">
                <a:solidFill>
                  <a:srgbClr val="23272E"/>
                </a:solidFill>
                <a:latin typeface="Quattrocento Sans"/>
                <a:ea typeface="Quattrocento Sans"/>
              </a:rPr>
              <a:t> · Founded; opens as "Earth's Biggest Bookstore" (era 2 pioneer)</a:t>
            </a:r>
            <a:endParaRPr lang="en-US" sz="1250" noProof="1"/>
          </a:p>
          <a:p>
            <a:pPr>
              <a:lnSpc>
                <a:spcPct val="160000"/>
              </a:lnSpc>
            </a:pPr>
            <a:r>
              <a:rPr lang="en-US" sz="1250" noProof="1" b="1">
                <a:solidFill>
                  <a:srgbClr val="23272E"/>
                </a:solidFill>
                <a:latin typeface="Quattrocento Sans"/>
                <a:ea typeface="Quattrocento Sans"/>
              </a:rPr>
              <a:t>2000</a:t>
            </a:r>
            <a:r>
              <a:rPr lang="en-US" sz="1250" noProof="1">
                <a:solidFill>
                  <a:srgbClr val="23272E"/>
                </a:solidFill>
                <a:latin typeface="Quattrocento Sans"/>
                <a:ea typeface="Quattrocento Sans"/>
              </a:rPr>
              <a:t> · Marketplace opens — catalogue + platform in one</a:t>
            </a:r>
            <a:endParaRPr lang="en-US" sz="1250" noProof="1"/>
          </a:p>
          <a:p>
            <a:pPr>
              <a:lnSpc>
                <a:spcPct val="160000"/>
              </a:lnSpc>
            </a:pPr>
            <a:r>
              <a:rPr lang="en-US" sz="1250" noProof="1" b="1">
                <a:solidFill>
                  <a:srgbClr val="23272E"/>
                </a:solidFill>
                <a:latin typeface="Quattrocento Sans"/>
                <a:ea typeface="Quattrocento Sans"/>
              </a:rPr>
              <a:t>2005</a:t>
            </a:r>
            <a:r>
              <a:rPr lang="en-US" sz="1250" noProof="1">
                <a:solidFill>
                  <a:srgbClr val="23272E"/>
                </a:solidFill>
                <a:latin typeface="Quattrocento Sans"/>
                <a:ea typeface="Quattrocento Sans"/>
              </a:rPr>
              <a:t> · Prime ($79/yr) rewires shipping expectations</a:t>
            </a:r>
            <a:endParaRPr lang="en-US" sz="1250" noProof="1"/>
          </a:p>
          <a:p>
            <a:pPr>
              <a:lnSpc>
                <a:spcPct val="160000"/>
              </a:lnSpc>
            </a:pPr>
            <a:r>
              <a:rPr lang="en-US" sz="1250" noProof="1" b="1">
                <a:solidFill>
                  <a:srgbClr val="23272E"/>
                </a:solidFill>
                <a:latin typeface="Quattrocento Sans"/>
                <a:ea typeface="Quattrocento Sans"/>
              </a:rPr>
              <a:t>2006</a:t>
            </a:r>
            <a:r>
              <a:rPr lang="en-US" sz="1250" noProof="1">
                <a:solidFill>
                  <a:srgbClr val="23272E"/>
                </a:solidFill>
                <a:latin typeface="Quattrocento Sans"/>
                <a:ea typeface="Quattrocento Sans"/>
              </a:rPr>
              <a:t> · AWS — infrastructure becomes a product</a:t>
            </a:r>
            <a:endParaRPr lang="en-US" sz="1250" noProof="1"/>
          </a:p>
          <a:p>
            <a:pPr>
              <a:lnSpc>
                <a:spcPct val="160000"/>
              </a:lnSpc>
            </a:pPr>
            <a:r>
              <a:rPr lang="en-US" sz="1250" noProof="1" b="1">
                <a:solidFill>
                  <a:srgbClr val="23272E"/>
                </a:solidFill>
                <a:latin typeface="Quattrocento Sans"/>
                <a:ea typeface="Quattrocento Sans"/>
              </a:rPr>
              <a:t>2014</a:t>
            </a:r>
            <a:r>
              <a:rPr lang="en-US" sz="1250" noProof="1">
                <a:solidFill>
                  <a:srgbClr val="23272E"/>
                </a:solidFill>
                <a:latin typeface="Quattrocento Sans"/>
                <a:ea typeface="Quattrocento Sans"/>
              </a:rPr>
              <a:t> · Echo announced — voice hardware bet (era 4)</a:t>
            </a:r>
            <a:endParaRPr lang="en-US" sz="1250" noProof="1"/>
          </a:p>
          <a:p>
            <a:pPr>
              <a:lnSpc>
                <a:spcPct val="160000"/>
              </a:lnSpc>
            </a:pPr>
            <a:r>
              <a:rPr lang="en-US" sz="1250" noProof="1" b="1">
                <a:solidFill>
                  <a:srgbClr val="23272E"/>
                </a:solidFill>
                <a:latin typeface="Quattrocento Sans"/>
                <a:ea typeface="Quattrocento Sans"/>
              </a:rPr>
              <a:t>2024</a:t>
            </a:r>
            <a:r>
              <a:rPr lang="en-US" sz="1250" noProof="1">
                <a:solidFill>
                  <a:srgbClr val="23272E"/>
                </a:solidFill>
                <a:latin typeface="Quattrocento Sans"/>
                <a:ea typeface="Quattrocento Sans"/>
              </a:rPr>
              <a:t> · Rufus launches (Feb beta, Sept full US) — era 5 from inside the incumbent</a:t>
            </a:r>
            <a:endParaRPr lang="en-US" sz="1250" noProof="1"/>
          </a:p>
          <a:p>
            <a:pPr>
              <a:lnSpc>
                <a:spcPct val="160000"/>
              </a:lnSpc>
            </a:pPr>
            <a:r>
              <a:rPr lang="en-US" sz="1250" noProof="1" b="1">
                <a:solidFill>
                  <a:srgbClr val="23272E"/>
                </a:solidFill>
                <a:latin typeface="Quattrocento Sans"/>
                <a:ea typeface="Quattrocento Sans"/>
              </a:rPr>
              <a:t>2025–26</a:t>
            </a:r>
            <a:r>
              <a:rPr lang="en-US" sz="1250" noProof="1">
                <a:solidFill>
                  <a:srgbClr val="23272E"/>
                </a:solidFill>
                <a:latin typeface="Quattrocento Sans"/>
                <a:ea typeface="Quattrocento Sans"/>
              </a:rPr>
              <a:t> · "Buy for me" agent pilots; AI review highlights</a:t>
            </a:r>
            <a:endParaRPr lang="en-US" sz="1250" noProof="1"/>
          </a:p>
        </p:txBody>
      </p:sp>
      <p:sp>
        <p:nvSpPr>
          <p:cNvPr id="6" name="num1-big"/>
          <p:cNvSpPr txBox="1"/>
          <p:nvPr/>
        </p:nvSpPr>
        <p:spPr>
          <a:xfrm>
            <a:off x="7620000" y="1473200"/>
            <a:ext cx="3860800" cy="5842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~37.6%</a:t>
            </a:r>
            <a:endParaRPr lang="en-US" sz="3800" noProof="1"/>
          </a:p>
        </p:txBody>
      </p:sp>
      <p:sp>
        <p:nvSpPr>
          <p:cNvPr id="7" name="num1-label"/>
          <p:cNvSpPr txBox="1"/>
          <p:nvPr/>
        </p:nvSpPr>
        <p:spPr>
          <a:xfrm>
            <a:off x="7620000" y="2082800"/>
            <a:ext cx="3860800" cy="5588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of the US e-commerce market — 6× the share of #2 Walmart</a:t>
            </a:r>
            <a:endParaRPr lang="en-US" sz="1200" noProof="1"/>
          </a:p>
        </p:txBody>
      </p:sp>
      <p:sp>
        <p:nvSpPr>
          <p:cNvPr id="8" name="num2-big"/>
          <p:cNvSpPr txBox="1"/>
          <p:nvPr/>
        </p:nvSpPr>
        <p:spPr>
          <a:xfrm>
            <a:off x="7620000" y="2844800"/>
            <a:ext cx="3860800" cy="5842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~250M</a:t>
            </a:r>
            <a:endParaRPr lang="en-US" sz="3800" noProof="1"/>
          </a:p>
        </p:txBody>
      </p:sp>
      <p:sp>
        <p:nvSpPr>
          <p:cNvPr id="9" name="num2-label"/>
          <p:cNvSpPr txBox="1"/>
          <p:nvPr/>
        </p:nvSpPr>
        <p:spPr>
          <a:xfrm>
            <a:off x="7620000" y="3454400"/>
            <a:ext cx="3860800" cy="762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Rufus users and ~14% of Amazon searches by late 2025 (company commentary + analyst estimate — directional)</a:t>
            </a:r>
            <a:endParaRPr lang="en-US" sz="1200" noProof="1"/>
          </a:p>
        </p:txBody>
      </p:sp>
      <p:sp>
        <p:nvSpPr>
          <p:cNvPr id="10" name="lesson-rule"/>
          <p:cNvSpPr/>
          <p:nvPr/>
        </p:nvSpPr>
        <p:spPr>
          <a:xfrm>
            <a:off x="711200" y="5105400"/>
            <a:ext cx="10769600" cy="12700"/>
          </a:xfrm>
          <a:prstGeom prst="rect">
            <a:avLst/>
          </a:prstGeom>
          <a:solidFill>
            <a:srgbClr val="D9D2C4"/>
          </a:solidFill>
          <a:ln>
            <a:noFill/>
          </a:ln>
        </p:spPr>
      </p:sp>
      <p:sp>
        <p:nvSpPr>
          <p:cNvPr id="11" name="lesson"/>
          <p:cNvSpPr txBox="1"/>
          <p:nvPr/>
        </p:nvSpPr>
        <p:spPr>
          <a:xfrm>
            <a:off x="711200" y="5283200"/>
            <a:ext cx="10769600" cy="6350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Why it matters:</a:t>
            </a:r>
            <a:r>
              <a:rPr lang="en-US" sz="1300" noProof="1">
                <a:solidFill>
                  <a:srgbClr val="23272E"/>
                </a:solidFill>
                <a:latin typeface="Quattrocento Sans"/>
                <a:ea typeface="Quattrocento Sans"/>
              </a:rPr>
              <a:t> Amazon shows the continuum's layering logic inside one firm — each new era was added on top of the last, funded by the previous era's profits and data. First-mover advantage plus relentless infrastructure investment is the hardest combination to catch.</a:t>
            </a:r>
            <a:endParaRPr lang="en-US" sz="1300" noProof="1"/>
          </a:p>
        </p:txBody>
      </p:sp>
      <p:sp>
        <p:nvSpPr>
          <p:cNvPr id="12" name="src-line"/>
          <p:cNvSpPr txBox="1"/>
          <p:nvPr/>
        </p:nvSpPr>
        <p:spPr>
          <a:xfrm>
            <a:off x="711200" y="6019800"/>
            <a:ext cx="10769600" cy="3048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Statista via SellersCommerce, 2025</a:t>
            </a:r>
            <a:r>
              <a:rPr lang="en-US" sz="1000" noProof="1">
                <a:solidFill>
                  <a:srgbClr val="9A9284"/>
                </a:solidFill>
                <a:latin typeface="Quattrocento Sans"/>
                <a:ea typeface="Quattrocento Sans"/>
              </a:rPr>
              <a:t> (US share); </a:t>
            </a:r>
            <a:r>
              <a:rPr lang="en-US" sz="1000" noProof="1" u="sng">
                <a:solidFill>
                  <a:srgbClr val="0563C1"/>
                </a:solidFill>
                <a:latin typeface="Quattrocento Sans"/>
                <a:ea typeface="Quattrocento Sans"/>
                <a:hlinkClick r:id="rId3"/>
              </a:rPr>
              <a:t>Amazon earnings via Jarvio, 2025</a:t>
            </a:r>
            <a:r>
              <a:rPr lang="en-US" sz="1000" noProof="1">
                <a:solidFill>
                  <a:srgbClr val="9A9284"/>
                </a:solidFill>
                <a:latin typeface="Quattrocento Sans"/>
                <a:ea typeface="Quattrocento Sans"/>
              </a:rPr>
              <a:t> (Rufus); timeline per research brief §1.5/§1.8.</a:t>
            </a:r>
            <a:endParaRPr lang="en-US" sz="10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34</a:t>
            </a:r>
            <a:endParaRPr lang="en-US" sz="950" noProof="1"/>
          </a:p>
        </p:txBody>
      </p:sp>
    </p:spTree>
  </p:cSld>
  <p:clrMapOvr>
    <a:masterClrMapping/>
  </p:clrMapOvr>
</p:sld>
</file>

<file path=ppt/slides/slide3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COMPANY EXAMPLE · SHOPIFY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Shopify: it didn't beat Amazon — it armed everyone else</a:t>
            </a:r>
            <a:endParaRPr lang="en-US" sz="2600" noProof="1"/>
          </a:p>
        </p:txBody>
      </p:sp>
      <p:sp>
        <p:nvSpPr>
          <p:cNvPr id="4" name="story-head"/>
          <p:cNvSpPr txBox="1"/>
          <p:nvPr/>
        </p:nvSpPr>
        <p:spPr>
          <a:xfrm>
            <a:off x="711200" y="1422400"/>
            <a:ext cx="60960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What they did</a:t>
            </a:r>
            <a:endParaRPr lang="en-US" sz="1300" noProof="1"/>
          </a:p>
        </p:txBody>
      </p:sp>
      <p:sp>
        <p:nvSpPr>
          <p:cNvPr id="5" name="story-body"/>
          <p:cNvSpPr txBox="1"/>
          <p:nvPr/>
        </p:nvSpPr>
        <p:spPr>
          <a:xfrm>
            <a:off x="711200" y="1752600"/>
            <a:ext cx="6096000" cy="3175000"/>
          </a:xfrm>
          <a:prstGeom prst="rect">
            <a:avLst/>
          </a:prstGeom>
          <a:noFill/>
          <a:ln>
            <a:noFill/>
          </a:ln>
        </p:spPr>
        <p:txBody>
          <a:bodyPr lIns="0" rIns="0" tIns="0" bIns="0" wrap="square" rtlCol="0"/>
          <a:lstStyle/>
          <a:p>
            <a:pPr>
              <a:lnSpc>
                <a:spcPct val="155000"/>
              </a:lnSpc>
            </a:pPr>
            <a:r>
              <a:rPr lang="en-US" sz="1250" noProof="1" b="1">
                <a:solidFill>
                  <a:srgbClr val="23272E"/>
                </a:solidFill>
                <a:latin typeface="Quattrocento Sans"/>
                <a:ea typeface="Quattrocento Sans"/>
              </a:rPr>
              <a:t>2006 ·</a:t>
            </a:r>
            <a:r>
              <a:rPr lang="en-US" sz="1250" noProof="1">
                <a:solidFill>
                  <a:srgbClr val="23272E"/>
                </a:solidFill>
                <a:latin typeface="Quattrocento Sans"/>
                <a:ea typeface="Quattrocento Sans"/>
              </a:rPr>
              <a:t> Founded in Ottawa — commerce infrastructure rented as SaaS, so a two-person brand gets the same rails as an enterprise.</a:t>
            </a:r>
            <a:endParaRPr lang="en-US" sz="1250" noProof="1"/>
          </a:p>
          <a:p>
            <a:pPr>
              <a:lnSpc>
                <a:spcPct val="155000"/>
              </a:lnSpc>
            </a:pPr>
            <a:r>
              <a:rPr lang="en-US" sz="1250" noProof="1" b="1">
                <a:solidFill>
                  <a:srgbClr val="23272E"/>
                </a:solidFill>
                <a:latin typeface="Quattrocento Sans"/>
                <a:ea typeface="Quattrocento Sans"/>
              </a:rPr>
              <a:t>2021 ·</a:t>
            </a:r>
            <a:r>
              <a:rPr lang="en-US" sz="1250" noProof="1">
                <a:solidFill>
                  <a:srgbClr val="23272E"/>
                </a:solidFill>
                <a:latin typeface="Quattrocento Sans"/>
                <a:ea typeface="Quattrocento Sans"/>
              </a:rPr>
              <a:t> GMV surpasses </a:t>
            </a:r>
            <a:r>
              <a:rPr lang="en-US" sz="1250" noProof="1" b="1">
                <a:solidFill>
                  <a:srgbClr val="23272E"/>
                </a:solidFill>
                <a:latin typeface="Quattrocento Sans"/>
                <a:ea typeface="Quattrocento Sans"/>
              </a:rPr>
              <a:t>$175B</a:t>
            </a:r>
            <a:r>
              <a:rPr lang="en-US" sz="1250" noProof="1">
                <a:solidFill>
                  <a:srgbClr val="23272E"/>
                </a:solidFill>
                <a:latin typeface="Quattrocento Sans"/>
                <a:ea typeface="Quattrocento Sans"/>
              </a:rPr>
              <a:t> — the merchant-platform model proves it can aggregate millions of small sellers into a top-tier commerce power.</a:t>
            </a:r>
            <a:endParaRPr lang="en-US" sz="1250" noProof="1"/>
          </a:p>
          <a:p>
            <a:pPr>
              <a:lnSpc>
                <a:spcPct val="155000"/>
              </a:lnSpc>
            </a:pPr>
            <a:r>
              <a:rPr lang="en-US" sz="1250" noProof="1" b="1">
                <a:solidFill>
                  <a:srgbClr val="23272E"/>
                </a:solidFill>
                <a:latin typeface="Quattrocento Sans"/>
                <a:ea typeface="Quattrocento Sans"/>
              </a:rPr>
              <a:t>2024–25 ·</a:t>
            </a:r>
            <a:r>
              <a:rPr lang="en-US" sz="1250" noProof="1">
                <a:solidFill>
                  <a:srgbClr val="23272E"/>
                </a:solidFill>
                <a:latin typeface="Quattrocento Sans"/>
                <a:ea typeface="Quattrocento Sans"/>
              </a:rPr>
              <a:t> GMV grows </a:t>
            </a:r>
            <a:r>
              <a:rPr lang="en-US" sz="1250" noProof="1" b="1">
                <a:solidFill>
                  <a:srgbClr val="23272E"/>
                </a:solidFill>
                <a:latin typeface="Quattrocento Sans"/>
                <a:ea typeface="Quattrocento Sans"/>
              </a:rPr>
              <a:t>$292B → ~$378B</a:t>
            </a:r>
            <a:r>
              <a:rPr lang="en-US" sz="1250" noProof="1">
                <a:solidFill>
                  <a:srgbClr val="23272E"/>
                </a:solidFill>
                <a:latin typeface="Quattrocento Sans"/>
                <a:ea typeface="Quattrocento Sans"/>
              </a:rPr>
              <a:t>; revenue $8.88B (2024, +26%); ~26% platform share by store count, and the leader among top-1M high-traffic e-commerce sites (~28.8%).</a:t>
            </a:r>
            <a:endParaRPr lang="en-US" sz="1250" noProof="1"/>
          </a:p>
          <a:p>
            <a:pPr>
              <a:lnSpc>
                <a:spcPct val="155000"/>
              </a:lnSpc>
            </a:pPr>
            <a:r>
              <a:rPr lang="en-US" sz="1250" noProof="1" b="1">
                <a:solidFill>
                  <a:srgbClr val="23272E"/>
                </a:solidFill>
                <a:latin typeface="Quattrocento Sans"/>
                <a:ea typeface="Quattrocento Sans"/>
              </a:rPr>
              <a:t>2025 ·</a:t>
            </a:r>
            <a:r>
              <a:rPr lang="en-US" sz="1250" noProof="1">
                <a:solidFill>
                  <a:srgbClr val="23272E"/>
                </a:solidFill>
                <a:latin typeface="Quattrocento Sans"/>
                <a:ea typeface="Quattrocento Sans"/>
              </a:rPr>
              <a:t> Shopify merchants are among the first to sell inside ChatGPT via Instant Checkout (Sept) — the democratiser plugs its merchants into era 5.</a:t>
            </a:r>
            <a:endParaRPr lang="en-US" sz="1250" noProof="1"/>
          </a:p>
        </p:txBody>
      </p:sp>
      <p:sp>
        <p:nvSpPr>
          <p:cNvPr id="6" name="num1-big"/>
          <p:cNvSpPr txBox="1"/>
          <p:nvPr/>
        </p:nvSpPr>
        <p:spPr>
          <a:xfrm>
            <a:off x="7620000" y="1473200"/>
            <a:ext cx="3860800" cy="5842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$378B</a:t>
            </a:r>
            <a:endParaRPr lang="en-US" sz="3800" noProof="1"/>
          </a:p>
        </p:txBody>
      </p:sp>
      <p:sp>
        <p:nvSpPr>
          <p:cNvPr id="7" name="num1-label"/>
          <p:cNvSpPr txBox="1"/>
          <p:nvPr/>
        </p:nvSpPr>
        <p:spPr>
          <a:xfrm>
            <a:off x="7620000" y="2082800"/>
            <a:ext cx="3860800" cy="5588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GMV in 2025 — from zero in under two decades</a:t>
            </a:r>
            <a:endParaRPr lang="en-US" sz="1200" noProof="1"/>
          </a:p>
        </p:txBody>
      </p:sp>
      <p:sp>
        <p:nvSpPr>
          <p:cNvPr id="8" name="num2-big"/>
          <p:cNvSpPr txBox="1"/>
          <p:nvPr/>
        </p:nvSpPr>
        <p:spPr>
          <a:xfrm>
            <a:off x="7620000" y="2844800"/>
            <a:ext cx="3860800" cy="5842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4.6–6.5M</a:t>
            </a:r>
            <a:endParaRPr lang="en-US" sz="3800" noProof="1"/>
          </a:p>
        </p:txBody>
      </p:sp>
      <p:sp>
        <p:nvSpPr>
          <p:cNvPr id="9" name="num2-label"/>
          <p:cNvSpPr txBox="1"/>
          <p:nvPr/>
        </p:nvSpPr>
        <p:spPr>
          <a:xfrm>
            <a:off x="7620000" y="3454400"/>
            <a:ext cx="3860800" cy="762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active stores run on Shopify — merchants who could never have built this stack themselves</a:t>
            </a:r>
            <a:endParaRPr lang="en-US" sz="1200" noProof="1"/>
          </a:p>
        </p:txBody>
      </p:sp>
      <p:sp>
        <p:nvSpPr>
          <p:cNvPr id="10" name="lesson-rule"/>
          <p:cNvSpPr/>
          <p:nvPr/>
        </p:nvSpPr>
        <p:spPr>
          <a:xfrm>
            <a:off x="711200" y="5105400"/>
            <a:ext cx="10769600" cy="12700"/>
          </a:xfrm>
          <a:prstGeom prst="rect">
            <a:avLst/>
          </a:prstGeom>
          <a:solidFill>
            <a:srgbClr val="D9D2C4"/>
          </a:solidFill>
          <a:ln>
            <a:noFill/>
          </a:ln>
        </p:spPr>
      </p:sp>
      <p:sp>
        <p:nvSpPr>
          <p:cNvPr id="11" name="lesson"/>
          <p:cNvSpPr txBox="1"/>
          <p:nvPr/>
        </p:nvSpPr>
        <p:spPr>
          <a:xfrm>
            <a:off x="711200" y="5283200"/>
            <a:ext cx="10769600" cy="6350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Why it matters:</a:t>
            </a:r>
            <a:r>
              <a:rPr lang="en-US" sz="1300" noProof="1">
                <a:solidFill>
                  <a:srgbClr val="23272E"/>
                </a:solidFill>
                <a:latin typeface="Quattrocento Sans"/>
                <a:ea typeface="Quattrocento Sans"/>
              </a:rPr>
              <a:t> era transitions create two kinds of winner — those who master the new interface (Amazon) and those who sell the tools for it (Shopify). When you analyse any commerce shift, look for the "picks and shovels" play alongside the brand play.</a:t>
            </a:r>
            <a:endParaRPr lang="en-US" sz="1300" noProof="1"/>
          </a:p>
        </p:txBody>
      </p:sp>
      <p:sp>
        <p:nvSpPr>
          <p:cNvPr id="12" name="src-line"/>
          <p:cNvSpPr txBox="1"/>
          <p:nvPr/>
        </p:nvSpPr>
        <p:spPr>
          <a:xfrm>
            <a:off x="711200" y="6019800"/>
            <a:ext cx="10769600" cy="3048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Shopify earnings / StoreLeads / BuiltWith via Mobiloud, 2025–2026</a:t>
            </a:r>
            <a:r>
              <a:rPr lang="en-US" sz="1000" noProof="1">
                <a:solidFill>
                  <a:srgbClr val="9A9284"/>
                </a:solidFill>
                <a:latin typeface="Quattrocento Sans"/>
                <a:ea typeface="Quattrocento Sans"/>
              </a:rPr>
              <a:t>; ChatGPT integration: </a:t>
            </a:r>
            <a:r>
              <a:rPr lang="en-US" sz="1000" noProof="1" u="sng">
                <a:solidFill>
                  <a:srgbClr val="0563C1"/>
                </a:solidFill>
                <a:latin typeface="Quattrocento Sans"/>
                <a:ea typeface="Quattrocento Sans"/>
                <a:hlinkClick r:id="rId3"/>
              </a:rPr>
              <a:t>OpenAI via Darkroom, 2026</a:t>
            </a:r>
            <a:r>
              <a:rPr lang="en-US" sz="1000" noProof="1">
                <a:solidFill>
                  <a:srgbClr val="9A9284"/>
                </a:solidFill>
                <a:latin typeface="Quattrocento Sans"/>
                <a:ea typeface="Quattrocento Sans"/>
              </a:rPr>
              <a:t>.</a:t>
            </a:r>
            <a:endParaRPr lang="en-US" sz="10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35</a:t>
            </a:r>
            <a:endParaRPr lang="en-US" sz="950" noProof="1"/>
          </a:p>
        </p:txBody>
      </p:sp>
    </p:spTree>
  </p:cSld>
  <p:clrMapOvr>
    <a:masterClrMapping/>
  </p:clrMapOvr>
</p:sld>
</file>

<file path=ppt/slides/slide3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COMPANY EXAMPLE · WALMART</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Walmart: the era-1 champion that refused to be disrupted</a:t>
            </a:r>
            <a:endParaRPr lang="en-US" sz="2600" noProof="1"/>
          </a:p>
        </p:txBody>
      </p:sp>
      <p:sp>
        <p:nvSpPr>
          <p:cNvPr id="4" name="right-head"/>
          <p:cNvSpPr txBox="1"/>
          <p:nvPr/>
        </p:nvSpPr>
        <p:spPr>
          <a:xfrm>
            <a:off x="711200" y="1422400"/>
            <a:ext cx="60960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What it did right — three moves</a:t>
            </a:r>
            <a:endParaRPr lang="en-US" sz="1300" noProof="1"/>
          </a:p>
        </p:txBody>
      </p:sp>
      <p:sp>
        <p:nvSpPr>
          <p:cNvPr id="5" name="right-body"/>
          <p:cNvSpPr txBox="1"/>
          <p:nvPr/>
        </p:nvSpPr>
        <p:spPr>
          <a:xfrm>
            <a:off x="711200" y="1752600"/>
            <a:ext cx="6096000" cy="3175000"/>
          </a:xfrm>
          <a:prstGeom prst="rect">
            <a:avLst/>
          </a:prstGeom>
          <a:noFill/>
          <a:ln>
            <a:noFill/>
          </a:ln>
        </p:spPr>
        <p:txBody>
          <a:bodyPr lIns="0" rIns="0" tIns="0" bIns="0" wrap="square" rtlCol="0"/>
          <a:lstStyle/>
          <a:p>
            <a:pPr>
              <a:lnSpc>
                <a:spcPct val="155000"/>
              </a:lnSpc>
            </a:pPr>
            <a:r>
              <a:rPr lang="en-US" sz="1250" noProof="1" b="1">
                <a:solidFill>
                  <a:srgbClr val="23272E"/>
                </a:solidFill>
                <a:latin typeface="Quattrocento Sans"/>
                <a:ea typeface="Quattrocento Sans"/>
              </a:rPr>
              <a:t>1 · Rewired its stores, didn't abandon them.</a:t>
            </a:r>
            <a:r>
              <a:rPr lang="en-US" sz="1250" noProof="1">
                <a:solidFill>
                  <a:srgbClr val="23272E"/>
                </a:solidFill>
                <a:latin typeface="Quattrocento Sans"/>
                <a:ea typeface="Quattrocento Sans"/>
              </a:rPr>
              <a:t> ~4,600 US stores now double as fulfilment nodes for online orders — era-1 assets became era-2/3 infrastructure.</a:t>
            </a:r>
            <a:endParaRPr lang="en-US" sz="1250" noProof="1"/>
          </a:p>
          <a:p>
            <a:pPr>
              <a:lnSpc>
                <a:spcPct val="155000"/>
              </a:lnSpc>
            </a:pPr>
            <a:r>
              <a:rPr lang="en-US" sz="1250" noProof="1" b="1">
                <a:solidFill>
                  <a:srgbClr val="23272E"/>
                </a:solidFill>
                <a:latin typeface="Quattrocento Sans"/>
                <a:ea typeface="Quattrocento Sans"/>
              </a:rPr>
              <a:t>2 · Played fast follower, not first mover.</a:t>
            </a:r>
            <a:r>
              <a:rPr lang="en-US" sz="1250" noProof="1">
                <a:solidFill>
                  <a:srgbClr val="23272E"/>
                </a:solidFill>
                <a:latin typeface="Quattrocento Sans"/>
                <a:ea typeface="Quattrocento Sans"/>
              </a:rPr>
              <a:t> Walmart+ followed Amazon Prime after watching ~15 years of logistics learning — letting the pioneer pay for customer education.</a:t>
            </a:r>
            <a:endParaRPr lang="en-US" sz="1250" noProof="1"/>
          </a:p>
          <a:p>
            <a:pPr>
              <a:lnSpc>
                <a:spcPct val="155000"/>
              </a:lnSpc>
            </a:pPr>
            <a:r>
              <a:rPr lang="en-US" sz="1250" noProof="1" b="1">
                <a:solidFill>
                  <a:srgbClr val="23272E"/>
                </a:solidFill>
                <a:latin typeface="Quattrocento Sans"/>
                <a:ea typeface="Quattrocento Sans"/>
              </a:rPr>
              <a:t>3 · Kept the physical flywheel spinning.</a:t>
            </a:r>
            <a:r>
              <a:rPr lang="en-US" sz="1250" noProof="1">
                <a:solidFill>
                  <a:srgbClr val="23272E"/>
                </a:solidFill>
                <a:latin typeface="Quattrocento Sans"/>
                <a:ea typeface="Quattrocento Sans"/>
              </a:rPr>
              <a:t> Its ~6.4% share of US e-commerce sits </a:t>
            </a:r>
            <a:r>
              <a:rPr lang="en-US" sz="1250" noProof="1" i="1">
                <a:solidFill>
                  <a:srgbClr val="23272E"/>
                </a:solidFill>
                <a:latin typeface="Quattrocento Sans"/>
                <a:ea typeface="Quattrocento Sans"/>
              </a:rPr>
              <a:t>on top of</a:t>
            </a:r>
            <a:r>
              <a:rPr lang="en-US" sz="1250" noProof="1">
                <a:solidFill>
                  <a:srgbClr val="23272E"/>
                </a:solidFill>
                <a:latin typeface="Quattrocento Sans"/>
                <a:ea typeface="Quattrocento Sans"/>
              </a:rPr>
              <a:t> the world's largest store network — the continuum layers, it doesn't swap.</a:t>
            </a:r>
            <a:endParaRPr lang="en-US" sz="1250" noProof="1"/>
          </a:p>
        </p:txBody>
      </p:sp>
      <p:sp>
        <p:nvSpPr>
          <p:cNvPr id="6" name="num1-big"/>
          <p:cNvSpPr txBox="1"/>
          <p:nvPr/>
        </p:nvSpPr>
        <p:spPr>
          <a:xfrm>
            <a:off x="7620000" y="1473200"/>
            <a:ext cx="3860800" cy="5842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~6.4%</a:t>
            </a:r>
            <a:endParaRPr lang="en-US" sz="3800" noProof="1"/>
          </a:p>
        </p:txBody>
      </p:sp>
      <p:sp>
        <p:nvSpPr>
          <p:cNvPr id="7" name="num1-label"/>
          <p:cNvSpPr txBox="1"/>
          <p:nvPr/>
        </p:nvSpPr>
        <p:spPr>
          <a:xfrm>
            <a:off x="7620000" y="2082800"/>
            <a:ext cx="3860800" cy="5588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of US e-commerce — #2 behind Amazon (~37.6%), ahead of every pure-play</a:t>
            </a:r>
            <a:endParaRPr lang="en-US" sz="1200" noProof="1"/>
          </a:p>
        </p:txBody>
      </p:sp>
      <p:sp>
        <p:nvSpPr>
          <p:cNvPr id="8" name="num2-big"/>
          <p:cNvSpPr txBox="1"/>
          <p:nvPr/>
        </p:nvSpPr>
        <p:spPr>
          <a:xfrm>
            <a:off x="7620000" y="2844800"/>
            <a:ext cx="3860800" cy="584200"/>
          </a:xfrm>
          <a:prstGeom prst="rect">
            <a:avLst/>
          </a:prstGeom>
          <a:noFill/>
          <a:ln>
            <a:noFill/>
          </a:ln>
        </p:spPr>
        <p:txBody>
          <a:bodyPr lIns="0" rIns="0" tIns="0" bIns="0" wrap="none" rtlCol="0"/>
          <a:lstStyle/>
          <a:p>
            <a:pPr>
              <a:lnSpc>
                <a:spcPct val="120000"/>
              </a:lnSpc>
            </a:pPr>
            <a:r>
              <a:rPr lang="en-US" sz="3800" noProof="1">
                <a:solidFill>
                  <a:srgbClr val="BC4B26"/>
                </a:solidFill>
                <a:latin typeface="Unna"/>
                <a:ea typeface="Unna"/>
              </a:rPr>
              <a:t>~4,600</a:t>
            </a:r>
            <a:endParaRPr lang="en-US" sz="3800" noProof="1"/>
          </a:p>
        </p:txBody>
      </p:sp>
      <p:sp>
        <p:nvSpPr>
          <p:cNvPr id="9" name="num2-label"/>
          <p:cNvSpPr txBox="1"/>
          <p:nvPr/>
        </p:nvSpPr>
        <p:spPr>
          <a:xfrm>
            <a:off x="7620000" y="3454400"/>
            <a:ext cx="3860800" cy="762000"/>
          </a:xfrm>
          <a:prstGeom prst="rect">
            <a:avLst/>
          </a:prstGeom>
          <a:noFill/>
          <a:ln>
            <a:noFill/>
          </a:ln>
        </p:spPr>
        <p:txBody>
          <a:bodyPr lIns="0" rIns="0" tIns="0" bIns="0" wrap="square" rtlCol="0"/>
          <a:lstStyle/>
          <a:p>
            <a:pPr>
              <a:lnSpc>
                <a:spcPct val="140000"/>
              </a:lnSpc>
            </a:pPr>
            <a:r>
              <a:rPr lang="en-US" sz="1200" noProof="1">
                <a:solidFill>
                  <a:srgbClr val="23272E"/>
                </a:solidFill>
                <a:latin typeface="Quattrocento Sans"/>
                <a:ea typeface="Quattrocento Sans"/>
              </a:rPr>
              <a:t>US stores serving as pickup points, fulfilment nodes and showrooms at once</a:t>
            </a:r>
            <a:endParaRPr lang="en-US" sz="1200" noProof="1"/>
          </a:p>
        </p:txBody>
      </p:sp>
      <p:sp>
        <p:nvSpPr>
          <p:cNvPr id="10" name="lesson-rule"/>
          <p:cNvSpPr/>
          <p:nvPr/>
        </p:nvSpPr>
        <p:spPr>
          <a:xfrm>
            <a:off x="711200" y="5105400"/>
            <a:ext cx="10769600" cy="12700"/>
          </a:xfrm>
          <a:prstGeom prst="rect">
            <a:avLst/>
          </a:prstGeom>
          <a:solidFill>
            <a:srgbClr val="D9D2C4"/>
          </a:solidFill>
          <a:ln>
            <a:noFill/>
          </a:ln>
        </p:spPr>
      </p:sp>
      <p:sp>
        <p:nvSpPr>
          <p:cNvPr id="11" name="lesson"/>
          <p:cNvSpPr txBox="1"/>
          <p:nvPr/>
        </p:nvSpPr>
        <p:spPr>
          <a:xfrm>
            <a:off x="711200" y="5283200"/>
            <a:ext cx="10769600" cy="635000"/>
          </a:xfrm>
          <a:prstGeom prst="rect">
            <a:avLst/>
          </a:prstGeom>
          <a:noFill/>
          <a:ln>
            <a:noFill/>
          </a:ln>
        </p:spPr>
        <p:txBody>
          <a:bodyPr lIns="0" rIns="0" tIns="0" bIns="0" wrap="square" rtlCol="0"/>
          <a:lstStyle/>
          <a:p>
            <a:pPr>
              <a:lnSpc>
                <a:spcPct val="145000"/>
              </a:lnSpc>
            </a:pPr>
            <a:r>
              <a:rPr lang="en-US" sz="1300" noProof="1" b="1">
                <a:solidFill>
                  <a:srgbClr val="23272E"/>
                </a:solidFill>
                <a:latin typeface="Quattrocento Sans"/>
                <a:ea typeface="Quattrocento Sans"/>
              </a:rPr>
              <a:t>Why it matters:</a:t>
            </a:r>
            <a:r>
              <a:rPr lang="en-US" sz="1300" noProof="1">
                <a:solidFill>
                  <a:srgbClr val="23272E"/>
                </a:solidFill>
                <a:latin typeface="Quattrocento Sans"/>
                <a:ea typeface="Quattrocento Sans"/>
              </a:rPr>
              <a:t> the obituary for legacy retail was written many times — yet the strongest physical retailers converted their store networks into a digital moat. The strategic question is never "old channel vs new channel" but "which existing assets can serve the next interface?"</a:t>
            </a:r>
            <a:endParaRPr lang="en-US" sz="1300" noProof="1"/>
          </a:p>
        </p:txBody>
      </p:sp>
      <p:sp>
        <p:nvSpPr>
          <p:cNvPr id="12" name="src-line"/>
          <p:cNvSpPr txBox="1"/>
          <p:nvPr/>
        </p:nvSpPr>
        <p:spPr>
          <a:xfrm>
            <a:off x="711200" y="6019800"/>
            <a:ext cx="10769600" cy="3048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Statista via SellersCommerce, 2025</a:t>
            </a:r>
            <a:r>
              <a:rPr lang="en-US" sz="1000" noProof="1">
                <a:solidFill>
                  <a:srgbClr val="9A9284"/>
                </a:solidFill>
                <a:latin typeface="Quattrocento Sans"/>
                <a:ea typeface="Quattrocento Sans"/>
              </a:rPr>
              <a:t> (US e-commerce shares); Walmart+ fast-follower framing per research brief §1.6/§1.8.</a:t>
            </a:r>
            <a:endParaRPr lang="en-US" sz="10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36</a:t>
            </a:r>
            <a:endParaRPr lang="en-US" sz="950" noProof="1"/>
          </a:p>
        </p:txBody>
      </p:sp>
    </p:spTree>
  </p:cSld>
  <p:clrMapOvr>
    <a:masterClrMapping/>
  </p:clrMapOvr>
</p:sld>
</file>

<file path=ppt/slides/slide3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MINI CASE · PINDUODUO</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Born in era 4: Pinduoduo skipped the web store entirely</a:t>
            </a:r>
            <a:endParaRPr lang="en-US" sz="2600" noProof="1"/>
          </a:p>
        </p:txBody>
      </p:sp>
      <p:sp>
        <p:nvSpPr>
          <p:cNvPr id="4" name="arc1-head"/>
          <p:cNvSpPr txBox="1"/>
          <p:nvPr/>
        </p:nvSpPr>
        <p:spPr>
          <a:xfrm>
            <a:off x="711200" y="1422400"/>
            <a:ext cx="5080000" cy="254000"/>
          </a:xfrm>
          <a:prstGeom prst="rect">
            <a:avLst/>
          </a:prstGeom>
          <a:noFill/>
          <a:ln>
            <a:noFill/>
          </a:ln>
        </p:spPr>
        <p:txBody>
          <a:bodyPr lIns="0" rIns="0" tIns="0" bIns="0" wrap="square" rtlCol="0"/>
          <a:lstStyle/>
          <a:p>
            <a:pPr>
              <a:lnSpc>
                <a:spcPct val="120000"/>
              </a:lnSpc>
            </a:pPr>
            <a:r>
              <a:rPr lang="en-US" sz="1250" noProof="1" b="1">
                <a:solidFill>
                  <a:srgbClr val="BC4B26"/>
                </a:solidFill>
                <a:latin typeface="Quattrocento Sans"/>
                <a:ea typeface="Quattrocento Sans"/>
              </a:rPr>
              <a:t>CONTEXT</a:t>
            </a:r>
            <a:endParaRPr lang="en-US" sz="1250" noProof="1"/>
          </a:p>
        </p:txBody>
      </p:sp>
      <p:sp>
        <p:nvSpPr>
          <p:cNvPr id="5" name="arc1-body"/>
          <p:cNvSpPr txBox="1"/>
          <p:nvPr/>
        </p:nvSpPr>
        <p:spPr>
          <a:xfrm>
            <a:off x="711200" y="1727200"/>
            <a:ext cx="5080000" cy="1143000"/>
          </a:xfrm>
          <a:prstGeom prst="rect">
            <a:avLst/>
          </a:prstGeom>
          <a:noFill/>
          <a:ln>
            <a:noFill/>
          </a:ln>
        </p:spPr>
        <p:txBody>
          <a:bodyPr lIns="0" rIns="0" tIns="0" bIns="0" wrap="square" rtlCol="0"/>
          <a:lstStyle/>
          <a:p>
            <a:pPr>
              <a:lnSpc>
                <a:spcPct val="150000"/>
              </a:lnSpc>
            </a:pPr>
            <a:r>
              <a:rPr lang="en-US" sz="1200" noProof="1">
                <a:solidFill>
                  <a:srgbClr val="23272E"/>
                </a:solidFill>
                <a:latin typeface="Quattrocento Sans"/>
                <a:ea typeface="Quattrocento Sans"/>
              </a:rPr>
              <a:t>Founded 2015/16 in China — two decades after Amazon, in a market where Alibaba and JD already dominated conventional e-commerce. Competing on search-based catalogue shopping was a losing game.</a:t>
            </a:r>
            <a:endParaRPr lang="en-US" sz="1200" noProof="1"/>
          </a:p>
        </p:txBody>
      </p:sp>
      <p:sp>
        <p:nvSpPr>
          <p:cNvPr id="6" name="arc2-head"/>
          <p:cNvSpPr txBox="1"/>
          <p:nvPr/>
        </p:nvSpPr>
        <p:spPr>
          <a:xfrm>
            <a:off x="6400800" y="1422400"/>
            <a:ext cx="5080000" cy="254000"/>
          </a:xfrm>
          <a:prstGeom prst="rect">
            <a:avLst/>
          </a:prstGeom>
          <a:noFill/>
          <a:ln>
            <a:noFill/>
          </a:ln>
        </p:spPr>
        <p:txBody>
          <a:bodyPr lIns="0" rIns="0" tIns="0" bIns="0" wrap="square" rtlCol="0"/>
          <a:lstStyle/>
          <a:p>
            <a:pPr>
              <a:lnSpc>
                <a:spcPct val="120000"/>
              </a:lnSpc>
            </a:pPr>
            <a:r>
              <a:rPr lang="en-US" sz="1250" noProof="1" b="1">
                <a:solidFill>
                  <a:srgbClr val="BC4B26"/>
                </a:solidFill>
                <a:latin typeface="Quattrocento Sans"/>
                <a:ea typeface="Quattrocento Sans"/>
              </a:rPr>
              <a:t>THE MECHANISM</a:t>
            </a:r>
            <a:endParaRPr lang="en-US" sz="1250" noProof="1"/>
          </a:p>
        </p:txBody>
      </p:sp>
      <p:sp>
        <p:nvSpPr>
          <p:cNvPr id="7" name="arc2-body"/>
          <p:cNvSpPr txBox="1"/>
          <p:nvPr/>
        </p:nvSpPr>
        <p:spPr>
          <a:xfrm>
            <a:off x="6400800" y="1727200"/>
            <a:ext cx="5080000" cy="1143000"/>
          </a:xfrm>
          <a:prstGeom prst="rect">
            <a:avLst/>
          </a:prstGeom>
          <a:noFill/>
          <a:ln>
            <a:noFill/>
          </a:ln>
        </p:spPr>
        <p:txBody>
          <a:bodyPr lIns="0" rIns="0" tIns="0" bIns="0" wrap="square" rtlCol="0"/>
          <a:lstStyle/>
          <a:p>
            <a:pPr>
              <a:lnSpc>
                <a:spcPct val="150000"/>
              </a:lnSpc>
            </a:pPr>
            <a:r>
              <a:rPr lang="en-US" sz="1200" noProof="1" b="1">
                <a:solidFill>
                  <a:srgbClr val="23272E"/>
                </a:solidFill>
                <a:latin typeface="Quattrocento Sans"/>
                <a:ea typeface="Quattrocento Sans"/>
              </a:rPr>
              <a:t>Team purchase:</a:t>
            </a:r>
            <a:r>
              <a:rPr lang="en-US" sz="1200" noProof="1">
                <a:solidFill>
                  <a:srgbClr val="23272E"/>
                </a:solidFill>
                <a:latin typeface="Quattrocento Sans"/>
                <a:ea typeface="Quattrocento Sans"/>
              </a:rPr>
              <a:t> prices drop when buyers form groups — so shoppers recruit friends and family on WeChat to unlock deals. Discovery, social proof and acquisition all happen inside the chat thread, not in a search box.</a:t>
            </a:r>
            <a:endParaRPr lang="en-US" sz="1200" noProof="1"/>
          </a:p>
        </p:txBody>
      </p:sp>
      <p:sp>
        <p:nvSpPr>
          <p:cNvPr id="8" name="arc-rule1"/>
          <p:cNvSpPr/>
          <p:nvPr/>
        </p:nvSpPr>
        <p:spPr>
          <a:xfrm>
            <a:off x="711200" y="3048000"/>
            <a:ext cx="10769600" cy="12700"/>
          </a:xfrm>
          <a:prstGeom prst="rect">
            <a:avLst/>
          </a:prstGeom>
          <a:solidFill>
            <a:srgbClr val="D9D2C4"/>
          </a:solidFill>
          <a:ln>
            <a:noFill/>
          </a:ln>
        </p:spPr>
      </p:sp>
      <p:sp>
        <p:nvSpPr>
          <p:cNvPr id="9" name="arc3-head"/>
          <p:cNvSpPr txBox="1"/>
          <p:nvPr/>
        </p:nvSpPr>
        <p:spPr>
          <a:xfrm>
            <a:off x="711200" y="3225800"/>
            <a:ext cx="5080000" cy="254000"/>
          </a:xfrm>
          <a:prstGeom prst="rect">
            <a:avLst/>
          </a:prstGeom>
          <a:noFill/>
          <a:ln>
            <a:noFill/>
          </a:ln>
        </p:spPr>
        <p:txBody>
          <a:bodyPr lIns="0" rIns="0" tIns="0" bIns="0" wrap="square" rtlCol="0"/>
          <a:lstStyle/>
          <a:p>
            <a:pPr>
              <a:lnSpc>
                <a:spcPct val="120000"/>
              </a:lnSpc>
            </a:pPr>
            <a:r>
              <a:rPr lang="en-US" sz="1250" noProof="1" b="1">
                <a:solidFill>
                  <a:srgbClr val="BC4B26"/>
                </a:solidFill>
                <a:latin typeface="Quattrocento Sans"/>
                <a:ea typeface="Quattrocento Sans"/>
              </a:rPr>
              <a:t>SCALE</a:t>
            </a:r>
            <a:endParaRPr lang="en-US" sz="1250" noProof="1"/>
          </a:p>
        </p:txBody>
      </p:sp>
      <p:sp>
        <p:nvSpPr>
          <p:cNvPr id="10" name="arc3-body"/>
          <p:cNvSpPr txBox="1"/>
          <p:nvPr/>
        </p:nvSpPr>
        <p:spPr>
          <a:xfrm>
            <a:off x="711200" y="3530600"/>
            <a:ext cx="5080000" cy="1397000"/>
          </a:xfrm>
          <a:prstGeom prst="rect">
            <a:avLst/>
          </a:prstGeom>
          <a:noFill/>
          <a:ln>
            <a:noFill/>
          </a:ln>
        </p:spPr>
        <p:txBody>
          <a:bodyPr lIns="0" rIns="0" tIns="0" bIns="0" wrap="square" rtlCol="0"/>
          <a:lstStyle/>
          <a:p>
            <a:pPr>
              <a:lnSpc>
                <a:spcPct val="150000"/>
              </a:lnSpc>
            </a:pPr>
            <a:r>
              <a:rPr lang="en-US" sz="2400" noProof="1">
                <a:solidFill>
                  <a:srgbClr val="BC4B26"/>
                </a:solidFill>
                <a:latin typeface="Unna"/>
                <a:ea typeface="Unna"/>
              </a:rPr>
              <a:t>~900M+</a:t>
            </a:r>
            <a:r>
              <a:rPr lang="en-US" sz="1200" noProof="1">
                <a:solidFill>
                  <a:srgbClr val="23272E"/>
                </a:solidFill>
                <a:latin typeface="Quattrocento Sans"/>
                <a:ea typeface="Quattrocento Sans"/>
              </a:rPr>
              <a:t> users — reaching a top-3 position among Chinese platforms within a few years of launch, powered by social virality rather than advertising spend.</a:t>
            </a:r>
            <a:endParaRPr lang="en-US" sz="1200" noProof="1"/>
          </a:p>
          <a:p>
            <a:pPr>
              <a:lnSpc>
                <a:spcPct val="150000"/>
              </a:lnSpc>
              <a:spcBef>
                <a:spcPts val="600"/>
              </a:spcBef>
            </a:pPr>
            <a:r>
              <a:rPr lang="en-US" sz="1200" noProof="1">
                <a:solidFill>
                  <a:srgbClr val="23272E"/>
                </a:solidFill>
                <a:latin typeface="Quattrocento Sans"/>
                <a:ea typeface="Quattrocento Sans"/>
              </a:rPr>
              <a:t>Companion case: </a:t>
            </a:r>
            <a:r>
              <a:rPr lang="en-US" sz="1200" noProof="1" b="1">
                <a:solidFill>
                  <a:srgbClr val="23272E"/>
                </a:solidFill>
                <a:latin typeface="Quattrocento Sans"/>
                <a:ea typeface="Quattrocento Sans"/>
              </a:rPr>
              <a:t>Meesho</a:t>
            </a:r>
            <a:r>
              <a:rPr lang="en-US" sz="1200" noProof="1">
                <a:solidFill>
                  <a:srgbClr val="23272E"/>
                </a:solidFill>
                <a:latin typeface="Quattrocento Sans"/>
                <a:ea typeface="Quattrocento Sans"/>
              </a:rPr>
              <a:t> (India, 2015) applied the same social-selling logic to ~1.4M+ small sellers via WhatsApp.</a:t>
            </a:r>
            <a:endParaRPr lang="en-US" sz="1200" noProof="1"/>
          </a:p>
        </p:txBody>
      </p:sp>
      <p:sp>
        <p:nvSpPr>
          <p:cNvPr id="11" name="arc4-head"/>
          <p:cNvSpPr txBox="1"/>
          <p:nvPr/>
        </p:nvSpPr>
        <p:spPr>
          <a:xfrm>
            <a:off x="6400800" y="3225800"/>
            <a:ext cx="5080000" cy="254000"/>
          </a:xfrm>
          <a:prstGeom prst="rect">
            <a:avLst/>
          </a:prstGeom>
          <a:noFill/>
          <a:ln>
            <a:noFill/>
          </a:ln>
        </p:spPr>
        <p:txBody>
          <a:bodyPr lIns="0" rIns="0" tIns="0" bIns="0" wrap="square" rtlCol="0"/>
          <a:lstStyle/>
          <a:p>
            <a:pPr>
              <a:lnSpc>
                <a:spcPct val="120000"/>
              </a:lnSpc>
            </a:pPr>
            <a:r>
              <a:rPr lang="en-US" sz="1250" noProof="1" b="1">
                <a:solidFill>
                  <a:srgbClr val="BC4B26"/>
                </a:solidFill>
                <a:latin typeface="Quattrocento Sans"/>
                <a:ea typeface="Quattrocento Sans"/>
              </a:rPr>
              <a:t>THE LESSON</a:t>
            </a:r>
            <a:endParaRPr lang="en-US" sz="1250" noProof="1"/>
          </a:p>
        </p:txBody>
      </p:sp>
      <p:sp>
        <p:nvSpPr>
          <p:cNvPr id="12" name="arc4-body"/>
          <p:cNvSpPr txBox="1"/>
          <p:nvPr/>
        </p:nvSpPr>
        <p:spPr>
          <a:xfrm>
            <a:off x="6400800" y="3530600"/>
            <a:ext cx="5080000" cy="1397000"/>
          </a:xfrm>
          <a:prstGeom prst="rect">
            <a:avLst/>
          </a:prstGeom>
          <a:noFill/>
          <a:ln>
            <a:noFill/>
          </a:ln>
        </p:spPr>
        <p:txBody>
          <a:bodyPr lIns="0" rIns="0" tIns="0" bIns="0" wrap="square" rtlCol="0"/>
          <a:lstStyle/>
          <a:p>
            <a:pPr>
              <a:lnSpc>
                <a:spcPct val="150000"/>
              </a:lnSpc>
            </a:pPr>
            <a:r>
              <a:rPr lang="en-US" sz="1200" noProof="1">
                <a:solidFill>
                  <a:srgbClr val="23272E"/>
                </a:solidFill>
                <a:latin typeface="Quattrocento Sans"/>
                <a:ea typeface="Quattrocento Sans"/>
              </a:rPr>
              <a:t>Each era creates natives that the previous era's giants struggle to copy. Alibaba and JD built era-2 muscles; Pinduoduo built era-4 muscles. </a:t>
            </a:r>
            <a:r>
              <a:rPr lang="en-US" sz="1200" noProof="1" b="1">
                <a:solidFill>
                  <a:srgbClr val="23272E"/>
                </a:solidFill>
                <a:latin typeface="Quattrocento Sans"/>
                <a:ea typeface="Quattrocento Sans"/>
              </a:rPr>
              <a:t>When the interface changes, the organisational advantage resets</a:t>
            </a:r>
            <a:r>
              <a:rPr lang="en-US" sz="1200" noProof="1">
                <a:solidFill>
                  <a:srgbClr val="23272E"/>
                </a:solidFill>
                <a:latin typeface="Quattrocento Sans"/>
                <a:ea typeface="Quattrocento Sans"/>
              </a:rPr>
              <a:t> — that is why incumbents buy (Meta/Instagram) or copy (JD's group deals) rather than originate.</a:t>
            </a:r>
            <a:endParaRPr lang="en-US" sz="1200" noProof="1"/>
          </a:p>
        </p:txBody>
      </p:sp>
      <p:sp>
        <p:nvSpPr>
          <p:cNvPr id="13" name="disc-zone"/>
          <p:cNvSpPr/>
          <p:nvPr/>
        </p:nvSpPr>
        <p:spPr>
          <a:xfrm>
            <a:off x="711200" y="5080000"/>
            <a:ext cx="10769600" cy="838200"/>
          </a:xfrm>
          <a:prstGeom prst="rect">
            <a:avLst/>
          </a:prstGeom>
          <a:solidFill>
            <a:srgbClr val="F6E7DE"/>
          </a:solidFill>
          <a:ln>
            <a:noFill/>
          </a:ln>
        </p:spPr>
      </p:sp>
      <p:sp>
        <p:nvSpPr>
          <p:cNvPr id="14" name="disc-text"/>
          <p:cNvSpPr txBox="1"/>
          <p:nvPr/>
        </p:nvSpPr>
        <p:spPr>
          <a:xfrm>
            <a:off x="1016000" y="5232400"/>
            <a:ext cx="10160000" cy="5588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Quick check:</a:t>
            </a:r>
            <a:r>
              <a:rPr lang="en-US" sz="1250" noProof="1">
                <a:solidFill>
                  <a:srgbClr val="23272E"/>
                </a:solidFill>
                <a:latin typeface="Quattrocento Sans"/>
                <a:ea typeface="Quattrocento Sans"/>
              </a:rPr>
              <a:t> place Pinduoduo on the continuum from p19. Which constraint did team purchase remove — shelf space, location, attention, effort or delegation? Defend your answer in one sentence.</a:t>
            </a:r>
            <a:endParaRPr lang="en-US" sz="1250" noProof="1"/>
          </a:p>
        </p:txBody>
      </p:sp>
      <p:sp>
        <p:nvSpPr>
          <p:cNvPr id="15" name="src-line"/>
          <p:cNvSpPr txBox="1"/>
          <p:nvPr/>
        </p:nvSpPr>
        <p:spPr>
          <a:xfrm>
            <a:off x="711200" y="6070600"/>
            <a:ext cx="10769600" cy="2540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 company history per research brief §1.8 (widely documented); user scale is company-reported.</a:t>
            </a:r>
            <a:endParaRPr lang="en-US" sz="1000" noProof="1"/>
          </a:p>
        </p:txBody>
      </p:sp>
      <p:sp>
        <p:nvSpPr>
          <p:cNvPr id="16" name="foot-rule"/>
          <p:cNvSpPr/>
          <p:nvPr/>
        </p:nvSpPr>
        <p:spPr>
          <a:xfrm>
            <a:off x="711200" y="6451600"/>
            <a:ext cx="10769600" cy="12700"/>
          </a:xfrm>
          <a:prstGeom prst="rect">
            <a:avLst/>
          </a:prstGeom>
          <a:solidFill>
            <a:srgbClr val="D9D2C4"/>
          </a:solidFill>
          <a:ln>
            <a:noFill/>
          </a:ln>
        </p:spPr>
      </p:sp>
      <p:sp>
        <p:nvSpPr>
          <p:cNvPr id="17"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8"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9"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37</a:t>
            </a:r>
            <a:endParaRPr lang="en-US" sz="950" noProof="1"/>
          </a:p>
        </p:txBody>
      </p:sp>
    </p:spTree>
  </p:cSld>
  <p:clrMapOvr>
    <a:masterClrMapping/>
  </p:clrMapOvr>
</p:sld>
</file>

<file path=ppt/slides/slide3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MISCONCEPTION CHECK</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"E-commerce killed physical retail" — did it, though?</a:t>
            </a:r>
            <a:endParaRPr lang="en-US" sz="2600" noProof="1"/>
          </a:p>
        </p:txBody>
      </p:sp>
      <p:sp>
        <p:nvSpPr>
          <p:cNvPr id="4" name="for-head"/>
          <p:cNvSpPr txBox="1"/>
          <p:nvPr/>
        </p:nvSpPr>
        <p:spPr>
          <a:xfrm>
            <a:off x="711200" y="1422400"/>
            <a:ext cx="5080000" cy="279400"/>
          </a:xfrm>
          <a:prstGeom prst="rect">
            <a:avLst/>
          </a:prstGeom>
          <a:noFill/>
          <a:ln>
            <a:noFill/>
          </a:ln>
        </p:spPr>
        <p:txBody>
          <a:bodyPr lIns="0" rIns="0" tIns="0" bIns="0" wrap="square" rtlCol="0"/>
          <a:lstStyle/>
          <a:p>
            <a:pPr>
              <a:lnSpc>
                <a:spcPct val="120000"/>
              </a:lnSpc>
            </a:pPr>
            <a:r>
              <a:rPr lang="en-US" sz="1350" noProof="1" b="1">
                <a:solidFill>
                  <a:srgbClr val="BC4B26"/>
                </a:solidFill>
                <a:latin typeface="Quattrocento Sans"/>
                <a:ea typeface="Quattrocento Sans"/>
              </a:rPr>
              <a:t>Evidence that sounds like "yes"</a:t>
            </a:r>
            <a:endParaRPr lang="en-US" sz="1350" noProof="1"/>
          </a:p>
        </p:txBody>
      </p:sp>
      <p:sp>
        <p:nvSpPr>
          <p:cNvPr id="5" name="for-body"/>
          <p:cNvSpPr txBox="1"/>
          <p:nvPr/>
        </p:nvSpPr>
        <p:spPr>
          <a:xfrm>
            <a:off x="711200" y="1778000"/>
            <a:ext cx="5080000" cy="2032000"/>
          </a:xfrm>
          <a:prstGeom prst="rect">
            <a:avLst/>
          </a:prstGeom>
          <a:noFill/>
          <a:ln>
            <a:noFill/>
          </a:ln>
        </p:spPr>
        <p:txBody>
          <a:bodyPr lIns="0" rIns="0" tIns="0" bIns="0" wrap="square" rtlCol="0"/>
          <a:lstStyle/>
          <a:p>
            <a:pPr>
              <a:lnSpc>
                <a:spcPct val="155000"/>
              </a:lnSpc>
              <a:spcBef>
                <a:spcPts val="10"/>
              </a:spcBef>
              <a:buChar char="•"/>
            </a:pPr>
            <a:r>
              <a:rPr lang="en-US" sz="1250" noProof="1">
                <a:solidFill>
                  <a:srgbClr val="23272E"/>
                </a:solidFill>
                <a:latin typeface="Quattrocento Sans"/>
                <a:ea typeface="Quattrocento Sans"/>
              </a:rPr>
              <a:t>E-commerce took ~20% of world retail in 30 years — an enormous absolute transfer of spend</a:t>
            </a:r>
            <a:endParaRPr lang="en-US" sz="1250" noProof="1"/>
          </a:p>
          <a:p>
            <a:pPr>
              <a:lnSpc>
                <a:spcPct val="155000"/>
              </a:lnSpc>
              <a:spcBef>
                <a:spcPts val="10"/>
              </a:spcBef>
              <a:buChar char="•"/>
            </a:pPr>
            <a:r>
              <a:rPr lang="en-US" sz="1250" noProof="1">
                <a:solidFill>
                  <a:srgbClr val="23272E"/>
                </a:solidFill>
                <a:latin typeface="Quattrocento Sans"/>
                <a:ea typeface="Quattrocento Sans"/>
              </a:rPr>
              <a:t>COVID jumped US online share from 10.6% to 14.5% in a single year (2020)</a:t>
            </a:r>
            <a:endParaRPr lang="en-US" sz="1250" noProof="1"/>
          </a:p>
          <a:p>
            <a:pPr>
              <a:lnSpc>
                <a:spcPct val="155000"/>
              </a:lnSpc>
              <a:spcBef>
                <a:spcPts val="10"/>
              </a:spcBef>
              <a:buChar char="•"/>
            </a:pPr>
            <a:r>
              <a:rPr lang="en-US" sz="1250" noProof="1">
                <a:solidFill>
                  <a:srgbClr val="23272E"/>
                </a:solidFill>
                <a:latin typeface="Quattrocento Sans"/>
                <a:ea typeface="Quattrocento Sans"/>
              </a:rPr>
              <a:t>Category casualties are real: bookstores, electronics and toys moved online first</a:t>
            </a:r>
            <a:endParaRPr lang="en-US" sz="1250" noProof="1"/>
          </a:p>
        </p:txBody>
      </p:sp>
      <p:sp>
        <p:nvSpPr>
          <p:cNvPr id="6" name="divider-v"/>
          <p:cNvSpPr/>
          <p:nvPr/>
        </p:nvSpPr>
        <p:spPr>
          <a:xfrm>
            <a:off x="6070600" y="1422400"/>
            <a:ext cx="12700" cy="2540000"/>
          </a:xfrm>
          <a:prstGeom prst="rect">
            <a:avLst/>
          </a:prstGeom>
          <a:solidFill>
            <a:srgbClr val="D9D2C4"/>
          </a:solidFill>
          <a:ln>
            <a:noFill/>
          </a:ln>
        </p:spPr>
      </p:sp>
      <p:sp>
        <p:nvSpPr>
          <p:cNvPr id="7" name="against-head"/>
          <p:cNvSpPr txBox="1"/>
          <p:nvPr/>
        </p:nvSpPr>
        <p:spPr>
          <a:xfrm>
            <a:off x="6400800" y="1422400"/>
            <a:ext cx="5080000" cy="279400"/>
          </a:xfrm>
          <a:prstGeom prst="rect">
            <a:avLst/>
          </a:prstGeom>
          <a:noFill/>
          <a:ln>
            <a:noFill/>
          </a:ln>
        </p:spPr>
        <p:txBody>
          <a:bodyPr lIns="0" rIns="0" tIns="0" bIns="0" wrap="square" rtlCol="0"/>
          <a:lstStyle/>
          <a:p>
            <a:pPr>
              <a:lnSpc>
                <a:spcPct val="120000"/>
              </a:lnSpc>
            </a:pPr>
            <a:r>
              <a:rPr lang="en-US" sz="1350" noProof="1" b="1">
                <a:solidFill>
                  <a:srgbClr val="175E54"/>
                </a:solidFill>
                <a:latin typeface="Quattrocento Sans"/>
                <a:ea typeface="Quattrocento Sans"/>
              </a:rPr>
              <a:t>Evidence that says "no"</a:t>
            </a:r>
            <a:endParaRPr lang="en-US" sz="1350" noProof="1"/>
          </a:p>
        </p:txBody>
      </p:sp>
      <p:sp>
        <p:nvSpPr>
          <p:cNvPr id="8" name="against-body"/>
          <p:cNvSpPr txBox="1"/>
          <p:nvPr/>
        </p:nvSpPr>
        <p:spPr>
          <a:xfrm>
            <a:off x="6400800" y="1778000"/>
            <a:ext cx="5080000" cy="2032000"/>
          </a:xfrm>
          <a:prstGeom prst="rect">
            <a:avLst/>
          </a:prstGeom>
          <a:noFill/>
          <a:ln>
            <a:noFill/>
          </a:ln>
        </p:spPr>
        <p:txBody>
          <a:bodyPr lIns="0" rIns="0" tIns="0" bIns="0" wrap="square" rtlCol="0"/>
          <a:lstStyle/>
          <a:p>
            <a:pPr>
              <a:lnSpc>
                <a:spcPct val="155000"/>
              </a:lnSpc>
              <a:spcBef>
                <a:spcPts val="10"/>
              </a:spcBef>
              <a:buChar char="•"/>
            </a:pPr>
            <a:r>
              <a:rPr lang="en-US" sz="1250" noProof="1">
                <a:solidFill>
                  <a:srgbClr val="23272E"/>
                </a:solidFill>
                <a:latin typeface="Quattrocento Sans"/>
                <a:ea typeface="Quattrocento Sans"/>
              </a:rPr>
              <a:t>~80% of global retail is still transacted in person (2025)</a:t>
            </a:r>
            <a:endParaRPr lang="en-US" sz="1250" noProof="1"/>
          </a:p>
          <a:p>
            <a:pPr>
              <a:lnSpc>
                <a:spcPct val="155000"/>
              </a:lnSpc>
              <a:spcBef>
                <a:spcPts val="10"/>
              </a:spcBef>
              <a:buChar char="•"/>
            </a:pPr>
            <a:r>
              <a:rPr lang="en-US" sz="1250" noProof="1">
                <a:solidFill>
                  <a:srgbClr val="23272E"/>
                </a:solidFill>
                <a:latin typeface="Quattrocento Sans"/>
                <a:ea typeface="Quattrocento Sans"/>
              </a:rPr>
              <a:t>The COVID bump partly reverted: US share went 14.5% (2020) → 14.4% (2022) — a pull-forward, not a permanent step</a:t>
            </a:r>
            <a:endParaRPr lang="en-US" sz="1250" noProof="1"/>
          </a:p>
          <a:p>
            <a:pPr>
              <a:lnSpc>
                <a:spcPct val="155000"/>
              </a:lnSpc>
              <a:spcBef>
                <a:spcPts val="10"/>
              </a:spcBef>
              <a:buChar char="•"/>
            </a:pPr>
            <a:r>
              <a:rPr lang="en-US" sz="1250" noProof="1">
                <a:solidFill>
                  <a:srgbClr val="23272E"/>
                </a:solidFill>
                <a:latin typeface="Quattrocento Sans"/>
                <a:ea typeface="Quattrocento Sans"/>
              </a:rPr>
              <a:t>US growth returned to single digits by 2022–2025</a:t>
            </a:r>
            <a:endParaRPr lang="en-US" sz="1250" noProof="1"/>
          </a:p>
          <a:p>
            <a:pPr>
              <a:lnSpc>
                <a:spcPct val="155000"/>
              </a:lnSpc>
              <a:spcBef>
                <a:spcPts val="10"/>
              </a:spcBef>
              <a:buChar char="•"/>
            </a:pPr>
            <a:r>
              <a:rPr lang="en-US" sz="1250" noProof="1">
                <a:solidFill>
                  <a:srgbClr val="23272E"/>
                </a:solidFill>
                <a:latin typeface="Quattrocento Sans"/>
                <a:ea typeface="Quattrocento Sans"/>
              </a:rPr>
              <a:t>The biggest "physical" retailer became #2 online (Walmart)</a:t>
            </a:r>
            <a:endParaRPr lang="en-US" sz="1250" noProof="1"/>
          </a:p>
        </p:txBody>
      </p:sp>
      <p:sp>
        <p:nvSpPr>
          <p:cNvPr id="9" name="concl-zone"/>
          <p:cNvSpPr/>
          <p:nvPr/>
        </p:nvSpPr>
        <p:spPr>
          <a:xfrm>
            <a:off x="711200" y="4318000"/>
            <a:ext cx="10769600" cy="1320800"/>
          </a:xfrm>
          <a:prstGeom prst="rect">
            <a:avLst/>
          </a:prstGeom>
          <a:solidFill>
            <a:srgbClr val="E2ECE8"/>
          </a:solidFill>
          <a:ln>
            <a:noFill/>
          </a:ln>
        </p:spPr>
      </p:sp>
      <p:sp>
        <p:nvSpPr>
          <p:cNvPr id="10" name="concl-head"/>
          <p:cNvSpPr txBox="1"/>
          <p:nvPr/>
        </p:nvSpPr>
        <p:spPr>
          <a:xfrm>
            <a:off x="1016000" y="4495800"/>
            <a:ext cx="10160000" cy="254000"/>
          </a:xfrm>
          <a:prstGeom prst="rect">
            <a:avLst/>
          </a:prstGeom>
          <a:noFill/>
          <a:ln>
            <a:noFill/>
          </a:ln>
        </p:spPr>
        <p:txBody>
          <a:bodyPr lIns="0" rIns="0" tIns="0" bIns="0" wrap="square" rtlCol="0"/>
          <a:lstStyle/>
          <a:p>
            <a:pPr>
              <a:lnSpc>
                <a:spcPct val="120000"/>
              </a:lnSpc>
            </a:pPr>
            <a:r>
              <a:rPr lang="en-US" sz="1200" noProof="1" b="1" spc="150" kern="0">
                <a:solidFill>
                  <a:srgbClr val="175E54"/>
                </a:solidFill>
                <a:latin typeface="Quattrocento Sans"/>
                <a:ea typeface="Quattrocento Sans"/>
              </a:rPr>
              <a:t>THE NUANCED CONCLUSION</a:t>
            </a:r>
            <a:endParaRPr lang="en-US" sz="1200" noProof="1"/>
          </a:p>
        </p:txBody>
      </p:sp>
      <p:sp>
        <p:nvSpPr>
          <p:cNvPr id="11" name="concl-body"/>
          <p:cNvSpPr txBox="1"/>
          <p:nvPr/>
        </p:nvSpPr>
        <p:spPr>
          <a:xfrm>
            <a:off x="1016000" y="4800600"/>
            <a:ext cx="10160000" cy="711200"/>
          </a:xfrm>
          <a:prstGeom prst="rect">
            <a:avLst/>
          </a:prstGeom>
          <a:noFill/>
          <a:ln>
            <a:noFill/>
          </a:ln>
        </p:spPr>
        <p:txBody>
          <a:bodyPr lIns="0" rIns="0" tIns="0" bIns="0" wrap="square" rtlCol="0"/>
          <a:lstStyle/>
          <a:p>
            <a:pPr>
              <a:lnSpc>
                <a:spcPct val="150000"/>
              </a:lnSpc>
            </a:pPr>
            <a:r>
              <a:rPr lang="en-US" sz="1250" noProof="1">
                <a:solidFill>
                  <a:srgbClr val="23272E"/>
                </a:solidFill>
                <a:latin typeface="Quattrocento Sans"/>
                <a:ea typeface="Quattrocento Sans"/>
              </a:rPr>
              <a:t>The story is </a:t>
            </a:r>
            <a:r>
              <a:rPr lang="en-US" sz="1250" noProof="1" b="1">
                <a:solidFill>
                  <a:srgbClr val="23272E"/>
                </a:solidFill>
                <a:latin typeface="Quattrocento Sans"/>
                <a:ea typeface="Quattrocento Sans"/>
              </a:rPr>
              <a:t>integration, not replacement</a:t>
            </a:r>
            <a:r>
              <a:rPr lang="en-US" sz="1250" noProof="1">
                <a:solidFill>
                  <a:srgbClr val="23272E"/>
                </a:solidFill>
                <a:latin typeface="Quattrocento Sans"/>
                <a:ea typeface="Quattrocento Sans"/>
              </a:rPr>
              <a:t>. Channels layer into a portfolio: stores became fulfilment nodes, showrooms and return points while digital captured discovery and convenience. Model it as migration across a continuum — and be suspicious of any "X is dead" headline.</a:t>
            </a:r>
            <a:endParaRPr lang="en-US" sz="1250" noProof="1"/>
          </a:p>
        </p:txBody>
      </p:sp>
      <p:sp>
        <p:nvSpPr>
          <p:cNvPr id="12" name="src-line"/>
          <p:cNvSpPr txBox="1"/>
          <p:nvPr/>
        </p:nvSpPr>
        <p:spPr>
          <a:xfrm>
            <a:off x="711200" y="6019800"/>
            <a:ext cx="10769600" cy="304800"/>
          </a:xfrm>
          <a:prstGeom prst="rect">
            <a:avLst/>
          </a:prstGeom>
          <a:noFill/>
          <a:ln>
            <a:noFill/>
          </a:ln>
        </p:spPr>
        <p:txBody>
          <a:bodyPr lIns="0" rIns="0" tIns="0" bIns="0" wrap="square" rtlCol="0"/>
          <a:lstStyle/>
          <a:p>
            <a:pPr>
              <a:lnSpc>
                <a:spcPct val="120000"/>
              </a:lnSpc>
            </a:pPr>
            <a:r>
              <a:rPr lang="en-US" sz="1000" noProof="1">
                <a:solidFill>
                  <a:srgbClr val="9A9284"/>
                </a:solidFill>
                <a:latin typeface="Quattrocento Sans"/>
                <a:ea typeface="Quattrocento Sans"/>
              </a:rPr>
              <a:t>Sources: </a:t>
            </a:r>
            <a:r>
              <a:rPr lang="en-US" sz="1000" noProof="1" u="sng">
                <a:solidFill>
                  <a:srgbClr val="0563C1"/>
                </a:solidFill>
                <a:latin typeface="Quattrocento Sans"/>
                <a:ea typeface="Quattrocento Sans"/>
                <a:hlinkClick r:id="rId2"/>
              </a:rPr>
              <a:t>US Census Bureau, 2025</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3"/>
              </a:rPr>
              <a:t>Digital Commerce 360, 2026</a:t>
            </a:r>
            <a:r>
              <a:rPr lang="en-US" sz="1000" noProof="1">
                <a:solidFill>
                  <a:srgbClr val="9A9284"/>
                </a:solidFill>
                <a:latin typeface="Quattrocento Sans"/>
                <a:ea typeface="Quattrocento Sans"/>
              </a:rPr>
              <a:t>; </a:t>
            </a:r>
            <a:r>
              <a:rPr lang="en-US" sz="1000" noProof="1" u="sng">
                <a:solidFill>
                  <a:srgbClr val="0563C1"/>
                </a:solidFill>
                <a:latin typeface="Quattrocento Sans"/>
                <a:ea typeface="Quattrocento Sans"/>
                <a:hlinkClick r:id="rId4"/>
              </a:rPr>
              <a:t>eMarketer, 2025</a:t>
            </a:r>
            <a:r>
              <a:rPr lang="en-US" sz="1000" noProof="1">
                <a:solidFill>
                  <a:srgbClr val="9A9284"/>
                </a:solidFill>
                <a:latin typeface="Quattrocento Sans"/>
                <a:ea typeface="Quattrocento Sans"/>
              </a:rPr>
              <a:t>; misconception per research brief §1.12.</a:t>
            </a:r>
            <a:endParaRPr lang="en-US" sz="10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38</a:t>
            </a:r>
            <a:endParaRPr lang="en-US" sz="950" noProof="1"/>
          </a:p>
        </p:txBody>
      </p:sp>
    </p:spTree>
  </p:cSld>
  <p:clrMapOvr>
    <a:masterClrMapping/>
  </p:clrMapOvr>
</p:sld>
</file>

<file path=ppt/slides/slide3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CLASS DISCUSSION</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Two questions to argue — pick a side, bring evidence</a:t>
            </a:r>
            <a:endParaRPr lang="en-US" sz="2600" noProof="1"/>
          </a:p>
        </p:txBody>
      </p:sp>
      <p:sp>
        <p:nvSpPr>
          <p:cNvPr id="4" name="q1-zone"/>
          <p:cNvSpPr/>
          <p:nvPr/>
        </p:nvSpPr>
        <p:spPr>
          <a:xfrm>
            <a:off x="711200" y="1422400"/>
            <a:ext cx="10769600" cy="1905000"/>
          </a:xfrm>
          <a:prstGeom prst="rect">
            <a:avLst/>
          </a:prstGeom>
          <a:solidFill>
            <a:srgbClr val="F6E7DE"/>
          </a:solidFill>
          <a:ln>
            <a:noFill/>
          </a:ln>
        </p:spPr>
      </p:sp>
      <p:sp>
        <p:nvSpPr>
          <p:cNvPr id="5" name="q1-label"/>
          <p:cNvSpPr txBox="1"/>
          <p:nvPr/>
        </p:nvSpPr>
        <p:spPr>
          <a:xfrm>
            <a:off x="1016000" y="1600200"/>
            <a:ext cx="3810000" cy="228600"/>
          </a:xfrm>
          <a:prstGeom prst="rect">
            <a:avLst/>
          </a:prstGeom>
          <a:noFill/>
          <a:ln>
            <a:noFill/>
          </a:ln>
        </p:spPr>
        <p:txBody>
          <a:bodyPr lIns="0" rIns="0" tIns="0" bIns="0" wrap="square" rtlCol="0"/>
          <a:lstStyle/>
          <a:p>
            <a:pPr>
              <a:lnSpc>
                <a:spcPct val="120000"/>
              </a:lnSpc>
            </a:pPr>
            <a:r>
              <a:rPr lang="en-US" sz="1150" noProof="1" b="1" spc="200" kern="0">
                <a:solidFill>
                  <a:srgbClr val="BC4B26"/>
                </a:solidFill>
                <a:latin typeface="Quattrocento Sans"/>
                <a:ea typeface="Quattrocento Sans"/>
              </a:rPr>
              <a:t>DISCUSSION QUESTION 1 · MOATS</a:t>
            </a:r>
            <a:endParaRPr lang="en-US" sz="1150" noProof="1"/>
          </a:p>
        </p:txBody>
      </p:sp>
      <p:sp>
        <p:nvSpPr>
          <p:cNvPr id="6" name="q1-text"/>
          <p:cNvSpPr txBox="1"/>
          <p:nvPr/>
        </p:nvSpPr>
        <p:spPr>
          <a:xfrm>
            <a:off x="1016000" y="1905000"/>
            <a:ext cx="10058400" cy="812800"/>
          </a:xfrm>
          <a:prstGeom prst="rect">
            <a:avLst/>
          </a:prstGeom>
          <a:noFill/>
          <a:ln>
            <a:noFill/>
          </a:ln>
        </p:spPr>
        <p:txBody>
          <a:bodyPr lIns="0" rIns="0" tIns="0" bIns="0" wrap="square" rtlCol="0"/>
          <a:lstStyle/>
          <a:p>
            <a:pPr>
              <a:lnSpc>
                <a:spcPct val="140000"/>
              </a:lnSpc>
            </a:pPr>
            <a:r>
              <a:rPr lang="en-US" sz="1700" noProof="1">
                <a:solidFill>
                  <a:srgbClr val="23272E"/>
                </a:solidFill>
                <a:latin typeface="Unna"/>
                <a:ea typeface="Unna"/>
              </a:rPr>
              <a:t>TikTok Shop grew 108% in a single year while Amazon spent 30 years building logistics. Can a social platform ever replicate Amazon's moat — or does agentic commerce make both models obsolete?</a:t>
            </a:r>
            <a:endParaRPr lang="en-US" sz="1700" noProof="1"/>
          </a:p>
        </p:txBody>
      </p:sp>
      <p:sp>
        <p:nvSpPr>
          <p:cNvPr id="7" name="q1-hint"/>
          <p:cNvSpPr txBox="1"/>
          <p:nvPr/>
        </p:nvSpPr>
        <p:spPr>
          <a:xfrm>
            <a:off x="1016000" y="2819400"/>
            <a:ext cx="10058400" cy="381000"/>
          </a:xfrm>
          <a:prstGeom prst="rect">
            <a:avLst/>
          </a:prstGeom>
          <a:noFill/>
          <a:ln>
            <a:noFill/>
          </a:ln>
        </p:spPr>
        <p:txBody>
          <a:bodyPr lIns="0" rIns="0" tIns="0" bIns="0" wrap="square" rtlCol="0"/>
          <a:lstStyle/>
          <a:p>
            <a:pPr>
              <a:lnSpc>
                <a:spcPct val="140000"/>
              </a:lnSpc>
            </a:pPr>
            <a:r>
              <a:rPr lang="en-US" sz="1150" noProof="1">
                <a:solidFill>
                  <a:srgbClr val="6E675C"/>
                </a:solidFill>
                <a:latin typeface="Quattrocento Sans"/>
                <a:ea typeface="Quattrocento Sans"/>
              </a:rPr>
              <a:t>Use the continuum (which constraint does each remove?) and first-mover/fast-follower logic. Cite numbers from this session.</a:t>
            </a:r>
            <a:endParaRPr lang="en-US" sz="1150" noProof="1"/>
          </a:p>
        </p:txBody>
      </p:sp>
      <p:sp>
        <p:nvSpPr>
          <p:cNvPr id="8" name="q2-zone"/>
          <p:cNvSpPr/>
          <p:nvPr/>
        </p:nvSpPr>
        <p:spPr>
          <a:xfrm>
            <a:off x="711200" y="3632200"/>
            <a:ext cx="10769600" cy="1905000"/>
          </a:xfrm>
          <a:prstGeom prst="rect">
            <a:avLst/>
          </a:prstGeom>
          <a:solidFill>
            <a:srgbClr val="F6E7DE"/>
          </a:solidFill>
          <a:ln>
            <a:noFill/>
          </a:ln>
        </p:spPr>
      </p:sp>
      <p:sp>
        <p:nvSpPr>
          <p:cNvPr id="9" name="q2-label"/>
          <p:cNvSpPr txBox="1"/>
          <p:nvPr/>
        </p:nvSpPr>
        <p:spPr>
          <a:xfrm>
            <a:off x="1016000" y="3810000"/>
            <a:ext cx="5080000" cy="228600"/>
          </a:xfrm>
          <a:prstGeom prst="rect">
            <a:avLst/>
          </a:prstGeom>
          <a:noFill/>
          <a:ln>
            <a:noFill/>
          </a:ln>
        </p:spPr>
        <p:txBody>
          <a:bodyPr lIns="0" rIns="0" tIns="0" bIns="0" wrap="square" rtlCol="0"/>
          <a:lstStyle/>
          <a:p>
            <a:pPr>
              <a:lnSpc>
                <a:spcPct val="120000"/>
              </a:lnSpc>
            </a:pPr>
            <a:r>
              <a:rPr lang="en-US" sz="1150" noProof="1" b="1" spc="200" kern="0">
                <a:solidFill>
                  <a:srgbClr val="BC4B26"/>
                </a:solidFill>
                <a:latin typeface="Quattrocento Sans"/>
                <a:ea typeface="Quattrocento Sans"/>
              </a:rPr>
              <a:t>DISCUSSION QUESTION 2 · APPLY THE DIAGNOSTIC</a:t>
            </a:r>
            <a:endParaRPr lang="en-US" sz="1150" noProof="1"/>
          </a:p>
        </p:txBody>
      </p:sp>
      <p:sp>
        <p:nvSpPr>
          <p:cNvPr id="10" name="q2-text"/>
          <p:cNvSpPr txBox="1"/>
          <p:nvPr/>
        </p:nvSpPr>
        <p:spPr>
          <a:xfrm>
            <a:off x="1016000" y="4114800"/>
            <a:ext cx="10058400" cy="812800"/>
          </a:xfrm>
          <a:prstGeom prst="rect">
            <a:avLst/>
          </a:prstGeom>
          <a:noFill/>
          <a:ln>
            <a:noFill/>
          </a:ln>
        </p:spPr>
        <p:txBody>
          <a:bodyPr lIns="0" rIns="0" tIns="0" bIns="0" wrap="square" rtlCol="0"/>
          <a:lstStyle/>
          <a:p>
            <a:pPr>
              <a:lnSpc>
                <a:spcPct val="140000"/>
              </a:lnSpc>
            </a:pPr>
            <a:r>
              <a:rPr lang="en-US" sz="1700" noProof="1">
                <a:solidFill>
                  <a:srgbClr val="23272E"/>
                </a:solidFill>
                <a:latin typeface="Unna"/>
                <a:ea typeface="Unna"/>
              </a:rPr>
              <a:t>Pick a traditional retailer you know — your local supermarket chain works well. Using the continuum diagnostic, which interface should it invest in next, and what constraint would that remove for its customers?</a:t>
            </a:r>
            <a:endParaRPr lang="en-US" sz="1700" noProof="1"/>
          </a:p>
        </p:txBody>
      </p:sp>
      <p:sp>
        <p:nvSpPr>
          <p:cNvPr id="11" name="q2-hint"/>
          <p:cNvSpPr txBox="1"/>
          <p:nvPr/>
        </p:nvSpPr>
        <p:spPr>
          <a:xfrm>
            <a:off x="1016000" y="5029200"/>
            <a:ext cx="10058400" cy="381000"/>
          </a:xfrm>
          <a:prstGeom prst="rect">
            <a:avLst/>
          </a:prstGeom>
          <a:noFill/>
          <a:ln>
            <a:noFill/>
          </a:ln>
        </p:spPr>
        <p:txBody>
          <a:bodyPr lIns="0" rIns="0" tIns="0" bIns="0" wrap="square" rtlCol="0"/>
          <a:lstStyle/>
          <a:p>
            <a:pPr>
              <a:lnSpc>
                <a:spcPct val="140000"/>
              </a:lnSpc>
            </a:pPr>
            <a:r>
              <a:rPr lang="en-US" sz="1150" noProof="1">
                <a:solidFill>
                  <a:srgbClr val="6E675C"/>
                </a:solidFill>
                <a:latin typeface="Quattrocento Sans"/>
                <a:ea typeface="Quattrocento Sans"/>
              </a:rPr>
              <a:t>Run the 3-step diagnostic from p19: revenue by interface → constraint each removed → next constraint. Sequence by constraint removal, not hype.</a:t>
            </a:r>
            <a:endParaRPr lang="en-US" sz="1150" noProof="1"/>
          </a:p>
        </p:txBody>
      </p:sp>
      <p:sp>
        <p:nvSpPr>
          <p:cNvPr id="12" name="dq-note"/>
          <p:cNvSpPr txBox="1"/>
          <p:nvPr/>
        </p:nvSpPr>
        <p:spPr>
          <a:xfrm>
            <a:off x="711200" y="5791200"/>
            <a:ext cx="10769600" cy="381000"/>
          </a:xfrm>
          <a:prstGeom prst="rect">
            <a:avLst/>
          </a:prstGeom>
          <a:noFill/>
          <a:ln>
            <a:noFill/>
          </a:ln>
        </p:spPr>
        <p:txBody>
          <a:bodyPr lIns="0" rIns="0" tIns="0" bIns="0" wrap="square" rtlCol="0"/>
          <a:lstStyle/>
          <a:p>
            <a:pPr>
              <a:lnSpc>
                <a:spcPct val="135000"/>
              </a:lnSpc>
            </a:pPr>
            <a:r>
              <a:rPr lang="en-US" sz="1100" noProof="1">
                <a:solidFill>
                  <a:srgbClr val="6E675C"/>
                </a:solidFill>
                <a:latin typeface="Quattrocento Sans"/>
                <a:ea typeface="Quattrocento Sans"/>
              </a:rPr>
              <a:t>Format: 4 minutes thinking in pairs, then open floor. Strong answers name a mechanism and a number, not just an opinion. Source questions: research brief §1.11.</a:t>
            </a:r>
            <a:endParaRPr lang="en-US" sz="1100" noProof="1"/>
          </a:p>
        </p:txBody>
      </p:sp>
      <p:sp>
        <p:nvSpPr>
          <p:cNvPr id="13" name="foot-rule"/>
          <p:cNvSpPr/>
          <p:nvPr/>
        </p:nvSpPr>
        <p:spPr>
          <a:xfrm>
            <a:off x="711200" y="6451600"/>
            <a:ext cx="10769600" cy="12700"/>
          </a:xfrm>
          <a:prstGeom prst="rect">
            <a:avLst/>
          </a:prstGeom>
          <a:solidFill>
            <a:srgbClr val="D9D2C4"/>
          </a:solidFill>
          <a:ln>
            <a:noFill/>
          </a:ln>
        </p:spPr>
      </p:sp>
      <p:sp>
        <p:nvSpPr>
          <p:cNvPr id="14"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5"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6"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39</a:t>
            </a:r>
            <a:endParaRPr lang="en-US" sz="950" noProof="1"/>
          </a:p>
        </p:txBody>
      </p:sp>
    </p:spTree>
  </p:cSld>
  <p:clrMapOvr>
    <a:masterClrMapping/>
  </p:clrMapOvr>
</p:sld>
</file>

<file path=ppt/slides/slide4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TEAM ACTIVITY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Place the brand: five companies, one continuum, no easy answers</a:t>
            </a:r>
            <a:endParaRPr lang="en-US" sz="2600" noProof="1"/>
          </a:p>
        </p:txBody>
      </p:sp>
      <p:sp>
        <p:nvSpPr>
          <p:cNvPr id="4" name="task-zone"/>
          <p:cNvSpPr/>
          <p:nvPr/>
        </p:nvSpPr>
        <p:spPr>
          <a:xfrm>
            <a:off x="711200" y="1397000"/>
            <a:ext cx="6604000" cy="4826000"/>
          </a:xfrm>
          <a:prstGeom prst="rect">
            <a:avLst/>
          </a:prstGeom>
          <a:solidFill>
            <a:srgbClr val="F6E7DE"/>
          </a:solidFill>
          <a:ln>
            <a:noFill/>
          </a:ln>
        </p:spPr>
      </p:sp>
      <p:sp>
        <p:nvSpPr>
          <p:cNvPr id="5" name="task-head"/>
          <p:cNvSpPr txBox="1"/>
          <p:nvPr/>
        </p:nvSpPr>
        <p:spPr>
          <a:xfrm>
            <a:off x="1016000" y="1600200"/>
            <a:ext cx="5994400" cy="254000"/>
          </a:xfrm>
          <a:prstGeom prst="rect">
            <a:avLst/>
          </a:prstGeom>
          <a:noFill/>
          <a:ln>
            <a:noFill/>
          </a:ln>
        </p:spPr>
        <p:txBody>
          <a:bodyPr lIns="0" rIns="0" tIns="0" bIns="0" wrap="square" rtlCol="0"/>
          <a:lstStyle/>
          <a:p>
            <a:pPr>
              <a:lnSpc>
                <a:spcPct val="120000"/>
              </a:lnSpc>
            </a:pPr>
            <a:r>
              <a:rPr lang="en-US" sz="1300" noProof="1" b="1">
                <a:solidFill>
                  <a:srgbClr val="BC4B26"/>
                </a:solidFill>
                <a:latin typeface="Quattrocento Sans"/>
                <a:ea typeface="Quattrocento Sans"/>
              </a:rPr>
              <a:t>THE TASK · Teams of 3–4 · Practice scenario</a:t>
            </a:r>
            <a:endParaRPr lang="en-US" sz="1300" noProof="1"/>
          </a:p>
        </p:txBody>
      </p:sp>
      <p:sp>
        <p:nvSpPr>
          <p:cNvPr id="6" name="task-body"/>
          <p:cNvSpPr txBox="1"/>
          <p:nvPr/>
        </p:nvSpPr>
        <p:spPr>
          <a:xfrm>
            <a:off x="1016000" y="1930400"/>
            <a:ext cx="5994400" cy="2921000"/>
          </a:xfrm>
          <a:prstGeom prst="rect">
            <a:avLst/>
          </a:prstGeom>
          <a:noFill/>
          <a:ln>
            <a:noFill/>
          </a:ln>
        </p:spPr>
        <p:txBody>
          <a:bodyPr lIns="0" rIns="0" tIns="0" bIns="0" wrap="square" rtlCol="0"/>
          <a:lstStyle/>
          <a:p>
            <a:pPr>
              <a:lnSpc>
                <a:spcPct val="155000"/>
              </a:lnSpc>
            </a:pPr>
            <a:r>
              <a:rPr lang="en-US" sz="1250" noProof="1">
                <a:solidFill>
                  <a:srgbClr val="23272E"/>
                </a:solidFill>
                <a:latin typeface="Quattrocento Sans"/>
                <a:ea typeface="Quattrocento Sans"/>
              </a:rPr>
              <a:t>Draw the five-era continuum from p19. Place each company on the era where </a:t>
            </a:r>
            <a:r>
              <a:rPr lang="en-US" sz="1250" noProof="1" b="1">
                <a:solidFill>
                  <a:srgbClr val="23272E"/>
                </a:solidFill>
                <a:latin typeface="Quattrocento Sans"/>
                <a:ea typeface="Quattrocento Sans"/>
              </a:rPr>
              <a:t>most of its customer-facing revenue flows today</a:t>
            </a:r>
            <a:r>
              <a:rPr lang="en-US" sz="1250" noProof="1">
                <a:solidFill>
                  <a:srgbClr val="23272E"/>
                </a:solidFill>
                <a:latin typeface="Quattrocento Sans"/>
                <a:ea typeface="Quattrocento Sans"/>
              </a:rPr>
              <a:t> — and mark any earlier eras it still operates in:</a:t>
            </a:r>
            <a:endParaRPr lang="en-US" sz="1250" noProof="1"/>
          </a:p>
          <a:p>
            <a:pPr>
              <a:lnSpc>
                <a:spcPct val="155000"/>
              </a:lnSpc>
              <a:spcBef>
                <a:spcPts val="800"/>
              </a:spcBef>
            </a:pPr>
            <a:r>
              <a:rPr lang="en-US" sz="1250" noProof="1" b="1">
                <a:solidFill>
                  <a:srgbClr val="23272E"/>
                </a:solidFill>
                <a:latin typeface="Quattrocento Sans"/>
                <a:ea typeface="Quattrocento Sans"/>
              </a:rPr>
              <a:t>① Walmart ② Starbucks ③ Pinduoduo ④ Shopify ⑤ Perplexity</a:t>
            </a:r>
            <a:endParaRPr lang="en-US" sz="1250" noProof="1"/>
          </a:p>
          <a:p>
            <a:pPr>
              <a:lnSpc>
                <a:spcPct val="155000"/>
              </a:lnSpc>
              <a:spcBef>
                <a:spcPts val="800"/>
              </a:spcBef>
            </a:pPr>
            <a:r>
              <a:rPr lang="en-US" sz="1250" noProof="1">
                <a:solidFill>
                  <a:srgbClr val="23272E"/>
                </a:solidFill>
                <a:latin typeface="Quattrocento Sans"/>
                <a:ea typeface="Quattrocento Sans"/>
              </a:rPr>
              <a:t>For each placement, justify with one mechanism (which interface carries the transaction?) and, where you can, one number from today's session.</a:t>
            </a:r>
            <a:endParaRPr lang="en-US" sz="1250" noProof="1"/>
          </a:p>
        </p:txBody>
      </p:sp>
      <p:sp>
        <p:nvSpPr>
          <p:cNvPr id="7" name="task-criteria"/>
          <p:cNvSpPr txBox="1"/>
          <p:nvPr/>
        </p:nvSpPr>
        <p:spPr>
          <a:xfrm>
            <a:off x="1016000" y="4927600"/>
            <a:ext cx="5994400" cy="1117600"/>
          </a:xfrm>
          <a:prstGeom prst="rect">
            <a:avLst/>
          </a:prstGeom>
          <a:noFill/>
          <a:ln>
            <a:noFill/>
          </a:ln>
        </p:spPr>
        <p:txBody>
          <a:bodyPr lIns="0" rIns="0" tIns="0" bIns="0" wrap="square" rtlCol="0"/>
          <a:lstStyle/>
          <a:p>
            <a:pPr>
              <a:lnSpc>
                <a:spcPct val="150000"/>
              </a:lnSpc>
            </a:pPr>
            <a:r>
              <a:rPr lang="en-US" sz="1200" noProof="1" b="1">
                <a:solidFill>
                  <a:srgbClr val="23272E"/>
                </a:solidFill>
                <a:latin typeface="Quattrocento Sans"/>
                <a:ea typeface="Quattrocento Sans"/>
              </a:rPr>
              <a:t>Done when:</a:t>
            </a:r>
            <a:r>
              <a:rPr lang="en-US" sz="1200" noProof="1">
                <a:solidFill>
                  <a:srgbClr val="23272E"/>
                </a:solidFill>
                <a:latin typeface="Quattrocento Sans"/>
                <a:ea typeface="Quattrocento Sans"/>
              </a:rPr>
              <a:t> all five are placed with a written justification; at least one placement </a:t>
            </a:r>
            <a:r>
              <a:rPr lang="en-US" sz="1200" noProof="1" i="1">
                <a:solidFill>
                  <a:srgbClr val="23272E"/>
                </a:solidFill>
                <a:latin typeface="Quattrocento Sans"/>
                <a:ea typeface="Quattrocento Sans"/>
              </a:rPr>
              <a:t>spans</a:t>
            </a:r>
            <a:r>
              <a:rPr lang="en-US" sz="1200" noProof="1">
                <a:solidFill>
                  <a:srgbClr val="23272E"/>
                </a:solidFill>
                <a:latin typeface="Quattrocento Sans"/>
                <a:ea typeface="Quattrocento Sans"/>
              </a:rPr>
              <a:t> multiple eras with the mix explained.</a:t>
            </a:r>
            <a:endParaRPr lang="en-US" sz="1200" noProof="1"/>
          </a:p>
          <a:p>
            <a:pPr>
              <a:lnSpc>
                <a:spcPct val="150000"/>
              </a:lnSpc>
              <a:spcBef>
                <a:spcPts val="400"/>
              </a:spcBef>
            </a:pPr>
            <a:r>
              <a:rPr lang="en-US" sz="1200" noProof="1" b="1">
                <a:solidFill>
                  <a:srgbClr val="23272E"/>
                </a:solidFill>
                <a:latin typeface="Quattrocento Sans"/>
                <a:ea typeface="Quattrocento Sans"/>
              </a:rPr>
              <a:t>Timing:</a:t>
            </a:r>
            <a:r>
              <a:rPr lang="en-US" sz="1200" noProof="1">
                <a:solidFill>
                  <a:srgbClr val="23272E"/>
                </a:solidFill>
                <a:latin typeface="Quattrocento Sans"/>
                <a:ea typeface="Quattrocento Sans"/>
              </a:rPr>
              <a:t> 12 min teamwork · 8 min cross-team challenges.</a:t>
            </a:r>
            <a:endParaRPr lang="en-US" sz="1200" noProof="1"/>
          </a:p>
        </p:txBody>
      </p:sp>
      <p:sp>
        <p:nvSpPr>
          <p:cNvPr id="8" name="guide-head"/>
          <p:cNvSpPr txBox="1"/>
          <p:nvPr/>
        </p:nvSpPr>
        <p:spPr>
          <a:xfrm>
            <a:off x="7823200" y="1397000"/>
            <a:ext cx="3657600" cy="254000"/>
          </a:xfrm>
          <a:prstGeom prst="rect">
            <a:avLst/>
          </a:prstGeom>
          <a:noFill/>
          <a:ln>
            <a:noFill/>
          </a:ln>
        </p:spPr>
        <p:txBody>
          <a:bodyPr lIns="0" rIns="0" tIns="0" bIns="0" wrap="square" rtlCol="0"/>
          <a:lstStyle/>
          <a:p>
            <a:pPr>
              <a:lnSpc>
                <a:spcPct val="120000"/>
              </a:lnSpc>
            </a:pPr>
            <a:r>
              <a:rPr lang="en-US" sz="1300" noProof="1" b="1">
                <a:solidFill>
                  <a:srgbClr val="175E54"/>
                </a:solidFill>
                <a:latin typeface="Quattrocento Sans"/>
                <a:ea typeface="Quattrocento Sans"/>
              </a:rPr>
              <a:t>What good looks like</a:t>
            </a:r>
            <a:endParaRPr lang="en-US" sz="1300" noProof="1"/>
          </a:p>
        </p:txBody>
      </p:sp>
      <p:sp>
        <p:nvSpPr>
          <p:cNvPr id="9" name="guide-body"/>
          <p:cNvSpPr txBox="1"/>
          <p:nvPr/>
        </p:nvSpPr>
        <p:spPr>
          <a:xfrm>
            <a:off x="7823200" y="1727200"/>
            <a:ext cx="3657600" cy="2667000"/>
          </a:xfrm>
          <a:prstGeom prst="rect">
            <a:avLst/>
          </a:prstGeom>
          <a:noFill/>
          <a:ln>
            <a:noFill/>
          </a:ln>
        </p:spPr>
        <p:txBody>
          <a:bodyPr lIns="0" rIns="0" tIns="0" bIns="0" wrap="square" rtlCol="0"/>
          <a:lstStyle/>
          <a:p>
            <a:pPr>
              <a:lnSpc>
                <a:spcPct val="155000"/>
              </a:lnSpc>
              <a:spcBef>
                <a:spcPts val="10"/>
              </a:spcBef>
              <a:buChar char="•"/>
            </a:pPr>
            <a:r>
              <a:rPr lang="en-US" sz="1200" noProof="1" b="1">
                <a:solidFill>
                  <a:srgbClr val="23272E"/>
                </a:solidFill>
                <a:latin typeface="Quattrocento Sans"/>
                <a:ea typeface="Quattrocento Sans"/>
              </a:rPr>
              <a:t>Multi-era answers expected:</a:t>
            </a:r>
            <a:r>
              <a:rPr lang="en-US" sz="1200" noProof="1">
                <a:solidFill>
                  <a:srgbClr val="23272E"/>
                </a:solidFill>
                <a:latin typeface="Quattrocento Sans"/>
                <a:ea typeface="Quattrocento Sans"/>
              </a:rPr>
              <a:t> Walmart spans eras 1–3; Starbucks spans 1→5 (cafés → Mobile Order &amp; Pay → WeChat gifting → Deep Brew AI)</a:t>
            </a:r>
            <a:endParaRPr lang="en-US" sz="1200" noProof="1"/>
          </a:p>
          <a:p>
            <a:pPr>
              <a:lnSpc>
                <a:spcPct val="155000"/>
              </a:lnSpc>
              <a:spcBef>
                <a:spcPts val="10"/>
              </a:spcBef>
              <a:buChar char="•"/>
            </a:pPr>
            <a:r>
              <a:rPr lang="en-US" sz="1200" noProof="1" b="1">
                <a:solidFill>
                  <a:srgbClr val="23272E"/>
                </a:solidFill>
                <a:latin typeface="Quattrocento Sans"/>
                <a:ea typeface="Quattrocento Sans"/>
              </a:rPr>
              <a:t>Shopify is a trick question</a:t>
            </a:r>
            <a:r>
              <a:rPr lang="en-US" sz="1200" noProof="1">
                <a:solidFill>
                  <a:srgbClr val="23272E"/>
                </a:solidFill>
                <a:latin typeface="Quattrocento Sans"/>
                <a:ea typeface="Quattrocento Sans"/>
              </a:rPr>
              <a:t> — infrastructure, not a storefront; say where its </a:t>
            </a:r>
            <a:r>
              <a:rPr lang="en-US" sz="1200" noProof="1" i="1">
                <a:solidFill>
                  <a:srgbClr val="23272E"/>
                </a:solidFill>
                <a:latin typeface="Quattrocento Sans"/>
                <a:ea typeface="Quattrocento Sans"/>
              </a:rPr>
              <a:t>merchants</a:t>
            </a:r>
            <a:r>
              <a:rPr lang="en-US" sz="1200" noProof="1">
                <a:solidFill>
                  <a:srgbClr val="23272E"/>
                </a:solidFill>
                <a:latin typeface="Quattrocento Sans"/>
                <a:ea typeface="Quattrocento Sans"/>
              </a:rPr>
              <a:t> sit</a:t>
            </a:r>
            <a:endParaRPr lang="en-US" sz="1200" noProof="1"/>
          </a:p>
          <a:p>
            <a:pPr>
              <a:lnSpc>
                <a:spcPct val="155000"/>
              </a:lnSpc>
              <a:spcBef>
                <a:spcPts val="10"/>
              </a:spcBef>
              <a:buChar char="•"/>
            </a:pPr>
            <a:r>
              <a:rPr lang="en-US" sz="1200" noProof="1" b="1">
                <a:solidFill>
                  <a:srgbClr val="23272E"/>
                </a:solidFill>
                <a:latin typeface="Quattrocento Sans"/>
                <a:ea typeface="Quattrocento Sans"/>
              </a:rPr>
              <a:t>Perplexity</a:t>
            </a:r>
            <a:r>
              <a:rPr lang="en-US" sz="1200" noProof="1">
                <a:solidFill>
                  <a:srgbClr val="23272E"/>
                </a:solidFill>
                <a:latin typeface="Quattrocento Sans"/>
                <a:ea typeface="Quattrocento Sans"/>
              </a:rPr>
              <a:t> tests whether you understand era 5's definition (agent performs the task)</a:t>
            </a:r>
            <a:endParaRPr lang="en-US" sz="1200" noProof="1"/>
          </a:p>
        </p:txBody>
      </p:sp>
      <p:sp>
        <p:nvSpPr>
          <p:cNvPr id="10" name="guide-note"/>
          <p:cNvSpPr txBox="1"/>
          <p:nvPr/>
        </p:nvSpPr>
        <p:spPr>
          <a:xfrm>
            <a:off x="7823200" y="4521200"/>
            <a:ext cx="3657600" cy="1701800"/>
          </a:xfrm>
          <a:prstGeom prst="rect">
            <a:avLst/>
          </a:prstGeom>
          <a:noFill/>
          <a:ln>
            <a:noFill/>
          </a:ln>
        </p:spPr>
        <p:txBody>
          <a:bodyPr lIns="0" rIns="0" tIns="0" bIns="0" wrap="square" rtlCol="0"/>
          <a:lstStyle/>
          <a:p>
            <a:pPr>
              <a:lnSpc>
                <a:spcPct val="145000"/>
              </a:lnSpc>
            </a:pPr>
            <a:r>
              <a:rPr lang="en-US" sz="1100" noProof="1">
                <a:solidFill>
                  <a:srgbClr val="6E675C"/>
                </a:solidFill>
                <a:latin typeface="Quattrocento Sans"/>
                <a:ea typeface="Quattrocento Sans"/>
              </a:rPr>
              <a:t>Challenge rule: when another team presents, you may dispute a placement only by naming the interface that carries the transaction — no "I just think it's more modern."</a:t>
            </a:r>
            <a:endParaRPr lang="en-US" sz="1100" noProof="1"/>
          </a:p>
          <a:p>
            <a:pPr>
              <a:lnSpc>
                <a:spcPct val="145000"/>
              </a:lnSpc>
              <a:spcBef>
                <a:spcPts val="600"/>
              </a:spcBef>
            </a:pPr>
            <a:r>
              <a:rPr lang="en-US" sz="1100" noProof="1">
                <a:solidFill>
                  <a:srgbClr val="6E675C"/>
                </a:solidFill>
                <a:latin typeface="Quattrocento Sans"/>
                <a:ea typeface="Quattrocento Sans"/>
              </a:rPr>
              <a:t>This activity rehearses Learning Objective 1 (six+ companies placed with justification).</a:t>
            </a:r>
            <a:endParaRPr lang="en-US" sz="1100" noProof="1"/>
          </a:p>
        </p:txBody>
      </p:sp>
      <p:sp>
        <p:nvSpPr>
          <p:cNvPr id="11" name="foot-rule"/>
          <p:cNvSpPr/>
          <p:nvPr/>
        </p:nvSpPr>
        <p:spPr>
          <a:xfrm>
            <a:off x="711200" y="6451600"/>
            <a:ext cx="10769600" cy="12700"/>
          </a:xfrm>
          <a:prstGeom prst="rect">
            <a:avLst/>
          </a:prstGeom>
          <a:solidFill>
            <a:srgbClr val="D9D2C4"/>
          </a:solidFill>
          <a:ln>
            <a:noFill/>
          </a:ln>
        </p:spPr>
      </p:sp>
      <p:sp>
        <p:nvSpPr>
          <p:cNvPr id="12"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3"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4"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40</a:t>
            </a:r>
            <a:endParaRPr lang="en-US" sz="950" noProof="1"/>
          </a:p>
        </p:txBody>
      </p:sp>
    </p:spTree>
  </p:cSld>
  <p:clrMapOvr>
    <a:masterClrMapping/>
  </p:clrMapOvr>
</p:sld>
</file>

<file path=ppt/slides/slide4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SUMMARY</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Five takeaways, each with a name you can cite</a:t>
            </a:r>
            <a:endParaRPr lang="en-US" sz="2600" noProof="1"/>
          </a:p>
        </p:txBody>
      </p:sp>
      <p:sp>
        <p:nvSpPr>
          <p:cNvPr id="4" name="t1-num"/>
          <p:cNvSpPr txBox="1"/>
          <p:nvPr/>
        </p:nvSpPr>
        <p:spPr>
          <a:xfrm>
            <a:off x="711200" y="1422400"/>
            <a:ext cx="508000" cy="3810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1</a:t>
            </a:r>
            <a:endParaRPr lang="en-US" sz="2400" noProof="1"/>
          </a:p>
        </p:txBody>
      </p:sp>
      <p:sp>
        <p:nvSpPr>
          <p:cNvPr id="5" name="t1-body"/>
          <p:cNvSpPr txBox="1"/>
          <p:nvPr/>
        </p:nvSpPr>
        <p:spPr>
          <a:xfrm>
            <a:off x="1320800" y="1422400"/>
            <a:ext cx="101600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The retail evolution continuum.</a:t>
            </a:r>
            <a:r>
              <a:rPr lang="en-US" sz="1250" noProof="1">
                <a:solidFill>
                  <a:srgbClr val="23272E"/>
                </a:solidFill>
                <a:latin typeface="Quattrocento Sans"/>
                <a:ea typeface="Quattrocento Sans"/>
              </a:rPr>
              <a:t> Five eras — store, web, mobile, social, agentic — each adding an interface, none deleting the last. Strategy = managing a portfolio, not picking a winner.</a:t>
            </a:r>
            <a:endParaRPr lang="en-US" sz="1250" noProof="1"/>
          </a:p>
        </p:txBody>
      </p:sp>
      <p:sp>
        <p:nvSpPr>
          <p:cNvPr id="6" name="t1-rule"/>
          <p:cNvSpPr/>
          <p:nvPr/>
        </p:nvSpPr>
        <p:spPr>
          <a:xfrm>
            <a:off x="1320800" y="2235200"/>
            <a:ext cx="10160000" cy="12700"/>
          </a:xfrm>
          <a:prstGeom prst="rect">
            <a:avLst/>
          </a:prstGeom>
          <a:solidFill>
            <a:srgbClr val="D9D2C4"/>
          </a:solidFill>
          <a:ln>
            <a:noFill/>
          </a:ln>
        </p:spPr>
      </p:sp>
      <p:sp>
        <p:nvSpPr>
          <p:cNvPr id="7" name="t2-num"/>
          <p:cNvSpPr txBox="1"/>
          <p:nvPr/>
        </p:nvSpPr>
        <p:spPr>
          <a:xfrm>
            <a:off x="711200" y="2387600"/>
            <a:ext cx="508000" cy="3810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2</a:t>
            </a:r>
            <a:endParaRPr lang="en-US" sz="2400" noProof="1"/>
          </a:p>
        </p:txBody>
      </p:sp>
      <p:sp>
        <p:nvSpPr>
          <p:cNvPr id="8" name="t2-body"/>
          <p:cNvSpPr txBox="1"/>
          <p:nvPr/>
        </p:nvSpPr>
        <p:spPr>
          <a:xfrm>
            <a:off x="1320800" y="2387600"/>
            <a:ext cx="101600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Constraints, not dates.</a:t>
            </a:r>
            <a:r>
              <a:rPr lang="en-US" sz="1250" noProof="1">
                <a:solidFill>
                  <a:srgbClr val="23272E"/>
                </a:solidFill>
                <a:latin typeface="Quattrocento Sans"/>
                <a:ea typeface="Quattrocento Sans"/>
              </a:rPr>
              <a:t> Each era removed a shopper constraint — shelf space, location, attention, effort, delegation. Predict the next era by asking which constraint remains.</a:t>
            </a:r>
            <a:endParaRPr lang="en-US" sz="1250" noProof="1"/>
          </a:p>
        </p:txBody>
      </p:sp>
      <p:sp>
        <p:nvSpPr>
          <p:cNvPr id="9" name="t2-rule"/>
          <p:cNvSpPr/>
          <p:nvPr/>
        </p:nvSpPr>
        <p:spPr>
          <a:xfrm>
            <a:off x="1320800" y="3200400"/>
            <a:ext cx="10160000" cy="12700"/>
          </a:xfrm>
          <a:prstGeom prst="rect">
            <a:avLst/>
          </a:prstGeom>
          <a:solidFill>
            <a:srgbClr val="D9D2C4"/>
          </a:solidFill>
          <a:ln>
            <a:noFill/>
          </a:ln>
        </p:spPr>
      </p:sp>
      <p:sp>
        <p:nvSpPr>
          <p:cNvPr id="10" name="t3-num"/>
          <p:cNvSpPr txBox="1"/>
          <p:nvPr/>
        </p:nvSpPr>
        <p:spPr>
          <a:xfrm>
            <a:off x="711200" y="3352800"/>
            <a:ext cx="508000" cy="3810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3</a:t>
            </a:r>
            <a:endParaRPr lang="en-US" sz="2400" noProof="1"/>
          </a:p>
        </p:txBody>
      </p:sp>
      <p:sp>
        <p:nvSpPr>
          <p:cNvPr id="11" name="t3-body"/>
          <p:cNvSpPr txBox="1"/>
          <p:nvPr/>
        </p:nvSpPr>
        <p:spPr>
          <a:xfrm>
            <a:off x="1320800" y="3352800"/>
            <a:ext cx="101600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Rogers' Diffusion of Innovation (1962).</a:t>
            </a:r>
            <a:r>
              <a:rPr lang="en-US" sz="1250" noProof="1">
                <a:solidFill>
                  <a:srgbClr val="23272E"/>
                </a:solidFill>
                <a:latin typeface="Quattrocento Sans"/>
                <a:ea typeface="Quattrocento Sans"/>
              </a:rPr>
              <a:t> Adoption follows 2.5 / 13.5 / 34 / 34 / 16 — an S-curve. AI </a:t>
            </a:r>
            <a:r>
              <a:rPr lang="en-US" sz="1250" noProof="1" i="1">
                <a:solidFill>
                  <a:srgbClr val="23272E"/>
                </a:solidFill>
                <a:latin typeface="Quattrocento Sans"/>
                <a:ea typeface="Quattrocento Sans"/>
              </a:rPr>
              <a:t>discovery</a:t>
            </a:r>
            <a:r>
              <a:rPr lang="en-US" sz="1250" noProof="1">
                <a:solidFill>
                  <a:srgbClr val="23272E"/>
                </a:solidFill>
                <a:latin typeface="Quattrocento Sans"/>
                <a:ea typeface="Quattrocento Sans"/>
              </a:rPr>
              <a:t> is crossing the chasm (39% usage); AI </a:t>
            </a:r>
            <a:r>
              <a:rPr lang="en-US" sz="1250" noProof="1" i="1">
                <a:solidFill>
                  <a:srgbClr val="23272E"/>
                </a:solidFill>
                <a:latin typeface="Quattrocento Sans"/>
                <a:ea typeface="Quattrocento Sans"/>
              </a:rPr>
              <a:t>payment delegation</a:t>
            </a:r>
            <a:r>
              <a:rPr lang="en-US" sz="1250" noProof="1">
                <a:solidFill>
                  <a:srgbClr val="23272E"/>
                </a:solidFill>
                <a:latin typeface="Quattrocento Sans"/>
                <a:ea typeface="Quattrocento Sans"/>
              </a:rPr>
              <a:t> is still in the innovators.</a:t>
            </a:r>
            <a:endParaRPr lang="en-US" sz="1250" noProof="1"/>
          </a:p>
        </p:txBody>
      </p:sp>
      <p:sp>
        <p:nvSpPr>
          <p:cNvPr id="12" name="t3-rule"/>
          <p:cNvSpPr/>
          <p:nvPr/>
        </p:nvSpPr>
        <p:spPr>
          <a:xfrm>
            <a:off x="1320800" y="4165600"/>
            <a:ext cx="10160000" cy="12700"/>
          </a:xfrm>
          <a:prstGeom prst="rect">
            <a:avLst/>
          </a:prstGeom>
          <a:solidFill>
            <a:srgbClr val="D9D2C4"/>
          </a:solidFill>
          <a:ln>
            <a:noFill/>
          </a:ln>
        </p:spPr>
      </p:sp>
      <p:sp>
        <p:nvSpPr>
          <p:cNvPr id="13" name="t4-num"/>
          <p:cNvSpPr txBox="1"/>
          <p:nvPr/>
        </p:nvSpPr>
        <p:spPr>
          <a:xfrm>
            <a:off x="711200" y="4318000"/>
            <a:ext cx="508000" cy="3810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4</a:t>
            </a:r>
            <a:endParaRPr lang="en-US" sz="2400" noProof="1"/>
          </a:p>
        </p:txBody>
      </p:sp>
      <p:sp>
        <p:nvSpPr>
          <p:cNvPr id="14" name="t4-body"/>
          <p:cNvSpPr txBox="1"/>
          <p:nvPr/>
        </p:nvSpPr>
        <p:spPr>
          <a:xfrm>
            <a:off x="1320800" y="4318000"/>
            <a:ext cx="101600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Lock-in beats arrival order.</a:t>
            </a:r>
            <a:r>
              <a:rPr lang="en-US" sz="1250" noProof="1">
                <a:solidFill>
                  <a:srgbClr val="23272E"/>
                </a:solidFill>
                <a:latin typeface="Quattrocento Sans"/>
                <a:ea typeface="Quattrocento Sans"/>
              </a:rPr>
              <a:t> First movers win on network effects and data (Amazon, Alibaba, UPI); fast followers win when pioneers pay for education (Google, Walmart+, Flipkart). "First" is not a moat.</a:t>
            </a:r>
            <a:endParaRPr lang="en-US" sz="1250" noProof="1"/>
          </a:p>
        </p:txBody>
      </p:sp>
      <p:sp>
        <p:nvSpPr>
          <p:cNvPr id="15" name="t4-rule"/>
          <p:cNvSpPr/>
          <p:nvPr/>
        </p:nvSpPr>
        <p:spPr>
          <a:xfrm>
            <a:off x="1320800" y="5130800"/>
            <a:ext cx="10160000" cy="12700"/>
          </a:xfrm>
          <a:prstGeom prst="rect">
            <a:avLst/>
          </a:prstGeom>
          <a:solidFill>
            <a:srgbClr val="D9D2C4"/>
          </a:solidFill>
          <a:ln>
            <a:noFill/>
          </a:ln>
        </p:spPr>
      </p:sp>
      <p:sp>
        <p:nvSpPr>
          <p:cNvPr id="16" name="t5-num"/>
          <p:cNvSpPr txBox="1"/>
          <p:nvPr/>
        </p:nvSpPr>
        <p:spPr>
          <a:xfrm>
            <a:off x="711200" y="5283200"/>
            <a:ext cx="508000" cy="381000"/>
          </a:xfrm>
          <a:prstGeom prst="rect">
            <a:avLst/>
          </a:prstGeom>
          <a:noFill/>
          <a:ln>
            <a:noFill/>
          </a:ln>
        </p:spPr>
        <p:txBody>
          <a:bodyPr lIns="0" rIns="0" tIns="0" bIns="0" wrap="none" rtlCol="0"/>
          <a:lstStyle/>
          <a:p>
            <a:pPr>
              <a:lnSpc>
                <a:spcPct val="120000"/>
              </a:lnSpc>
            </a:pPr>
            <a:r>
              <a:rPr lang="en-US" sz="2400" noProof="1">
                <a:solidFill>
                  <a:srgbClr val="BC4B26"/>
                </a:solidFill>
                <a:latin typeface="Unna"/>
                <a:ea typeface="Unna"/>
              </a:rPr>
              <a:t>5</a:t>
            </a:r>
            <a:endParaRPr lang="en-US" sz="2400" noProof="1"/>
          </a:p>
        </p:txBody>
      </p:sp>
      <p:sp>
        <p:nvSpPr>
          <p:cNvPr id="17" name="t5-body"/>
          <p:cNvSpPr txBox="1"/>
          <p:nvPr/>
        </p:nvSpPr>
        <p:spPr>
          <a:xfrm>
            <a:off x="1320800" y="5283200"/>
            <a:ext cx="10160000" cy="711200"/>
          </a:xfrm>
          <a:prstGeom prst="rect">
            <a:avLst/>
          </a:prstGeom>
          <a:noFill/>
          <a:ln>
            <a:noFill/>
          </a:ln>
        </p:spPr>
        <p:txBody>
          <a:bodyPr lIns="0" rIns="0" tIns="0" bIns="0" wrap="square" rtlCol="0"/>
          <a:lstStyle/>
          <a:p>
            <a:pPr>
              <a:lnSpc>
                <a:spcPct val="145000"/>
              </a:lnSpc>
            </a:pPr>
            <a:r>
              <a:rPr lang="en-US" sz="1250" noProof="1" b="1">
                <a:solidFill>
                  <a:srgbClr val="23272E"/>
                </a:solidFill>
                <a:latin typeface="Quattrocento Sans"/>
                <a:ea typeface="Quattrocento Sans"/>
              </a:rPr>
              <a:t>Architecture is strategy.</a:t>
            </a:r>
            <a:r>
              <a:rPr lang="en-US" sz="1250" noProof="1">
                <a:solidFill>
                  <a:srgbClr val="23272E"/>
                </a:solidFill>
                <a:latin typeface="Quattrocento Sans"/>
                <a:ea typeface="Quattrocento Sans"/>
              </a:rPr>
              <a:t> Headless commerce — one engine, many heads via APIs — is the quiet prerequisite for agentic commerce. AI agents buy through data and APIs, not web pages.</a:t>
            </a:r>
            <a:endParaRPr lang="en-US" sz="1250" noProof="1"/>
          </a:p>
        </p:txBody>
      </p:sp>
      <p:sp>
        <p:nvSpPr>
          <p:cNvPr id="18" name="foot-rule"/>
          <p:cNvSpPr/>
          <p:nvPr/>
        </p:nvSpPr>
        <p:spPr>
          <a:xfrm>
            <a:off x="711200" y="6451600"/>
            <a:ext cx="10769600" cy="12700"/>
          </a:xfrm>
          <a:prstGeom prst="rect">
            <a:avLst/>
          </a:prstGeom>
          <a:solidFill>
            <a:srgbClr val="D9D2C4"/>
          </a:solidFill>
          <a:ln>
            <a:noFill/>
          </a:ln>
        </p:spPr>
      </p:sp>
      <p:sp>
        <p:nvSpPr>
          <p:cNvPr id="19"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20"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21"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41</a:t>
            </a:r>
            <a:endParaRPr lang="en-US" sz="950" noProof="1"/>
          </a:p>
        </p:txBody>
      </p:sp>
    </p:spTree>
  </p:cSld>
  <p:clrMapOvr>
    <a:masterClrMapping/>
  </p:clrMapOvr>
</p:sld>
</file>

<file path=ppt/slides/slide4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BRIDGE TO WEEK 2</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Next week we go inside the digital consumer's mind</a:t>
            </a:r>
            <a:endParaRPr lang="en-US" sz="2600" noProof="1"/>
          </a:p>
        </p:txBody>
      </p:sp>
      <p:sp>
        <p:nvSpPr>
          <p:cNvPr id="4" name="wk2-icon"/>
          <p:cNvSpPr/>
          <p:nvPr>
            <p:extLst>
              <p:ext uri="{F5677B7D-0D2A-4D9B-9A5C-6D8D7D0E5A5D}">
                <pptd:icon encoding="base64url">eyJpY29uTmFtZSI6ImZhczpicmFpbiJ9</pptd:icon>
              </p:ext>
            </p:extLst>
          </p:nvPr>
        </p:nvSpPr>
        <p:spPr>
          <a:xfrm>
            <a:off x="711200" y="1498600"/>
            <a:ext cx="304800" cy="304800"/>
          </a:xfrm>
          <a:custGeom>
            <a:avLst/>
            <a:gdLst/>
            <a:ahLst/>
            <a:cxnLst/>
            <a:rect l="l" t="t" r="r" b="b"/>
            <a:pathLst>
              <a:path w="512" h="512">
                <a:moveTo>
                  <a:pt x="120" y="56"/>
                </a:moveTo>
                <a:cubicBezTo>
                  <a:pt x="120" y="25"/>
                  <a:pt x="145" y="0"/>
                  <a:pt x="176" y="0"/>
                </a:cubicBezTo>
                <a:lnTo>
                  <a:pt x="200" y="0"/>
                </a:lnTo>
                <a:cubicBezTo>
                  <a:pt x="218" y="0"/>
                  <a:pt x="232" y="14"/>
                  <a:pt x="232" y="32"/>
                </a:cubicBezTo>
                <a:lnTo>
                  <a:pt x="232" y="480"/>
                </a:lnTo>
                <a:cubicBezTo>
                  <a:pt x="232" y="498"/>
                  <a:pt x="218" y="512"/>
                  <a:pt x="200" y="512"/>
                </a:cubicBezTo>
                <a:lnTo>
                  <a:pt x="168" y="512"/>
                </a:lnTo>
                <a:cubicBezTo>
                  <a:pt x="138" y="512"/>
                  <a:pt x="113" y="492"/>
                  <a:pt x="106" y="464"/>
                </a:cubicBezTo>
                <a:cubicBezTo>
                  <a:pt x="105" y="464"/>
                  <a:pt x="105" y="464"/>
                  <a:pt x="104" y="464"/>
                </a:cubicBezTo>
                <a:cubicBezTo>
                  <a:pt x="60" y="464"/>
                  <a:pt x="24" y="428"/>
                  <a:pt x="24" y="384"/>
                </a:cubicBezTo>
                <a:cubicBezTo>
                  <a:pt x="24" y="366"/>
                  <a:pt x="30" y="349"/>
                  <a:pt x="40" y="336"/>
                </a:cubicBezTo>
                <a:cubicBezTo>
                  <a:pt x="21" y="321"/>
                  <a:pt x="8" y="298"/>
                  <a:pt x="8" y="272"/>
                </a:cubicBezTo>
                <a:cubicBezTo>
                  <a:pt x="8" y="241"/>
                  <a:pt x="26" y="214"/>
                  <a:pt x="51" y="201"/>
                </a:cubicBezTo>
                <a:cubicBezTo>
                  <a:pt x="44" y="189"/>
                  <a:pt x="40" y="175"/>
                  <a:pt x="40" y="160"/>
                </a:cubicBezTo>
                <a:cubicBezTo>
                  <a:pt x="40" y="116"/>
                  <a:pt x="76" y="80"/>
                  <a:pt x="120" y="80"/>
                </a:cubicBezTo>
                <a:lnTo>
                  <a:pt x="120" y="56"/>
                </a:lnTo>
                <a:close/>
                <a:moveTo>
                  <a:pt x="392" y="56"/>
                </a:moveTo>
                <a:lnTo>
                  <a:pt x="392" y="80"/>
                </a:lnTo>
                <a:cubicBezTo>
                  <a:pt x="436" y="80"/>
                  <a:pt x="472" y="116"/>
                  <a:pt x="472" y="160"/>
                </a:cubicBezTo>
                <a:cubicBezTo>
                  <a:pt x="472" y="175"/>
                  <a:pt x="468" y="189"/>
                  <a:pt x="461" y="201"/>
                </a:cubicBezTo>
                <a:cubicBezTo>
                  <a:pt x="487" y="214"/>
                  <a:pt x="504" y="241"/>
                  <a:pt x="504" y="272"/>
                </a:cubicBezTo>
                <a:cubicBezTo>
                  <a:pt x="504" y="298"/>
                  <a:pt x="491" y="321"/>
                  <a:pt x="472" y="336"/>
                </a:cubicBezTo>
                <a:cubicBezTo>
                  <a:pt x="482" y="349"/>
                  <a:pt x="488" y="366"/>
                  <a:pt x="488" y="384"/>
                </a:cubicBezTo>
                <a:cubicBezTo>
                  <a:pt x="488" y="428"/>
                  <a:pt x="452" y="464"/>
                  <a:pt x="408" y="464"/>
                </a:cubicBezTo>
                <a:cubicBezTo>
                  <a:pt x="407" y="464"/>
                  <a:pt x="407" y="464"/>
                  <a:pt x="406" y="464"/>
                </a:cubicBezTo>
                <a:cubicBezTo>
                  <a:pt x="399" y="492"/>
                  <a:pt x="374" y="512"/>
                  <a:pt x="344" y="512"/>
                </a:cubicBezTo>
                <a:lnTo>
                  <a:pt x="312" y="512"/>
                </a:lnTo>
                <a:cubicBezTo>
                  <a:pt x="294" y="512"/>
                  <a:pt x="280" y="498"/>
                  <a:pt x="280" y="480"/>
                </a:cubicBezTo>
                <a:lnTo>
                  <a:pt x="280" y="32"/>
                </a:lnTo>
                <a:cubicBezTo>
                  <a:pt x="280" y="14"/>
                  <a:pt x="294" y="0"/>
                  <a:pt x="312" y="0"/>
                </a:cubicBezTo>
                <a:lnTo>
                  <a:pt x="336" y="0"/>
                </a:lnTo>
                <a:cubicBezTo>
                  <a:pt x="367" y="0"/>
                  <a:pt x="392" y="25"/>
                  <a:pt x="392" y="56"/>
                </a:cubicBezTo>
                <a:close/>
              </a:path>
            </a:pathLst>
          </a:custGeom>
          <a:solidFill>
            <a:srgbClr val="175E54"/>
          </a:solidFill>
          <a:ln>
            <a:noFill/>
          </a:ln>
        </p:spPr>
      </p:sp>
      <p:sp>
        <p:nvSpPr>
          <p:cNvPr id="5" name="wk2-head"/>
          <p:cNvSpPr txBox="1"/>
          <p:nvPr/>
        </p:nvSpPr>
        <p:spPr>
          <a:xfrm>
            <a:off x="1193800" y="1473200"/>
            <a:ext cx="9652000" cy="304800"/>
          </a:xfrm>
          <a:prstGeom prst="rect">
            <a:avLst/>
          </a:prstGeom>
          <a:noFill/>
          <a:ln>
            <a:noFill/>
          </a:ln>
        </p:spPr>
        <p:txBody>
          <a:bodyPr lIns="0" rIns="0" tIns="0" bIns="0" wrap="square" rtlCol="0"/>
          <a:lstStyle/>
          <a:p>
            <a:pPr>
              <a:lnSpc>
                <a:spcPct val="120000"/>
              </a:lnSpc>
            </a:pPr>
            <a:r>
              <a:rPr lang="en-US" sz="1900" noProof="1">
                <a:solidFill>
                  <a:srgbClr val="175E54"/>
                </a:solidFill>
                <a:latin typeface="Unna"/>
                <a:ea typeface="Unna"/>
              </a:rPr>
              <a:t>Week 2 · Topic 2 — Consumer Behaviour in the Digital Age</a:t>
            </a:r>
            <a:endParaRPr lang="en-US" sz="1900" noProof="1"/>
          </a:p>
        </p:txBody>
      </p:sp>
      <p:sp>
        <p:nvSpPr>
          <p:cNvPr id="6" name="wk2-body"/>
          <p:cNvSpPr txBox="1"/>
          <p:nvPr/>
        </p:nvSpPr>
        <p:spPr>
          <a:xfrm>
            <a:off x="1193800" y="1879600"/>
            <a:ext cx="10287000" cy="1397000"/>
          </a:xfrm>
          <a:prstGeom prst="rect">
            <a:avLst/>
          </a:prstGeom>
          <a:noFill/>
          <a:ln>
            <a:noFill/>
          </a:ln>
        </p:spPr>
        <p:txBody>
          <a:bodyPr lIns="0" rIns="0" tIns="0" bIns="0" wrap="square" rtlCol="0"/>
          <a:lstStyle/>
          <a:p>
            <a:pPr>
              <a:lnSpc>
                <a:spcPct val="155000"/>
              </a:lnSpc>
            </a:pPr>
            <a:r>
              <a:rPr lang="en-US" sz="1250" noProof="1">
                <a:solidFill>
                  <a:srgbClr val="23272E"/>
                </a:solidFill>
                <a:latin typeface="Quattrocento Sans"/>
                <a:ea typeface="Quattrocento Sans"/>
              </a:rPr>
              <a:t>You now know </a:t>
            </a:r>
            <a:r>
              <a:rPr lang="en-US" sz="1250" noProof="1" i="1">
                <a:solidFill>
                  <a:srgbClr val="23272E"/>
                </a:solidFill>
                <a:latin typeface="Quattrocento Sans"/>
                <a:ea typeface="Quattrocento Sans"/>
              </a:rPr>
              <a:t>where</a:t>
            </a:r>
            <a:r>
              <a:rPr lang="en-US" sz="1250" noProof="1">
                <a:solidFill>
                  <a:srgbClr val="23272E"/>
                </a:solidFill>
                <a:latin typeface="Quattrocento Sans"/>
                <a:ea typeface="Quattrocento Sans"/>
              </a:rPr>
              <a:t> commerce happens. Week 2 asks </a:t>
            </a:r>
            <a:r>
              <a:rPr lang="en-US" sz="1250" noProof="1" i="1">
                <a:solidFill>
                  <a:srgbClr val="23272E"/>
                </a:solidFill>
                <a:latin typeface="Quattrocento Sans"/>
                <a:ea typeface="Quattrocento Sans"/>
              </a:rPr>
              <a:t>why people buy</a:t>
            </a:r>
            <a:r>
              <a:rPr lang="en-US" sz="1250" noProof="1">
                <a:solidFill>
                  <a:srgbClr val="23272E"/>
                </a:solidFill>
                <a:latin typeface="Quattrocento Sans"/>
                <a:ea typeface="Quattrocento Sans"/>
              </a:rPr>
              <a:t> there: the McKinsey Consumer Decision Journey (and why the funnel is wrong), Google's four micro-moments, how persuasion works through central and peripheral routes, and why more choice can mean fewer sales. We also begin the AI-personalisation thread that runs to Week 3.</a:t>
            </a:r>
            <a:endParaRPr lang="en-US" sz="1250" noProof="1"/>
          </a:p>
        </p:txBody>
      </p:sp>
      <p:sp>
        <p:nvSpPr>
          <p:cNvPr id="7" name="teaser-rule"/>
          <p:cNvSpPr/>
          <p:nvPr/>
        </p:nvSpPr>
        <p:spPr>
          <a:xfrm>
            <a:off x="711200" y="3632200"/>
            <a:ext cx="10769600" cy="12700"/>
          </a:xfrm>
          <a:prstGeom prst="rect">
            <a:avLst/>
          </a:prstGeom>
          <a:solidFill>
            <a:srgbClr val="D9D2C4"/>
          </a:solidFill>
          <a:ln>
            <a:noFill/>
          </a:ln>
        </p:spPr>
      </p:sp>
      <p:sp>
        <p:nvSpPr>
          <p:cNvPr id="8" name="teaser-zone"/>
          <p:cNvSpPr/>
          <p:nvPr/>
        </p:nvSpPr>
        <p:spPr>
          <a:xfrm>
            <a:off x="711200" y="3886200"/>
            <a:ext cx="10769600" cy="1524000"/>
          </a:xfrm>
          <a:prstGeom prst="rect">
            <a:avLst/>
          </a:prstGeom>
          <a:solidFill>
            <a:srgbClr val="E2ECE8"/>
          </a:solidFill>
          <a:ln>
            <a:noFill/>
          </a:ln>
        </p:spPr>
      </p:sp>
      <p:sp>
        <p:nvSpPr>
          <p:cNvPr id="9" name="teaser-label"/>
          <p:cNvSpPr txBox="1"/>
          <p:nvPr/>
        </p:nvSpPr>
        <p:spPr>
          <a:xfrm>
            <a:off x="1016000" y="4089400"/>
            <a:ext cx="3810000" cy="203200"/>
          </a:xfrm>
          <a:prstGeom prst="rect">
            <a:avLst/>
          </a:prstGeom>
          <a:noFill/>
          <a:ln>
            <a:noFill/>
          </a:ln>
        </p:spPr>
        <p:txBody>
          <a:bodyPr lIns="0" rIns="0" tIns="0" bIns="0" wrap="square" rtlCol="0"/>
          <a:lstStyle/>
          <a:p>
            <a:pPr>
              <a:lnSpc>
                <a:spcPct val="120000"/>
              </a:lnSpc>
            </a:pPr>
            <a:r>
              <a:rPr lang="en-US" sz="1100" noProof="1" b="1" spc="200" kern="0">
                <a:solidFill>
                  <a:srgbClr val="175E54"/>
                </a:solidFill>
                <a:latin typeface="Quattrocento Sans"/>
                <a:ea typeface="Quattrocento Sans"/>
              </a:rPr>
              <a:t>TEASER — COME WITH AN ANSWER</a:t>
            </a:r>
            <a:endParaRPr lang="en-US" sz="1100" noProof="1"/>
          </a:p>
        </p:txBody>
      </p:sp>
      <p:sp>
        <p:nvSpPr>
          <p:cNvPr id="10" name="teaser-text"/>
          <p:cNvSpPr txBox="1"/>
          <p:nvPr/>
        </p:nvSpPr>
        <p:spPr>
          <a:xfrm>
            <a:off x="1016000" y="4394200"/>
            <a:ext cx="10160000" cy="812800"/>
          </a:xfrm>
          <a:prstGeom prst="rect">
            <a:avLst/>
          </a:prstGeom>
          <a:noFill/>
          <a:ln>
            <a:noFill/>
          </a:ln>
        </p:spPr>
        <p:txBody>
          <a:bodyPr lIns="0" rIns="0" tIns="0" bIns="0" wrap="square" rtlCol="0"/>
          <a:lstStyle/>
          <a:p>
            <a:pPr>
              <a:lnSpc>
                <a:spcPct val="140000"/>
              </a:lnSpc>
            </a:pPr>
            <a:r>
              <a:rPr lang="en-US" sz="1800" noProof="1">
                <a:solidFill>
                  <a:srgbClr val="23272E"/>
                </a:solidFill>
                <a:latin typeface="Unna"/>
                <a:ea typeface="Unna"/>
              </a:rPr>
              <a:t>A supermarket display of 24 jams drew more shoppers than a display of 6 — yet the 6-jam display sold </a:t>
            </a:r>
            <a:r>
              <a:rPr lang="en-US" sz="1800" noProof="1" b="1">
                <a:solidFill>
                  <a:srgbClr val="23272E"/>
                </a:solidFill>
                <a:latin typeface="Unna"/>
                <a:ea typeface="Unna"/>
              </a:rPr>
              <a:t>ten times</a:t>
            </a:r>
            <a:r>
              <a:rPr lang="en-US" sz="1800" noProof="1">
                <a:solidFill>
                  <a:srgbClr val="23272E"/>
                </a:solidFill>
                <a:latin typeface="Unna"/>
                <a:ea typeface="Unna"/>
              </a:rPr>
              <a:t> more. Why? And what should your favourite online store learn from it?</a:t>
            </a:r>
            <a:endParaRPr lang="en-US" sz="1800" noProof="1"/>
          </a:p>
        </p:txBody>
      </p:sp>
      <p:sp>
        <p:nvSpPr>
          <p:cNvPr id="11" name="prep-note"/>
          <p:cNvSpPr txBox="1"/>
          <p:nvPr/>
        </p:nvSpPr>
        <p:spPr>
          <a:xfrm>
            <a:off x="711200" y="5638800"/>
            <a:ext cx="10769600" cy="508000"/>
          </a:xfrm>
          <a:prstGeom prst="rect">
            <a:avLst/>
          </a:prstGeom>
          <a:noFill/>
          <a:ln>
            <a:noFill/>
          </a:ln>
        </p:spPr>
        <p:txBody>
          <a:bodyPr lIns="0" rIns="0" tIns="0" bIns="0" wrap="square" rtlCol="0"/>
          <a:lstStyle/>
          <a:p>
            <a:pPr>
              <a:lnSpc>
                <a:spcPct val="135000"/>
              </a:lnSpc>
            </a:pPr>
            <a:r>
              <a:rPr lang="en-US" sz="1100" noProof="1">
                <a:solidFill>
                  <a:srgbClr val="6E675C"/>
                </a:solidFill>
                <a:latin typeface="Quattrocento Sans"/>
                <a:ea typeface="Quattrocento Sans"/>
              </a:rPr>
              <a:t>To prepare: re-run your "map your last purchase" icebreaker map and tag each touchpoint with what you were </a:t>
            </a:r>
            <a:r>
              <a:rPr lang="en-US" sz="1100" noProof="1" i="1">
                <a:solidFill>
                  <a:srgbClr val="6E675C"/>
                </a:solidFill>
                <a:latin typeface="Quattrocento Sans"/>
                <a:ea typeface="Quattrocento Sans"/>
              </a:rPr>
              <a:t>thinking</a:t>
            </a:r>
            <a:r>
              <a:rPr lang="en-US" sz="1100" noProof="1">
                <a:solidFill>
                  <a:srgbClr val="6E675C"/>
                </a:solidFill>
                <a:latin typeface="Quattrocento Sans"/>
                <a:ea typeface="Quattrocento Sans"/>
              </a:rPr>
              <a:t> — we'll classify them properly next week. (Jam study: Iyengar &amp; Lepper, 2000.)</a:t>
            </a:r>
            <a:endParaRPr lang="en-US" sz="1100" noProof="1"/>
          </a:p>
        </p:txBody>
      </p:sp>
      <p:sp>
        <p:nvSpPr>
          <p:cNvPr id="12" name="foot-rule"/>
          <p:cNvSpPr/>
          <p:nvPr/>
        </p:nvSpPr>
        <p:spPr>
          <a:xfrm>
            <a:off x="711200" y="6451600"/>
            <a:ext cx="10769600" cy="12700"/>
          </a:xfrm>
          <a:prstGeom prst="rect">
            <a:avLst/>
          </a:prstGeom>
          <a:solidFill>
            <a:srgbClr val="D9D2C4"/>
          </a:solidFill>
          <a:ln>
            <a:noFill/>
          </a:ln>
        </p:spPr>
      </p:sp>
      <p:sp>
        <p:nvSpPr>
          <p:cNvPr id="13"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4"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5"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42</a:t>
            </a:r>
            <a:endParaRPr lang="en-US" sz="950" noProof="1"/>
          </a:p>
        </p:txBody>
      </p:sp>
    </p:spTree>
  </p:cSld>
  <p:clrMapOvr>
    <a:masterClrMapping/>
  </p:clrMapOvr>
</p:sld>
</file>

<file path=ppt/slides/slide4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kicker"/>
          <p:cNvSpPr txBox="1"/>
          <p:nvPr/>
        </p:nvSpPr>
        <p:spPr>
          <a:xfrm>
            <a:off x="711200" y="431800"/>
            <a:ext cx="8890000" cy="203200"/>
          </a:xfrm>
          <a:prstGeom prst="rect">
            <a:avLst/>
          </a:prstGeom>
          <a:noFill/>
          <a:ln>
            <a:noFill/>
          </a:ln>
        </p:spPr>
        <p:txBody>
          <a:bodyPr lIns="0" rIns="0" tIns="0" bIns="0" wrap="square" rtlCol="0"/>
          <a:lstStyle/>
          <a:p>
            <a:pPr>
              <a:lnSpc>
                <a:spcPct val="120000"/>
              </a:lnSpc>
            </a:pPr>
            <a:r>
              <a:rPr lang="en-US" sz="1200" noProof="1" b="1" spc="200" kern="0">
                <a:solidFill>
                  <a:srgbClr val="BC4B26"/>
                </a:solidFill>
                <a:latin typeface="Quattrocento Sans"/>
                <a:ea typeface="Quattrocento Sans"/>
              </a:rPr>
              <a:t>TOPIC 1 · REFERENCES</a:t>
            </a:r>
            <a:endParaRPr lang="en-US" sz="1200" noProof="1"/>
          </a:p>
        </p:txBody>
      </p:sp>
      <p:sp>
        <p:nvSpPr>
          <p:cNvPr id="3" name="title"/>
          <p:cNvSpPr txBox="1"/>
          <p:nvPr/>
        </p:nvSpPr>
        <p:spPr>
          <a:xfrm>
            <a:off x="711200" y="660400"/>
            <a:ext cx="10769600" cy="533400"/>
          </a:xfrm>
          <a:prstGeom prst="rect">
            <a:avLst/>
          </a:prstGeom>
          <a:noFill/>
          <a:ln>
            <a:noFill/>
          </a:ln>
        </p:spPr>
        <p:txBody>
          <a:bodyPr lIns="0" rIns="0" tIns="0" bIns="0" wrap="square" rtlCol="0"/>
          <a:lstStyle/>
          <a:p>
            <a:pPr>
              <a:lnSpc>
                <a:spcPct val="115000"/>
              </a:lnSpc>
            </a:pPr>
            <a:r>
              <a:rPr lang="en-US" sz="2600" noProof="1">
                <a:solidFill>
                  <a:srgbClr val="23272E"/>
                </a:solidFill>
                <a:latin typeface="Unna"/>
                <a:ea typeface="Unna"/>
              </a:rPr>
              <a:t>Every number on these slides, traced to its source</a:t>
            </a:r>
            <a:endParaRPr lang="en-US" sz="2600" noProof="1"/>
          </a:p>
        </p:txBody>
      </p:sp>
      <p:sp>
        <p:nvSpPr>
          <p:cNvPr id="4" name="g1-head"/>
          <p:cNvSpPr txBox="1"/>
          <p:nvPr/>
        </p:nvSpPr>
        <p:spPr>
          <a:xfrm>
            <a:off x="711200" y="1397000"/>
            <a:ext cx="5207000" cy="228600"/>
          </a:xfrm>
          <a:prstGeom prst="rect">
            <a:avLst/>
          </a:prstGeom>
          <a:noFill/>
          <a:ln>
            <a:noFill/>
          </a:ln>
        </p:spPr>
        <p:txBody>
          <a:bodyPr lIns="0" rIns="0" tIns="0" bIns="0" wrap="square" rtlCol="0"/>
          <a:lstStyle/>
          <a:p>
            <a:pPr>
              <a:lnSpc>
                <a:spcPct val="120000"/>
              </a:lnSpc>
            </a:pPr>
            <a:r>
              <a:rPr lang="en-US" sz="1250" noProof="1" b="1">
                <a:solidFill>
                  <a:srgbClr val="175E54"/>
                </a:solidFill>
                <a:latin typeface="Quattrocento Sans"/>
                <a:ea typeface="Quattrocento Sans"/>
              </a:rPr>
              <a:t>Market data &amp; evidence</a:t>
            </a:r>
            <a:endParaRPr lang="en-US" sz="1250" noProof="1"/>
          </a:p>
        </p:txBody>
      </p:sp>
      <p:sp>
        <p:nvSpPr>
          <p:cNvPr id="5" name="g1-body"/>
          <p:cNvSpPr txBox="1"/>
          <p:nvPr/>
        </p:nvSpPr>
        <p:spPr>
          <a:xfrm>
            <a:off x="711200" y="1676400"/>
            <a:ext cx="5207000" cy="2794000"/>
          </a:xfrm>
          <a:prstGeom prst="rect">
            <a:avLst/>
          </a:prstGeom>
          <a:noFill/>
          <a:ln>
            <a:noFill/>
          </a:ln>
        </p:spPr>
        <p:txBody>
          <a:bodyPr lIns="0" rIns="0" tIns="0" bIns="0" wrap="square" rtlCol="0"/>
          <a:lstStyle/>
          <a:p>
            <a:pPr>
              <a:lnSpc>
                <a:spcPct val="150000"/>
              </a:lnSpc>
            </a:pPr>
            <a:r>
              <a:rPr lang="en-US" sz="1050" noProof="1" u="sng">
                <a:solidFill>
                  <a:srgbClr val="0563C1"/>
                </a:solidFill>
                <a:latin typeface="Quattrocento Sans"/>
                <a:ea typeface="Quattrocento Sans"/>
                <a:hlinkClick r:id="rId2"/>
              </a:rPr>
              <a:t>US Census Bureau — retail e-commerce series, 2025</a:t>
            </a:r>
            <a:endParaRPr lang="en-US" sz="1050" noProof="1"/>
          </a:p>
          <a:p>
            <a:pPr>
              <a:lnSpc>
                <a:spcPct val="150000"/>
              </a:lnSpc>
            </a:pPr>
            <a:r>
              <a:rPr lang="en-US" sz="1050" noProof="1" u="sng">
                <a:solidFill>
                  <a:srgbClr val="0563C1"/>
                </a:solidFill>
                <a:latin typeface="Quattrocento Sans"/>
                <a:ea typeface="Quattrocento Sans"/>
                <a:hlinkClick r:id="rId3"/>
              </a:rPr>
              <a:t>eMarketer global forecast via Ten-Ten, 2025</a:t>
            </a:r>
            <a:endParaRPr lang="en-US" sz="1050" noProof="1"/>
          </a:p>
          <a:p>
            <a:pPr>
              <a:lnSpc>
                <a:spcPct val="150000"/>
              </a:lnSpc>
            </a:pPr>
            <a:r>
              <a:rPr lang="en-US" sz="1050" noProof="1" u="sng">
                <a:solidFill>
                  <a:srgbClr val="0563C1"/>
                </a:solidFill>
                <a:latin typeface="Quattrocento Sans"/>
                <a:ea typeface="Quattrocento Sans"/>
                <a:hlinkClick r:id="rId4"/>
              </a:rPr>
              <a:t>eMarketer Worldwide Retail Ecommerce Forecast via GrabOn, 2025</a:t>
            </a:r>
            <a:endParaRPr lang="en-US" sz="1050" noProof="1"/>
          </a:p>
          <a:p>
            <a:pPr>
              <a:lnSpc>
                <a:spcPct val="150000"/>
              </a:lnSpc>
            </a:pPr>
            <a:r>
              <a:rPr lang="en-US" sz="1050" noProof="1" u="sng">
                <a:solidFill>
                  <a:srgbClr val="0563C1"/>
                </a:solidFill>
                <a:latin typeface="Quattrocento Sans"/>
                <a:ea typeface="Quattrocento Sans"/>
                <a:hlinkClick r:id="rId5"/>
              </a:rPr>
              <a:t>Statista online-shopping statistics via PixelPanda, 2025</a:t>
            </a:r>
            <a:endParaRPr lang="en-US" sz="1050" noProof="1"/>
          </a:p>
          <a:p>
            <a:pPr>
              <a:lnSpc>
                <a:spcPct val="150000"/>
              </a:lnSpc>
            </a:pPr>
            <a:r>
              <a:rPr lang="en-US" sz="1050" noProof="1" u="sng">
                <a:solidFill>
                  <a:srgbClr val="0563C1"/>
                </a:solidFill>
                <a:latin typeface="Quattrocento Sans"/>
                <a:ea typeface="Quattrocento Sans"/>
                <a:hlinkClick r:id="rId6"/>
              </a:rPr>
              <a:t>Mordor Intelligence — US e-commerce market, 2026</a:t>
            </a:r>
            <a:endParaRPr lang="en-US" sz="1050" noProof="1"/>
          </a:p>
          <a:p>
            <a:pPr>
              <a:lnSpc>
                <a:spcPct val="150000"/>
              </a:lnSpc>
            </a:pPr>
            <a:r>
              <a:rPr lang="en-US" sz="1050" noProof="1" u="sng">
                <a:solidFill>
                  <a:srgbClr val="0563C1"/>
                </a:solidFill>
                <a:latin typeface="Quattrocento Sans"/>
                <a:ea typeface="Quattrocento Sans"/>
                <a:hlinkClick r:id="rId7"/>
              </a:rPr>
              <a:t>Mordor Intelligence — India e-commerce market, 2026</a:t>
            </a:r>
            <a:endParaRPr lang="en-US" sz="1050" noProof="1"/>
          </a:p>
          <a:p>
            <a:pPr>
              <a:lnSpc>
                <a:spcPct val="150000"/>
              </a:lnSpc>
            </a:pPr>
            <a:r>
              <a:rPr lang="en-US" sz="1050" noProof="1" u="sng">
                <a:solidFill>
                  <a:srgbClr val="0563C1"/>
                </a:solidFill>
                <a:latin typeface="Quattrocento Sans"/>
                <a:ea typeface="Quattrocento Sans"/>
                <a:hlinkClick r:id="rId8"/>
              </a:rPr>
              <a:t>IBEF — India e-commerce &amp; UPI, 2025–2026</a:t>
            </a:r>
            <a:endParaRPr lang="en-US" sz="1050" noProof="1"/>
          </a:p>
          <a:p>
            <a:pPr>
              <a:lnSpc>
                <a:spcPct val="150000"/>
              </a:lnSpc>
            </a:pPr>
            <a:r>
              <a:rPr lang="en-US" sz="1050" noProof="1" u="sng">
                <a:solidFill>
                  <a:srgbClr val="0563C1"/>
                </a:solidFill>
                <a:latin typeface="Quattrocento Sans"/>
                <a:ea typeface="Quattrocento Sans"/>
                <a:hlinkClick r:id="rId9"/>
              </a:rPr>
              <a:t>Social-commerce statistics (eMarketer/Mordor) via Ringly, 2026</a:t>
            </a:r>
            <a:endParaRPr lang="en-US" sz="1050" noProof="1"/>
          </a:p>
          <a:p>
            <a:pPr>
              <a:lnSpc>
                <a:spcPct val="150000"/>
              </a:lnSpc>
            </a:pPr>
            <a:r>
              <a:rPr lang="en-US" sz="1050" noProof="1" u="sng">
                <a:solidFill>
                  <a:srgbClr val="0563C1"/>
                </a:solidFill>
                <a:latin typeface="Quattrocento Sans"/>
                <a:ea typeface="Quattrocento Sans"/>
                <a:hlinkClick r:id="rId10"/>
              </a:rPr>
              <a:t>Digital Commerce 360 — US e-commerce sales analysis, 2026</a:t>
            </a:r>
            <a:endParaRPr lang="en-US" sz="1050" noProof="1"/>
          </a:p>
          <a:p>
            <a:pPr>
              <a:lnSpc>
                <a:spcPct val="150000"/>
              </a:lnSpc>
            </a:pPr>
            <a:r>
              <a:rPr lang="en-US" sz="1050" noProof="1" u="sng">
                <a:solidFill>
                  <a:srgbClr val="0563C1"/>
                </a:solidFill>
                <a:latin typeface="Quattrocento Sans"/>
                <a:ea typeface="Quattrocento Sans"/>
                <a:hlinkClick r:id="rId11"/>
              </a:rPr>
              <a:t>TBRC — voice-commerce market report, 2026</a:t>
            </a:r>
            <a:endParaRPr lang="en-US" sz="1050" noProof="1"/>
          </a:p>
        </p:txBody>
      </p:sp>
      <p:sp>
        <p:nvSpPr>
          <p:cNvPr id="6" name="g2-head"/>
          <p:cNvSpPr txBox="1"/>
          <p:nvPr/>
        </p:nvSpPr>
        <p:spPr>
          <a:xfrm>
            <a:off x="6273800" y="1397000"/>
            <a:ext cx="5207000" cy="228600"/>
          </a:xfrm>
          <a:prstGeom prst="rect">
            <a:avLst/>
          </a:prstGeom>
          <a:noFill/>
          <a:ln>
            <a:noFill/>
          </a:ln>
        </p:spPr>
        <p:txBody>
          <a:bodyPr lIns="0" rIns="0" tIns="0" bIns="0" wrap="square" rtlCol="0"/>
          <a:lstStyle/>
          <a:p>
            <a:pPr>
              <a:lnSpc>
                <a:spcPct val="120000"/>
              </a:lnSpc>
            </a:pPr>
            <a:r>
              <a:rPr lang="en-US" sz="1250" noProof="1" b="1">
                <a:solidFill>
                  <a:srgbClr val="175E54"/>
                </a:solidFill>
                <a:latin typeface="Quattrocento Sans"/>
                <a:ea typeface="Quattrocento Sans"/>
              </a:rPr>
              <a:t>Frameworks, theory &amp; careers</a:t>
            </a:r>
            <a:endParaRPr lang="en-US" sz="1250" noProof="1"/>
          </a:p>
        </p:txBody>
      </p:sp>
      <p:sp>
        <p:nvSpPr>
          <p:cNvPr id="7" name="g2-body"/>
          <p:cNvSpPr txBox="1"/>
          <p:nvPr/>
        </p:nvSpPr>
        <p:spPr>
          <a:xfrm>
            <a:off x="6273800" y="1676400"/>
            <a:ext cx="5207000" cy="1397000"/>
          </a:xfrm>
          <a:prstGeom prst="rect">
            <a:avLst/>
          </a:prstGeom>
          <a:noFill/>
          <a:ln>
            <a:noFill/>
          </a:ln>
        </p:spPr>
        <p:txBody>
          <a:bodyPr lIns="0" rIns="0" tIns="0" bIns="0" wrap="square" rtlCol="0"/>
          <a:lstStyle/>
          <a:p>
            <a:pPr>
              <a:lnSpc>
                <a:spcPct val="150000"/>
              </a:lnSpc>
            </a:pPr>
            <a:r>
              <a:rPr lang="en-US" sz="1050" noProof="1">
                <a:solidFill>
                  <a:srgbClr val="6E675C"/>
                </a:solidFill>
                <a:latin typeface="Quattrocento Sans"/>
                <a:ea typeface="Quattrocento Sans"/>
              </a:rPr>
              <a:t>Rogers, E. M. — </a:t>
            </a:r>
            <a:r>
              <a:rPr lang="en-US" sz="1050" noProof="1" i="1">
                <a:solidFill>
                  <a:srgbClr val="6E675C"/>
                </a:solidFill>
                <a:latin typeface="Quattrocento Sans"/>
                <a:ea typeface="Quattrocento Sans"/>
              </a:rPr>
              <a:t>Diffusion of Innovations</a:t>
            </a:r>
            <a:r>
              <a:rPr lang="en-US" sz="1050" noProof="1">
                <a:solidFill>
                  <a:srgbClr val="6E675C"/>
                </a:solidFill>
                <a:latin typeface="Quattrocento Sans"/>
                <a:ea typeface="Quattrocento Sans"/>
              </a:rPr>
              <a:t>, 1962 (5th ed. 2003, Free Press)</a:t>
            </a:r>
            <a:endParaRPr lang="en-US" sz="1050" noProof="1"/>
          </a:p>
          <a:p>
            <a:pPr>
              <a:lnSpc>
                <a:spcPct val="150000"/>
              </a:lnSpc>
            </a:pPr>
            <a:r>
              <a:rPr lang="en-US" sz="1050" noProof="1">
                <a:solidFill>
                  <a:srgbClr val="6E675C"/>
                </a:solidFill>
                <a:latin typeface="Quattrocento Sans"/>
                <a:ea typeface="Quattrocento Sans"/>
              </a:rPr>
              <a:t>Moore, G. — </a:t>
            </a:r>
            <a:r>
              <a:rPr lang="en-US" sz="1050" noProof="1" i="1">
                <a:solidFill>
                  <a:srgbClr val="6E675C"/>
                </a:solidFill>
                <a:latin typeface="Quattrocento Sans"/>
                <a:ea typeface="Quattrocento Sans"/>
              </a:rPr>
              <a:t>Crossing the Chasm</a:t>
            </a:r>
            <a:r>
              <a:rPr lang="en-US" sz="1050" noProof="1">
                <a:solidFill>
                  <a:srgbClr val="6E675C"/>
                </a:solidFill>
                <a:latin typeface="Quattrocento Sans"/>
                <a:ea typeface="Quattrocento Sans"/>
              </a:rPr>
              <a:t>, 1991</a:t>
            </a:r>
            <a:endParaRPr lang="en-US" sz="1050" noProof="1"/>
          </a:p>
          <a:p>
            <a:pPr>
              <a:lnSpc>
                <a:spcPct val="150000"/>
              </a:lnSpc>
            </a:pPr>
            <a:r>
              <a:rPr lang="en-US" sz="1050" noProof="1" u="sng">
                <a:solidFill>
                  <a:srgbClr val="0563C1"/>
                </a:solidFill>
                <a:latin typeface="Quattrocento Sans"/>
                <a:ea typeface="Quattrocento Sans"/>
                <a:hlinkClick r:id="rId30"/>
              </a:rPr>
              <a:t>World Economic Forum — Future of Jobs Report 2025</a:t>
            </a:r>
            <a:endParaRPr lang="en-US" sz="1050" noProof="1"/>
          </a:p>
          <a:p>
            <a:pPr>
              <a:lnSpc>
                <a:spcPct val="150000"/>
              </a:lnSpc>
            </a:pPr>
            <a:r>
              <a:rPr lang="en-US" sz="1050" noProof="1" u="sng">
                <a:solidFill>
                  <a:srgbClr val="0563C1"/>
                </a:solidFill>
                <a:latin typeface="Quattrocento Sans"/>
                <a:ea typeface="Quattrocento Sans"/>
                <a:hlinkClick r:id="rId31"/>
              </a:rPr>
              <a:t>Salesforce — Connected Shoppers Report, 2025</a:t>
            </a:r>
            <a:endParaRPr lang="en-US" sz="1050" noProof="1"/>
          </a:p>
          <a:p>
            <a:pPr>
              <a:lnSpc>
                <a:spcPct val="150000"/>
              </a:lnSpc>
            </a:pPr>
            <a:r>
              <a:rPr lang="en-US" sz="1050" noProof="1" u="sng">
                <a:solidFill>
                  <a:srgbClr val="0563C1"/>
                </a:solidFill>
                <a:latin typeface="Quattrocento Sans"/>
                <a:ea typeface="Quattrocento Sans"/>
                <a:hlinkClick r:id="rId5"/>
              </a:rPr>
              <a:t>Baymard Institute — cart abandonment, 2025</a:t>
            </a:r>
            <a:endParaRPr lang="en-US" sz="1050" noProof="1"/>
          </a:p>
        </p:txBody>
      </p:sp>
      <p:sp>
        <p:nvSpPr>
          <p:cNvPr id="8" name="g3-head"/>
          <p:cNvSpPr txBox="1"/>
          <p:nvPr/>
        </p:nvSpPr>
        <p:spPr>
          <a:xfrm>
            <a:off x="6273800" y="3276600"/>
            <a:ext cx="5207000" cy="228600"/>
          </a:xfrm>
          <a:prstGeom prst="rect">
            <a:avLst/>
          </a:prstGeom>
          <a:noFill/>
          <a:ln>
            <a:noFill/>
          </a:ln>
        </p:spPr>
        <p:txBody>
          <a:bodyPr lIns="0" rIns="0" tIns="0" bIns="0" wrap="square" rtlCol="0"/>
          <a:lstStyle/>
          <a:p>
            <a:pPr>
              <a:lnSpc>
                <a:spcPct val="120000"/>
              </a:lnSpc>
            </a:pPr>
            <a:r>
              <a:rPr lang="en-US" sz="1250" noProof="1" b="1">
                <a:solidFill>
                  <a:srgbClr val="175E54"/>
                </a:solidFill>
                <a:latin typeface="Quattrocento Sans"/>
                <a:ea typeface="Quattrocento Sans"/>
              </a:rPr>
              <a:t>Companies &amp; platforms</a:t>
            </a:r>
            <a:endParaRPr lang="en-US" sz="1250" noProof="1"/>
          </a:p>
        </p:txBody>
      </p:sp>
      <p:sp>
        <p:nvSpPr>
          <p:cNvPr id="9" name="g3-body"/>
          <p:cNvSpPr txBox="1"/>
          <p:nvPr/>
        </p:nvSpPr>
        <p:spPr>
          <a:xfrm>
            <a:off x="6273800" y="3556000"/>
            <a:ext cx="5207000" cy="2286000"/>
          </a:xfrm>
          <a:prstGeom prst="rect">
            <a:avLst/>
          </a:prstGeom>
          <a:noFill/>
          <a:ln>
            <a:noFill/>
          </a:ln>
        </p:spPr>
        <p:txBody>
          <a:bodyPr lIns="0" rIns="0" tIns="0" bIns="0" wrap="square" rtlCol="0"/>
          <a:lstStyle/>
          <a:p>
            <a:pPr>
              <a:lnSpc>
                <a:spcPct val="150000"/>
              </a:lnSpc>
            </a:pPr>
            <a:r>
              <a:rPr lang="en-US" sz="1050" noProof="1" u="sng">
                <a:solidFill>
                  <a:srgbClr val="0563C1"/>
                </a:solidFill>
                <a:latin typeface="Quattrocento Sans"/>
                <a:ea typeface="Quattrocento Sans"/>
                <a:hlinkClick r:id="rId32"/>
              </a:rPr>
              <a:t>Statista e-commerce shares via SellersCommerce, 2025</a:t>
            </a:r>
            <a:endParaRPr lang="en-US" sz="1050" noProof="1"/>
          </a:p>
          <a:p>
            <a:pPr>
              <a:lnSpc>
                <a:spcPct val="150000"/>
              </a:lnSpc>
            </a:pPr>
            <a:r>
              <a:rPr lang="en-US" sz="1050" noProof="1" u="sng">
                <a:solidFill>
                  <a:srgbClr val="0563C1"/>
                </a:solidFill>
                <a:latin typeface="Quattrocento Sans"/>
                <a:ea typeface="Quattrocento Sans"/>
                <a:hlinkClick r:id="rId33"/>
              </a:rPr>
              <a:t>Shopify / WooCommerce market data via Mobiloud, 2025–2026</a:t>
            </a:r>
            <a:endParaRPr lang="en-US" sz="1050" noProof="1"/>
          </a:p>
          <a:p>
            <a:pPr>
              <a:lnSpc>
                <a:spcPct val="150000"/>
              </a:lnSpc>
            </a:pPr>
            <a:r>
              <a:rPr lang="en-US" sz="1050" noProof="1" u="sng">
                <a:solidFill>
                  <a:srgbClr val="0563C1"/>
                </a:solidFill>
                <a:latin typeface="Quattrocento Sans"/>
                <a:ea typeface="Quattrocento Sans"/>
                <a:hlinkClick r:id="rId34"/>
              </a:rPr>
              <a:t>StoreLeads / W3Techs via HostingGuider, 2026</a:t>
            </a:r>
            <a:endParaRPr lang="en-US" sz="1050" noProof="1"/>
          </a:p>
          <a:p>
            <a:pPr>
              <a:lnSpc>
                <a:spcPct val="150000"/>
              </a:lnSpc>
            </a:pPr>
            <a:r>
              <a:rPr lang="en-US" sz="1050" noProof="1" u="sng">
                <a:solidFill>
                  <a:srgbClr val="0563C1"/>
                </a:solidFill>
                <a:latin typeface="Quattrocento Sans"/>
                <a:ea typeface="Quattrocento Sans"/>
                <a:hlinkClick r:id="rId35"/>
              </a:rPr>
              <a:t>BigCommerce — headless commerce, 2026</a:t>
            </a:r>
            <a:endParaRPr lang="en-US" sz="1050" noProof="1"/>
          </a:p>
          <a:p>
            <a:pPr>
              <a:lnSpc>
                <a:spcPct val="150000"/>
              </a:lnSpc>
            </a:pPr>
            <a:r>
              <a:rPr lang="en-US" sz="1050" noProof="1" u="sng">
                <a:solidFill>
                  <a:srgbClr val="0563C1"/>
                </a:solidFill>
                <a:latin typeface="Quattrocento Sans"/>
                <a:ea typeface="Quattrocento Sans"/>
                <a:hlinkClick r:id="rId36"/>
              </a:rPr>
              <a:t>Adobe Analytics AI-traffic data via DC360, 2026</a:t>
            </a:r>
            <a:endParaRPr lang="en-US" sz="1050" noProof="1"/>
          </a:p>
          <a:p>
            <a:pPr>
              <a:lnSpc>
                <a:spcPct val="150000"/>
              </a:lnSpc>
            </a:pPr>
            <a:r>
              <a:rPr lang="en-US" sz="1050" noProof="1" u="sng">
                <a:solidFill>
                  <a:srgbClr val="0563C1"/>
                </a:solidFill>
                <a:latin typeface="Quattrocento Sans"/>
                <a:ea typeface="Quattrocento Sans"/>
                <a:hlinkClick r:id="rId37"/>
              </a:rPr>
              <a:t>Amazon Rufus figures via Jarvio (company commentary)</a:t>
            </a:r>
            <a:endParaRPr lang="en-US" sz="1050" noProof="1"/>
          </a:p>
          <a:p>
            <a:pPr>
              <a:lnSpc>
                <a:spcPct val="150000"/>
              </a:lnSpc>
            </a:pPr>
            <a:r>
              <a:rPr lang="en-US" sz="1050" noProof="1" u="sng">
                <a:solidFill>
                  <a:srgbClr val="0563C1"/>
                </a:solidFill>
                <a:latin typeface="Quattrocento Sans"/>
                <a:ea typeface="Quattrocento Sans"/>
                <a:hlinkClick r:id="rId38"/>
              </a:rPr>
              <a:t>Perplexity Buy with Pro via AI Showreel, 2024</a:t>
            </a:r>
            <a:endParaRPr lang="en-US" sz="1050" noProof="1"/>
          </a:p>
          <a:p>
            <a:pPr>
              <a:lnSpc>
                <a:spcPct val="150000"/>
              </a:lnSpc>
            </a:pPr>
            <a:r>
              <a:rPr lang="en-US" sz="1050" noProof="1" u="sng">
                <a:solidFill>
                  <a:srgbClr val="0563C1"/>
                </a:solidFill>
                <a:latin typeface="Quattrocento Sans"/>
                <a:ea typeface="Quattrocento Sans"/>
                <a:hlinkClick r:id="rId39"/>
              </a:rPr>
              <a:t>ChatGPT shopping timeline via Darkroom, 2026</a:t>
            </a:r>
            <a:endParaRPr lang="en-US" sz="1050" noProof="1"/>
          </a:p>
        </p:txBody>
      </p:sp>
      <p:sp>
        <p:nvSpPr>
          <p:cNvPr id="10" name="hygiene-note"/>
          <p:cNvSpPr txBox="1"/>
          <p:nvPr/>
        </p:nvSpPr>
        <p:spPr>
          <a:xfrm>
            <a:off x="711200" y="5969000"/>
            <a:ext cx="10769600" cy="330200"/>
          </a:xfrm>
          <a:prstGeom prst="rect">
            <a:avLst/>
          </a:prstGeom>
          <a:noFill/>
          <a:ln>
            <a:noFill/>
          </a:ln>
        </p:spPr>
        <p:txBody>
          <a:bodyPr lIns="0" rIns="0" tIns="0" bIns="0" wrap="square" rtlCol="0"/>
          <a:lstStyle/>
          <a:p>
            <a:pPr>
              <a:lnSpc>
                <a:spcPct val="140000"/>
              </a:lnSpc>
            </a:pPr>
            <a:r>
              <a:rPr lang="en-US" sz="1000" noProof="1">
                <a:solidFill>
                  <a:srgbClr val="9A9284"/>
                </a:solidFill>
                <a:latin typeface="Quattrocento Sans"/>
                <a:ea typeface="Quattrocento Sans"/>
              </a:rPr>
              <a:t>Deck hygiene: forecast years are marked *; analyst estimates and company-reported figures are labelled as such on the slides where they appear (per research brief Appendix A).</a:t>
            </a:r>
            <a:endParaRPr lang="en-US" sz="1000" noProof="1"/>
          </a:p>
        </p:txBody>
      </p:sp>
      <p:sp>
        <p:nvSpPr>
          <p:cNvPr id="11" name="foot-rule"/>
          <p:cNvSpPr/>
          <p:nvPr/>
        </p:nvSpPr>
        <p:spPr>
          <a:xfrm>
            <a:off x="711200" y="6451600"/>
            <a:ext cx="10769600" cy="12700"/>
          </a:xfrm>
          <a:prstGeom prst="rect">
            <a:avLst/>
          </a:prstGeom>
          <a:solidFill>
            <a:srgbClr val="D9D2C4"/>
          </a:solidFill>
          <a:ln>
            <a:noFill/>
          </a:ln>
        </p:spPr>
      </p:sp>
      <p:sp>
        <p:nvSpPr>
          <p:cNvPr id="12" nam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9A9284"/>
                </a:solidFill>
                <a:latin typeface="Quattrocento Sans"/>
                <a:ea typeface="Quattrocento Sans"/>
              </a:rPr>
              <a:t>Future of Commerce · BBA</a:t>
            </a:r>
            <a:endParaRPr lang="en-US" sz="950" noProof="1"/>
          </a:p>
        </p:txBody>
      </p:sp>
      <p:sp>
        <p:nvSpPr>
          <p:cNvPr id="13" name="foot-right"/>
          <p:cNvSpPr txBox="1"/>
          <p:nvPr/>
        </p:nvSpPr>
        <p:spPr>
          <a:xfrm>
            <a:off x="5969000" y="6527800"/>
            <a:ext cx="48260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Week 1 · Session B · Topic 1</a:t>
            </a:r>
            <a:endParaRPr lang="en-US" sz="950" noProof="1"/>
          </a:p>
        </p:txBody>
      </p:sp>
      <p:sp>
        <p:nvSpPr>
          <p:cNvPr id="14" name="foot-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9A9284"/>
                </a:solidFill>
                <a:latin typeface="Quattrocento Sans"/>
                <a:ea typeface="Quattrocento Sans"/>
              </a:rPr>
              <a:t>43</a:t>
            </a:r>
            <a:endParaRPr lang="en-US" sz="950" noProof="1"/>
          </a:p>
        </p:txBody>
      </p:sp>
    </p:spTree>
  </p:cSld>
  <p:clrMapOvr>
    <a:masterClrMapping/>
  </p:clrMapOvr>
</p:sld>
</file>

<file path=ppt/slides/slide4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0E3B34"/>
        </a:solidFill>
      </p:bgPr>
    </p:bg>
    <p:spTree>
      <p:nvGrpSpPr>
        <p:cNvPr id="1" name=""/>
        <p:cNvGrpSpPr/>
        <p:nvPr/>
      </p:nvGrpSpPr>
      <p:grpSpPr>
        <a:xfrm>
          <a:off x="0" y="0"/>
          <a:ext cx="0" cy="0"/>
          <a:chOff x="0" y="0"/>
          <a:chExt cx="0" cy="0"/>
        </a:xfrm>
      </p:grpSpPr>
      <p:pic>
        <p:nvPicPr>
          <p:cNvPr id="2" name="close-art"/>
          <p:cNvPicPr/>
          <p:nvPr/>
        </p:nvPicPr>
        <p:blipFill>
          <a:blip r:embed="rId2">
            <a:alphaModFix amt="25000"/>
          </a:blip>
          <a:srcRect l="15000" t="25000" r="15000" b="25000"/>
          <a:stretch>
            <a:fillRect/>
          </a:stretch>
        </p:blipFill>
        <p:spPr>
          <a:xfrm>
            <a:off x="0" y="0"/>
            <a:ext cx="12192000" cy="6858000"/>
          </a:xfrm>
          <a:prstGeom prst="rect">
            <a:avLst/>
          </a:prstGeom>
          <a:ln>
            <a:noFill/>
          </a:ln>
        </p:spPr>
      </p:pic>
      <p:sp>
        <p:nvSpPr>
          <p:cNvPr id="3" name="close-kicker"/>
          <p:cNvSpPr txBox="1"/>
          <p:nvPr/>
        </p:nvSpPr>
        <p:spPr>
          <a:xfrm>
            <a:off x="711200" y="2413000"/>
            <a:ext cx="10769600" cy="228600"/>
          </a:xfrm>
          <a:prstGeom prst="rect">
            <a:avLst/>
          </a:prstGeom>
          <a:noFill/>
          <a:ln>
            <a:noFill/>
          </a:ln>
        </p:spPr>
        <p:txBody>
          <a:bodyPr lIns="0" rIns="0" tIns="0" bIns="0" wrap="square" rtlCol="0"/>
          <a:lstStyle/>
          <a:p>
            <a:pPr>
              <a:lnSpc>
                <a:spcPct val="120000"/>
              </a:lnSpc>
            </a:pPr>
            <a:r>
              <a:rPr lang="en-US" sz="1200" noProof="1" b="1" spc="200" kern="0">
                <a:solidFill>
                  <a:srgbClr val="F6E7DE"/>
                </a:solidFill>
                <a:latin typeface="Quattrocento Sans"/>
                <a:ea typeface="Quattrocento Sans"/>
              </a:rPr>
              <a:t>NEXT WEEK</a:t>
            </a:r>
            <a:endParaRPr lang="en-US" sz="1200" noProof="1"/>
          </a:p>
        </p:txBody>
      </p:sp>
      <p:sp>
        <p:nvSpPr>
          <p:cNvPr id="4" name="close-title"/>
          <p:cNvSpPr txBox="1"/>
          <p:nvPr/>
        </p:nvSpPr>
        <p:spPr>
          <a:xfrm>
            <a:off x="711200" y="2743200"/>
            <a:ext cx="10769600" cy="1270000"/>
          </a:xfrm>
          <a:prstGeom prst="rect">
            <a:avLst/>
          </a:prstGeom>
          <a:noFill/>
          <a:ln>
            <a:noFill/>
          </a:ln>
        </p:spPr>
        <p:txBody>
          <a:bodyPr lIns="0" rIns="0" tIns="0" bIns="0" wrap="square" rtlCol="0"/>
          <a:lstStyle/>
          <a:p>
            <a:pPr>
              <a:lnSpc>
                <a:spcPct val="125000"/>
              </a:lnSpc>
            </a:pPr>
            <a:r>
              <a:rPr lang="en-US" sz="3400" noProof="1">
                <a:solidFill>
                  <a:srgbClr val="FFFFFF"/>
                </a:solidFill>
                <a:latin typeface="Unna"/>
                <a:ea typeface="Unna"/>
              </a:rPr>
              <a:t>Week 2 — inside the digital consumer's mind: journeys, micro-moments, and why less choice sells more</a:t>
            </a:r>
            <a:endParaRPr lang="en-US" sz="3400" noProof="1"/>
          </a:p>
        </p:txBody>
      </p:sp>
      <p:sp>
        <p:nvSpPr>
          <p:cNvPr id="5" name="close-rule"/>
          <p:cNvSpPr/>
          <p:nvPr/>
        </p:nvSpPr>
        <p:spPr>
          <a:xfrm>
            <a:off x="711200" y="4191000"/>
            <a:ext cx="1270000" cy="25400"/>
          </a:xfrm>
          <a:prstGeom prst="rect">
            <a:avLst/>
          </a:prstGeom>
          <a:solidFill>
            <a:srgbClr val="BC4B26"/>
          </a:solidFill>
          <a:ln>
            <a:noFill/>
          </a:ln>
        </p:spPr>
      </p:sp>
      <p:sp>
        <p:nvSpPr>
          <p:cNvPr id="6" name="close-note"/>
          <p:cNvSpPr txBox="1"/>
          <p:nvPr/>
        </p:nvSpPr>
        <p:spPr>
          <a:xfrm>
            <a:off x="711200" y="4419600"/>
            <a:ext cx="8890000" cy="254000"/>
          </a:xfrm>
          <a:prstGeom prst="rect">
            <a:avLst/>
          </a:prstGeom>
          <a:noFill/>
          <a:ln>
            <a:noFill/>
          </a:ln>
        </p:spPr>
        <p:txBody>
          <a:bodyPr lIns="0" rIns="0" tIns="0" bIns="0" wrap="square" rtlCol="0"/>
          <a:lstStyle/>
          <a:p>
            <a:pPr>
              <a:lnSpc>
                <a:spcPct val="120000"/>
              </a:lnSpc>
            </a:pPr>
            <a:r>
              <a:rPr lang="en-US" sz="1250" noProof="1">
                <a:solidFill>
                  <a:srgbClr val="D9D2C4"/>
                </a:solidFill>
                <a:latin typeface="Quattrocento Sans"/>
                <a:ea typeface="Quattrocento Sans"/>
              </a:rPr>
              <a:t>Bring your answer to the 24-jam question — and your annotated purchase map.</a:t>
            </a:r>
            <a:endParaRPr lang="en-US" sz="1250" noProof="1"/>
          </a:p>
        </p:txBody>
      </p:sp>
      <p:sp>
        <p:nvSpPr>
          <p:cNvPr id="7" name="close-foot-left"/>
          <p:cNvSpPr txBox="1"/>
          <p:nvPr/>
        </p:nvSpPr>
        <p:spPr>
          <a:xfrm>
            <a:off x="711200" y="6527800"/>
            <a:ext cx="5080000" cy="177800"/>
          </a:xfrm>
          <a:prstGeom prst="rect">
            <a:avLst/>
          </a:prstGeom>
          <a:noFill/>
          <a:ln>
            <a:noFill/>
          </a:ln>
        </p:spPr>
        <p:txBody>
          <a:bodyPr lIns="0" rIns="0" tIns="0" bIns="0" wrap="square" rtlCol="0"/>
          <a:lstStyle/>
          <a:p>
            <a:pPr>
              <a:lnSpc>
                <a:spcPct val="120000"/>
              </a:lnSpc>
            </a:pPr>
            <a:r>
              <a:rPr lang="en-US" sz="950" noProof="1">
                <a:solidFill>
                  <a:srgbClr val="D9D2C4"/>
                </a:solidFill>
                <a:latin typeface="Quattrocento Sans"/>
                <a:ea typeface="Quattrocento Sans"/>
              </a:rPr>
              <a:t>Future of Commerce · BBA</a:t>
            </a:r>
            <a:endParaRPr lang="en-US" sz="950" noProof="1"/>
          </a:p>
        </p:txBody>
      </p:sp>
      <p:sp>
        <p:nvSpPr>
          <p:cNvPr id="8" name="close-foot-right"/>
          <p:cNvSpPr txBox="1"/>
          <p:nvPr/>
        </p:nvSpPr>
        <p:spPr>
          <a:xfrm>
            <a:off x="8128000" y="6527800"/>
            <a:ext cx="3352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Week 1 · End of deck</a:t>
            </a:r>
            <a:endParaRPr lang="en-US" sz="950" noProof="1"/>
          </a:p>
        </p:txBody>
      </p:sp>
      <p:sp>
        <p:nvSpPr>
          <p:cNvPr id="9" name="close-pagenum"/>
          <p:cNvSpPr txBox="1"/>
          <p:nvPr/>
        </p:nvSpPr>
        <p:spPr>
          <a:xfrm>
            <a:off x="10922000" y="6527800"/>
            <a:ext cx="558800" cy="177800"/>
          </a:xfrm>
          <a:prstGeom prst="rect">
            <a:avLst/>
          </a:prstGeom>
          <a:noFill/>
          <a:ln>
            <a:noFill/>
          </a:ln>
        </p:spPr>
        <p:txBody>
          <a:bodyPr lIns="0" rIns="0" tIns="0" bIns="0" wrap="square" rtlCol="0" anchor="t"/>
          <a:lstStyle/>
          <a:p>
            <a:pPr algn="r">
              <a:lnSpc>
                <a:spcPct val="120000"/>
              </a:lnSpc>
            </a:pPr>
            <a:r>
              <a:rPr lang="en-US" sz="950" noProof="1">
                <a:solidFill>
                  <a:srgbClr val="D9D2C4"/>
                </a:solidFill>
                <a:latin typeface="Quattrocento Sans"/>
                <a:ea typeface="Quattrocento Sans"/>
              </a:rPr>
              <a:t>44</a:t>
            </a:r>
            <a:endParaRPr lang="en-US" sz="95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Slides>44</Slides>
</Properties>
</file>

<file path=docProps/core.xml><?xml version="1.0" encoding="utf-8"?>
<cp:coreProperties xmlns:dc="http://purl.org/dc/elements/1.1/" xmlns:cp="http://schemas.openxmlformats.org/package/2006/metadata/core-properties">
  <dc:title>Future of Commerce — Week 1: Course Launch &amp; Evolution of Digital Commerce</dc:title>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
  </property>
</Properties>
</file>